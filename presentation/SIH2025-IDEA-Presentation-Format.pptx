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Times New Roman Bold" charset="1" panose="02020803070505020304"/>
      <p:regular r:id="rId15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alibri (MS)" charset="1" panose="020F0502020204030204"/>
      <p:regular r:id="rId21"/>
    </p:embeddedFont>
    <p:embeddedFont>
      <p:font typeface="Arimo Italics" charset="1" panose="020B0604020202090204"/>
      <p:regular r:id="rId24"/>
    </p:embeddedFont>
    <p:embeddedFont>
      <p:font typeface="Calibri (MS) Bold" charset="1" panose="020F07020304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18.png" Type="http://schemas.openxmlformats.org/officeDocument/2006/relationships/image"/><Relationship Id="rId17" Target="../media/image19.png" Type="http://schemas.openxmlformats.org/officeDocument/2006/relationships/image"/><Relationship Id="rId18" Target="../media/image20.png" Type="http://schemas.openxmlformats.org/officeDocument/2006/relationships/image"/><Relationship Id="rId19" Target="../media/image21.sv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22.png" Type="http://schemas.openxmlformats.org/officeDocument/2006/relationships/image"/><Relationship Id="rId21" Target="../media/image23.svg" Type="http://schemas.openxmlformats.org/officeDocument/2006/relationships/image"/><Relationship Id="rId22" Target="../media/image24.png" Type="http://schemas.openxmlformats.org/officeDocument/2006/relationships/image"/><Relationship Id="rId23" Target="../media/image25.svg" Type="http://schemas.openxmlformats.org/officeDocument/2006/relationships/image"/><Relationship Id="rId24" Target="../media/image26.png" Type="http://schemas.openxmlformats.org/officeDocument/2006/relationships/image"/><Relationship Id="rId25" Target="../media/image27.svg" Type="http://schemas.openxmlformats.org/officeDocument/2006/relationships/image"/><Relationship Id="rId26" Target="../media/image5.png" Type="http://schemas.openxmlformats.org/officeDocument/2006/relationships/image"/><Relationship Id="rId27" Target="../media/image28.png" Type="http://schemas.openxmlformats.org/officeDocument/2006/relationships/image"/><Relationship Id="rId28" Target="../media/image29.sv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5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cv-foundation.org/openaccess/content_cvpr_2016/papers/Redmon_You_Only_Look_CVPR_2016_paper.pdf" TargetMode="External" Type="http://schemas.openxmlformats.org/officeDocument/2006/relationships/hyperlink"/><Relationship Id="rId11" Target="../media/image5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https://www.cv-foundation.org/openaccess/content_cvpr_2016/papers/Redmon_You_Only_Look_CVPR_2016_paper.pdf" TargetMode="External" Type="http://schemas.openxmlformats.org/officeDocument/2006/relationships/hyperlink"/><Relationship Id="rId9" Target="https://share.google/FnpUiPvKHbfVt4ul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9000"/>
              </a:blip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74085" y="-705736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726400" cy="416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80"/>
                </a:lnSpc>
              </a:pPr>
              <a:r>
                <a:rPr lang="en-US" sz="59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3364702"/>
            <a:ext cx="16230600" cy="644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0"/>
              </a:lnSpc>
            </a:pPr>
          </a:p>
          <a:p>
            <a:pPr algn="just" marL="564186" indent="-282093" lvl="1">
              <a:lnSpc>
                <a:spcPts val="7481"/>
              </a:lnSpc>
              <a:buFont typeface="Arial"/>
              <a:buChar char="•"/>
            </a:pPr>
            <a:r>
              <a:rPr lang="en-US" b="true" sz="311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26127</a:t>
            </a:r>
          </a:p>
          <a:p>
            <a:pPr algn="just" marL="564186" indent="-282093" lvl="1">
              <a:lnSpc>
                <a:spcPts val="5798"/>
              </a:lnSpc>
              <a:buFont typeface="Arial"/>
              <a:buChar char="•"/>
            </a:pPr>
            <a:r>
              <a:rPr lang="en-US" b="true" sz="3117" spc="-4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117" spc="-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City-Wide AI Engine for Multi-Camera ANPR Trajectory Tracking and Urban Traffic Analytics</a:t>
            </a:r>
          </a:p>
          <a:p>
            <a:pPr algn="just" marL="564186" indent="-282093" lvl="1">
              <a:lnSpc>
                <a:spcPts val="7481"/>
              </a:lnSpc>
              <a:buFont typeface="Arial"/>
              <a:buChar char="•"/>
            </a:pPr>
            <a:r>
              <a:rPr lang="en-US" b="true" sz="311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</a:p>
          <a:p>
            <a:pPr algn="just" marL="564186" indent="-282093" lvl="1">
              <a:lnSpc>
                <a:spcPts val="7481"/>
              </a:lnSpc>
              <a:buFont typeface="Arial"/>
              <a:buChar char="•"/>
            </a:pPr>
            <a:r>
              <a:rPr lang="en-US" b="true" sz="311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 marL="564186" indent="-282093" lvl="1">
              <a:lnSpc>
                <a:spcPts val="7481"/>
              </a:lnSpc>
              <a:buFont typeface="Arial"/>
              <a:buChar char="•"/>
            </a:pPr>
            <a:r>
              <a:rPr lang="en-US" b="true" sz="311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564186" indent="-282093" lvl="1">
              <a:lnSpc>
                <a:spcPts val="7481"/>
              </a:lnSpc>
              <a:buFont typeface="Arial"/>
              <a:buChar char="•"/>
            </a:pPr>
            <a:r>
              <a:rPr lang="en-US" b="true" sz="311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Baazigars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581405" y="9449"/>
            <a:ext cx="2494321" cy="1267835"/>
            <a:chOff x="0" y="0"/>
            <a:chExt cx="4418241" cy="22457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0" t="0" r="-27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33845" y="1600600"/>
            <a:ext cx="5263625" cy="808340"/>
            <a:chOff x="0" y="0"/>
            <a:chExt cx="1083050" cy="1663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3050" cy="166325"/>
            </a:xfrm>
            <a:custGeom>
              <a:avLst/>
              <a:gdLst/>
              <a:ahLst/>
              <a:cxnLst/>
              <a:rect r="r" b="b" t="t" l="l"/>
              <a:pathLst>
                <a:path h="166325" w="1083050">
                  <a:moveTo>
                    <a:pt x="28727" y="0"/>
                  </a:moveTo>
                  <a:lnTo>
                    <a:pt x="1054323" y="0"/>
                  </a:lnTo>
                  <a:cubicBezTo>
                    <a:pt x="1070189" y="0"/>
                    <a:pt x="1083050" y="12862"/>
                    <a:pt x="1083050" y="28727"/>
                  </a:cubicBezTo>
                  <a:lnTo>
                    <a:pt x="1083050" y="137598"/>
                  </a:lnTo>
                  <a:cubicBezTo>
                    <a:pt x="1083050" y="145217"/>
                    <a:pt x="1080024" y="152524"/>
                    <a:pt x="1074636" y="157911"/>
                  </a:cubicBezTo>
                  <a:cubicBezTo>
                    <a:pt x="1069249" y="163298"/>
                    <a:pt x="1061942" y="166325"/>
                    <a:pt x="1054323" y="166325"/>
                  </a:cubicBezTo>
                  <a:lnTo>
                    <a:pt x="28727" y="166325"/>
                  </a:lnTo>
                  <a:cubicBezTo>
                    <a:pt x="21108" y="166325"/>
                    <a:pt x="13801" y="163298"/>
                    <a:pt x="8414" y="157911"/>
                  </a:cubicBezTo>
                  <a:cubicBezTo>
                    <a:pt x="3027" y="152524"/>
                    <a:pt x="0" y="145217"/>
                    <a:pt x="0" y="137598"/>
                  </a:cubicBezTo>
                  <a:lnTo>
                    <a:pt x="0" y="28727"/>
                  </a:lnTo>
                  <a:cubicBezTo>
                    <a:pt x="0" y="21108"/>
                    <a:pt x="3027" y="13801"/>
                    <a:pt x="8414" y="8414"/>
                  </a:cubicBezTo>
                  <a:cubicBezTo>
                    <a:pt x="13801" y="3027"/>
                    <a:pt x="21108" y="0"/>
                    <a:pt x="28727" y="0"/>
                  </a:cubicBezTo>
                  <a:close/>
                </a:path>
              </a:pathLst>
            </a:custGeom>
            <a:solidFill>
              <a:srgbClr val="D1F1F9"/>
            </a:solidFill>
            <a:ln w="38100" cap="rnd">
              <a:solidFill>
                <a:srgbClr val="0070C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83050" cy="185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59"/>
                </a:lnSpc>
              </a:pPr>
              <a:r>
                <a:rPr lang="en-US" b="true" sz="32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TRINETRA OS - DELHI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234484" y="2554767"/>
            <a:ext cx="926234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“City-Wide Traffic Intelligence &amp; Vehicle Trajectory Platform”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-699768"/>
            <a:ext cx="16459200" cy="1901168"/>
            <a:chOff x="0" y="0"/>
            <a:chExt cx="21945600" cy="2534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534890"/>
            </a:xfrm>
            <a:custGeom>
              <a:avLst/>
              <a:gdLst/>
              <a:ahLst/>
              <a:cxnLst/>
              <a:rect r="r" b="b" t="t" l="l"/>
              <a:pathLst>
                <a:path h="25348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9" r="0" b="-1137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TRINETRA 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Team: Baazigars     SIH26127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85649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Baazigars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618261" y="85649"/>
            <a:ext cx="2457465" cy="1249101"/>
            <a:chOff x="0" y="0"/>
            <a:chExt cx="4418241" cy="2245741"/>
          </a:xfrm>
        </p:grpSpPr>
        <p:sp>
          <p:nvSpPr>
            <p:cNvPr name="Freeform 17" id="1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26480" y="1334750"/>
            <a:ext cx="14206441" cy="790919"/>
            <a:chOff x="0" y="0"/>
            <a:chExt cx="2923136" cy="1627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23136" cy="162741"/>
            </a:xfrm>
            <a:custGeom>
              <a:avLst/>
              <a:gdLst/>
              <a:ahLst/>
              <a:cxnLst/>
              <a:rect r="r" b="b" t="t" l="l"/>
              <a:pathLst>
                <a:path h="162741" w="2923136">
                  <a:moveTo>
                    <a:pt x="10644" y="0"/>
                  </a:moveTo>
                  <a:lnTo>
                    <a:pt x="2912492" y="0"/>
                  </a:lnTo>
                  <a:cubicBezTo>
                    <a:pt x="2918371" y="0"/>
                    <a:pt x="2923136" y="4765"/>
                    <a:pt x="2923136" y="10644"/>
                  </a:cubicBezTo>
                  <a:lnTo>
                    <a:pt x="2923136" y="152097"/>
                  </a:lnTo>
                  <a:cubicBezTo>
                    <a:pt x="2923136" y="154920"/>
                    <a:pt x="2922014" y="157627"/>
                    <a:pt x="2920018" y="159623"/>
                  </a:cubicBezTo>
                  <a:cubicBezTo>
                    <a:pt x="2918022" y="161619"/>
                    <a:pt x="2915315" y="162741"/>
                    <a:pt x="2912492" y="162741"/>
                  </a:cubicBezTo>
                  <a:lnTo>
                    <a:pt x="10644" y="162741"/>
                  </a:lnTo>
                  <a:cubicBezTo>
                    <a:pt x="4765" y="162741"/>
                    <a:pt x="0" y="157975"/>
                    <a:pt x="0" y="152097"/>
                  </a:cubicBezTo>
                  <a:lnTo>
                    <a:pt x="0" y="10644"/>
                  </a:lnTo>
                  <a:cubicBezTo>
                    <a:pt x="0" y="7821"/>
                    <a:pt x="1121" y="5114"/>
                    <a:pt x="3117" y="3117"/>
                  </a:cubicBezTo>
                  <a:cubicBezTo>
                    <a:pt x="5114" y="1121"/>
                    <a:pt x="7821" y="0"/>
                    <a:pt x="10644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923136" cy="181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one event driven platform turning city ANPR cameras into live vehicle tracking, traffic analytics &amp; instant alerts.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"From isolated camera detections to connected city-wide intelligence."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53902" y="2358781"/>
            <a:ext cx="2359307" cy="3331257"/>
            <a:chOff x="0" y="0"/>
            <a:chExt cx="635000" cy="8965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" cy="896597"/>
            </a:xfrm>
            <a:custGeom>
              <a:avLst/>
              <a:gdLst/>
              <a:ahLst/>
              <a:cxnLst/>
              <a:rect r="r" b="b" t="t" l="l"/>
              <a:pathLst>
                <a:path h="896597" w="635000">
                  <a:moveTo>
                    <a:pt x="64091" y="0"/>
                  </a:moveTo>
                  <a:lnTo>
                    <a:pt x="570909" y="0"/>
                  </a:lnTo>
                  <a:cubicBezTo>
                    <a:pt x="587907" y="0"/>
                    <a:pt x="604209" y="6752"/>
                    <a:pt x="616228" y="18772"/>
                  </a:cubicBezTo>
                  <a:cubicBezTo>
                    <a:pt x="628248" y="30791"/>
                    <a:pt x="635000" y="47093"/>
                    <a:pt x="635000" y="64091"/>
                  </a:cubicBezTo>
                  <a:lnTo>
                    <a:pt x="635000" y="832507"/>
                  </a:lnTo>
                  <a:cubicBezTo>
                    <a:pt x="635000" y="849505"/>
                    <a:pt x="628248" y="865806"/>
                    <a:pt x="616228" y="877826"/>
                  </a:cubicBezTo>
                  <a:cubicBezTo>
                    <a:pt x="604209" y="889845"/>
                    <a:pt x="587907" y="896597"/>
                    <a:pt x="570909" y="896597"/>
                  </a:cubicBezTo>
                  <a:lnTo>
                    <a:pt x="64091" y="896597"/>
                  </a:lnTo>
                  <a:cubicBezTo>
                    <a:pt x="47093" y="896597"/>
                    <a:pt x="30791" y="889845"/>
                    <a:pt x="18772" y="877826"/>
                  </a:cubicBezTo>
                  <a:cubicBezTo>
                    <a:pt x="6752" y="865806"/>
                    <a:pt x="0" y="849505"/>
                    <a:pt x="0" y="832507"/>
                  </a:cubicBezTo>
                  <a:lnTo>
                    <a:pt x="0" y="64091"/>
                  </a:lnTo>
                  <a:cubicBezTo>
                    <a:pt x="0" y="47093"/>
                    <a:pt x="6752" y="30791"/>
                    <a:pt x="18772" y="18772"/>
                  </a:cubicBezTo>
                  <a:cubicBezTo>
                    <a:pt x="30791" y="6752"/>
                    <a:pt x="47093" y="0"/>
                    <a:pt x="64091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35000" cy="915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729765" y="3535020"/>
            <a:ext cx="374431" cy="451122"/>
          </a:xfrm>
          <a:custGeom>
            <a:avLst/>
            <a:gdLst/>
            <a:ahLst/>
            <a:cxnLst/>
            <a:rect r="r" b="b" t="t" l="l"/>
            <a:pathLst>
              <a:path h="451122" w="374431">
                <a:moveTo>
                  <a:pt x="0" y="0"/>
                </a:moveTo>
                <a:lnTo>
                  <a:pt x="374431" y="0"/>
                </a:lnTo>
                <a:lnTo>
                  <a:pt x="374431" y="451122"/>
                </a:lnTo>
                <a:lnTo>
                  <a:pt x="0" y="451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65014" y="2514493"/>
            <a:ext cx="537083" cy="443094"/>
          </a:xfrm>
          <a:custGeom>
            <a:avLst/>
            <a:gdLst/>
            <a:ahLst/>
            <a:cxnLst/>
            <a:rect r="r" b="b" t="t" l="l"/>
            <a:pathLst>
              <a:path h="443094" w="537083">
                <a:moveTo>
                  <a:pt x="0" y="0"/>
                </a:moveTo>
                <a:lnTo>
                  <a:pt x="537083" y="0"/>
                </a:lnTo>
                <a:lnTo>
                  <a:pt x="537083" y="443094"/>
                </a:lnTo>
                <a:lnTo>
                  <a:pt x="0" y="4430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3190748" y="2386249"/>
            <a:ext cx="2359307" cy="3303789"/>
            <a:chOff x="0" y="0"/>
            <a:chExt cx="635000" cy="8892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889204"/>
            </a:xfrm>
            <a:custGeom>
              <a:avLst/>
              <a:gdLst/>
              <a:ahLst/>
              <a:cxnLst/>
              <a:rect r="r" b="b" t="t" l="l"/>
              <a:pathLst>
                <a:path h="889204" w="635000">
                  <a:moveTo>
                    <a:pt x="64091" y="0"/>
                  </a:moveTo>
                  <a:lnTo>
                    <a:pt x="570909" y="0"/>
                  </a:lnTo>
                  <a:cubicBezTo>
                    <a:pt x="587907" y="0"/>
                    <a:pt x="604209" y="6752"/>
                    <a:pt x="616228" y="18772"/>
                  </a:cubicBezTo>
                  <a:cubicBezTo>
                    <a:pt x="628248" y="30791"/>
                    <a:pt x="635000" y="47093"/>
                    <a:pt x="635000" y="64091"/>
                  </a:cubicBezTo>
                  <a:lnTo>
                    <a:pt x="635000" y="825114"/>
                  </a:lnTo>
                  <a:cubicBezTo>
                    <a:pt x="635000" y="860510"/>
                    <a:pt x="606306" y="889204"/>
                    <a:pt x="570909" y="889204"/>
                  </a:cubicBezTo>
                  <a:lnTo>
                    <a:pt x="64091" y="889204"/>
                  </a:lnTo>
                  <a:cubicBezTo>
                    <a:pt x="47093" y="889204"/>
                    <a:pt x="30791" y="882452"/>
                    <a:pt x="18772" y="870432"/>
                  </a:cubicBezTo>
                  <a:cubicBezTo>
                    <a:pt x="6752" y="858413"/>
                    <a:pt x="0" y="842111"/>
                    <a:pt x="0" y="825114"/>
                  </a:cubicBezTo>
                  <a:lnTo>
                    <a:pt x="0" y="64091"/>
                  </a:lnTo>
                  <a:cubicBezTo>
                    <a:pt x="0" y="47093"/>
                    <a:pt x="6752" y="30791"/>
                    <a:pt x="18772" y="18772"/>
                  </a:cubicBezTo>
                  <a:cubicBezTo>
                    <a:pt x="30791" y="6752"/>
                    <a:pt x="47093" y="0"/>
                    <a:pt x="64091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35000" cy="908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27532" y="2386249"/>
            <a:ext cx="2359307" cy="3288937"/>
            <a:chOff x="0" y="0"/>
            <a:chExt cx="635000" cy="88520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" cy="885207"/>
            </a:xfrm>
            <a:custGeom>
              <a:avLst/>
              <a:gdLst/>
              <a:ahLst/>
              <a:cxnLst/>
              <a:rect r="r" b="b" t="t" l="l"/>
              <a:pathLst>
                <a:path h="885207" w="635000">
                  <a:moveTo>
                    <a:pt x="64091" y="0"/>
                  </a:moveTo>
                  <a:lnTo>
                    <a:pt x="570909" y="0"/>
                  </a:lnTo>
                  <a:cubicBezTo>
                    <a:pt x="587907" y="0"/>
                    <a:pt x="604209" y="6752"/>
                    <a:pt x="616228" y="18772"/>
                  </a:cubicBezTo>
                  <a:cubicBezTo>
                    <a:pt x="628248" y="30791"/>
                    <a:pt x="635000" y="47093"/>
                    <a:pt x="635000" y="64091"/>
                  </a:cubicBezTo>
                  <a:lnTo>
                    <a:pt x="635000" y="821116"/>
                  </a:lnTo>
                  <a:cubicBezTo>
                    <a:pt x="635000" y="856513"/>
                    <a:pt x="606306" y="885207"/>
                    <a:pt x="570909" y="885207"/>
                  </a:cubicBezTo>
                  <a:lnTo>
                    <a:pt x="64091" y="885207"/>
                  </a:lnTo>
                  <a:cubicBezTo>
                    <a:pt x="47093" y="885207"/>
                    <a:pt x="30791" y="878455"/>
                    <a:pt x="18772" y="866435"/>
                  </a:cubicBezTo>
                  <a:cubicBezTo>
                    <a:pt x="6752" y="854416"/>
                    <a:pt x="0" y="838114"/>
                    <a:pt x="0" y="821116"/>
                  </a:cubicBezTo>
                  <a:lnTo>
                    <a:pt x="0" y="64091"/>
                  </a:lnTo>
                  <a:cubicBezTo>
                    <a:pt x="0" y="47093"/>
                    <a:pt x="6752" y="30791"/>
                    <a:pt x="18772" y="18772"/>
                  </a:cubicBezTo>
                  <a:cubicBezTo>
                    <a:pt x="30791" y="6752"/>
                    <a:pt x="47093" y="0"/>
                    <a:pt x="64091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35000" cy="904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48336" y="2386249"/>
            <a:ext cx="2359307" cy="3303789"/>
            <a:chOff x="0" y="0"/>
            <a:chExt cx="635000" cy="8892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" cy="889204"/>
            </a:xfrm>
            <a:custGeom>
              <a:avLst/>
              <a:gdLst/>
              <a:ahLst/>
              <a:cxnLst/>
              <a:rect r="r" b="b" t="t" l="l"/>
              <a:pathLst>
                <a:path h="889204" w="635000">
                  <a:moveTo>
                    <a:pt x="64091" y="0"/>
                  </a:moveTo>
                  <a:lnTo>
                    <a:pt x="570909" y="0"/>
                  </a:lnTo>
                  <a:cubicBezTo>
                    <a:pt x="587907" y="0"/>
                    <a:pt x="604209" y="6752"/>
                    <a:pt x="616228" y="18772"/>
                  </a:cubicBezTo>
                  <a:cubicBezTo>
                    <a:pt x="628248" y="30791"/>
                    <a:pt x="635000" y="47093"/>
                    <a:pt x="635000" y="64091"/>
                  </a:cubicBezTo>
                  <a:lnTo>
                    <a:pt x="635000" y="825114"/>
                  </a:lnTo>
                  <a:cubicBezTo>
                    <a:pt x="635000" y="860510"/>
                    <a:pt x="606306" y="889204"/>
                    <a:pt x="570909" y="889204"/>
                  </a:cubicBezTo>
                  <a:lnTo>
                    <a:pt x="64091" y="889204"/>
                  </a:lnTo>
                  <a:cubicBezTo>
                    <a:pt x="47093" y="889204"/>
                    <a:pt x="30791" y="882452"/>
                    <a:pt x="18772" y="870432"/>
                  </a:cubicBezTo>
                  <a:cubicBezTo>
                    <a:pt x="6752" y="858413"/>
                    <a:pt x="0" y="842111"/>
                    <a:pt x="0" y="825114"/>
                  </a:cubicBezTo>
                  <a:lnTo>
                    <a:pt x="0" y="64091"/>
                  </a:lnTo>
                  <a:cubicBezTo>
                    <a:pt x="0" y="47093"/>
                    <a:pt x="6752" y="30791"/>
                    <a:pt x="18772" y="18772"/>
                  </a:cubicBezTo>
                  <a:cubicBezTo>
                    <a:pt x="30791" y="6752"/>
                    <a:pt x="47093" y="0"/>
                    <a:pt x="64091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35000" cy="908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85121" y="2386249"/>
            <a:ext cx="2359307" cy="3303789"/>
            <a:chOff x="0" y="0"/>
            <a:chExt cx="635000" cy="8892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5000" cy="889204"/>
            </a:xfrm>
            <a:custGeom>
              <a:avLst/>
              <a:gdLst/>
              <a:ahLst/>
              <a:cxnLst/>
              <a:rect r="r" b="b" t="t" l="l"/>
              <a:pathLst>
                <a:path h="889204" w="635000">
                  <a:moveTo>
                    <a:pt x="64091" y="0"/>
                  </a:moveTo>
                  <a:lnTo>
                    <a:pt x="570909" y="0"/>
                  </a:lnTo>
                  <a:cubicBezTo>
                    <a:pt x="587907" y="0"/>
                    <a:pt x="604209" y="6752"/>
                    <a:pt x="616228" y="18772"/>
                  </a:cubicBezTo>
                  <a:cubicBezTo>
                    <a:pt x="628248" y="30791"/>
                    <a:pt x="635000" y="47093"/>
                    <a:pt x="635000" y="64091"/>
                  </a:cubicBezTo>
                  <a:lnTo>
                    <a:pt x="635000" y="825114"/>
                  </a:lnTo>
                  <a:cubicBezTo>
                    <a:pt x="635000" y="860510"/>
                    <a:pt x="606306" y="889204"/>
                    <a:pt x="570909" y="889204"/>
                  </a:cubicBezTo>
                  <a:lnTo>
                    <a:pt x="64091" y="889204"/>
                  </a:lnTo>
                  <a:cubicBezTo>
                    <a:pt x="47093" y="889204"/>
                    <a:pt x="30791" y="882452"/>
                    <a:pt x="18772" y="870432"/>
                  </a:cubicBezTo>
                  <a:cubicBezTo>
                    <a:pt x="6752" y="858413"/>
                    <a:pt x="0" y="842111"/>
                    <a:pt x="0" y="825114"/>
                  </a:cubicBezTo>
                  <a:lnTo>
                    <a:pt x="0" y="64091"/>
                  </a:lnTo>
                  <a:cubicBezTo>
                    <a:pt x="0" y="47093"/>
                    <a:pt x="6752" y="30791"/>
                    <a:pt x="18772" y="18772"/>
                  </a:cubicBezTo>
                  <a:cubicBezTo>
                    <a:pt x="30791" y="6752"/>
                    <a:pt x="47093" y="0"/>
                    <a:pt x="64091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35000" cy="908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358859" y="2346583"/>
            <a:ext cx="2359307" cy="3328604"/>
            <a:chOff x="0" y="0"/>
            <a:chExt cx="635000" cy="8958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5000" cy="895883"/>
            </a:xfrm>
            <a:custGeom>
              <a:avLst/>
              <a:gdLst/>
              <a:ahLst/>
              <a:cxnLst/>
              <a:rect r="r" b="b" t="t" l="l"/>
              <a:pathLst>
                <a:path h="895883" w="635000">
                  <a:moveTo>
                    <a:pt x="64091" y="0"/>
                  </a:moveTo>
                  <a:lnTo>
                    <a:pt x="570909" y="0"/>
                  </a:lnTo>
                  <a:cubicBezTo>
                    <a:pt x="587907" y="0"/>
                    <a:pt x="604209" y="6752"/>
                    <a:pt x="616228" y="18772"/>
                  </a:cubicBezTo>
                  <a:cubicBezTo>
                    <a:pt x="628248" y="30791"/>
                    <a:pt x="635000" y="47093"/>
                    <a:pt x="635000" y="64091"/>
                  </a:cubicBezTo>
                  <a:lnTo>
                    <a:pt x="635000" y="831792"/>
                  </a:lnTo>
                  <a:cubicBezTo>
                    <a:pt x="635000" y="848790"/>
                    <a:pt x="628248" y="865092"/>
                    <a:pt x="616228" y="877111"/>
                  </a:cubicBezTo>
                  <a:cubicBezTo>
                    <a:pt x="604209" y="889131"/>
                    <a:pt x="587907" y="895883"/>
                    <a:pt x="570909" y="895883"/>
                  </a:cubicBezTo>
                  <a:lnTo>
                    <a:pt x="64091" y="895883"/>
                  </a:lnTo>
                  <a:cubicBezTo>
                    <a:pt x="47093" y="895883"/>
                    <a:pt x="30791" y="889131"/>
                    <a:pt x="18772" y="877111"/>
                  </a:cubicBezTo>
                  <a:cubicBezTo>
                    <a:pt x="6752" y="865092"/>
                    <a:pt x="0" y="848790"/>
                    <a:pt x="0" y="831792"/>
                  </a:cubicBezTo>
                  <a:lnTo>
                    <a:pt x="0" y="64091"/>
                  </a:lnTo>
                  <a:cubicBezTo>
                    <a:pt x="0" y="47093"/>
                    <a:pt x="6752" y="30791"/>
                    <a:pt x="18772" y="18772"/>
                  </a:cubicBezTo>
                  <a:cubicBezTo>
                    <a:pt x="30791" y="6752"/>
                    <a:pt x="47093" y="0"/>
                    <a:pt x="64091" y="0"/>
                  </a:cubicBezTo>
                  <a:close/>
                </a:path>
              </a:pathLst>
            </a:custGeom>
            <a:solidFill>
              <a:srgbClr val="EBF4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35000" cy="914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4183604" y="2464454"/>
            <a:ext cx="434828" cy="406565"/>
          </a:xfrm>
          <a:custGeom>
            <a:avLst/>
            <a:gdLst/>
            <a:ahLst/>
            <a:cxnLst/>
            <a:rect r="r" b="b" t="t" l="l"/>
            <a:pathLst>
              <a:path h="406565" w="434828">
                <a:moveTo>
                  <a:pt x="0" y="0"/>
                </a:moveTo>
                <a:lnTo>
                  <a:pt x="434829" y="0"/>
                </a:lnTo>
                <a:lnTo>
                  <a:pt x="434829" y="406565"/>
                </a:lnTo>
                <a:lnTo>
                  <a:pt x="0" y="4065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972300" y="2464454"/>
            <a:ext cx="1012221" cy="415011"/>
          </a:xfrm>
          <a:custGeom>
            <a:avLst/>
            <a:gdLst/>
            <a:ahLst/>
            <a:cxnLst/>
            <a:rect r="r" b="b" t="t" l="l"/>
            <a:pathLst>
              <a:path h="415011" w="1012221">
                <a:moveTo>
                  <a:pt x="0" y="0"/>
                </a:moveTo>
                <a:lnTo>
                  <a:pt x="1012221" y="0"/>
                </a:lnTo>
                <a:lnTo>
                  <a:pt x="1012221" y="415011"/>
                </a:lnTo>
                <a:lnTo>
                  <a:pt x="0" y="4150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3368338" y="2485486"/>
            <a:ext cx="418291" cy="414108"/>
          </a:xfrm>
          <a:custGeom>
            <a:avLst/>
            <a:gdLst/>
            <a:ahLst/>
            <a:cxnLst/>
            <a:rect r="r" b="b" t="t" l="l"/>
            <a:pathLst>
              <a:path h="414108" w="418291">
                <a:moveTo>
                  <a:pt x="0" y="0"/>
                </a:moveTo>
                <a:lnTo>
                  <a:pt x="418291" y="0"/>
                </a:lnTo>
                <a:lnTo>
                  <a:pt x="418291" y="414108"/>
                </a:lnTo>
                <a:lnTo>
                  <a:pt x="0" y="4141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6338827" y="2446262"/>
            <a:ext cx="399371" cy="476124"/>
          </a:xfrm>
          <a:custGeom>
            <a:avLst/>
            <a:gdLst/>
            <a:ahLst/>
            <a:cxnLst/>
            <a:rect r="r" b="b" t="t" l="l"/>
            <a:pathLst>
              <a:path h="476124" w="399371">
                <a:moveTo>
                  <a:pt x="0" y="0"/>
                </a:moveTo>
                <a:lnTo>
                  <a:pt x="399372" y="0"/>
                </a:lnTo>
                <a:lnTo>
                  <a:pt x="399372" y="476124"/>
                </a:lnTo>
                <a:lnTo>
                  <a:pt x="0" y="4761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-2976" b="-32886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5711980" y="3535020"/>
            <a:ext cx="374431" cy="451122"/>
          </a:xfrm>
          <a:custGeom>
            <a:avLst/>
            <a:gdLst/>
            <a:ahLst/>
            <a:cxnLst/>
            <a:rect r="r" b="b" t="t" l="l"/>
            <a:pathLst>
              <a:path h="451122" w="374431">
                <a:moveTo>
                  <a:pt x="0" y="0"/>
                </a:moveTo>
                <a:lnTo>
                  <a:pt x="374431" y="0"/>
                </a:lnTo>
                <a:lnTo>
                  <a:pt x="374431" y="451122"/>
                </a:lnTo>
                <a:lnTo>
                  <a:pt x="0" y="451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780372" y="3535020"/>
            <a:ext cx="374431" cy="451122"/>
          </a:xfrm>
          <a:custGeom>
            <a:avLst/>
            <a:gdLst/>
            <a:ahLst/>
            <a:cxnLst/>
            <a:rect r="r" b="b" t="t" l="l"/>
            <a:pathLst>
              <a:path h="451122" w="374431">
                <a:moveTo>
                  <a:pt x="0" y="0"/>
                </a:moveTo>
                <a:lnTo>
                  <a:pt x="374432" y="0"/>
                </a:lnTo>
                <a:lnTo>
                  <a:pt x="374432" y="451122"/>
                </a:lnTo>
                <a:lnTo>
                  <a:pt x="0" y="451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1858290" y="3535020"/>
            <a:ext cx="374431" cy="451122"/>
          </a:xfrm>
          <a:custGeom>
            <a:avLst/>
            <a:gdLst/>
            <a:ahLst/>
            <a:cxnLst/>
            <a:rect r="r" b="b" t="t" l="l"/>
            <a:pathLst>
              <a:path h="451122" w="374431">
                <a:moveTo>
                  <a:pt x="0" y="0"/>
                </a:moveTo>
                <a:lnTo>
                  <a:pt x="374431" y="0"/>
                </a:lnTo>
                <a:lnTo>
                  <a:pt x="374431" y="451122"/>
                </a:lnTo>
                <a:lnTo>
                  <a:pt x="0" y="451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4864428" y="3535020"/>
            <a:ext cx="374431" cy="451122"/>
          </a:xfrm>
          <a:custGeom>
            <a:avLst/>
            <a:gdLst/>
            <a:ahLst/>
            <a:cxnLst/>
            <a:rect r="r" b="b" t="t" l="l"/>
            <a:pathLst>
              <a:path h="451122" w="374431">
                <a:moveTo>
                  <a:pt x="0" y="0"/>
                </a:moveTo>
                <a:lnTo>
                  <a:pt x="374431" y="0"/>
                </a:lnTo>
                <a:lnTo>
                  <a:pt x="374431" y="451122"/>
                </a:lnTo>
                <a:lnTo>
                  <a:pt x="0" y="451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963551" y="7019831"/>
            <a:ext cx="3248041" cy="1067406"/>
          </a:xfrm>
          <a:custGeom>
            <a:avLst/>
            <a:gdLst/>
            <a:ahLst/>
            <a:cxnLst/>
            <a:rect r="r" b="b" t="t" l="l"/>
            <a:pathLst>
              <a:path h="1067406" w="3248041">
                <a:moveTo>
                  <a:pt x="0" y="0"/>
                </a:moveTo>
                <a:lnTo>
                  <a:pt x="3248041" y="0"/>
                </a:lnTo>
                <a:lnTo>
                  <a:pt x="3248041" y="1067405"/>
                </a:lnTo>
                <a:lnTo>
                  <a:pt x="0" y="10674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614" t="0" r="-1614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0977817" y="8612209"/>
            <a:ext cx="7265432" cy="756210"/>
          </a:xfrm>
          <a:custGeom>
            <a:avLst/>
            <a:gdLst/>
            <a:ahLst/>
            <a:cxnLst/>
            <a:rect r="r" b="b" t="t" l="l"/>
            <a:pathLst>
              <a:path h="756210" w="7265432">
                <a:moveTo>
                  <a:pt x="0" y="0"/>
                </a:moveTo>
                <a:lnTo>
                  <a:pt x="7265432" y="0"/>
                </a:lnTo>
                <a:lnTo>
                  <a:pt x="7265432" y="756210"/>
                </a:lnTo>
                <a:lnTo>
                  <a:pt x="0" y="75621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243590" y="6144136"/>
            <a:ext cx="10348642" cy="3199711"/>
            <a:chOff x="0" y="0"/>
            <a:chExt cx="2454715" cy="75897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54715" cy="758977"/>
            </a:xfrm>
            <a:custGeom>
              <a:avLst/>
              <a:gdLst/>
              <a:ahLst/>
              <a:cxnLst/>
              <a:rect r="r" b="b" t="t" l="l"/>
              <a:pathLst>
                <a:path h="758977" w="2454715">
                  <a:moveTo>
                    <a:pt x="14612" y="0"/>
                  </a:moveTo>
                  <a:lnTo>
                    <a:pt x="2440104" y="0"/>
                  </a:lnTo>
                  <a:cubicBezTo>
                    <a:pt x="2448173" y="0"/>
                    <a:pt x="2454715" y="6542"/>
                    <a:pt x="2454715" y="14612"/>
                  </a:cubicBezTo>
                  <a:lnTo>
                    <a:pt x="2454715" y="744365"/>
                  </a:lnTo>
                  <a:cubicBezTo>
                    <a:pt x="2454715" y="752435"/>
                    <a:pt x="2448173" y="758977"/>
                    <a:pt x="2440104" y="758977"/>
                  </a:cubicBezTo>
                  <a:lnTo>
                    <a:pt x="14612" y="758977"/>
                  </a:lnTo>
                  <a:cubicBezTo>
                    <a:pt x="6542" y="758977"/>
                    <a:pt x="0" y="752435"/>
                    <a:pt x="0" y="744365"/>
                  </a:cubicBezTo>
                  <a:lnTo>
                    <a:pt x="0" y="14612"/>
                  </a:lnTo>
                  <a:cubicBezTo>
                    <a:pt x="0" y="6542"/>
                    <a:pt x="6542" y="0"/>
                    <a:pt x="14612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DCE6F2"/>
              </a:solidFill>
              <a:prstDash val="solid"/>
              <a:round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2454715" cy="778027"/>
            </a:xfrm>
            <a:prstGeom prst="rect">
              <a:avLst/>
            </a:prstGeom>
          </p:spPr>
          <p:txBody>
            <a:bodyPr anchor="ctr" rtlCol="false" tIns="44067" lIns="44067" bIns="44067" rIns="44067"/>
            <a:lstStyle/>
            <a:p>
              <a:pPr algn="ctr">
                <a:lnSpc>
                  <a:spcPts val="2159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4187673" y="7248941"/>
            <a:ext cx="941910" cy="991484"/>
          </a:xfrm>
          <a:custGeom>
            <a:avLst/>
            <a:gdLst/>
            <a:ahLst/>
            <a:cxnLst/>
            <a:rect r="r" b="b" t="t" l="l"/>
            <a:pathLst>
              <a:path h="991484" w="941910">
                <a:moveTo>
                  <a:pt x="0" y="0"/>
                </a:moveTo>
                <a:lnTo>
                  <a:pt x="941910" y="0"/>
                </a:lnTo>
                <a:lnTo>
                  <a:pt x="941910" y="991484"/>
                </a:lnTo>
                <a:lnTo>
                  <a:pt x="0" y="99148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7787549">
            <a:off x="4872541" y="7234585"/>
            <a:ext cx="383116" cy="224123"/>
          </a:xfrm>
          <a:custGeom>
            <a:avLst/>
            <a:gdLst/>
            <a:ahLst/>
            <a:cxnLst/>
            <a:rect r="r" b="b" t="t" l="l"/>
            <a:pathLst>
              <a:path h="224123" w="383116">
                <a:moveTo>
                  <a:pt x="0" y="0"/>
                </a:moveTo>
                <a:lnTo>
                  <a:pt x="383117" y="0"/>
                </a:lnTo>
                <a:lnTo>
                  <a:pt x="383117" y="224123"/>
                </a:lnTo>
                <a:lnTo>
                  <a:pt x="0" y="22412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5210080" y="6844305"/>
            <a:ext cx="2138867" cy="782816"/>
            <a:chOff x="0" y="0"/>
            <a:chExt cx="507343" cy="18568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07343" cy="185685"/>
            </a:xfrm>
            <a:custGeom>
              <a:avLst/>
              <a:gdLst/>
              <a:ahLst/>
              <a:cxnLst/>
              <a:rect r="r" b="b" t="t" l="l"/>
              <a:pathLst>
                <a:path h="185685" w="507343">
                  <a:moveTo>
                    <a:pt x="70696" y="0"/>
                  </a:moveTo>
                  <a:lnTo>
                    <a:pt x="436647" y="0"/>
                  </a:lnTo>
                  <a:cubicBezTo>
                    <a:pt x="475691" y="0"/>
                    <a:pt x="507343" y="31652"/>
                    <a:pt x="507343" y="70696"/>
                  </a:cubicBezTo>
                  <a:lnTo>
                    <a:pt x="507343" y="114989"/>
                  </a:lnTo>
                  <a:cubicBezTo>
                    <a:pt x="507343" y="154034"/>
                    <a:pt x="475691" y="185685"/>
                    <a:pt x="436647" y="185685"/>
                  </a:cubicBezTo>
                  <a:lnTo>
                    <a:pt x="70696" y="185685"/>
                  </a:lnTo>
                  <a:cubicBezTo>
                    <a:pt x="31652" y="185685"/>
                    <a:pt x="0" y="154034"/>
                    <a:pt x="0" y="114989"/>
                  </a:cubicBezTo>
                  <a:lnTo>
                    <a:pt x="0" y="70696"/>
                  </a:lnTo>
                  <a:cubicBezTo>
                    <a:pt x="0" y="31652"/>
                    <a:pt x="31652" y="0"/>
                    <a:pt x="70696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FF4444"/>
              </a:solidFill>
              <a:prstDash val="solid"/>
              <a:round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507343" cy="204735"/>
            </a:xfrm>
            <a:prstGeom prst="rect">
              <a:avLst/>
            </a:prstGeom>
          </p:spPr>
          <p:txBody>
            <a:bodyPr anchor="ctr" rtlCol="false" tIns="44067" lIns="44067" bIns="44067" rIns="44067"/>
            <a:lstStyle/>
            <a:p>
              <a:pPr algn="l">
                <a:lnSpc>
                  <a:spcPts val="2159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5265474" y="7096800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7" y="0"/>
                </a:lnTo>
                <a:lnTo>
                  <a:pt x="153897" y="131581"/>
                </a:lnTo>
                <a:lnTo>
                  <a:pt x="0" y="13158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5265474" y="7374792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7" y="0"/>
                </a:lnTo>
                <a:lnTo>
                  <a:pt x="153897" y="131581"/>
                </a:lnTo>
                <a:lnTo>
                  <a:pt x="0" y="13158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true" rot="-7140588">
            <a:off x="4952557" y="7999451"/>
            <a:ext cx="383116" cy="224123"/>
          </a:xfrm>
          <a:custGeom>
            <a:avLst/>
            <a:gdLst/>
            <a:ahLst/>
            <a:cxnLst/>
            <a:rect r="r" b="b" t="t" l="l"/>
            <a:pathLst>
              <a:path h="224123" w="383116">
                <a:moveTo>
                  <a:pt x="0" y="224123"/>
                </a:moveTo>
                <a:lnTo>
                  <a:pt x="383117" y="224123"/>
                </a:lnTo>
                <a:lnTo>
                  <a:pt x="383117" y="0"/>
                </a:lnTo>
                <a:lnTo>
                  <a:pt x="0" y="0"/>
                </a:lnTo>
                <a:lnTo>
                  <a:pt x="0" y="224123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5210080" y="7910528"/>
            <a:ext cx="1781343" cy="963322"/>
            <a:chOff x="0" y="0"/>
            <a:chExt cx="422538" cy="22850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2538" cy="228502"/>
            </a:xfrm>
            <a:custGeom>
              <a:avLst/>
              <a:gdLst/>
              <a:ahLst/>
              <a:cxnLst/>
              <a:rect r="r" b="b" t="t" l="l"/>
              <a:pathLst>
                <a:path h="228502" w="422538">
                  <a:moveTo>
                    <a:pt x="84885" y="0"/>
                  </a:moveTo>
                  <a:lnTo>
                    <a:pt x="337653" y="0"/>
                  </a:lnTo>
                  <a:cubicBezTo>
                    <a:pt x="360166" y="0"/>
                    <a:pt x="381756" y="8943"/>
                    <a:pt x="397675" y="24862"/>
                  </a:cubicBezTo>
                  <a:cubicBezTo>
                    <a:pt x="413594" y="40781"/>
                    <a:pt x="422538" y="62372"/>
                    <a:pt x="422538" y="84885"/>
                  </a:cubicBezTo>
                  <a:lnTo>
                    <a:pt x="422538" y="143617"/>
                  </a:lnTo>
                  <a:cubicBezTo>
                    <a:pt x="422538" y="190497"/>
                    <a:pt x="384533" y="228502"/>
                    <a:pt x="337653" y="228502"/>
                  </a:cubicBezTo>
                  <a:lnTo>
                    <a:pt x="84885" y="228502"/>
                  </a:lnTo>
                  <a:cubicBezTo>
                    <a:pt x="38004" y="228502"/>
                    <a:pt x="0" y="190497"/>
                    <a:pt x="0" y="143617"/>
                  </a:cubicBezTo>
                  <a:lnTo>
                    <a:pt x="0" y="84885"/>
                  </a:lnTo>
                  <a:cubicBezTo>
                    <a:pt x="0" y="38004"/>
                    <a:pt x="38004" y="0"/>
                    <a:pt x="84885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FF4444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422538" cy="247552"/>
            </a:xfrm>
            <a:prstGeom prst="rect">
              <a:avLst/>
            </a:prstGeom>
          </p:spPr>
          <p:txBody>
            <a:bodyPr anchor="ctr" rtlCol="false" tIns="44067" lIns="44067" bIns="44067" rIns="44067"/>
            <a:lstStyle/>
            <a:p>
              <a:pPr algn="l">
                <a:lnSpc>
                  <a:spcPts val="2159"/>
                </a:lnSpc>
              </a:pP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5290262" y="8253834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6" y="0"/>
                </a:lnTo>
                <a:lnTo>
                  <a:pt x="153896" y="131581"/>
                </a:lnTo>
                <a:lnTo>
                  <a:pt x="0" y="13158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5290262" y="8626594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6" y="0"/>
                </a:lnTo>
                <a:lnTo>
                  <a:pt x="153896" y="131581"/>
                </a:lnTo>
                <a:lnTo>
                  <a:pt x="0" y="13158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2307180" y="7999287"/>
            <a:ext cx="1781343" cy="808772"/>
            <a:chOff x="0" y="0"/>
            <a:chExt cx="422538" cy="19184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22538" cy="191842"/>
            </a:xfrm>
            <a:custGeom>
              <a:avLst/>
              <a:gdLst/>
              <a:ahLst/>
              <a:cxnLst/>
              <a:rect r="r" b="b" t="t" l="l"/>
              <a:pathLst>
                <a:path h="191842" w="422538">
                  <a:moveTo>
                    <a:pt x="84885" y="0"/>
                  </a:moveTo>
                  <a:lnTo>
                    <a:pt x="337653" y="0"/>
                  </a:lnTo>
                  <a:cubicBezTo>
                    <a:pt x="360166" y="0"/>
                    <a:pt x="381756" y="8943"/>
                    <a:pt x="397675" y="24862"/>
                  </a:cubicBezTo>
                  <a:cubicBezTo>
                    <a:pt x="413594" y="40781"/>
                    <a:pt x="422538" y="62372"/>
                    <a:pt x="422538" y="84885"/>
                  </a:cubicBezTo>
                  <a:lnTo>
                    <a:pt x="422538" y="106957"/>
                  </a:lnTo>
                  <a:cubicBezTo>
                    <a:pt x="422538" y="153838"/>
                    <a:pt x="384533" y="191842"/>
                    <a:pt x="337653" y="191842"/>
                  </a:cubicBezTo>
                  <a:lnTo>
                    <a:pt x="84885" y="191842"/>
                  </a:lnTo>
                  <a:cubicBezTo>
                    <a:pt x="38004" y="191842"/>
                    <a:pt x="0" y="153838"/>
                    <a:pt x="0" y="106957"/>
                  </a:cubicBezTo>
                  <a:lnTo>
                    <a:pt x="0" y="84885"/>
                  </a:lnTo>
                  <a:cubicBezTo>
                    <a:pt x="0" y="38004"/>
                    <a:pt x="38004" y="0"/>
                    <a:pt x="84885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FF4444"/>
              </a:solidFill>
              <a:prstDash val="solid"/>
              <a:round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422538" cy="210892"/>
            </a:xfrm>
            <a:prstGeom prst="rect">
              <a:avLst/>
            </a:prstGeom>
          </p:spPr>
          <p:txBody>
            <a:bodyPr anchor="ctr" rtlCol="false" tIns="44067" lIns="44067" bIns="44067" rIns="44067"/>
            <a:lstStyle/>
            <a:p>
              <a:pPr algn="l">
                <a:lnSpc>
                  <a:spcPts val="2159"/>
                </a:lnSpc>
              </a:pP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2384344" y="8433374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7" y="0"/>
                </a:lnTo>
                <a:lnTo>
                  <a:pt x="153897" y="131582"/>
                </a:lnTo>
                <a:lnTo>
                  <a:pt x="0" y="1315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true" flipV="false" rot="-10451675">
            <a:off x="3994621" y="8077086"/>
            <a:ext cx="442622" cy="258934"/>
          </a:xfrm>
          <a:custGeom>
            <a:avLst/>
            <a:gdLst/>
            <a:ahLst/>
            <a:cxnLst/>
            <a:rect r="r" b="b" t="t" l="l"/>
            <a:pathLst>
              <a:path h="258934" w="442622">
                <a:moveTo>
                  <a:pt x="442622" y="0"/>
                </a:moveTo>
                <a:lnTo>
                  <a:pt x="0" y="0"/>
                </a:lnTo>
                <a:lnTo>
                  <a:pt x="0" y="258934"/>
                </a:lnTo>
                <a:lnTo>
                  <a:pt x="442622" y="258934"/>
                </a:lnTo>
                <a:lnTo>
                  <a:pt x="442622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2307180" y="6802122"/>
            <a:ext cx="1781343" cy="866469"/>
            <a:chOff x="0" y="0"/>
            <a:chExt cx="422538" cy="20552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22538" cy="205528"/>
            </a:xfrm>
            <a:custGeom>
              <a:avLst/>
              <a:gdLst/>
              <a:ahLst/>
              <a:cxnLst/>
              <a:rect r="r" b="b" t="t" l="l"/>
              <a:pathLst>
                <a:path h="205528" w="422538">
                  <a:moveTo>
                    <a:pt x="84885" y="0"/>
                  </a:moveTo>
                  <a:lnTo>
                    <a:pt x="337653" y="0"/>
                  </a:lnTo>
                  <a:cubicBezTo>
                    <a:pt x="360166" y="0"/>
                    <a:pt x="381756" y="8943"/>
                    <a:pt x="397675" y="24862"/>
                  </a:cubicBezTo>
                  <a:cubicBezTo>
                    <a:pt x="413594" y="40781"/>
                    <a:pt x="422538" y="62372"/>
                    <a:pt x="422538" y="84885"/>
                  </a:cubicBezTo>
                  <a:lnTo>
                    <a:pt x="422538" y="120643"/>
                  </a:lnTo>
                  <a:cubicBezTo>
                    <a:pt x="422538" y="167524"/>
                    <a:pt x="384533" y="205528"/>
                    <a:pt x="337653" y="205528"/>
                  </a:cubicBezTo>
                  <a:lnTo>
                    <a:pt x="84885" y="205528"/>
                  </a:lnTo>
                  <a:cubicBezTo>
                    <a:pt x="38004" y="205528"/>
                    <a:pt x="0" y="167524"/>
                    <a:pt x="0" y="120643"/>
                  </a:cubicBezTo>
                  <a:lnTo>
                    <a:pt x="0" y="84885"/>
                  </a:lnTo>
                  <a:cubicBezTo>
                    <a:pt x="0" y="38004"/>
                    <a:pt x="38004" y="0"/>
                    <a:pt x="84885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FF4444"/>
              </a:solidFill>
              <a:prstDash val="solid"/>
              <a:round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422538" cy="224578"/>
            </a:xfrm>
            <a:prstGeom prst="rect">
              <a:avLst/>
            </a:prstGeom>
          </p:spPr>
          <p:txBody>
            <a:bodyPr anchor="ctr" rtlCol="false" tIns="44067" lIns="44067" bIns="44067" rIns="44067"/>
            <a:lstStyle/>
            <a:p>
              <a:pPr algn="l">
                <a:lnSpc>
                  <a:spcPts val="2159"/>
                </a:lnSpc>
              </a:pP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2326212" y="7127739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6" y="0"/>
                </a:lnTo>
                <a:lnTo>
                  <a:pt x="153896" y="131582"/>
                </a:lnTo>
                <a:lnTo>
                  <a:pt x="0" y="1315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2326212" y="7332609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6" y="0"/>
                </a:lnTo>
                <a:lnTo>
                  <a:pt x="153896" y="131582"/>
                </a:lnTo>
                <a:lnTo>
                  <a:pt x="0" y="1315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true" rot="3501732">
            <a:off x="3965444" y="7266189"/>
            <a:ext cx="343458" cy="200923"/>
          </a:xfrm>
          <a:custGeom>
            <a:avLst/>
            <a:gdLst/>
            <a:ahLst/>
            <a:cxnLst/>
            <a:rect r="r" b="b" t="t" l="l"/>
            <a:pathLst>
              <a:path h="200923" w="343458">
                <a:moveTo>
                  <a:pt x="0" y="200923"/>
                </a:moveTo>
                <a:lnTo>
                  <a:pt x="343458" y="200923"/>
                </a:lnTo>
                <a:lnTo>
                  <a:pt x="343458" y="0"/>
                </a:lnTo>
                <a:lnTo>
                  <a:pt x="0" y="0"/>
                </a:lnTo>
                <a:lnTo>
                  <a:pt x="0" y="200923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1525372">
            <a:off x="4773576" y="6281535"/>
            <a:ext cx="660689" cy="346861"/>
          </a:xfrm>
          <a:custGeom>
            <a:avLst/>
            <a:gdLst/>
            <a:ahLst/>
            <a:cxnLst/>
            <a:rect r="r" b="b" t="t" l="l"/>
            <a:pathLst>
              <a:path h="346861" w="660689">
                <a:moveTo>
                  <a:pt x="0" y="0"/>
                </a:moveTo>
                <a:lnTo>
                  <a:pt x="660689" y="0"/>
                </a:lnTo>
                <a:lnTo>
                  <a:pt x="660689" y="346861"/>
                </a:lnTo>
                <a:lnTo>
                  <a:pt x="0" y="34686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7730744" y="6701588"/>
            <a:ext cx="2277421" cy="1094705"/>
            <a:chOff x="0" y="0"/>
            <a:chExt cx="540208" cy="25966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40208" cy="259666"/>
            </a:xfrm>
            <a:custGeom>
              <a:avLst/>
              <a:gdLst/>
              <a:ahLst/>
              <a:cxnLst/>
              <a:rect r="r" b="b" t="t" l="l"/>
              <a:pathLst>
                <a:path h="259666" w="540208">
                  <a:moveTo>
                    <a:pt x="66395" y="0"/>
                  </a:moveTo>
                  <a:lnTo>
                    <a:pt x="473813" y="0"/>
                  </a:lnTo>
                  <a:cubicBezTo>
                    <a:pt x="510482" y="0"/>
                    <a:pt x="540208" y="29726"/>
                    <a:pt x="540208" y="66395"/>
                  </a:cubicBezTo>
                  <a:lnTo>
                    <a:pt x="540208" y="193271"/>
                  </a:lnTo>
                  <a:cubicBezTo>
                    <a:pt x="540208" y="229940"/>
                    <a:pt x="510482" y="259666"/>
                    <a:pt x="473813" y="259666"/>
                  </a:cubicBezTo>
                  <a:lnTo>
                    <a:pt x="66395" y="259666"/>
                  </a:lnTo>
                  <a:cubicBezTo>
                    <a:pt x="29726" y="259666"/>
                    <a:pt x="0" y="229940"/>
                    <a:pt x="0" y="193271"/>
                  </a:cubicBezTo>
                  <a:lnTo>
                    <a:pt x="0" y="66395"/>
                  </a:lnTo>
                  <a:cubicBezTo>
                    <a:pt x="0" y="29726"/>
                    <a:pt x="29726" y="0"/>
                    <a:pt x="66395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2A8D49"/>
              </a:solidFill>
              <a:prstDash val="solid"/>
              <a:round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540208" cy="278716"/>
            </a:xfrm>
            <a:prstGeom prst="rect">
              <a:avLst/>
            </a:prstGeom>
          </p:spPr>
          <p:txBody>
            <a:bodyPr anchor="ctr" rtlCol="false" tIns="44067" lIns="44067" bIns="44067" rIns="44067"/>
            <a:lstStyle/>
            <a:p>
              <a:pPr algn="l">
                <a:lnSpc>
                  <a:spcPts val="2159"/>
                </a:lnSpc>
              </a:pP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7814973" y="7000252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6" y="0"/>
                </a:lnTo>
                <a:lnTo>
                  <a:pt x="153896" y="131582"/>
                </a:lnTo>
                <a:lnTo>
                  <a:pt x="0" y="1315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7814973" y="7346647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6" y="0"/>
                </a:lnTo>
                <a:lnTo>
                  <a:pt x="153896" y="131581"/>
                </a:lnTo>
                <a:lnTo>
                  <a:pt x="0" y="13158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7814973" y="7574817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6" y="0"/>
                </a:lnTo>
                <a:lnTo>
                  <a:pt x="153896" y="131582"/>
                </a:lnTo>
                <a:lnTo>
                  <a:pt x="0" y="1315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7288129" y="7943934"/>
            <a:ext cx="2189392" cy="1160701"/>
            <a:chOff x="0" y="0"/>
            <a:chExt cx="519327" cy="2753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19327" cy="275320"/>
            </a:xfrm>
            <a:custGeom>
              <a:avLst/>
              <a:gdLst/>
              <a:ahLst/>
              <a:cxnLst/>
              <a:rect r="r" b="b" t="t" l="l"/>
              <a:pathLst>
                <a:path h="275320" w="519327">
                  <a:moveTo>
                    <a:pt x="69065" y="0"/>
                  </a:moveTo>
                  <a:lnTo>
                    <a:pt x="450263" y="0"/>
                  </a:lnTo>
                  <a:cubicBezTo>
                    <a:pt x="488406" y="0"/>
                    <a:pt x="519327" y="30921"/>
                    <a:pt x="519327" y="69065"/>
                  </a:cubicBezTo>
                  <a:lnTo>
                    <a:pt x="519327" y="206256"/>
                  </a:lnTo>
                  <a:cubicBezTo>
                    <a:pt x="519327" y="244399"/>
                    <a:pt x="488406" y="275320"/>
                    <a:pt x="450263" y="275320"/>
                  </a:cubicBezTo>
                  <a:lnTo>
                    <a:pt x="69065" y="275320"/>
                  </a:lnTo>
                  <a:cubicBezTo>
                    <a:pt x="30921" y="275320"/>
                    <a:pt x="0" y="244399"/>
                    <a:pt x="0" y="206256"/>
                  </a:cubicBezTo>
                  <a:lnTo>
                    <a:pt x="0" y="69065"/>
                  </a:lnTo>
                  <a:cubicBezTo>
                    <a:pt x="0" y="30921"/>
                    <a:pt x="30921" y="0"/>
                    <a:pt x="69065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2A8D49"/>
              </a:solidFill>
              <a:prstDash val="solid"/>
              <a:round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519327" cy="294370"/>
            </a:xfrm>
            <a:prstGeom prst="rect">
              <a:avLst/>
            </a:prstGeom>
          </p:spPr>
          <p:txBody>
            <a:bodyPr anchor="ctr" rtlCol="false" tIns="44067" lIns="44067" bIns="44067" rIns="44067"/>
            <a:lstStyle/>
            <a:p>
              <a:pPr algn="l">
                <a:lnSpc>
                  <a:spcPts val="2159"/>
                </a:lnSpc>
              </a:pP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7330084" y="8268991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6" y="0"/>
                </a:lnTo>
                <a:lnTo>
                  <a:pt x="153896" y="131581"/>
                </a:lnTo>
                <a:lnTo>
                  <a:pt x="0" y="13158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7338551" y="8560803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7" y="0"/>
                </a:lnTo>
                <a:lnTo>
                  <a:pt x="153897" y="131581"/>
                </a:lnTo>
                <a:lnTo>
                  <a:pt x="0" y="13158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7330084" y="8808059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6" y="0"/>
                </a:lnTo>
                <a:lnTo>
                  <a:pt x="153896" y="131582"/>
                </a:lnTo>
                <a:lnTo>
                  <a:pt x="0" y="1315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365981" y="6705493"/>
            <a:ext cx="1912623" cy="1109608"/>
            <a:chOff x="0" y="0"/>
            <a:chExt cx="453677" cy="26320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53677" cy="263201"/>
            </a:xfrm>
            <a:custGeom>
              <a:avLst/>
              <a:gdLst/>
              <a:ahLst/>
              <a:cxnLst/>
              <a:rect r="r" b="b" t="t" l="l"/>
              <a:pathLst>
                <a:path h="263201" w="453677">
                  <a:moveTo>
                    <a:pt x="79059" y="0"/>
                  </a:moveTo>
                  <a:lnTo>
                    <a:pt x="374619" y="0"/>
                  </a:lnTo>
                  <a:cubicBezTo>
                    <a:pt x="418282" y="0"/>
                    <a:pt x="453677" y="35396"/>
                    <a:pt x="453677" y="79059"/>
                  </a:cubicBezTo>
                  <a:lnTo>
                    <a:pt x="453677" y="184142"/>
                  </a:lnTo>
                  <a:cubicBezTo>
                    <a:pt x="453677" y="205110"/>
                    <a:pt x="445348" y="225219"/>
                    <a:pt x="430522" y="240045"/>
                  </a:cubicBezTo>
                  <a:cubicBezTo>
                    <a:pt x="415695" y="254871"/>
                    <a:pt x="395586" y="263201"/>
                    <a:pt x="374619" y="263201"/>
                  </a:cubicBezTo>
                  <a:lnTo>
                    <a:pt x="79059" y="263201"/>
                  </a:lnTo>
                  <a:cubicBezTo>
                    <a:pt x="35396" y="263201"/>
                    <a:pt x="0" y="227805"/>
                    <a:pt x="0" y="184142"/>
                  </a:cubicBezTo>
                  <a:lnTo>
                    <a:pt x="0" y="79059"/>
                  </a:lnTo>
                  <a:cubicBezTo>
                    <a:pt x="0" y="35396"/>
                    <a:pt x="35396" y="0"/>
                    <a:pt x="79059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2A8D49"/>
              </a:solidFill>
              <a:prstDash val="solid"/>
              <a:round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453677" cy="282251"/>
            </a:xfrm>
            <a:prstGeom prst="rect">
              <a:avLst/>
            </a:prstGeom>
          </p:spPr>
          <p:txBody>
            <a:bodyPr anchor="ctr" rtlCol="false" tIns="44067" lIns="44067" bIns="44067" rIns="44067"/>
            <a:lstStyle/>
            <a:p>
              <a:pPr algn="l">
                <a:lnSpc>
                  <a:spcPts val="2159"/>
                </a:lnSpc>
              </a:pP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576129" y="6964143"/>
            <a:ext cx="1626276" cy="32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enerates congestion heatmaps and identifies congested corridors.and Calculates traffic density/volume trends from camera observations.</a:t>
            </a:r>
          </a:p>
          <a:p>
            <a:pPr algn="l">
              <a:lnSpc>
                <a:spcPts val="640"/>
              </a:lnSpc>
              <a:spcBef>
                <a:spcPct val="0"/>
              </a:spcBef>
            </a:pPr>
          </a:p>
        </p:txBody>
      </p:sp>
      <p:sp>
        <p:nvSpPr>
          <p:cNvPr name="Freeform 95" id="95"/>
          <p:cNvSpPr/>
          <p:nvPr/>
        </p:nvSpPr>
        <p:spPr>
          <a:xfrm flipH="false" flipV="false" rot="0">
            <a:off x="409690" y="7027479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6" y="0"/>
                </a:lnTo>
                <a:lnTo>
                  <a:pt x="153896" y="131581"/>
                </a:lnTo>
                <a:lnTo>
                  <a:pt x="0" y="13158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397147" y="7297264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6" y="0"/>
                </a:lnTo>
                <a:lnTo>
                  <a:pt x="153896" y="131581"/>
                </a:lnTo>
                <a:lnTo>
                  <a:pt x="0" y="13158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380986" y="7547853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7" y="0"/>
                </a:lnTo>
                <a:lnTo>
                  <a:pt x="153897" y="131581"/>
                </a:lnTo>
                <a:lnTo>
                  <a:pt x="0" y="13158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8" id="98"/>
          <p:cNvGrpSpPr/>
          <p:nvPr/>
        </p:nvGrpSpPr>
        <p:grpSpPr>
          <a:xfrm rot="0">
            <a:off x="368784" y="7943934"/>
            <a:ext cx="1795521" cy="1239283"/>
            <a:chOff x="0" y="0"/>
            <a:chExt cx="425901" cy="2939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25901" cy="293960"/>
            </a:xfrm>
            <a:custGeom>
              <a:avLst/>
              <a:gdLst/>
              <a:ahLst/>
              <a:cxnLst/>
              <a:rect r="r" b="b" t="t" l="l"/>
              <a:pathLst>
                <a:path h="293960" w="425901">
                  <a:moveTo>
                    <a:pt x="84215" y="0"/>
                  </a:moveTo>
                  <a:lnTo>
                    <a:pt x="341686" y="0"/>
                  </a:lnTo>
                  <a:cubicBezTo>
                    <a:pt x="388196" y="0"/>
                    <a:pt x="425901" y="37704"/>
                    <a:pt x="425901" y="84215"/>
                  </a:cubicBezTo>
                  <a:lnTo>
                    <a:pt x="425901" y="209745"/>
                  </a:lnTo>
                  <a:cubicBezTo>
                    <a:pt x="425901" y="256256"/>
                    <a:pt x="388196" y="293960"/>
                    <a:pt x="341686" y="293960"/>
                  </a:cubicBezTo>
                  <a:lnTo>
                    <a:pt x="84215" y="293960"/>
                  </a:lnTo>
                  <a:cubicBezTo>
                    <a:pt x="37704" y="293960"/>
                    <a:pt x="0" y="256256"/>
                    <a:pt x="0" y="209745"/>
                  </a:cubicBezTo>
                  <a:lnTo>
                    <a:pt x="0" y="84215"/>
                  </a:lnTo>
                  <a:cubicBezTo>
                    <a:pt x="0" y="37704"/>
                    <a:pt x="37704" y="0"/>
                    <a:pt x="84215" y="0"/>
                  </a:cubicBezTo>
                  <a:close/>
                </a:path>
              </a:pathLst>
            </a:custGeom>
            <a:solidFill>
              <a:srgbClr val="DCE6F2"/>
            </a:solidFill>
            <a:ln w="19050" cap="rnd">
              <a:solidFill>
                <a:srgbClr val="2A8D49"/>
              </a:solidFill>
              <a:prstDash val="solid"/>
              <a:round/>
            </a:ln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425901" cy="313010"/>
            </a:xfrm>
            <a:prstGeom prst="rect">
              <a:avLst/>
            </a:prstGeom>
          </p:spPr>
          <p:txBody>
            <a:bodyPr anchor="ctr" rtlCol="false" tIns="44067" lIns="44067" bIns="44067" rIns="44067"/>
            <a:lstStyle/>
            <a:p>
              <a:pPr algn="l">
                <a:lnSpc>
                  <a:spcPts val="2159"/>
                </a:lnSpc>
              </a:pP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606232" y="8165691"/>
            <a:ext cx="1509547" cy="32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esigned to accept imperfect ANPR results rather than assuming every plate read is correct and Uses confidence-aware normalization and fuzzy matching to tolerate OCR variations.</a:t>
            </a:r>
          </a:p>
        </p:txBody>
      </p:sp>
      <p:sp>
        <p:nvSpPr>
          <p:cNvPr name="Freeform 102" id="102"/>
          <p:cNvSpPr/>
          <p:nvPr/>
        </p:nvSpPr>
        <p:spPr>
          <a:xfrm flipH="false" flipV="false" rot="0">
            <a:off x="418434" y="8232152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7" y="0"/>
                </a:lnTo>
                <a:lnTo>
                  <a:pt x="153897" y="131582"/>
                </a:lnTo>
                <a:lnTo>
                  <a:pt x="0" y="1315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404710" y="8585590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7" y="0"/>
                </a:lnTo>
                <a:lnTo>
                  <a:pt x="153897" y="131582"/>
                </a:lnTo>
                <a:lnTo>
                  <a:pt x="0" y="1315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398664" y="8860047"/>
            <a:ext cx="153897" cy="131582"/>
          </a:xfrm>
          <a:custGeom>
            <a:avLst/>
            <a:gdLst/>
            <a:ahLst/>
            <a:cxnLst/>
            <a:rect r="r" b="b" t="t" l="l"/>
            <a:pathLst>
              <a:path h="131582" w="153897">
                <a:moveTo>
                  <a:pt x="0" y="0"/>
                </a:moveTo>
                <a:lnTo>
                  <a:pt x="153896" y="0"/>
                </a:lnTo>
                <a:lnTo>
                  <a:pt x="153896" y="131581"/>
                </a:lnTo>
                <a:lnTo>
                  <a:pt x="0" y="13158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true" rot="2088337">
            <a:off x="1876557" y="6840403"/>
            <a:ext cx="511061" cy="298971"/>
          </a:xfrm>
          <a:custGeom>
            <a:avLst/>
            <a:gdLst/>
            <a:ahLst/>
            <a:cxnLst/>
            <a:rect r="r" b="b" t="t" l="l"/>
            <a:pathLst>
              <a:path h="298971" w="511061">
                <a:moveTo>
                  <a:pt x="0" y="298970"/>
                </a:moveTo>
                <a:lnTo>
                  <a:pt x="511061" y="298970"/>
                </a:lnTo>
                <a:lnTo>
                  <a:pt x="511061" y="0"/>
                </a:lnTo>
                <a:lnTo>
                  <a:pt x="0" y="0"/>
                </a:lnTo>
                <a:lnTo>
                  <a:pt x="0" y="29897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6" id="106"/>
          <p:cNvSpPr/>
          <p:nvPr/>
        </p:nvSpPr>
        <p:spPr>
          <a:xfrm flipH="false" flipV="true" rot="2088337">
            <a:off x="2049295" y="8256602"/>
            <a:ext cx="366262" cy="214263"/>
          </a:xfrm>
          <a:custGeom>
            <a:avLst/>
            <a:gdLst/>
            <a:ahLst/>
            <a:cxnLst/>
            <a:rect r="r" b="b" t="t" l="l"/>
            <a:pathLst>
              <a:path h="214263" w="366262">
                <a:moveTo>
                  <a:pt x="0" y="214263"/>
                </a:moveTo>
                <a:lnTo>
                  <a:pt x="366262" y="214263"/>
                </a:lnTo>
                <a:lnTo>
                  <a:pt x="366262" y="0"/>
                </a:lnTo>
                <a:lnTo>
                  <a:pt x="0" y="0"/>
                </a:lnTo>
                <a:lnTo>
                  <a:pt x="0" y="214263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7787549">
            <a:off x="6910040" y="6858108"/>
            <a:ext cx="512039" cy="299543"/>
          </a:xfrm>
          <a:custGeom>
            <a:avLst/>
            <a:gdLst/>
            <a:ahLst/>
            <a:cxnLst/>
            <a:rect r="r" b="b" t="t" l="l"/>
            <a:pathLst>
              <a:path h="299543" w="512039">
                <a:moveTo>
                  <a:pt x="0" y="0"/>
                </a:moveTo>
                <a:lnTo>
                  <a:pt x="512040" y="0"/>
                </a:lnTo>
                <a:lnTo>
                  <a:pt x="512040" y="299543"/>
                </a:lnTo>
                <a:lnTo>
                  <a:pt x="0" y="29954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9822472">
            <a:off x="6957274" y="8282147"/>
            <a:ext cx="465267" cy="272181"/>
          </a:xfrm>
          <a:custGeom>
            <a:avLst/>
            <a:gdLst/>
            <a:ahLst/>
            <a:cxnLst/>
            <a:rect r="r" b="b" t="t" l="l"/>
            <a:pathLst>
              <a:path h="272181" w="465267">
                <a:moveTo>
                  <a:pt x="0" y="0"/>
                </a:moveTo>
                <a:lnTo>
                  <a:pt x="465267" y="0"/>
                </a:lnTo>
                <a:lnTo>
                  <a:pt x="465267" y="272181"/>
                </a:lnTo>
                <a:lnTo>
                  <a:pt x="0" y="27218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5400000">
            <a:off x="14457380" y="8193921"/>
            <a:ext cx="260382" cy="313713"/>
          </a:xfrm>
          <a:custGeom>
            <a:avLst/>
            <a:gdLst/>
            <a:ahLst/>
            <a:cxnLst/>
            <a:rect r="r" b="b" t="t" l="l"/>
            <a:pathLst>
              <a:path h="313713" w="260382">
                <a:moveTo>
                  <a:pt x="0" y="0"/>
                </a:moveTo>
                <a:lnTo>
                  <a:pt x="260382" y="0"/>
                </a:lnTo>
                <a:lnTo>
                  <a:pt x="260382" y="313713"/>
                </a:lnTo>
                <a:lnTo>
                  <a:pt x="0" y="3137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0" id="110"/>
          <p:cNvGrpSpPr/>
          <p:nvPr/>
        </p:nvGrpSpPr>
        <p:grpSpPr>
          <a:xfrm rot="0">
            <a:off x="15733805" y="161849"/>
            <a:ext cx="2494321" cy="1267835"/>
            <a:chOff x="0" y="0"/>
            <a:chExt cx="4418241" cy="224574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-270" t="0" r="-270" b="0"/>
              </a:stretch>
            </a:blipFill>
          </p:spPr>
        </p:sp>
      </p:grpSp>
      <p:sp>
        <p:nvSpPr>
          <p:cNvPr name="Freeform 112" id="112"/>
          <p:cNvSpPr/>
          <p:nvPr/>
        </p:nvSpPr>
        <p:spPr>
          <a:xfrm flipH="false" flipV="false" rot="0">
            <a:off x="10152374" y="2446262"/>
            <a:ext cx="642072" cy="401295"/>
          </a:xfrm>
          <a:custGeom>
            <a:avLst/>
            <a:gdLst/>
            <a:ahLst/>
            <a:cxnLst/>
            <a:rect r="r" b="b" t="t" l="l"/>
            <a:pathLst>
              <a:path h="401295" w="642072">
                <a:moveTo>
                  <a:pt x="0" y="0"/>
                </a:moveTo>
                <a:lnTo>
                  <a:pt x="642072" y="0"/>
                </a:lnTo>
                <a:lnTo>
                  <a:pt x="642072" y="401295"/>
                </a:lnTo>
                <a:lnTo>
                  <a:pt x="0" y="40129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3" id="113"/>
          <p:cNvSpPr txBox="true"/>
          <p:nvPr/>
        </p:nvSpPr>
        <p:spPr>
          <a:xfrm rot="0">
            <a:off x="598741" y="2975361"/>
            <a:ext cx="175237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b="true" sz="120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CAPTURE → CONVERT TO EVENTS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00405" y="3461307"/>
            <a:ext cx="2095018" cy="209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8877" indent="-89439" lvl="1">
              <a:lnSpc>
                <a:spcPts val="994"/>
              </a:lnSpc>
              <a:buFont typeface="Arial"/>
              <a:buChar char="•"/>
            </a:pPr>
            <a:r>
              <a:rPr lang="en-US" sz="82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Inste</a:t>
            </a:r>
            <a:r>
              <a:rPr lang="en-US" sz="82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ad of sending continuous video to the central server, each camera generates a lightweight event containing plate, timestamp, camera ID, location and confidence.</a:t>
            </a:r>
          </a:p>
          <a:p>
            <a:pPr algn="l">
              <a:lnSpc>
                <a:spcPts val="994"/>
              </a:lnSpc>
              <a:spcBef>
                <a:spcPct val="0"/>
              </a:spcBef>
            </a:pPr>
          </a:p>
          <a:p>
            <a:pPr algn="l" marL="178877" indent="-89439" lvl="1">
              <a:lnSpc>
                <a:spcPts val="994"/>
              </a:lnSpc>
              <a:buFont typeface="Arial"/>
              <a:buChar char="•"/>
            </a:pPr>
            <a:r>
              <a:rPr lang="en-US" sz="82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Our Delhi demonstration uses ~60 virtual ANPR camera/gate locations placed on real Delhi junctions such as CP, India Gate, Lodi Road and South Ex.</a:t>
            </a:r>
          </a:p>
          <a:p>
            <a:pPr algn="l">
              <a:lnSpc>
                <a:spcPts val="994"/>
              </a:lnSpc>
              <a:spcBef>
                <a:spcPct val="0"/>
              </a:spcBef>
            </a:pPr>
          </a:p>
          <a:p>
            <a:pPr algn="l" marL="178877" indent="-89439" lvl="1">
              <a:lnSpc>
                <a:spcPts val="994"/>
              </a:lnSpc>
              <a:buFont typeface="Arial"/>
              <a:buChar char="•"/>
            </a:pPr>
            <a:r>
              <a:rPr lang="en-US" sz="82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Standardized ingestion: Every source follows the same POST /ingest/v1/events contract, so replacing simulated feeds with real camera feeds does not require redesigning the downstream system.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3554588" y="2880544"/>
            <a:ext cx="175237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b="true" sz="120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ONE VEHICLE, ONE IDENTITY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3322892" y="3385369"/>
            <a:ext cx="2095018" cy="228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4880" indent="-87440" lvl="1">
              <a:lnSpc>
                <a:spcPts val="972"/>
              </a:lnSpc>
              <a:buFont typeface="Arial"/>
              <a:buChar char="•"/>
            </a:pPr>
            <a:r>
              <a:rPr lang="en-US" sz="81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Raw plate readings are canonicalized into a consistent format before processing.</a:t>
            </a:r>
          </a:p>
          <a:p>
            <a:pPr algn="l">
              <a:lnSpc>
                <a:spcPts val="972"/>
              </a:lnSpc>
            </a:pPr>
          </a:p>
          <a:p>
            <a:pPr algn="l" marL="174880" indent="-87440" lvl="1">
              <a:lnSpc>
                <a:spcPts val="972"/>
              </a:lnSpc>
              <a:buFont typeface="Arial"/>
              <a:buChar char="•"/>
            </a:pPr>
            <a:r>
              <a:rPr lang="en-US" sz="81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The system compares OCR variants instead of blindly trusting every reading.</a:t>
            </a:r>
          </a:p>
          <a:p>
            <a:pPr algn="l">
              <a:lnSpc>
                <a:spcPts val="972"/>
              </a:lnSpc>
            </a:pPr>
          </a:p>
          <a:p>
            <a:pPr algn="l" marL="174880" indent="-87440" lvl="1">
              <a:lnSpc>
                <a:spcPts val="972"/>
              </a:lnSpc>
              <a:buFont typeface="Arial"/>
              <a:buChar char="•"/>
            </a:pPr>
            <a:r>
              <a:rPr lang="en-US" sz="81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Plates with up to one-character difference can be associated when they occur within a 10-minute temporal window.</a:t>
            </a:r>
          </a:p>
          <a:p>
            <a:pPr algn="l">
              <a:lnSpc>
                <a:spcPts val="972"/>
              </a:lnSpc>
            </a:pPr>
          </a:p>
          <a:p>
            <a:pPr algn="l" marL="174880" indent="-87440" lvl="1">
              <a:lnSpc>
                <a:spcPts val="972"/>
              </a:lnSpc>
              <a:buFont typeface="Arial"/>
              <a:buChar char="•"/>
            </a:pPr>
            <a:r>
              <a:rPr lang="en-US" sz="81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DL51AB1234 → DL51AB123I → DL51AB1234 can still be treated as the same vehicle observation sequence.</a:t>
            </a:r>
          </a:p>
          <a:p>
            <a:pPr algn="l">
              <a:lnSpc>
                <a:spcPts val="972"/>
              </a:lnSpc>
            </a:pPr>
          </a:p>
          <a:p>
            <a:pPr algn="l" marL="174880" indent="-87440" lvl="1">
              <a:lnSpc>
                <a:spcPts val="972"/>
              </a:lnSpc>
              <a:buFont typeface="Arial"/>
              <a:buChar char="•"/>
            </a:pPr>
            <a:r>
              <a:rPr lang="en-US" sz="81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Missed detections create gaps rather than automatically breaking the vehicle's identity, improving trajectory robustness under imperfect ANPR. 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6575037" y="2905156"/>
            <a:ext cx="175237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b="true" sz="120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SIGHTINGS TO JOURNEY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6380481" y="3353701"/>
            <a:ext cx="2095018" cy="226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2720" indent="-86360" lvl="1">
              <a:lnSpc>
                <a:spcPts val="959"/>
              </a:lnSpc>
              <a:buFont typeface="Arial"/>
              <a:buChar char="•"/>
            </a:pPr>
            <a:r>
              <a:rPr lang="en-US" b="true" sz="799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Cross-camera trajectory reconstruction</a:t>
            </a:r>
            <a:r>
              <a:rPr lang="en-US" sz="7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: Connects detections of the same vehicle across multiple ANPR cameras</a:t>
            </a:r>
          </a:p>
          <a:p>
            <a:pPr algn="l">
              <a:lnSpc>
                <a:spcPts val="959"/>
              </a:lnSpc>
            </a:pPr>
          </a:p>
          <a:p>
            <a:pPr algn="l" marL="172720" indent="-86360" lvl="1">
              <a:lnSpc>
                <a:spcPts val="959"/>
              </a:lnSpc>
              <a:buFont typeface="Arial"/>
              <a:buChar char="•"/>
            </a:pPr>
            <a:r>
              <a:rPr lang="en-US" sz="7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Each detection contributes camera location + timestamp + confidence to the vehicle's journey.</a:t>
            </a:r>
          </a:p>
          <a:p>
            <a:pPr algn="l">
              <a:lnSpc>
                <a:spcPts val="959"/>
              </a:lnSpc>
            </a:pPr>
          </a:p>
          <a:p>
            <a:pPr algn="l" marL="172720" indent="-86360" lvl="1">
              <a:lnSpc>
                <a:spcPts val="959"/>
              </a:lnSpc>
              <a:buFont typeface="Arial"/>
              <a:buChar char="•"/>
            </a:pPr>
            <a:r>
              <a:rPr lang="en-US" sz="7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The reconstructed route is drawn directly on the Delhi road network.</a:t>
            </a:r>
          </a:p>
          <a:p>
            <a:pPr algn="l">
              <a:lnSpc>
                <a:spcPts val="959"/>
              </a:lnSpc>
            </a:pPr>
          </a:p>
          <a:p>
            <a:pPr algn="l" marL="172720" indent="-86360" lvl="1">
              <a:lnSpc>
                <a:spcPts val="959"/>
              </a:lnSpc>
              <a:buFont typeface="Arial"/>
              <a:buChar char="•"/>
            </a:pPr>
            <a:r>
              <a:rPr lang="en-US" b="true" sz="799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Journey intelligence</a:t>
            </a:r>
            <a:r>
              <a:rPr lang="en-US" sz="7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: The system derives inter-camera travel information such as hop timing and speed where data supports it.</a:t>
            </a:r>
          </a:p>
          <a:p>
            <a:pPr algn="l">
              <a:lnSpc>
                <a:spcPts val="959"/>
              </a:lnSpc>
            </a:pPr>
          </a:p>
          <a:p>
            <a:pPr algn="l" marL="172720" indent="-86360" lvl="1">
              <a:lnSpc>
                <a:spcPts val="959"/>
              </a:lnSpc>
              <a:buFont typeface="Arial"/>
              <a:buChar char="•"/>
            </a:pPr>
            <a:r>
              <a:rPr lang="en-US" sz="7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Authorities can search a plate and view its route, detection sequence and timeline.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9510510" y="2905156"/>
            <a:ext cx="197174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b="true" sz="120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INDIVIDUAL VEHICLES → CITY-LEVEL INSIGHTS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9477521" y="3363226"/>
            <a:ext cx="2095018" cy="218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0560" indent="-85280" lvl="1">
              <a:lnSpc>
                <a:spcPts val="876"/>
              </a:lnSpc>
              <a:buFont typeface="Arial"/>
              <a:buChar char="•"/>
            </a:pPr>
            <a:r>
              <a:rPr lang="en-US" sz="78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Real-time traffic density: Aggregates camera observations into traffic-volume rollups and map-based heatmaps.</a:t>
            </a:r>
          </a:p>
          <a:p>
            <a:pPr algn="l">
              <a:lnSpc>
                <a:spcPts val="876"/>
              </a:lnSpc>
            </a:pPr>
          </a:p>
          <a:p>
            <a:pPr algn="l" marL="170560" indent="-85280" lvl="1">
              <a:lnSpc>
                <a:spcPts val="876"/>
              </a:lnSpc>
              <a:buFont typeface="Arial"/>
              <a:buChar char="•"/>
            </a:pPr>
            <a:r>
              <a:rPr lang="en-US" sz="78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Congestion detection: Compares observed travel time against a free-flow reference to identify heavy/congested corridors.</a:t>
            </a:r>
          </a:p>
          <a:p>
            <a:pPr algn="l">
              <a:lnSpc>
                <a:spcPts val="876"/>
              </a:lnSpc>
            </a:pPr>
          </a:p>
          <a:p>
            <a:pPr algn="l" marL="170560" indent="-85280" lvl="1">
              <a:lnSpc>
                <a:spcPts val="876"/>
              </a:lnSpc>
              <a:buFont typeface="Arial"/>
              <a:buChar char="•"/>
            </a:pPr>
            <a:r>
              <a:rPr lang="en-US" sz="78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Origin–Destination analysis: Determines aggregated movement between camera regions — essentially “Where are vehicles coming from and where are they going?”</a:t>
            </a:r>
          </a:p>
          <a:p>
            <a:pPr algn="l">
              <a:lnSpc>
                <a:spcPts val="876"/>
              </a:lnSpc>
            </a:pPr>
          </a:p>
          <a:p>
            <a:pPr algn="l" marL="170560" indent="-85280" lvl="1">
              <a:lnSpc>
                <a:spcPts val="876"/>
              </a:lnSpc>
              <a:buFont typeface="Arial"/>
              <a:buChar char="•"/>
            </a:pPr>
            <a:r>
              <a:rPr lang="en-US" sz="78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Peak-hour analysis: Tracks traffic trends across time windows to identify changing traffic patterns.</a:t>
            </a:r>
          </a:p>
          <a:p>
            <a:pPr algn="l">
              <a:lnSpc>
                <a:spcPts val="876"/>
              </a:lnSpc>
            </a:pPr>
          </a:p>
          <a:p>
            <a:pPr algn="l" marL="170560" indent="-85280" lvl="1">
              <a:lnSpc>
                <a:spcPts val="876"/>
              </a:lnSpc>
              <a:buFont typeface="Arial"/>
              <a:buChar char="•"/>
            </a:pPr>
            <a:r>
              <a:rPr lang="en-US" sz="78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Camera health analytics: Monitors expected vs observed detections to identify healthy, degraded or down cameras.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2689921" y="2951574"/>
            <a:ext cx="175237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b="true" sz="120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DETECT → ALERT → INVESTIGATE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2515515" y="3383016"/>
            <a:ext cx="2095018" cy="234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8877" indent="-89439" lvl="1">
              <a:lnSpc>
                <a:spcPts val="994"/>
              </a:lnSpc>
              <a:buFont typeface="Arial"/>
              <a:buChar char="•"/>
            </a:pPr>
            <a:r>
              <a:rPr lang="en-US" b="true" sz="828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Blacklisted vehicle</a:t>
            </a:r>
          </a:p>
          <a:p>
            <a:pPr algn="l">
              <a:lnSpc>
                <a:spcPts val="994"/>
              </a:lnSpc>
            </a:pPr>
            <a:r>
              <a:rPr lang="en-US" sz="82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2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Authority adds a vehicle plate to the blacklist.</a:t>
            </a:r>
          </a:p>
          <a:p>
            <a:pPr algn="l">
              <a:lnSpc>
                <a:spcPts val="994"/>
              </a:lnSpc>
            </a:pPr>
            <a:r>
              <a:rPr lang="en-US" sz="82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 matching detection automatically generates a blacklist alert.</a:t>
            </a:r>
          </a:p>
          <a:p>
            <a:pPr algn="l">
              <a:lnSpc>
                <a:spcPts val="994"/>
              </a:lnSpc>
            </a:pPr>
            <a:r>
              <a:rPr lang="en-US" sz="82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Alert is published to the dashboard for operator acknowledgement/investigation.</a:t>
            </a:r>
          </a:p>
          <a:p>
            <a:pPr algn="l">
              <a:lnSpc>
                <a:spcPts val="994"/>
              </a:lnSpc>
            </a:pPr>
          </a:p>
          <a:p>
            <a:pPr algn="l" marL="178877" indent="-89439" lvl="1">
              <a:lnSpc>
                <a:spcPts val="994"/>
              </a:lnSpc>
              <a:buFont typeface="Arial"/>
              <a:buChar char="•"/>
            </a:pPr>
            <a:r>
              <a:rPr lang="en-US" b="true" sz="828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Impossible travel</a:t>
            </a:r>
          </a:p>
          <a:p>
            <a:pPr algn="l">
              <a:lnSpc>
                <a:spcPts val="994"/>
              </a:lnSpc>
            </a:pPr>
            <a:r>
              <a:rPr lang="en-US" sz="82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The system compares detections of the same plate across cameras.</a:t>
            </a:r>
          </a:p>
          <a:p>
            <a:pPr algn="l">
              <a:lnSpc>
                <a:spcPts val="994"/>
              </a:lnSpc>
            </a:pPr>
            <a:r>
              <a:rPr lang="en-US" sz="82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If the vehicle appears at another location faster than physically possible, it generates an impossible-travel alert.</a:t>
            </a:r>
          </a:p>
          <a:p>
            <a:pPr algn="l">
              <a:lnSpc>
                <a:spcPts val="994"/>
              </a:lnSpc>
            </a:pPr>
          </a:p>
          <a:p>
            <a:pPr algn="l" marL="178877" indent="-89439" lvl="1">
              <a:lnSpc>
                <a:spcPts val="994"/>
              </a:lnSpc>
              <a:buFont typeface="Arial"/>
              <a:buChar char="•"/>
            </a:pPr>
            <a:r>
              <a:rPr lang="en-US" b="true" sz="828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Camera anomalies</a:t>
            </a:r>
          </a:p>
          <a:p>
            <a:pPr algn="l">
              <a:lnSpc>
                <a:spcPts val="994"/>
              </a:lnSpc>
            </a:pPr>
            <a:r>
              <a:rPr lang="en-US" sz="82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Monitors camera observation patterns against expected activity.</a:t>
            </a:r>
          </a:p>
          <a:p>
            <a:pPr algn="l">
              <a:lnSpc>
                <a:spcPts val="994"/>
              </a:lnSpc>
            </a:pPr>
          </a:p>
        </p:txBody>
      </p:sp>
      <p:sp>
        <p:nvSpPr>
          <p:cNvPr name="TextBox 123" id="123"/>
          <p:cNvSpPr txBox="true"/>
          <p:nvPr/>
        </p:nvSpPr>
        <p:spPr>
          <a:xfrm rot="0">
            <a:off x="15641560" y="2982226"/>
            <a:ext cx="175237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b="true" sz="120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ONE OPERATIONAL VIEW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5491004" y="3383016"/>
            <a:ext cx="2095018" cy="2233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0561" indent="-85281" lvl="1">
              <a:lnSpc>
                <a:spcPts val="948"/>
              </a:lnSpc>
              <a:buFont typeface="Arial"/>
              <a:buChar char="•"/>
            </a:pPr>
            <a:r>
              <a:rPr lang="en-US" sz="7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Centralized command interface: Combines the city map, vehicle trajectories, traffic analytics, camera health and alerts.</a:t>
            </a:r>
          </a:p>
          <a:p>
            <a:pPr algn="l">
              <a:lnSpc>
                <a:spcPts val="948"/>
              </a:lnSpc>
            </a:pPr>
          </a:p>
          <a:p>
            <a:pPr algn="l" marL="170561" indent="-85281" lvl="1">
              <a:lnSpc>
                <a:spcPts val="948"/>
              </a:lnSpc>
              <a:buFont typeface="Arial"/>
              <a:buChar char="•"/>
            </a:pPr>
            <a:r>
              <a:rPr lang="en-US" sz="7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Live GIS map: Displays cameras, traffic heatmaps and active vehicle movement.</a:t>
            </a:r>
          </a:p>
          <a:p>
            <a:pPr algn="l">
              <a:lnSpc>
                <a:spcPts val="948"/>
              </a:lnSpc>
            </a:pPr>
          </a:p>
          <a:p>
            <a:pPr algn="l" marL="170561" indent="-85281" lvl="1">
              <a:lnSpc>
                <a:spcPts val="948"/>
              </a:lnSpc>
              <a:buFont typeface="Arial"/>
              <a:buChar char="•"/>
            </a:pPr>
            <a:r>
              <a:rPr lang="en-US" sz="7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Alert management: View, acknowledge and investigate blacklist/impossible-travel/anomaly alerts.</a:t>
            </a:r>
          </a:p>
          <a:p>
            <a:pPr algn="l">
              <a:lnSpc>
                <a:spcPts val="948"/>
              </a:lnSpc>
            </a:pPr>
          </a:p>
          <a:p>
            <a:pPr algn="l" marL="170561" indent="-85281" lvl="1">
              <a:lnSpc>
                <a:spcPts val="948"/>
              </a:lnSpc>
              <a:buFont typeface="Arial"/>
              <a:buChar char="•"/>
            </a:pPr>
            <a:r>
              <a:rPr lang="en-US" sz="7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Analytics view: Provides congestion, traffic volume, OD patterns and camera-health information.</a:t>
            </a:r>
          </a:p>
          <a:p>
            <a:pPr algn="l">
              <a:lnSpc>
                <a:spcPts val="948"/>
              </a:lnSpc>
            </a:pPr>
          </a:p>
          <a:p>
            <a:pPr algn="l" marL="170561" indent="-85281" lvl="1">
              <a:lnSpc>
                <a:spcPts val="948"/>
              </a:lnSpc>
              <a:buFont typeface="Arial"/>
              <a:buChar char="•"/>
            </a:pPr>
            <a:r>
              <a:rPr lang="en-US" sz="7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Operator-focused design: Information is organized for quick investigation rather than requiring authorities to switch between multiple systems. 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610906" y="9735161"/>
            <a:ext cx="1616381" cy="15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"/>
              </a:lnSpc>
              <a:spcBef>
                <a:spcPct val="0"/>
              </a:spcBef>
            </a:pPr>
            <a:r>
              <a:rPr lang="en-US" sz="5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Miss</a:t>
            </a:r>
            <a:r>
              <a:rPr lang="en-US" sz="5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ed detections create trajectory gaps instead of automatically terminating vehicle identity.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7968869" y="6764549"/>
            <a:ext cx="1895324" cy="1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5"/>
              </a:lnSpc>
              <a:spcBef>
                <a:spcPct val="0"/>
              </a:spcBef>
            </a:pPr>
            <a:r>
              <a:rPr lang="en-US" b="true" sz="954" spc="-17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Unifi</a:t>
            </a:r>
            <a:r>
              <a:rPr lang="en-US" b="true" sz="954" spc="-17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ed Event-Based Network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7517986" y="8006790"/>
            <a:ext cx="1725705" cy="22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"/>
              </a:lnSpc>
            </a:pPr>
            <a:r>
              <a:rPr lang="en-US" b="true" sz="954" spc="-17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City-Wid</a:t>
            </a:r>
            <a:r>
              <a:rPr lang="en-US" b="true" sz="954" spc="-17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 Trajectory Reconstruction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879543" y="6174169"/>
            <a:ext cx="3569660" cy="49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1"/>
              </a:lnSpc>
              <a:spcBef>
                <a:spcPct val="0"/>
              </a:spcBef>
            </a:pPr>
            <a:r>
              <a:rPr lang="en-US" b="true" sz="3151">
                <a:solidFill>
                  <a:srgbClr val="FF44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problem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5741887" y="6882482"/>
            <a:ext cx="1065384" cy="16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"/>
              </a:lnSpc>
              <a:spcBef>
                <a:spcPct val="0"/>
              </a:spcBef>
            </a:pPr>
            <a:r>
              <a:rPr lang="en-US" b="true" sz="104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Isolated Data Silos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5451941" y="7090323"/>
            <a:ext cx="1645276" cy="16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Existing CCTV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and ANPR cameras operate independently without communication between nodes.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5451941" y="7368315"/>
            <a:ext cx="1645276" cy="16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Data is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captured locally, preventing central visibility across different sectors or jurisdiction boundaries.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5552729" y="7962984"/>
            <a:ext cx="1065384" cy="23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"/>
              </a:lnSpc>
            </a:pPr>
            <a:r>
              <a:rPr lang="en-US" b="true" sz="954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Inability to Track Vehicle Trajectories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5476729" y="8247357"/>
            <a:ext cx="1402134" cy="24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Lack of spatial-temporal data linking m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akes it impossible to trace a vehicle's continuous journey across the city.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5476729" y="8541757"/>
            <a:ext cx="1402134" cy="24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Security agencies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cannot efficiently recreate historical routes of high-interest or blacklisted vehicles.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2665159" y="8043112"/>
            <a:ext cx="1167227" cy="36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"/>
              </a:lnSpc>
            </a:pPr>
            <a:r>
              <a:rPr lang="en-US" b="true" sz="954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Envir</a:t>
            </a:r>
            <a:r>
              <a:rPr lang="en-US" b="true" sz="954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onmental &amp; Real-World Accuracy Drop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2571291" y="8393240"/>
            <a:ext cx="1402134" cy="32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Standard OCR systems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degrade under real-world conditions like motion blur, extreme angles, bad weather, poor lighting, or damaged license plates.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2588679" y="6863355"/>
            <a:ext cx="1215896" cy="233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"/>
              </a:lnSpc>
            </a:pPr>
            <a:r>
              <a:rPr lang="en-US" b="true" sz="954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Lack </a:t>
            </a:r>
            <a:r>
              <a:rPr lang="en-US" b="true" sz="954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 Macro-Level Traffic Insights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2534640" y="7110883"/>
            <a:ext cx="1402134" cy="16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amera infrastructure only performs localized detection (e.g., spot-checking a single lane).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2534640" y="7323084"/>
            <a:ext cx="1402134" cy="24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It fails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to extract aggregated trends like overall city traffic density, origin-destination patterns, or system-wide bottleneck locations.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5504991" y="6150933"/>
            <a:ext cx="3569660" cy="49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1"/>
              </a:lnSpc>
              <a:spcBef>
                <a:spcPct val="0"/>
              </a:spcBef>
            </a:pPr>
            <a:r>
              <a:rPr lang="en-US" b="true" sz="3151">
                <a:solidFill>
                  <a:srgbClr val="2A8D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solution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8018004" y="6941706"/>
            <a:ext cx="1913911" cy="40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Connects multiple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ANPR camera sources through a common event-ingestion layer and standardizes event containing plate, timestamp, camera ID/location and confidence for each camera sighting.</a:t>
            </a:r>
          </a:p>
          <a:p>
            <a:pPr algn="l">
              <a:lnSpc>
                <a:spcPts val="640"/>
              </a:lnSpc>
              <a:spcBef>
                <a:spcPct val="0"/>
              </a:spcBef>
            </a:pPr>
          </a:p>
        </p:txBody>
      </p:sp>
      <p:sp>
        <p:nvSpPr>
          <p:cNvPr name="TextBox 142" id="142"/>
          <p:cNvSpPr txBox="true"/>
          <p:nvPr/>
        </p:nvSpPr>
        <p:spPr>
          <a:xfrm rot="0">
            <a:off x="8036503" y="7311862"/>
            <a:ext cx="1876911" cy="24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Redis-b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ased real-time event processing and Stores events centrally in PostgreSQL + PostGIS + TimescaleDB, creating a common source of truth.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8036503" y="7594800"/>
            <a:ext cx="1876911" cy="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Compatible with future RTSP/edge camera feeds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7517986" y="8229946"/>
            <a:ext cx="1857314" cy="40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Links vehicle detections from different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cameras using plate normalization + fuzzy matching and Handles minor OCR errors so one incorrect character does not immediately break the vehicle's journey.</a:t>
            </a:r>
          </a:p>
          <a:p>
            <a:pPr algn="l">
              <a:lnSpc>
                <a:spcPts val="640"/>
              </a:lnSpc>
              <a:spcBef>
                <a:spcPct val="0"/>
              </a:spcBef>
            </a:pPr>
          </a:p>
        </p:txBody>
      </p:sp>
      <p:sp>
        <p:nvSpPr>
          <p:cNvPr name="TextBox 145" id="145"/>
          <p:cNvSpPr txBox="true"/>
          <p:nvPr/>
        </p:nvSpPr>
        <p:spPr>
          <a:xfrm rot="0">
            <a:off x="7517986" y="8576065"/>
            <a:ext cx="1809546" cy="16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Uses timestamp + camera location + matching confidence to reconstruct the vehicle's movement.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7517986" y="8772049"/>
            <a:ext cx="1857314" cy="32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Displays the reconstructed journey on a GIS map and p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rovides trajectory search so authorities can investigate a vehicle using its plate.</a:t>
            </a:r>
          </a:p>
          <a:p>
            <a:pPr algn="l">
              <a:lnSpc>
                <a:spcPts val="640"/>
              </a:lnSpc>
              <a:spcBef>
                <a:spcPct val="0"/>
              </a:spcBef>
            </a:pPr>
          </a:p>
        </p:txBody>
      </p:sp>
      <p:sp>
        <p:nvSpPr>
          <p:cNvPr name="TextBox 147" id="147"/>
          <p:cNvSpPr txBox="true"/>
          <p:nvPr/>
        </p:nvSpPr>
        <p:spPr>
          <a:xfrm rot="0">
            <a:off x="600906" y="6757072"/>
            <a:ext cx="1464516" cy="233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"/>
              </a:lnSpc>
            </a:pPr>
            <a:r>
              <a:rPr lang="en-US" b="true" sz="954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City</a:t>
            </a:r>
            <a:r>
              <a:rPr lang="en-US" b="true" sz="954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-Wide Traffic Intelligence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563586" y="7248960"/>
            <a:ext cx="1638819" cy="32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enerates Origin–Destination (OD) patterns from vehicle movement between camera regions.and Calculates travel-time/congestion indicators for monitored corridors.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551043" y="7594800"/>
            <a:ext cx="1581044" cy="16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rovides camera health/coverage analytics to indicate where data may be unreliable.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672184" y="8016085"/>
            <a:ext cx="1215896" cy="1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"/>
              </a:lnSpc>
            </a:pPr>
            <a:r>
              <a:rPr lang="en-US" b="true" sz="954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Robust</a:t>
            </a:r>
            <a:r>
              <a:rPr lang="en-US" b="true" sz="954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ANPR Pipeline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606232" y="8532409"/>
            <a:ext cx="1414677" cy="24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Miss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ed detections create trajectory gaps instead of automatically terminating vehicle identity.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595680" y="8827020"/>
            <a:ext cx="1425229" cy="24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"/>
              </a:lnSpc>
              <a:spcBef>
                <a:spcPct val="0"/>
              </a:spcBef>
            </a:pP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Plann</a:t>
            </a:r>
            <a:r>
              <a:rPr lang="en-US" sz="533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ed YOLO + PP-OCRv4 production pipeline and Target: &gt;90% accuracy across conditions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1334103" y="6134611"/>
            <a:ext cx="619322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299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We don't just detect vehicles—we connect their movement to understand the city.</a:t>
            </a:r>
          </a:p>
          <a:p>
            <a:pPr algn="ctr">
              <a:lnSpc>
                <a:spcPts val="2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359088" y="134093"/>
            <a:ext cx="2791640" cy="1411329"/>
          </a:xfrm>
          <a:custGeom>
            <a:avLst/>
            <a:gdLst/>
            <a:ahLst/>
            <a:cxnLst/>
            <a:rect r="r" b="b" t="t" l="l"/>
            <a:pathLst>
              <a:path h="1411329" w="2791640">
                <a:moveTo>
                  <a:pt x="0" y="0"/>
                </a:moveTo>
                <a:lnTo>
                  <a:pt x="2791640" y="0"/>
                </a:lnTo>
                <a:lnTo>
                  <a:pt x="2791640" y="1411329"/>
                </a:lnTo>
                <a:lnTo>
                  <a:pt x="0" y="1411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29849" y="-73040"/>
            <a:ext cx="18584847" cy="10453976"/>
          </a:xfrm>
          <a:custGeom>
            <a:avLst/>
            <a:gdLst/>
            <a:ahLst/>
            <a:cxnLst/>
            <a:rect r="r" b="b" t="t" l="l"/>
            <a:pathLst>
              <a:path h="10453976" w="18584847">
                <a:moveTo>
                  <a:pt x="0" y="0"/>
                </a:moveTo>
                <a:lnTo>
                  <a:pt x="18584847" y="0"/>
                </a:lnTo>
                <a:lnTo>
                  <a:pt x="18584847" y="10453976"/>
                </a:lnTo>
                <a:lnTo>
                  <a:pt x="0" y="10453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-73040"/>
            <a:ext cx="18454998" cy="10578292"/>
          </a:xfrm>
          <a:custGeom>
            <a:avLst/>
            <a:gdLst/>
            <a:ahLst/>
            <a:cxnLst/>
            <a:rect r="r" b="b" t="t" l="l"/>
            <a:pathLst>
              <a:path h="10578292" w="18454998">
                <a:moveTo>
                  <a:pt x="0" y="0"/>
                </a:moveTo>
                <a:lnTo>
                  <a:pt x="18454998" y="0"/>
                </a:lnTo>
                <a:lnTo>
                  <a:pt x="18454998" y="10578292"/>
                </a:lnTo>
                <a:lnTo>
                  <a:pt x="0" y="105782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50" t="0" r="-95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9750396"/>
            <a:ext cx="18288000" cy="754856"/>
            <a:chOff x="0" y="0"/>
            <a:chExt cx="24384000" cy="10064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78521" y="9750396"/>
            <a:ext cx="4806001" cy="547688"/>
            <a:chOff x="0" y="0"/>
            <a:chExt cx="6408001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Team: Baazigars     SIH26127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564699" y="9750396"/>
            <a:ext cx="4267200" cy="547688"/>
            <a:chOff x="0" y="0"/>
            <a:chExt cx="5689600" cy="730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322532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85405" y="85649"/>
            <a:ext cx="1915887" cy="124910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Baazigars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505690" y="85649"/>
            <a:ext cx="2570036" cy="1306319"/>
            <a:chOff x="0" y="0"/>
            <a:chExt cx="4418241" cy="2245741"/>
          </a:xfrm>
        </p:grpSpPr>
        <p:sp>
          <p:nvSpPr>
            <p:cNvPr name="Freeform 14" id="14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48067" y="1767713"/>
            <a:ext cx="3706451" cy="3402505"/>
            <a:chOff x="0" y="0"/>
            <a:chExt cx="4941934" cy="453667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413567" y="386250"/>
              <a:ext cx="4114800" cy="4150423"/>
              <a:chOff x="0" y="0"/>
              <a:chExt cx="812800" cy="81983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9837"/>
              </a:xfrm>
              <a:custGeom>
                <a:avLst/>
                <a:gdLst/>
                <a:ahLst/>
                <a:cxnLst/>
                <a:rect r="r" b="b" t="t" l="l"/>
                <a:pathLst>
                  <a:path h="819837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91896"/>
                    </a:lnTo>
                    <a:cubicBezTo>
                      <a:pt x="812800" y="725828"/>
                      <a:pt x="799321" y="758370"/>
                      <a:pt x="775327" y="782364"/>
                    </a:cubicBezTo>
                    <a:cubicBezTo>
                      <a:pt x="751333" y="806357"/>
                      <a:pt x="718791" y="819837"/>
                      <a:pt x="684859" y="819837"/>
                    </a:cubicBezTo>
                    <a:lnTo>
                      <a:pt x="127941" y="819837"/>
                    </a:lnTo>
                    <a:cubicBezTo>
                      <a:pt x="94009" y="819837"/>
                      <a:pt x="61467" y="806357"/>
                      <a:pt x="37473" y="782364"/>
                    </a:cubicBezTo>
                    <a:cubicBezTo>
                      <a:pt x="13479" y="758370"/>
                      <a:pt x="0" y="725828"/>
                      <a:pt x="0" y="691896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812800" cy="8388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168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41934" cy="1210774"/>
            </a:xfrm>
            <a:custGeom>
              <a:avLst/>
              <a:gdLst/>
              <a:ahLst/>
              <a:cxnLst/>
              <a:rect r="r" b="b" t="t" l="l"/>
              <a:pathLst>
                <a:path h="1210774" w="4941934">
                  <a:moveTo>
                    <a:pt x="0" y="0"/>
                  </a:moveTo>
                  <a:lnTo>
                    <a:pt x="4941934" y="0"/>
                  </a:lnTo>
                  <a:lnTo>
                    <a:pt x="4941934" y="1210774"/>
                  </a:lnTo>
                  <a:lnTo>
                    <a:pt x="0" y="1210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565795" y="11600"/>
              <a:ext cx="4114800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REAL-TIME OPERATIONAL FEASIBILITY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18195" y="1052024"/>
              <a:ext cx="3213259" cy="298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400" i="true">
                  <a:solidFill>
                    <a:srgbClr val="FFFFFF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Can it respond fast enough?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843965" y="1767713"/>
            <a:ext cx="3706451" cy="3375787"/>
            <a:chOff x="0" y="0"/>
            <a:chExt cx="4941934" cy="450105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413567" y="386250"/>
              <a:ext cx="4114800" cy="4114800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41934" cy="1210774"/>
            </a:xfrm>
            <a:custGeom>
              <a:avLst/>
              <a:gdLst/>
              <a:ahLst/>
              <a:cxnLst/>
              <a:rect r="r" b="b" t="t" l="l"/>
              <a:pathLst>
                <a:path h="1210774" w="4941934">
                  <a:moveTo>
                    <a:pt x="0" y="0"/>
                  </a:moveTo>
                  <a:lnTo>
                    <a:pt x="4941934" y="0"/>
                  </a:lnTo>
                  <a:lnTo>
                    <a:pt x="4941934" y="1210774"/>
                  </a:lnTo>
                  <a:lnTo>
                    <a:pt x="0" y="1210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565795" y="11600"/>
              <a:ext cx="4114800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SCALABILITY &amp; DEPLOYMENT FEASIBILITY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18195" y="1052024"/>
              <a:ext cx="3213259" cy="298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400" i="true">
                  <a:solidFill>
                    <a:srgbClr val="FFFFFF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Can it grow city-wide?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75300" y="1767713"/>
            <a:ext cx="3706451" cy="3375787"/>
            <a:chOff x="0" y="0"/>
            <a:chExt cx="4941934" cy="450105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413567" y="386250"/>
              <a:ext cx="4114800" cy="411480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41934" cy="1210774"/>
            </a:xfrm>
            <a:custGeom>
              <a:avLst/>
              <a:gdLst/>
              <a:ahLst/>
              <a:cxnLst/>
              <a:rect r="r" b="b" t="t" l="l"/>
              <a:pathLst>
                <a:path h="1210774" w="4941934">
                  <a:moveTo>
                    <a:pt x="0" y="0"/>
                  </a:moveTo>
                  <a:lnTo>
                    <a:pt x="4941934" y="0"/>
                  </a:lnTo>
                  <a:lnTo>
                    <a:pt x="4941934" y="1210774"/>
                  </a:lnTo>
                  <a:lnTo>
                    <a:pt x="0" y="1210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565795" y="11600"/>
              <a:ext cx="4114800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REAL-WORLD VALIDATION FEASIBILITY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718195" y="1052024"/>
              <a:ext cx="3213259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400" i="true">
                  <a:solidFill>
                    <a:srgbClr val="FFFFFF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Has it been tested against realistic conditions?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881713" y="1767713"/>
            <a:ext cx="3706451" cy="3375787"/>
            <a:chOff x="0" y="0"/>
            <a:chExt cx="4941934" cy="450105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413567" y="386250"/>
              <a:ext cx="4114800" cy="4114800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41934" cy="1210774"/>
            </a:xfrm>
            <a:custGeom>
              <a:avLst/>
              <a:gdLst/>
              <a:ahLst/>
              <a:cxnLst/>
              <a:rect r="r" b="b" t="t" l="l"/>
              <a:pathLst>
                <a:path h="1210774" w="4941934">
                  <a:moveTo>
                    <a:pt x="0" y="0"/>
                  </a:moveTo>
                  <a:lnTo>
                    <a:pt x="4941934" y="0"/>
                  </a:lnTo>
                  <a:lnTo>
                    <a:pt x="4941934" y="1210774"/>
                  </a:lnTo>
                  <a:lnTo>
                    <a:pt x="0" y="1210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565795" y="11600"/>
              <a:ext cx="4114800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RISK-RESILIENT SYSTEM DESIGN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718195" y="1052024"/>
              <a:ext cx="3213259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400" i="true">
                  <a:solidFill>
                    <a:srgbClr val="FFFFFF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Can it handle imperfect conditions?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306774" y="5396733"/>
            <a:ext cx="1495487" cy="1495487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123597" t="0" r="-2671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2807390" y="6079977"/>
            <a:ext cx="497143" cy="139200"/>
          </a:xfrm>
          <a:custGeom>
            <a:avLst/>
            <a:gdLst/>
            <a:ahLst/>
            <a:cxnLst/>
            <a:rect r="r" b="b" t="t" l="l"/>
            <a:pathLst>
              <a:path h="139200" w="497143">
                <a:moveTo>
                  <a:pt x="0" y="0"/>
                </a:moveTo>
                <a:lnTo>
                  <a:pt x="497143" y="0"/>
                </a:lnTo>
                <a:lnTo>
                  <a:pt x="497143" y="139200"/>
                </a:lnTo>
                <a:lnTo>
                  <a:pt x="0" y="139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5229476" y="5542505"/>
            <a:ext cx="1967795" cy="1180304"/>
            <a:chOff x="0" y="0"/>
            <a:chExt cx="582488" cy="34938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2488" cy="349383"/>
            </a:xfrm>
            <a:custGeom>
              <a:avLst/>
              <a:gdLst/>
              <a:ahLst/>
              <a:cxnLst/>
              <a:rect r="r" b="b" t="t" l="l"/>
              <a:pathLst>
                <a:path h="349383" w="582488">
                  <a:moveTo>
                    <a:pt x="76842" y="0"/>
                  </a:moveTo>
                  <a:lnTo>
                    <a:pt x="505646" y="0"/>
                  </a:lnTo>
                  <a:cubicBezTo>
                    <a:pt x="526026" y="0"/>
                    <a:pt x="545571" y="8096"/>
                    <a:pt x="559982" y="22507"/>
                  </a:cubicBezTo>
                  <a:cubicBezTo>
                    <a:pt x="574392" y="36917"/>
                    <a:pt x="582488" y="56462"/>
                    <a:pt x="582488" y="76842"/>
                  </a:cubicBezTo>
                  <a:lnTo>
                    <a:pt x="582488" y="272541"/>
                  </a:lnTo>
                  <a:cubicBezTo>
                    <a:pt x="582488" y="292920"/>
                    <a:pt x="574392" y="312465"/>
                    <a:pt x="559982" y="326876"/>
                  </a:cubicBezTo>
                  <a:cubicBezTo>
                    <a:pt x="545571" y="341287"/>
                    <a:pt x="526026" y="349383"/>
                    <a:pt x="505646" y="349383"/>
                  </a:cubicBezTo>
                  <a:lnTo>
                    <a:pt x="76842" y="349383"/>
                  </a:lnTo>
                  <a:cubicBezTo>
                    <a:pt x="56462" y="349383"/>
                    <a:pt x="36917" y="341287"/>
                    <a:pt x="22507" y="326876"/>
                  </a:cubicBezTo>
                  <a:cubicBezTo>
                    <a:pt x="8096" y="312465"/>
                    <a:pt x="0" y="292920"/>
                    <a:pt x="0" y="272541"/>
                  </a:cubicBezTo>
                  <a:lnTo>
                    <a:pt x="0" y="76842"/>
                  </a:lnTo>
                  <a:cubicBezTo>
                    <a:pt x="0" y="56462"/>
                    <a:pt x="8096" y="36917"/>
                    <a:pt x="22507" y="22507"/>
                  </a:cubicBezTo>
                  <a:cubicBezTo>
                    <a:pt x="36917" y="8096"/>
                    <a:pt x="56462" y="0"/>
                    <a:pt x="7684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0E2F7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82488" cy="368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4768766" y="6079977"/>
            <a:ext cx="460710" cy="128999"/>
          </a:xfrm>
          <a:custGeom>
            <a:avLst/>
            <a:gdLst/>
            <a:ahLst/>
            <a:cxnLst/>
            <a:rect r="r" b="b" t="t" l="l"/>
            <a:pathLst>
              <a:path h="128999" w="460710">
                <a:moveTo>
                  <a:pt x="0" y="0"/>
                </a:moveTo>
                <a:lnTo>
                  <a:pt x="460710" y="0"/>
                </a:lnTo>
                <a:lnTo>
                  <a:pt x="460710" y="128999"/>
                </a:lnTo>
                <a:lnTo>
                  <a:pt x="0" y="1289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6634118" y="7895633"/>
            <a:ext cx="3289255" cy="571367"/>
            <a:chOff x="0" y="0"/>
            <a:chExt cx="744715" cy="12936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44715" cy="129362"/>
            </a:xfrm>
            <a:custGeom>
              <a:avLst/>
              <a:gdLst/>
              <a:ahLst/>
              <a:cxnLst/>
              <a:rect r="r" b="b" t="t" l="l"/>
              <a:pathLst>
                <a:path h="129362" w="744715">
                  <a:moveTo>
                    <a:pt x="45971" y="0"/>
                  </a:moveTo>
                  <a:lnTo>
                    <a:pt x="698745" y="0"/>
                  </a:lnTo>
                  <a:cubicBezTo>
                    <a:pt x="710937" y="0"/>
                    <a:pt x="722630" y="4843"/>
                    <a:pt x="731251" y="13465"/>
                  </a:cubicBezTo>
                  <a:cubicBezTo>
                    <a:pt x="739872" y="22086"/>
                    <a:pt x="744715" y="33779"/>
                    <a:pt x="744715" y="45971"/>
                  </a:cubicBezTo>
                  <a:lnTo>
                    <a:pt x="744715" y="83392"/>
                  </a:lnTo>
                  <a:cubicBezTo>
                    <a:pt x="744715" y="108780"/>
                    <a:pt x="724133" y="129362"/>
                    <a:pt x="698745" y="129362"/>
                  </a:cubicBezTo>
                  <a:lnTo>
                    <a:pt x="45971" y="129362"/>
                  </a:lnTo>
                  <a:cubicBezTo>
                    <a:pt x="33779" y="129362"/>
                    <a:pt x="22086" y="124519"/>
                    <a:pt x="13465" y="115898"/>
                  </a:cubicBezTo>
                  <a:cubicBezTo>
                    <a:pt x="4843" y="107277"/>
                    <a:pt x="0" y="95584"/>
                    <a:pt x="0" y="83392"/>
                  </a:cubicBezTo>
                  <a:lnTo>
                    <a:pt x="0" y="45971"/>
                  </a:lnTo>
                  <a:cubicBezTo>
                    <a:pt x="0" y="33779"/>
                    <a:pt x="4843" y="22086"/>
                    <a:pt x="13465" y="13465"/>
                  </a:cubicBezTo>
                  <a:cubicBezTo>
                    <a:pt x="22086" y="4843"/>
                    <a:pt x="33779" y="0"/>
                    <a:pt x="45971" y="0"/>
                  </a:cubicBezTo>
                  <a:close/>
                </a:path>
              </a:pathLst>
            </a:custGeom>
            <a:solidFill>
              <a:srgbClr val="E4E7D5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744715" cy="148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53" id="53"/>
          <p:cNvSpPr/>
          <p:nvPr/>
        </p:nvSpPr>
        <p:spPr>
          <a:xfrm>
            <a:off x="9435454" y="7568816"/>
            <a:ext cx="1032055" cy="326818"/>
          </a:xfrm>
          <a:custGeom>
            <a:avLst/>
            <a:gdLst/>
            <a:ahLst/>
            <a:cxnLst/>
            <a:rect r="r" b="b" t="t" l="l"/>
            <a:pathLst>
              <a:path h="326818" w="1032055">
                <a:moveTo>
                  <a:pt x="0" y="326818"/>
                </a:moveTo>
                <a:lnTo>
                  <a:pt x="0" y="163409"/>
                </a:lnTo>
                <a:cubicBezTo>
                  <a:pt x="0" y="73160"/>
                  <a:pt x="73161" y="0"/>
                  <a:pt x="163410" y="0"/>
                </a:cubicBezTo>
                <a:lnTo>
                  <a:pt x="1010973" y="0"/>
                </a:lnTo>
                <a:cubicBezTo>
                  <a:pt x="1022616" y="0"/>
                  <a:pt x="1032055" y="9438"/>
                  <a:pt x="1032055" y="21082"/>
                </a:cubicBezTo>
                <a:lnTo>
                  <a:pt x="1032055" y="42164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>
            <a:off x="9435454" y="8467000"/>
            <a:ext cx="1032055" cy="318958"/>
          </a:xfrm>
          <a:custGeom>
            <a:avLst/>
            <a:gdLst/>
            <a:ahLst/>
            <a:cxnLst/>
            <a:rect r="r" b="b" t="t" l="l"/>
            <a:pathLst>
              <a:path h="318958" w="1032055">
                <a:moveTo>
                  <a:pt x="0" y="0"/>
                </a:moveTo>
                <a:lnTo>
                  <a:pt x="0" y="159480"/>
                </a:lnTo>
                <a:cubicBezTo>
                  <a:pt x="0" y="201776"/>
                  <a:pt x="16802" y="242340"/>
                  <a:pt x="46711" y="272248"/>
                </a:cubicBezTo>
                <a:cubicBezTo>
                  <a:pt x="76619" y="302156"/>
                  <a:pt x="117183" y="318958"/>
                  <a:pt x="159480" y="318958"/>
                </a:cubicBezTo>
                <a:lnTo>
                  <a:pt x="1032055" y="31895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5" id="55"/>
          <p:cNvSpPr/>
          <p:nvPr/>
        </p:nvSpPr>
        <p:spPr>
          <a:xfrm>
            <a:off x="5969653" y="8467000"/>
            <a:ext cx="907612" cy="318958"/>
          </a:xfrm>
          <a:custGeom>
            <a:avLst/>
            <a:gdLst/>
            <a:ahLst/>
            <a:cxnLst/>
            <a:rect r="r" b="b" t="t" l="l"/>
            <a:pathLst>
              <a:path h="318958" w="907612">
                <a:moveTo>
                  <a:pt x="907612" y="0"/>
                </a:moveTo>
                <a:lnTo>
                  <a:pt x="907612" y="159480"/>
                </a:lnTo>
                <a:cubicBezTo>
                  <a:pt x="907612" y="201776"/>
                  <a:pt x="890810" y="242340"/>
                  <a:pt x="860902" y="272248"/>
                </a:cubicBezTo>
                <a:cubicBezTo>
                  <a:pt x="830994" y="302156"/>
                  <a:pt x="790430" y="318958"/>
                  <a:pt x="748134" y="318958"/>
                </a:cubicBezTo>
                <a:lnTo>
                  <a:pt x="0" y="31895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6" id="56"/>
          <p:cNvSpPr/>
          <p:nvPr/>
        </p:nvSpPr>
        <p:spPr>
          <a:xfrm>
            <a:off x="5917668" y="7693437"/>
            <a:ext cx="959598" cy="202197"/>
          </a:xfrm>
          <a:custGeom>
            <a:avLst/>
            <a:gdLst/>
            <a:ahLst/>
            <a:cxnLst/>
            <a:rect r="r" b="b" t="t" l="l"/>
            <a:pathLst>
              <a:path h="202197" w="959598">
                <a:moveTo>
                  <a:pt x="959597" y="202197"/>
                </a:moveTo>
                <a:lnTo>
                  <a:pt x="959597" y="132831"/>
                </a:lnTo>
                <a:cubicBezTo>
                  <a:pt x="959597" y="114434"/>
                  <a:pt x="952289" y="96790"/>
                  <a:pt x="939281" y="83781"/>
                </a:cubicBezTo>
                <a:cubicBezTo>
                  <a:pt x="926272" y="70773"/>
                  <a:pt x="908629" y="63465"/>
                  <a:pt x="890232" y="63465"/>
                </a:cubicBezTo>
                <a:lnTo>
                  <a:pt x="31732" y="63465"/>
                </a:lnTo>
                <a:cubicBezTo>
                  <a:pt x="14207" y="63465"/>
                  <a:pt x="0" y="49258"/>
                  <a:pt x="0" y="31733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10392046" y="7263695"/>
            <a:ext cx="2804665" cy="917622"/>
            <a:chOff x="0" y="0"/>
            <a:chExt cx="635000" cy="20775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5000" cy="207757"/>
            </a:xfrm>
            <a:custGeom>
              <a:avLst/>
              <a:gdLst/>
              <a:ahLst/>
              <a:cxnLst/>
              <a:rect r="r" b="b" t="t" l="l"/>
              <a:pathLst>
                <a:path h="207757" w="635000">
                  <a:moveTo>
                    <a:pt x="53914" y="0"/>
                  </a:moveTo>
                  <a:lnTo>
                    <a:pt x="581086" y="0"/>
                  </a:lnTo>
                  <a:cubicBezTo>
                    <a:pt x="595385" y="0"/>
                    <a:pt x="609098" y="5680"/>
                    <a:pt x="619209" y="15791"/>
                  </a:cubicBezTo>
                  <a:cubicBezTo>
                    <a:pt x="629320" y="25902"/>
                    <a:pt x="635000" y="39615"/>
                    <a:pt x="635000" y="53914"/>
                  </a:cubicBezTo>
                  <a:lnTo>
                    <a:pt x="635000" y="153844"/>
                  </a:lnTo>
                  <a:cubicBezTo>
                    <a:pt x="635000" y="168143"/>
                    <a:pt x="629320" y="181856"/>
                    <a:pt x="619209" y="191966"/>
                  </a:cubicBezTo>
                  <a:cubicBezTo>
                    <a:pt x="609098" y="202077"/>
                    <a:pt x="595385" y="207757"/>
                    <a:pt x="581086" y="207757"/>
                  </a:cubicBezTo>
                  <a:lnTo>
                    <a:pt x="53914" y="207757"/>
                  </a:lnTo>
                  <a:cubicBezTo>
                    <a:pt x="39615" y="207757"/>
                    <a:pt x="25902" y="202077"/>
                    <a:pt x="15791" y="191966"/>
                  </a:cubicBezTo>
                  <a:cubicBezTo>
                    <a:pt x="5680" y="181856"/>
                    <a:pt x="0" y="168143"/>
                    <a:pt x="0" y="153844"/>
                  </a:cubicBezTo>
                  <a:lnTo>
                    <a:pt x="0" y="53914"/>
                  </a:lnTo>
                  <a:cubicBezTo>
                    <a:pt x="0" y="39615"/>
                    <a:pt x="5680" y="25902"/>
                    <a:pt x="15791" y="15791"/>
                  </a:cubicBezTo>
                  <a:cubicBezTo>
                    <a:pt x="25902" y="5680"/>
                    <a:pt x="39615" y="0"/>
                    <a:pt x="53914" y="0"/>
                  </a:cubicBezTo>
                  <a:close/>
                </a:path>
              </a:pathLst>
            </a:custGeom>
            <a:solidFill>
              <a:srgbClr val="D0E2F7"/>
            </a:solidFill>
            <a:ln w="38100" cap="rnd">
              <a:solidFill>
                <a:srgbClr val="AFD8F8"/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635000" cy="22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113003" y="7284945"/>
            <a:ext cx="2804665" cy="816982"/>
            <a:chOff x="0" y="0"/>
            <a:chExt cx="635000" cy="1849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35000" cy="184972"/>
            </a:xfrm>
            <a:custGeom>
              <a:avLst/>
              <a:gdLst/>
              <a:ahLst/>
              <a:cxnLst/>
              <a:rect r="r" b="b" t="t" l="l"/>
              <a:pathLst>
                <a:path h="184972" w="635000">
                  <a:moveTo>
                    <a:pt x="53914" y="0"/>
                  </a:moveTo>
                  <a:lnTo>
                    <a:pt x="581086" y="0"/>
                  </a:lnTo>
                  <a:cubicBezTo>
                    <a:pt x="595385" y="0"/>
                    <a:pt x="609098" y="5680"/>
                    <a:pt x="619209" y="15791"/>
                  </a:cubicBezTo>
                  <a:cubicBezTo>
                    <a:pt x="629320" y="25902"/>
                    <a:pt x="635000" y="39615"/>
                    <a:pt x="635000" y="53914"/>
                  </a:cubicBezTo>
                  <a:lnTo>
                    <a:pt x="635000" y="131058"/>
                  </a:lnTo>
                  <a:cubicBezTo>
                    <a:pt x="635000" y="160834"/>
                    <a:pt x="610862" y="184972"/>
                    <a:pt x="581086" y="184972"/>
                  </a:cubicBezTo>
                  <a:lnTo>
                    <a:pt x="53914" y="184972"/>
                  </a:lnTo>
                  <a:cubicBezTo>
                    <a:pt x="39615" y="184972"/>
                    <a:pt x="25902" y="179291"/>
                    <a:pt x="15791" y="169181"/>
                  </a:cubicBezTo>
                  <a:cubicBezTo>
                    <a:pt x="5680" y="159070"/>
                    <a:pt x="0" y="145357"/>
                    <a:pt x="0" y="131058"/>
                  </a:cubicBezTo>
                  <a:lnTo>
                    <a:pt x="0" y="53914"/>
                  </a:lnTo>
                  <a:cubicBezTo>
                    <a:pt x="0" y="39615"/>
                    <a:pt x="5680" y="25902"/>
                    <a:pt x="15791" y="15791"/>
                  </a:cubicBezTo>
                  <a:cubicBezTo>
                    <a:pt x="25902" y="5680"/>
                    <a:pt x="39615" y="0"/>
                    <a:pt x="53914" y="0"/>
                  </a:cubicBezTo>
                  <a:close/>
                </a:path>
              </a:pathLst>
            </a:custGeom>
            <a:solidFill>
              <a:srgbClr val="D0E2F7"/>
            </a:solidFill>
            <a:ln w="38100" cap="rnd">
              <a:solidFill>
                <a:srgbClr val="AFD8F8"/>
              </a:solidFill>
              <a:prstDash val="solid"/>
              <a:round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635000" cy="204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807390" y="8467000"/>
            <a:ext cx="3264811" cy="898590"/>
            <a:chOff x="0" y="0"/>
            <a:chExt cx="739181" cy="2034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9181" cy="203448"/>
            </a:xfrm>
            <a:custGeom>
              <a:avLst/>
              <a:gdLst/>
              <a:ahLst/>
              <a:cxnLst/>
              <a:rect r="r" b="b" t="t" l="l"/>
              <a:pathLst>
                <a:path h="203448" w="739181">
                  <a:moveTo>
                    <a:pt x="46315" y="0"/>
                  </a:moveTo>
                  <a:lnTo>
                    <a:pt x="692866" y="0"/>
                  </a:lnTo>
                  <a:cubicBezTo>
                    <a:pt x="718445" y="0"/>
                    <a:pt x="739181" y="20736"/>
                    <a:pt x="739181" y="46315"/>
                  </a:cubicBezTo>
                  <a:lnTo>
                    <a:pt x="739181" y="157134"/>
                  </a:lnTo>
                  <a:cubicBezTo>
                    <a:pt x="739181" y="182713"/>
                    <a:pt x="718445" y="203448"/>
                    <a:pt x="692866" y="203448"/>
                  </a:cubicBezTo>
                  <a:lnTo>
                    <a:pt x="46315" y="203448"/>
                  </a:lnTo>
                  <a:cubicBezTo>
                    <a:pt x="34031" y="203448"/>
                    <a:pt x="22251" y="198569"/>
                    <a:pt x="13565" y="189883"/>
                  </a:cubicBezTo>
                  <a:cubicBezTo>
                    <a:pt x="4880" y="181197"/>
                    <a:pt x="0" y="169417"/>
                    <a:pt x="0" y="157134"/>
                  </a:cubicBezTo>
                  <a:lnTo>
                    <a:pt x="0" y="46315"/>
                  </a:lnTo>
                  <a:cubicBezTo>
                    <a:pt x="0" y="34031"/>
                    <a:pt x="4880" y="22251"/>
                    <a:pt x="13565" y="13565"/>
                  </a:cubicBezTo>
                  <a:cubicBezTo>
                    <a:pt x="22251" y="4880"/>
                    <a:pt x="34031" y="0"/>
                    <a:pt x="46315" y="0"/>
                  </a:cubicBezTo>
                  <a:close/>
                </a:path>
              </a:pathLst>
            </a:custGeom>
            <a:solidFill>
              <a:srgbClr val="D0E2F7"/>
            </a:solidFill>
            <a:ln w="38100" cap="rnd">
              <a:solidFill>
                <a:srgbClr val="AFD8F8"/>
              </a:solidFill>
              <a:prstDash val="solid"/>
              <a:round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739181" cy="222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460137" y="8337131"/>
            <a:ext cx="2623680" cy="959785"/>
            <a:chOff x="0" y="0"/>
            <a:chExt cx="594023" cy="21730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94023" cy="217304"/>
            </a:xfrm>
            <a:custGeom>
              <a:avLst/>
              <a:gdLst/>
              <a:ahLst/>
              <a:cxnLst/>
              <a:rect r="r" b="b" t="t" l="l"/>
              <a:pathLst>
                <a:path h="217304" w="594023">
                  <a:moveTo>
                    <a:pt x="57633" y="0"/>
                  </a:moveTo>
                  <a:lnTo>
                    <a:pt x="536391" y="0"/>
                  </a:lnTo>
                  <a:cubicBezTo>
                    <a:pt x="551676" y="0"/>
                    <a:pt x="566335" y="6072"/>
                    <a:pt x="577143" y="16880"/>
                  </a:cubicBezTo>
                  <a:cubicBezTo>
                    <a:pt x="587951" y="27688"/>
                    <a:pt x="594023" y="42347"/>
                    <a:pt x="594023" y="57633"/>
                  </a:cubicBezTo>
                  <a:lnTo>
                    <a:pt x="594023" y="159671"/>
                  </a:lnTo>
                  <a:cubicBezTo>
                    <a:pt x="594023" y="174956"/>
                    <a:pt x="587951" y="189615"/>
                    <a:pt x="577143" y="200423"/>
                  </a:cubicBezTo>
                  <a:cubicBezTo>
                    <a:pt x="566335" y="211232"/>
                    <a:pt x="551676" y="217304"/>
                    <a:pt x="536391" y="217304"/>
                  </a:cubicBezTo>
                  <a:lnTo>
                    <a:pt x="57633" y="217304"/>
                  </a:lnTo>
                  <a:cubicBezTo>
                    <a:pt x="42347" y="217304"/>
                    <a:pt x="27688" y="211232"/>
                    <a:pt x="16880" y="200423"/>
                  </a:cubicBezTo>
                  <a:cubicBezTo>
                    <a:pt x="6072" y="189615"/>
                    <a:pt x="0" y="174956"/>
                    <a:pt x="0" y="159671"/>
                  </a:cubicBezTo>
                  <a:lnTo>
                    <a:pt x="0" y="57633"/>
                  </a:lnTo>
                  <a:cubicBezTo>
                    <a:pt x="0" y="42347"/>
                    <a:pt x="6072" y="27688"/>
                    <a:pt x="16880" y="16880"/>
                  </a:cubicBezTo>
                  <a:cubicBezTo>
                    <a:pt x="27688" y="6072"/>
                    <a:pt x="42347" y="0"/>
                    <a:pt x="57633" y="0"/>
                  </a:cubicBezTo>
                  <a:close/>
                </a:path>
              </a:pathLst>
            </a:custGeom>
            <a:solidFill>
              <a:srgbClr val="D0E2F7"/>
            </a:solidFill>
            <a:ln w="38100" cap="rnd">
              <a:solidFill>
                <a:srgbClr val="AFD8F8"/>
              </a:solidFill>
              <a:prstDash val="solid"/>
              <a:round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594023" cy="236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69" id="69"/>
          <p:cNvSpPr/>
          <p:nvPr/>
        </p:nvSpPr>
        <p:spPr>
          <a:xfrm>
            <a:off x="13083817" y="8817024"/>
            <a:ext cx="649590" cy="245594"/>
          </a:xfrm>
          <a:custGeom>
            <a:avLst/>
            <a:gdLst/>
            <a:ahLst/>
            <a:cxnLst/>
            <a:rect r="r" b="b" t="t" l="l"/>
            <a:pathLst>
              <a:path h="245594" w="649590">
                <a:moveTo>
                  <a:pt x="0" y="0"/>
                </a:moveTo>
                <a:lnTo>
                  <a:pt x="103877" y="0"/>
                </a:lnTo>
                <a:cubicBezTo>
                  <a:pt x="131426" y="0"/>
                  <a:pt x="157848" y="10944"/>
                  <a:pt x="177329" y="30424"/>
                </a:cubicBezTo>
                <a:cubicBezTo>
                  <a:pt x="196810" y="49905"/>
                  <a:pt x="207753" y="76327"/>
                  <a:pt x="207753" y="103876"/>
                </a:cubicBezTo>
                <a:lnTo>
                  <a:pt x="207753" y="122797"/>
                </a:lnTo>
                <a:cubicBezTo>
                  <a:pt x="207753" y="190615"/>
                  <a:pt x="262731" y="245593"/>
                  <a:pt x="330550" y="245593"/>
                </a:cubicBezTo>
                <a:lnTo>
                  <a:pt x="649590" y="245593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0" id="70"/>
          <p:cNvGrpSpPr/>
          <p:nvPr/>
        </p:nvGrpSpPr>
        <p:grpSpPr>
          <a:xfrm rot="0">
            <a:off x="13733406" y="7263695"/>
            <a:ext cx="2623680" cy="2101895"/>
            <a:chOff x="0" y="0"/>
            <a:chExt cx="594023" cy="47588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94023" cy="475887"/>
            </a:xfrm>
            <a:custGeom>
              <a:avLst/>
              <a:gdLst/>
              <a:ahLst/>
              <a:cxnLst/>
              <a:rect r="r" b="b" t="t" l="l"/>
              <a:pathLst>
                <a:path h="475887" w="594023">
                  <a:moveTo>
                    <a:pt x="57633" y="0"/>
                  </a:moveTo>
                  <a:lnTo>
                    <a:pt x="536391" y="0"/>
                  </a:lnTo>
                  <a:cubicBezTo>
                    <a:pt x="551676" y="0"/>
                    <a:pt x="566335" y="6072"/>
                    <a:pt x="577143" y="16880"/>
                  </a:cubicBezTo>
                  <a:cubicBezTo>
                    <a:pt x="587951" y="27688"/>
                    <a:pt x="594023" y="42347"/>
                    <a:pt x="594023" y="57633"/>
                  </a:cubicBezTo>
                  <a:lnTo>
                    <a:pt x="594023" y="418254"/>
                  </a:lnTo>
                  <a:cubicBezTo>
                    <a:pt x="594023" y="433539"/>
                    <a:pt x="587951" y="448199"/>
                    <a:pt x="577143" y="459007"/>
                  </a:cubicBezTo>
                  <a:cubicBezTo>
                    <a:pt x="566335" y="469815"/>
                    <a:pt x="551676" y="475887"/>
                    <a:pt x="536391" y="475887"/>
                  </a:cubicBezTo>
                  <a:lnTo>
                    <a:pt x="57633" y="475887"/>
                  </a:lnTo>
                  <a:cubicBezTo>
                    <a:pt x="42347" y="475887"/>
                    <a:pt x="27688" y="469815"/>
                    <a:pt x="16880" y="459007"/>
                  </a:cubicBezTo>
                  <a:cubicBezTo>
                    <a:pt x="6072" y="448199"/>
                    <a:pt x="0" y="433539"/>
                    <a:pt x="0" y="418254"/>
                  </a:cubicBezTo>
                  <a:lnTo>
                    <a:pt x="0" y="57633"/>
                  </a:lnTo>
                  <a:cubicBezTo>
                    <a:pt x="0" y="42347"/>
                    <a:pt x="6072" y="27688"/>
                    <a:pt x="16880" y="16880"/>
                  </a:cubicBezTo>
                  <a:cubicBezTo>
                    <a:pt x="27688" y="6072"/>
                    <a:pt x="42347" y="0"/>
                    <a:pt x="57633" y="0"/>
                  </a:cubicBezTo>
                  <a:close/>
                </a:path>
              </a:pathLst>
            </a:custGeom>
            <a:solidFill>
              <a:srgbClr val="D0E2F7"/>
            </a:solidFill>
            <a:ln w="38100" cap="rnd">
              <a:solidFill>
                <a:srgbClr val="0070C0"/>
              </a:solidFill>
              <a:prstDash val="solid"/>
              <a:round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594023" cy="494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247013" y="9623883"/>
            <a:ext cx="4806001" cy="547688"/>
            <a:chOff x="0" y="0"/>
            <a:chExt cx="6408001" cy="7302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Team: Baazigars     SIH26127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285405" y="5561878"/>
            <a:ext cx="2629196" cy="1314598"/>
          </a:xfrm>
          <a:custGeom>
            <a:avLst/>
            <a:gdLst/>
            <a:ahLst/>
            <a:cxnLst/>
            <a:rect r="r" b="b" t="t" l="l"/>
            <a:pathLst>
              <a:path h="1314598" w="2629196">
                <a:moveTo>
                  <a:pt x="0" y="0"/>
                </a:moveTo>
                <a:lnTo>
                  <a:pt x="2629196" y="0"/>
                </a:lnTo>
                <a:lnTo>
                  <a:pt x="2629196" y="1314598"/>
                </a:lnTo>
                <a:lnTo>
                  <a:pt x="0" y="13145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7" id="77"/>
          <p:cNvSpPr/>
          <p:nvPr/>
        </p:nvSpPr>
        <p:spPr>
          <a:xfrm flipH="false" flipV="false" rot="0">
            <a:off x="7492546" y="5304429"/>
            <a:ext cx="3006104" cy="1503052"/>
          </a:xfrm>
          <a:custGeom>
            <a:avLst/>
            <a:gdLst/>
            <a:ahLst/>
            <a:cxnLst/>
            <a:rect r="r" b="b" t="t" l="l"/>
            <a:pathLst>
              <a:path h="1503052" w="3006104">
                <a:moveTo>
                  <a:pt x="0" y="0"/>
                </a:moveTo>
                <a:lnTo>
                  <a:pt x="3006104" y="0"/>
                </a:lnTo>
                <a:lnTo>
                  <a:pt x="3006104" y="1503052"/>
                </a:lnTo>
                <a:lnTo>
                  <a:pt x="0" y="15030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8" id="78"/>
          <p:cNvSpPr/>
          <p:nvPr/>
        </p:nvSpPr>
        <p:spPr>
          <a:xfrm flipH="false" flipV="false" rot="0">
            <a:off x="7197271" y="6085078"/>
            <a:ext cx="460710" cy="128999"/>
          </a:xfrm>
          <a:custGeom>
            <a:avLst/>
            <a:gdLst/>
            <a:ahLst/>
            <a:cxnLst/>
            <a:rect r="r" b="b" t="t" l="l"/>
            <a:pathLst>
              <a:path h="128999" w="460710">
                <a:moveTo>
                  <a:pt x="0" y="0"/>
                </a:moveTo>
                <a:lnTo>
                  <a:pt x="460710" y="0"/>
                </a:lnTo>
                <a:lnTo>
                  <a:pt x="460710" y="128999"/>
                </a:lnTo>
                <a:lnTo>
                  <a:pt x="0" y="1289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0510769" y="6090179"/>
            <a:ext cx="460710" cy="128999"/>
          </a:xfrm>
          <a:custGeom>
            <a:avLst/>
            <a:gdLst/>
            <a:ahLst/>
            <a:cxnLst/>
            <a:rect r="r" b="b" t="t" l="l"/>
            <a:pathLst>
              <a:path h="128999" w="460710">
                <a:moveTo>
                  <a:pt x="0" y="0"/>
                </a:moveTo>
                <a:lnTo>
                  <a:pt x="460710" y="0"/>
                </a:lnTo>
                <a:lnTo>
                  <a:pt x="460710" y="128998"/>
                </a:lnTo>
                <a:lnTo>
                  <a:pt x="0" y="1289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0920171" y="5268198"/>
            <a:ext cx="3151029" cy="1575514"/>
          </a:xfrm>
          <a:custGeom>
            <a:avLst/>
            <a:gdLst/>
            <a:ahLst/>
            <a:cxnLst/>
            <a:rect r="r" b="b" t="t" l="l"/>
            <a:pathLst>
              <a:path h="1575514" w="3151029">
                <a:moveTo>
                  <a:pt x="0" y="0"/>
                </a:moveTo>
                <a:lnTo>
                  <a:pt x="3151028" y="0"/>
                </a:lnTo>
                <a:lnTo>
                  <a:pt x="3151028" y="1575515"/>
                </a:lnTo>
                <a:lnTo>
                  <a:pt x="0" y="15755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1" id="81"/>
          <p:cNvSpPr/>
          <p:nvPr/>
        </p:nvSpPr>
        <p:spPr>
          <a:xfrm flipH="false" flipV="false" rot="0">
            <a:off x="14119444" y="6020579"/>
            <a:ext cx="460710" cy="128999"/>
          </a:xfrm>
          <a:custGeom>
            <a:avLst/>
            <a:gdLst/>
            <a:ahLst/>
            <a:cxnLst/>
            <a:rect r="r" b="b" t="t" l="l"/>
            <a:pathLst>
              <a:path h="128999" w="460710">
                <a:moveTo>
                  <a:pt x="0" y="0"/>
                </a:moveTo>
                <a:lnTo>
                  <a:pt x="460710" y="0"/>
                </a:lnTo>
                <a:lnTo>
                  <a:pt x="460710" y="128998"/>
                </a:lnTo>
                <a:lnTo>
                  <a:pt x="0" y="1289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4628399" y="5305425"/>
            <a:ext cx="3135364" cy="1567682"/>
          </a:xfrm>
          <a:custGeom>
            <a:avLst/>
            <a:gdLst/>
            <a:ahLst/>
            <a:cxnLst/>
            <a:rect r="r" b="b" t="t" l="l"/>
            <a:pathLst>
              <a:path h="1567682" w="3135364">
                <a:moveTo>
                  <a:pt x="0" y="0"/>
                </a:moveTo>
                <a:lnTo>
                  <a:pt x="3135364" y="0"/>
                </a:lnTo>
                <a:lnTo>
                  <a:pt x="3135364" y="1567682"/>
                </a:lnTo>
                <a:lnTo>
                  <a:pt x="0" y="15676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3" id="83"/>
          <p:cNvSpPr txBox="true"/>
          <p:nvPr/>
        </p:nvSpPr>
        <p:spPr>
          <a:xfrm rot="0">
            <a:off x="1879965" y="1239568"/>
            <a:ext cx="139105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Built as a modular event-driven system, validated on a realistic Delhi traffic simulation and designed for real camera integration.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00334" y="2981097"/>
            <a:ext cx="2801916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  <a:r>
              <a:rPr lang="en-US" b="true" sz="1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rinetra processes lightweight vehicle</a:t>
            </a:r>
            <a:r>
              <a:rPr lang="en-US" b="true" sz="1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events instead of continuously sending video through the entire system, allowing alerts to be generated quickly a</a:t>
            </a:r>
            <a:r>
              <a:rPr lang="en-US" b="true" sz="1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 vehicles are detected.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800334" y="4255916"/>
            <a:ext cx="264395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8 Redis shards distribute incoming events across processing workers, with a &lt;2 sec target for alert visibility.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300867" y="2981097"/>
            <a:ext cx="2792647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system is designed so that additional cameras and processing capacity can be added without redesigning the complete application.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311944" y="3824059"/>
            <a:ext cx="280593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Architecture targets 1000+ cameras and 10K+ events/sec, with processing workers that can scale horizontally.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914751" y="3045102"/>
            <a:ext cx="2722855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Instead of validating the system on a small artificial map, Trinetra is tested on a realistic Delhi road network with simulated traffic movement and virtual ANPR checkpoints.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861233" y="3985984"/>
            <a:ext cx="282989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~13 × 12 km network</a:t>
            </a:r>
          </a:p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11,955 nodes • 30,510 road edges • 75 signals</a:t>
            </a:r>
          </a:p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~60 virtual ANPR gates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4367626" y="3112706"/>
            <a:ext cx="284577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system is designed to continue producing reliable intelligence even when camera data is incomplete or ANPR recognition is imperfect.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4358964" y="3932066"/>
            <a:ext cx="2863099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b="true" sz="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ANPR Errors       → Confidence + fuzzy matching</a:t>
            </a:r>
          </a:p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b="true" sz="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Camera Failure    → Health monitoring + alerts</a:t>
            </a:r>
          </a:p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b="true" sz="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High Event Load   → Sharding + scalable workers</a:t>
            </a:r>
          </a:p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b="true" sz="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False Clone Flag  → Physics-based validation</a:t>
            </a:r>
          </a:p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b="true" sz="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Real Deployment   → Common camera contract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355297" y="5564545"/>
            <a:ext cx="1364715" cy="112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62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{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62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"camera_id": "CAM_017",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62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"ts": "2026-08-26T09:14:32+05:30",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62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"plate_raw": "DL 8C AB 1234",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62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"canonical": "DL8CAB1234",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62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"confidence": 0.93,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62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"vehicle_class": "private",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62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"crop_b64": "...",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62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"ground_truth": "DL8CAB1234"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62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}</a:t>
            </a:r>
          </a:p>
        </p:txBody>
      </p:sp>
      <p:sp>
        <p:nvSpPr>
          <p:cNvPr name="TextBox 93" id="93"/>
          <p:cNvSpPr txBox="true"/>
          <p:nvPr/>
        </p:nvSpPr>
        <p:spPr>
          <a:xfrm rot="-5400000">
            <a:off x="6368244" y="6068067"/>
            <a:ext cx="1394703" cy="14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"/>
              </a:lnSpc>
              <a:spcBef>
                <a:spcPct val="0"/>
              </a:spcBef>
            </a:pPr>
            <a:r>
              <a:rPr lang="en-US" b="true" sz="83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 event for a vehicle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6735590" y="8006452"/>
            <a:ext cx="3071931" cy="33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  <a:spcBef>
                <a:spcPct val="0"/>
              </a:spcBef>
            </a:pPr>
            <a:r>
              <a:rPr lang="en-US" b="true" sz="209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Trinetra is practical ?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0837056" y="8379295"/>
            <a:ext cx="1688859" cy="24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3"/>
              </a:lnSpc>
              <a:spcBef>
                <a:spcPct val="0"/>
              </a:spcBef>
            </a:pPr>
            <a:r>
              <a:rPr lang="en-US" b="true" sz="163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↓ DATA BURDEN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2883223" y="8530702"/>
            <a:ext cx="3086430" cy="24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3"/>
              </a:lnSpc>
              <a:spcBef>
                <a:spcPct val="0"/>
              </a:spcBef>
            </a:pPr>
            <a:r>
              <a:rPr lang="en-US" b="true" sz="163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↓ INFRASTRUCTURE CHANGE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1036892" y="7326437"/>
            <a:ext cx="1514974" cy="24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3"/>
              </a:lnSpc>
              <a:spcBef>
                <a:spcPct val="0"/>
              </a:spcBef>
            </a:pPr>
            <a:r>
              <a:rPr lang="en-US" b="true" sz="163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↑</a:t>
            </a:r>
            <a:r>
              <a:rPr lang="en-US" b="true" sz="163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RELIABILITY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3414569" y="7316316"/>
            <a:ext cx="2244922" cy="24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3"/>
              </a:lnSpc>
              <a:spcBef>
                <a:spcPct val="0"/>
              </a:spcBef>
            </a:pPr>
            <a:r>
              <a:rPr lang="en-US" b="true" sz="163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↑</a:t>
            </a:r>
            <a:r>
              <a:rPr lang="en-US" b="true" sz="163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SAFE DEPLOYMENT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460137" y="8639253"/>
            <a:ext cx="2600791" cy="59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  <a:spcBef>
                <a:spcPct val="0"/>
              </a:spcBef>
            </a:pPr>
            <a:r>
              <a:rPr lang="en-US" sz="12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Event-based architecture</a:t>
            </a:r>
          </a:p>
          <a:p>
            <a:pPr algn="ctr">
              <a:lnSpc>
                <a:spcPts val="1526"/>
              </a:lnSpc>
              <a:spcBef>
                <a:spcPct val="0"/>
              </a:spcBef>
            </a:pPr>
            <a:r>
              <a:rPr lang="en-US" sz="12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Only lightweight detection events are centralized.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3126042" y="8775220"/>
            <a:ext cx="2600791" cy="59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  <a:spcBef>
                <a:spcPct val="0"/>
              </a:spcBef>
            </a:pPr>
            <a:r>
              <a:rPr lang="en-US" sz="12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Event-based architecture</a:t>
            </a:r>
          </a:p>
          <a:p>
            <a:pPr algn="ctr">
              <a:lnSpc>
                <a:spcPts val="1526"/>
              </a:lnSpc>
              <a:spcBef>
                <a:spcPct val="0"/>
              </a:spcBef>
            </a:pPr>
            <a:r>
              <a:rPr lang="en-US" sz="12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Only lightweight detection events are centralized.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493983" y="7549766"/>
            <a:ext cx="2600791" cy="538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  <a:spcBef>
                <a:spcPct val="0"/>
              </a:spcBef>
            </a:pPr>
            <a:r>
              <a:rPr lang="en-US" sz="12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One e</a:t>
            </a:r>
            <a:r>
              <a:rPr lang="en-US" sz="12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vent → multiple intelligence</a:t>
            </a:r>
          </a:p>
          <a:p>
            <a:pPr algn="ctr">
              <a:lnSpc>
                <a:spcPts val="1308"/>
              </a:lnSpc>
              <a:spcBef>
                <a:spcPct val="0"/>
              </a:spcBef>
            </a:pPr>
            <a:r>
              <a:rPr lang="en-US" sz="109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The same recorded detection powers trajectory, traffic analytics and alerts.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241413" y="7539645"/>
            <a:ext cx="2600791" cy="51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8"/>
              </a:lnSpc>
              <a:spcBef>
                <a:spcPct val="0"/>
              </a:spcBef>
            </a:pPr>
            <a:r>
              <a:rPr lang="en-US" sz="109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Digi</a:t>
            </a:r>
            <a:r>
              <a:rPr lang="en-US" sz="109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tal-city validation</a:t>
            </a:r>
          </a:p>
          <a:p>
            <a:pPr algn="ctr">
              <a:lnSpc>
                <a:spcPts val="1308"/>
              </a:lnSpc>
              <a:spcBef>
                <a:spcPct val="0"/>
              </a:spcBef>
            </a:pPr>
            <a:r>
              <a:rPr lang="en-US" sz="109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Real Delhi road geometry enables repeatable testing before real deployment.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848638" y="7350073"/>
            <a:ext cx="2393217" cy="70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b="true" sz="118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TRADITIONAL APPROACH 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1000 Cameras 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▼ ~3 Gbps VIDEO 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▼ CENTRAL SYSTEM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3710004" y="8189741"/>
            <a:ext cx="2670485" cy="104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7"/>
              </a:lnSpc>
            </a:pP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b="true" sz="118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TRINETRA APPROACH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b="true" sz="118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1000 Cameras 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▼ ~2 MB/s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EVENTS plate • time • camera </a:t>
            </a:r>
          </a:p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sz="1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▼ CENTRAL SYSTEM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5581405" y="124134"/>
            <a:ext cx="2494321" cy="1267835"/>
            <a:chOff x="0" y="0"/>
            <a:chExt cx="4418241" cy="224574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70" t="0" r="-27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176136" y="4301347"/>
            <a:ext cx="3313681" cy="1684306"/>
            <a:chOff x="0" y="0"/>
            <a:chExt cx="4418241" cy="2245741"/>
          </a:xfrm>
        </p:grpSpPr>
        <p:sp>
          <p:nvSpPr>
            <p:cNvPr name="Freeform 11" id="11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215" t="0" r="-15216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4221" y="154105"/>
            <a:ext cx="18420448" cy="10100121"/>
          </a:xfrm>
          <a:custGeom>
            <a:avLst/>
            <a:gdLst/>
            <a:ahLst/>
            <a:cxnLst/>
            <a:rect r="r" b="b" t="t" l="l"/>
            <a:pathLst>
              <a:path h="10100121" w="18420448">
                <a:moveTo>
                  <a:pt x="0" y="0"/>
                </a:moveTo>
                <a:lnTo>
                  <a:pt x="18420448" y="0"/>
                </a:lnTo>
                <a:lnTo>
                  <a:pt x="18420448" y="10100121"/>
                </a:lnTo>
                <a:lnTo>
                  <a:pt x="0" y="10100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6" t="-2146" r="0" b="-1197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9704784"/>
            <a:ext cx="18288000" cy="754856"/>
            <a:chOff x="0" y="0"/>
            <a:chExt cx="24384000" cy="10064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245042" y="9739312"/>
            <a:ext cx="4806001" cy="547688"/>
            <a:chOff x="0" y="0"/>
            <a:chExt cx="6408001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Team: Baazigars     SIH26127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565776" y="9739312"/>
            <a:ext cx="4267200" cy="547688"/>
            <a:chOff x="0" y="0"/>
            <a:chExt cx="5689600" cy="730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5403499" y="154105"/>
            <a:ext cx="2646845" cy="1345361"/>
            <a:chOff x="0" y="0"/>
            <a:chExt cx="4418241" cy="22457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0" t="0" r="-27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277835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7170" y="136606"/>
            <a:ext cx="1915887" cy="124910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Baazigars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518008" y="85649"/>
            <a:ext cx="2557718" cy="1300059"/>
            <a:chOff x="0" y="0"/>
            <a:chExt cx="4418241" cy="2245741"/>
          </a:xfrm>
        </p:grpSpPr>
        <p:sp>
          <p:nvSpPr>
            <p:cNvPr name="Freeform 14" id="14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41000" y="9635728"/>
            <a:ext cx="4806001" cy="547688"/>
            <a:chOff x="0" y="0"/>
            <a:chExt cx="6408001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Team: Baazigars     SIH261127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150448" y="2365741"/>
            <a:ext cx="15987105" cy="2777759"/>
          </a:xfrm>
          <a:custGeom>
            <a:avLst/>
            <a:gdLst/>
            <a:ahLst/>
            <a:cxnLst/>
            <a:rect r="r" b="b" t="t" l="l"/>
            <a:pathLst>
              <a:path h="2777759" w="15987105">
                <a:moveTo>
                  <a:pt x="0" y="0"/>
                </a:moveTo>
                <a:lnTo>
                  <a:pt x="15987104" y="0"/>
                </a:lnTo>
                <a:lnTo>
                  <a:pt x="15987104" y="2777759"/>
                </a:lnTo>
                <a:lnTo>
                  <a:pt x="0" y="2777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040780" y="1385707"/>
            <a:ext cx="14206441" cy="790919"/>
            <a:chOff x="0" y="0"/>
            <a:chExt cx="2923136" cy="1627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3136" cy="162741"/>
            </a:xfrm>
            <a:custGeom>
              <a:avLst/>
              <a:gdLst/>
              <a:ahLst/>
              <a:cxnLst/>
              <a:rect r="r" b="b" t="t" l="l"/>
              <a:pathLst>
                <a:path h="162741" w="2923136">
                  <a:moveTo>
                    <a:pt x="10644" y="0"/>
                  </a:moveTo>
                  <a:lnTo>
                    <a:pt x="2912492" y="0"/>
                  </a:lnTo>
                  <a:cubicBezTo>
                    <a:pt x="2918371" y="0"/>
                    <a:pt x="2923136" y="4765"/>
                    <a:pt x="2923136" y="10644"/>
                  </a:cubicBezTo>
                  <a:lnTo>
                    <a:pt x="2923136" y="152097"/>
                  </a:lnTo>
                  <a:cubicBezTo>
                    <a:pt x="2923136" y="154920"/>
                    <a:pt x="2922014" y="157627"/>
                    <a:pt x="2920018" y="159623"/>
                  </a:cubicBezTo>
                  <a:cubicBezTo>
                    <a:pt x="2918022" y="161619"/>
                    <a:pt x="2915315" y="162741"/>
                    <a:pt x="2912492" y="162741"/>
                  </a:cubicBezTo>
                  <a:lnTo>
                    <a:pt x="10644" y="162741"/>
                  </a:lnTo>
                  <a:cubicBezTo>
                    <a:pt x="4765" y="162741"/>
                    <a:pt x="0" y="157975"/>
                    <a:pt x="0" y="152097"/>
                  </a:cubicBezTo>
                  <a:lnTo>
                    <a:pt x="0" y="10644"/>
                  </a:lnTo>
                  <a:cubicBezTo>
                    <a:pt x="0" y="7821"/>
                    <a:pt x="1121" y="5114"/>
                    <a:pt x="3117" y="3117"/>
                  </a:cubicBezTo>
                  <a:cubicBezTo>
                    <a:pt x="5114" y="1121"/>
                    <a:pt x="7821" y="0"/>
                    <a:pt x="10644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923136" cy="181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Trinetra combines established research in ANPR, OCR, vehicle re-identification and traffic simulation with scalable event-driven systems to build a unified city-wide intelligence platform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50448" y="5932018"/>
            <a:ext cx="413705" cy="413705"/>
          </a:xfrm>
          <a:custGeom>
            <a:avLst/>
            <a:gdLst/>
            <a:ahLst/>
            <a:cxnLst/>
            <a:rect r="r" b="b" t="t" l="l"/>
            <a:pathLst>
              <a:path h="413705" w="413705">
                <a:moveTo>
                  <a:pt x="0" y="0"/>
                </a:moveTo>
                <a:lnTo>
                  <a:pt x="413705" y="0"/>
                </a:lnTo>
                <a:lnTo>
                  <a:pt x="413705" y="413705"/>
                </a:lnTo>
                <a:lnTo>
                  <a:pt x="0" y="413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50448" y="5332004"/>
            <a:ext cx="1129105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SIH26127 — City-Wide AI Engine for Multi-Camera ANPR Trajectory Tracking and Urban Traffic Analytics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327294" y="5827304"/>
            <a:ext cx="413705" cy="413705"/>
          </a:xfrm>
          <a:custGeom>
            <a:avLst/>
            <a:gdLst/>
            <a:ahLst/>
            <a:cxnLst/>
            <a:rect r="r" b="b" t="t" l="l"/>
            <a:pathLst>
              <a:path h="413705" w="413705">
                <a:moveTo>
                  <a:pt x="0" y="0"/>
                </a:moveTo>
                <a:lnTo>
                  <a:pt x="413706" y="0"/>
                </a:lnTo>
                <a:lnTo>
                  <a:pt x="413706" y="413706"/>
                </a:lnTo>
                <a:lnTo>
                  <a:pt x="0" y="413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007700" y="5884393"/>
            <a:ext cx="11280300" cy="59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8" tooltip="https://www.cv-foundation.org/openaccess/content_cvpr_2016/papers/Redmon_You_Only_Look_CVPR_2016_paper.pdf"/>
              </a:rPr>
              <a:t>https://www.cv-foundation.org/openaccess/content_cvpr_2016/papers/Redmon_You_Only_Look_CVPR_2016_paper.pdf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50448" y="7629473"/>
            <a:ext cx="413705" cy="413705"/>
          </a:xfrm>
          <a:custGeom>
            <a:avLst/>
            <a:gdLst/>
            <a:ahLst/>
            <a:cxnLst/>
            <a:rect r="r" b="b" t="t" l="l"/>
            <a:pathLst>
              <a:path h="413705" w="413705">
                <a:moveTo>
                  <a:pt x="0" y="0"/>
                </a:moveTo>
                <a:lnTo>
                  <a:pt x="413705" y="0"/>
                </a:lnTo>
                <a:lnTo>
                  <a:pt x="413705" y="413706"/>
                </a:lnTo>
                <a:lnTo>
                  <a:pt x="0" y="413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327294" y="7174460"/>
            <a:ext cx="413705" cy="413705"/>
          </a:xfrm>
          <a:custGeom>
            <a:avLst/>
            <a:gdLst/>
            <a:ahLst/>
            <a:cxnLst/>
            <a:rect r="r" b="b" t="t" l="l"/>
            <a:pathLst>
              <a:path h="413705" w="413705">
                <a:moveTo>
                  <a:pt x="0" y="0"/>
                </a:moveTo>
                <a:lnTo>
                  <a:pt x="413706" y="0"/>
                </a:lnTo>
                <a:lnTo>
                  <a:pt x="413706" y="413705"/>
                </a:lnTo>
                <a:lnTo>
                  <a:pt x="0" y="413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007700" y="7022060"/>
            <a:ext cx="629935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hlinkClick r:id="rId9" tooltip="https://share.google/FnpUiPvKHbfVt4ulp"/>
              </a:rPr>
              <a:t>Source: IIIT Blog https://share.google/FnpUiPvKHbfVt4ulp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327294" y="8273965"/>
            <a:ext cx="413705" cy="413705"/>
          </a:xfrm>
          <a:custGeom>
            <a:avLst/>
            <a:gdLst/>
            <a:ahLst/>
            <a:cxnLst/>
            <a:rect r="r" b="b" t="t" l="l"/>
            <a:pathLst>
              <a:path h="413705" w="413705">
                <a:moveTo>
                  <a:pt x="0" y="0"/>
                </a:moveTo>
                <a:lnTo>
                  <a:pt x="413706" y="0"/>
                </a:lnTo>
                <a:lnTo>
                  <a:pt x="413706" y="413705"/>
                </a:lnTo>
                <a:lnTo>
                  <a:pt x="0" y="413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007700" y="8050760"/>
            <a:ext cx="10129853" cy="110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0" tooltip="https://www.cv-foundation.org/openaccess/content_cvpr_2016/papers/Redmon_You_Only_Look_CVPR_2016_paper.pdf"/>
              </a:rPr>
              <a:t>https://www.cv-foundation.org/openaccess/content_cvpr_2016/papers/Redmon_You_Only_Look_CVPR_2016_paper.pdf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581405" y="101761"/>
            <a:ext cx="2494321" cy="1267835"/>
            <a:chOff x="0" y="0"/>
            <a:chExt cx="4418241" cy="224574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70" t="0" r="-27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DAHUsa30Kl0</dc:identifier>
  <dcterms:modified xsi:type="dcterms:W3CDTF">2011-08-01T06:04:30Z</dcterms:modified>
  <cp:revision>1</cp:revision>
  <dc:title>SIH2025-IDEA-Presentation-Format.pptx</dc:title>
</cp:coreProperties>
</file>