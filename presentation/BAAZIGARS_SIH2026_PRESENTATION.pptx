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10287000" cx="18288000"/>
  <p:notesSz cx="6858000" cy="9144000"/>
  <p:embeddedFontLst>
    <p:embeddedFont>
      <p:font typeface="Garamond"/>
      <p:bold r:id="rId12"/>
      <p:boldItalic r:id="rId13"/>
    </p:embeddedFont>
    <p:embeddedFont>
      <p:font typeface="Arimo"/>
      <p:bold r:id="rId14"/>
      <p:boldItalic r:id="rId15"/>
    </p:embeddedFont>
    <p:embeddedFont>
      <p:font typeface="Fraunces SemiBold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0" roundtripDataSignature="AMtx7mii92QNT7jwjKGvGDxRN7kdHEoY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Garamond-boldItalic.fntdata"/><Relationship Id="rId12" Type="http://schemas.openxmlformats.org/officeDocument/2006/relationships/font" Target="fonts/Garamon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Arimo-boldItalic.fntdata"/><Relationship Id="rId14" Type="http://schemas.openxmlformats.org/officeDocument/2006/relationships/font" Target="fonts/Arimo-bold.fntdata"/><Relationship Id="rId17" Type="http://schemas.openxmlformats.org/officeDocument/2006/relationships/font" Target="fonts/FrauncesSemiBold-bold.fntdata"/><Relationship Id="rId16" Type="http://schemas.openxmlformats.org/officeDocument/2006/relationships/font" Target="fonts/FrauncesSemiBold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FrauncesSemiBold-boldItalic.fntdata"/><Relationship Id="rId6" Type="http://schemas.openxmlformats.org/officeDocument/2006/relationships/slide" Target="slides/slide1.xml"/><Relationship Id="rId18" Type="http://schemas.openxmlformats.org/officeDocument/2006/relationships/font" Target="fonts/FrauncesSemiBold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02" name="Google Shape;102;p2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</a:t>
            </a:r>
            <a:endParaRPr/>
          </a:p>
        </p:txBody>
      </p:sp>
      <p:sp>
        <p:nvSpPr>
          <p:cNvPr id="104" name="Google Shape;104;p2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289" name="Google Shape;289;p3:notes"/>
          <p:cNvSpPr/>
          <p:nvPr>
            <p:ph idx="3" type="sldImg"/>
          </p:nvPr>
        </p:nvSpPr>
        <p:spPr>
          <a:xfrm>
            <a:off x="2290763" y="512763"/>
            <a:ext cx="4562475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p3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</a:t>
            </a:r>
            <a:endParaRPr/>
          </a:p>
        </p:txBody>
      </p:sp>
      <p:sp>
        <p:nvSpPr>
          <p:cNvPr id="291" name="Google Shape;291;p3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489" name="Google Shape;489;p4:notes"/>
          <p:cNvSpPr/>
          <p:nvPr>
            <p:ph idx="3" type="sldImg"/>
          </p:nvPr>
        </p:nvSpPr>
        <p:spPr>
          <a:xfrm>
            <a:off x="2290763" y="512763"/>
            <a:ext cx="4562475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p4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</a:t>
            </a:r>
            <a:endParaRPr/>
          </a:p>
        </p:txBody>
      </p:sp>
      <p:sp>
        <p:nvSpPr>
          <p:cNvPr id="491" name="Google Shape;491;p4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4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5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598" name="Google Shape;598;p5:notes"/>
          <p:cNvSpPr/>
          <p:nvPr>
            <p:ph idx="3" type="sldImg"/>
          </p:nvPr>
        </p:nvSpPr>
        <p:spPr>
          <a:xfrm>
            <a:off x="2290763" y="512763"/>
            <a:ext cx="4562475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9" name="Google Shape;599;p5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</a:t>
            </a:r>
            <a:endParaRPr/>
          </a:p>
        </p:txBody>
      </p:sp>
      <p:sp>
        <p:nvSpPr>
          <p:cNvPr id="600" name="Google Shape;600;p5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6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6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696" name="Google Shape;696;p6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7" name="Google Shape;697;p6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</a:t>
            </a:r>
            <a:endParaRPr/>
          </a:p>
        </p:txBody>
      </p:sp>
      <p:sp>
        <p:nvSpPr>
          <p:cNvPr id="698" name="Google Shape;698;p6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6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1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1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1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1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jpg"/><Relationship Id="rId6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png"/><Relationship Id="rId10" Type="http://schemas.openxmlformats.org/officeDocument/2006/relationships/image" Target="../media/image10.png"/><Relationship Id="rId13" Type="http://schemas.openxmlformats.org/officeDocument/2006/relationships/image" Target="../media/image12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5" Type="http://schemas.openxmlformats.org/officeDocument/2006/relationships/image" Target="../media/image15.png"/><Relationship Id="rId14" Type="http://schemas.openxmlformats.org/officeDocument/2006/relationships/image" Target="../media/image27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22.png"/><Relationship Id="rId10" Type="http://schemas.openxmlformats.org/officeDocument/2006/relationships/image" Target="../media/image14.png"/><Relationship Id="rId13" Type="http://schemas.openxmlformats.org/officeDocument/2006/relationships/image" Target="../media/image18.png"/><Relationship Id="rId1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4.png"/><Relationship Id="rId9" Type="http://schemas.openxmlformats.org/officeDocument/2006/relationships/image" Target="../media/image19.png"/><Relationship Id="rId1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0.png"/><Relationship Id="rId7" Type="http://schemas.openxmlformats.org/officeDocument/2006/relationships/image" Target="../media/image17.png"/><Relationship Id="rId8" Type="http://schemas.openxmlformats.org/officeDocument/2006/relationships/image" Target="../media/image21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33.png"/><Relationship Id="rId10" Type="http://schemas.openxmlformats.org/officeDocument/2006/relationships/image" Target="../media/image30.png"/><Relationship Id="rId1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4.png"/><Relationship Id="rId9" Type="http://schemas.openxmlformats.org/officeDocument/2006/relationships/image" Target="../media/image31.png"/><Relationship Id="rId5" Type="http://schemas.openxmlformats.org/officeDocument/2006/relationships/image" Target="../media/image23.png"/><Relationship Id="rId6" Type="http://schemas.openxmlformats.org/officeDocument/2006/relationships/image" Target="../media/image28.png"/><Relationship Id="rId7" Type="http://schemas.openxmlformats.org/officeDocument/2006/relationships/image" Target="../media/image37.png"/><Relationship Id="rId8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image" Target="../media/image36.png"/><Relationship Id="rId10" Type="http://schemas.openxmlformats.org/officeDocument/2006/relationships/image" Target="../media/image42.png"/><Relationship Id="rId13" Type="http://schemas.openxmlformats.org/officeDocument/2006/relationships/image" Target="../media/image32.png"/><Relationship Id="rId1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4.png"/><Relationship Id="rId9" Type="http://schemas.openxmlformats.org/officeDocument/2006/relationships/image" Target="../media/image39.png"/><Relationship Id="rId15" Type="http://schemas.openxmlformats.org/officeDocument/2006/relationships/hyperlink" Target="https://morth.gov.in" TargetMode="External"/><Relationship Id="rId14" Type="http://schemas.openxmlformats.org/officeDocument/2006/relationships/image" Target="../media/image38.png"/><Relationship Id="rId16" Type="http://schemas.openxmlformats.org/officeDocument/2006/relationships/hyperlink" Target="https://traffic.delhipolice.gov.in" TargetMode="External"/><Relationship Id="rId5" Type="http://schemas.openxmlformats.org/officeDocument/2006/relationships/image" Target="../media/image35.png"/><Relationship Id="rId6" Type="http://schemas.openxmlformats.org/officeDocument/2006/relationships/image" Target="../media/image40.png"/><Relationship Id="rId7" Type="http://schemas.openxmlformats.org/officeDocument/2006/relationships/image" Target="../media/image34.png"/><Relationship Id="rId8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hyperlink" Target="https://www.researchgate.net/publication/377677383_Traffic_Management_System_Using_YOLO_Algorithm" TargetMode="External"/><Relationship Id="rId10" Type="http://schemas.openxmlformats.org/officeDocument/2006/relationships/hyperlink" Target="https://pubmed.ncbi.nlm.nih.gov/41846120/" TargetMode="External"/><Relationship Id="rId13" Type="http://schemas.openxmlformats.org/officeDocument/2006/relationships/hyperlink" Target="https://arxiv.org/html/2507.19912v1" TargetMode="External"/><Relationship Id="rId12" Type="http://schemas.openxmlformats.org/officeDocument/2006/relationships/hyperlink" Target="https://www.researchgate.net/publication/224793504_SUMO_Simulation_of_Urban_MObility_An_open-source_traffic_simulation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24.png"/><Relationship Id="rId9" Type="http://schemas.openxmlformats.org/officeDocument/2006/relationships/image" Target="../media/image4.png"/><Relationship Id="rId5" Type="http://schemas.openxmlformats.org/officeDocument/2006/relationships/image" Target="../media/image41.png"/><Relationship Id="rId6" Type="http://schemas.openxmlformats.org/officeDocument/2006/relationships/image" Target="../media/image43.png"/><Relationship Id="rId7" Type="http://schemas.openxmlformats.org/officeDocument/2006/relationships/hyperlink" Target="https://www.cv-foundation.org/openaccess/content_cvpr_2016/papers/Redmon_You_Only_Look_CVPR_2016_paper.pdf" TargetMode="External"/><Relationship Id="rId8" Type="http://schemas.openxmlformats.org/officeDocument/2006/relationships/hyperlink" Target="https://share.google/FnpUiPvKHbfVt4ul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8485165" y="1277283"/>
            <a:ext cx="6957908" cy="7732452"/>
          </a:xfrm>
          <a:custGeom>
            <a:rect b="b" l="l" r="r" t="t"/>
            <a:pathLst>
              <a:path extrusionOk="0"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8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9" name="Google Shape;89;p1"/>
          <p:cNvSpPr/>
          <p:nvPr/>
        </p:nvSpPr>
        <p:spPr>
          <a:xfrm>
            <a:off x="10282333" y="2573817"/>
            <a:ext cx="4805267" cy="5139309"/>
          </a:xfrm>
          <a:custGeom>
            <a:rect b="b" l="l" r="r" t="t"/>
            <a:pathLst>
              <a:path extrusionOk="0" h="6852412" w="6407023">
                <a:moveTo>
                  <a:pt x="0" y="0"/>
                </a:moveTo>
                <a:lnTo>
                  <a:pt x="6407023" y="0"/>
                </a:lnTo>
                <a:lnTo>
                  <a:pt x="6407023" y="6852412"/>
                </a:lnTo>
                <a:lnTo>
                  <a:pt x="0" y="68524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39000"/>
            </a:blip>
            <a:stretch>
              <a:fillRect b="-1" l="0" r="-149476" t="0"/>
            </a:stretch>
          </a:blipFill>
          <a:ln>
            <a:noFill/>
          </a:ln>
        </p:spPr>
      </p:sp>
      <p:grpSp>
        <p:nvGrpSpPr>
          <p:cNvPr id="90" name="Google Shape;90;p1"/>
          <p:cNvGrpSpPr/>
          <p:nvPr/>
        </p:nvGrpSpPr>
        <p:grpSpPr>
          <a:xfrm>
            <a:off x="874085" y="-712880"/>
            <a:ext cx="15544800" cy="3121819"/>
            <a:chOff x="0" y="-9525"/>
            <a:chExt cx="20726400" cy="4162425"/>
          </a:xfrm>
        </p:grpSpPr>
        <p:sp>
          <p:nvSpPr>
            <p:cNvPr id="91" name="Google Shape;91;p1"/>
            <p:cNvSpPr/>
            <p:nvPr/>
          </p:nvSpPr>
          <p:spPr>
            <a:xfrm>
              <a:off x="0" y="0"/>
              <a:ext cx="20726400" cy="4152900"/>
            </a:xfrm>
            <a:custGeom>
              <a:rect b="b" l="l" r="r" t="t"/>
              <a:pathLst>
                <a:path extrusionOk="0"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 rotWithShape="1">
              <a:blip r:embed="rId5">
                <a:alphaModFix amt="0"/>
              </a:blip>
              <a:stretch>
                <a:fillRect b="-47246" l="0" r="0" t="-47246"/>
              </a:stretch>
            </a:blipFill>
            <a:ln>
              <a:noFill/>
            </a:ln>
          </p:spPr>
        </p:sp>
        <p:sp>
          <p:nvSpPr>
            <p:cNvPr id="92" name="Google Shape;92;p1"/>
            <p:cNvSpPr txBox="1"/>
            <p:nvPr/>
          </p:nvSpPr>
          <p:spPr>
            <a:xfrm>
              <a:off x="0" y="-9525"/>
              <a:ext cx="20726400" cy="41624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5900" u="none" cap="none" strike="noStrike">
                  <a:solidFill>
                    <a:srgbClr val="1F497D"/>
                  </a:solidFill>
                  <a:latin typeface="Garamond"/>
                  <a:ea typeface="Garamond"/>
                  <a:cs typeface="Garamond"/>
                  <a:sym typeface="Garamond"/>
                </a:rPr>
                <a:t>SMART INDIA HACKATHON 2026</a:t>
              </a:r>
              <a:endParaRPr/>
            </a:p>
          </p:txBody>
        </p:sp>
      </p:grpSp>
      <p:sp>
        <p:nvSpPr>
          <p:cNvPr id="93" name="Google Shape;93;p1"/>
          <p:cNvSpPr txBox="1"/>
          <p:nvPr/>
        </p:nvSpPr>
        <p:spPr>
          <a:xfrm>
            <a:off x="531185" y="3288192"/>
            <a:ext cx="16230600" cy="6442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2093" lvl="1" marL="564186" marR="0" rtl="0" algn="just">
              <a:lnSpc>
                <a:spcPct val="2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17"/>
              <a:buFont typeface="Arial"/>
              <a:buChar char="•"/>
            </a:pPr>
            <a:r>
              <a:rPr b="1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ID – </a:t>
            </a:r>
            <a:r>
              <a:rPr b="0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26127</a:t>
            </a:r>
            <a:endParaRPr/>
          </a:p>
          <a:p>
            <a:pPr indent="-282093" lvl="1" marL="564186" marR="0" rtl="0" algn="just">
              <a:lnSpc>
                <a:spcPct val="18601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17"/>
              <a:buFont typeface="Arial"/>
              <a:buChar char="•"/>
            </a:pPr>
            <a:r>
              <a:rPr b="1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Title- </a:t>
            </a:r>
            <a:r>
              <a:rPr b="0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City-Wide AI Engine for Multi-Camera ANPR Trajectory Tracking and Urban Traffic Analytics</a:t>
            </a:r>
            <a:endParaRPr/>
          </a:p>
          <a:p>
            <a:pPr indent="-282093" lvl="1" marL="564186" marR="0" rtl="0" algn="just">
              <a:lnSpc>
                <a:spcPct val="2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17"/>
              <a:buFont typeface="Arial"/>
              <a:buChar char="•"/>
            </a:pPr>
            <a:r>
              <a:rPr b="1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Theme- </a:t>
            </a:r>
            <a:r>
              <a:rPr b="0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Smart Automation</a:t>
            </a:r>
            <a:endParaRPr/>
          </a:p>
          <a:p>
            <a:pPr indent="-282093" lvl="1" marL="564186" marR="0" rtl="0" algn="just">
              <a:lnSpc>
                <a:spcPct val="2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17"/>
              <a:buFont typeface="Arial"/>
              <a:buChar char="•"/>
            </a:pPr>
            <a:r>
              <a:rPr b="1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PS Category- </a:t>
            </a:r>
            <a:r>
              <a:rPr b="0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  <a:endParaRPr/>
          </a:p>
          <a:p>
            <a:pPr indent="-282093" lvl="1" marL="564186" marR="0" rtl="0" algn="just">
              <a:lnSpc>
                <a:spcPct val="2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17"/>
              <a:buFont typeface="Arial"/>
              <a:buChar char="•"/>
            </a:pPr>
            <a:r>
              <a:rPr b="1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2093" lvl="1" marL="564186" marR="0" rtl="0" algn="just">
              <a:lnSpc>
                <a:spcPct val="2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17"/>
              <a:buFont typeface="Arial"/>
              <a:buChar char="•"/>
            </a:pPr>
            <a:r>
              <a:rPr b="1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Team Name- </a:t>
            </a:r>
            <a:r>
              <a:rPr b="0" i="0" lang="en-US" sz="311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Baazigars</a:t>
            </a:r>
            <a:endParaRPr/>
          </a:p>
        </p:txBody>
      </p:sp>
      <p:sp>
        <p:nvSpPr>
          <p:cNvPr id="94" name="Google Shape;94;p1"/>
          <p:cNvSpPr/>
          <p:nvPr/>
        </p:nvSpPr>
        <p:spPr>
          <a:xfrm>
            <a:off x="15581405" y="9449"/>
            <a:ext cx="2494300" cy="1267835"/>
          </a:xfrm>
          <a:custGeom>
            <a:rect b="b" l="l" r="r" t="t"/>
            <a:pathLst>
              <a:path extrusionOk="0" h="2245741" w="4418203">
                <a:moveTo>
                  <a:pt x="0" y="0"/>
                </a:moveTo>
                <a:lnTo>
                  <a:pt x="4418203" y="0"/>
                </a:lnTo>
                <a:lnTo>
                  <a:pt x="4418203" y="2245741"/>
                </a:lnTo>
                <a:lnTo>
                  <a:pt x="0" y="22457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270" r="-270" t="0"/>
            </a:stretch>
          </a:blipFill>
          <a:ln>
            <a:noFill/>
          </a:ln>
        </p:spPr>
      </p:sp>
      <p:grpSp>
        <p:nvGrpSpPr>
          <p:cNvPr id="95" name="Google Shape;95;p1"/>
          <p:cNvGrpSpPr/>
          <p:nvPr/>
        </p:nvGrpSpPr>
        <p:grpSpPr>
          <a:xfrm>
            <a:off x="6233845" y="1508017"/>
            <a:ext cx="5263625" cy="900923"/>
            <a:chOff x="0" y="-19050"/>
            <a:chExt cx="1083050" cy="185375"/>
          </a:xfrm>
        </p:grpSpPr>
        <p:sp>
          <p:nvSpPr>
            <p:cNvPr id="96" name="Google Shape;96;p1"/>
            <p:cNvSpPr/>
            <p:nvPr/>
          </p:nvSpPr>
          <p:spPr>
            <a:xfrm>
              <a:off x="0" y="0"/>
              <a:ext cx="1083050" cy="166325"/>
            </a:xfrm>
            <a:custGeom>
              <a:rect b="b" l="l" r="r" t="t"/>
              <a:pathLst>
                <a:path extrusionOk="0" h="166325" w="1083050">
                  <a:moveTo>
                    <a:pt x="28727" y="0"/>
                  </a:moveTo>
                  <a:lnTo>
                    <a:pt x="1054323" y="0"/>
                  </a:lnTo>
                  <a:cubicBezTo>
                    <a:pt x="1070189" y="0"/>
                    <a:pt x="1083050" y="12862"/>
                    <a:pt x="1083050" y="28727"/>
                  </a:cubicBezTo>
                  <a:lnTo>
                    <a:pt x="1083050" y="137598"/>
                  </a:lnTo>
                  <a:cubicBezTo>
                    <a:pt x="1083050" y="145217"/>
                    <a:pt x="1080024" y="152524"/>
                    <a:pt x="1074636" y="157911"/>
                  </a:cubicBezTo>
                  <a:cubicBezTo>
                    <a:pt x="1069249" y="163298"/>
                    <a:pt x="1061942" y="166325"/>
                    <a:pt x="1054323" y="166325"/>
                  </a:cubicBezTo>
                  <a:lnTo>
                    <a:pt x="28727" y="166325"/>
                  </a:lnTo>
                  <a:cubicBezTo>
                    <a:pt x="21108" y="166325"/>
                    <a:pt x="13801" y="163298"/>
                    <a:pt x="8414" y="157911"/>
                  </a:cubicBezTo>
                  <a:cubicBezTo>
                    <a:pt x="3027" y="152524"/>
                    <a:pt x="0" y="145217"/>
                    <a:pt x="0" y="137598"/>
                  </a:cubicBezTo>
                  <a:lnTo>
                    <a:pt x="0" y="28727"/>
                  </a:lnTo>
                  <a:cubicBezTo>
                    <a:pt x="0" y="21108"/>
                    <a:pt x="3027" y="13801"/>
                    <a:pt x="8414" y="8414"/>
                  </a:cubicBezTo>
                  <a:cubicBezTo>
                    <a:pt x="13801" y="3027"/>
                    <a:pt x="21108" y="0"/>
                    <a:pt x="28727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0070C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"/>
            <p:cNvSpPr txBox="1"/>
            <p:nvPr/>
          </p:nvSpPr>
          <p:spPr>
            <a:xfrm>
              <a:off x="0" y="-19050"/>
              <a:ext cx="1083050" cy="1853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299" u="none" cap="none" strike="noStrike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TRINETRA OS - DELHI</a:t>
              </a:r>
              <a:endParaRPr/>
            </a:p>
          </p:txBody>
        </p:sp>
      </p:grpSp>
      <p:sp>
        <p:nvSpPr>
          <p:cNvPr id="98" name="Google Shape;98;p1"/>
          <p:cNvSpPr txBox="1"/>
          <p:nvPr/>
        </p:nvSpPr>
        <p:spPr>
          <a:xfrm>
            <a:off x="4234484" y="2554767"/>
            <a:ext cx="9262348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“City-Wide Traffic Intelligence &amp; Vehicle Trajectory Platform”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/>
          <p:nvPr/>
        </p:nvSpPr>
        <p:spPr>
          <a:xfrm>
            <a:off x="3460" y="9506777"/>
            <a:ext cx="18288000" cy="761173"/>
          </a:xfrm>
          <a:custGeom>
            <a:rect b="b" l="l" r="r" t="t"/>
            <a:pathLst>
              <a:path extrusionOk="0" h="1014898" w="24384000">
                <a:moveTo>
                  <a:pt x="0" y="0"/>
                </a:moveTo>
                <a:lnTo>
                  <a:pt x="24384000" y="0"/>
                </a:lnTo>
                <a:lnTo>
                  <a:pt x="24384000" y="1014898"/>
                </a:lnTo>
                <a:lnTo>
                  <a:pt x="0" y="1014898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108" name="Google Shape;108;p2"/>
          <p:cNvGrpSpPr/>
          <p:nvPr/>
        </p:nvGrpSpPr>
        <p:grpSpPr>
          <a:xfrm>
            <a:off x="837411" y="-972015"/>
            <a:ext cx="16459200" cy="1922599"/>
            <a:chOff x="0" y="-28575"/>
            <a:chExt cx="21945600" cy="2563465"/>
          </a:xfrm>
        </p:grpSpPr>
        <p:sp>
          <p:nvSpPr>
            <p:cNvPr id="109" name="Google Shape;109;p2"/>
            <p:cNvSpPr/>
            <p:nvPr/>
          </p:nvSpPr>
          <p:spPr>
            <a:xfrm>
              <a:off x="0" y="0"/>
              <a:ext cx="21945600" cy="2534890"/>
            </a:xfrm>
            <a:custGeom>
              <a:rect b="b" l="l" r="r" t="t"/>
              <a:pathLst>
                <a:path extrusionOk="0" h="25348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534890"/>
                  </a:lnTo>
                  <a:lnTo>
                    <a:pt x="0" y="253489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13782" l="0" r="0" t="-123600"/>
              </a:stretch>
            </a:blipFill>
            <a:ln>
              <a:noFill/>
            </a:ln>
          </p:spPr>
        </p:sp>
        <p:sp>
          <p:nvSpPr>
            <p:cNvPr id="110" name="Google Shape;110;p2"/>
            <p:cNvSpPr txBox="1"/>
            <p:nvPr/>
          </p:nvSpPr>
          <p:spPr>
            <a:xfrm>
              <a:off x="0" y="-28575"/>
              <a:ext cx="21945600" cy="25634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3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200" u="none" cap="none" strike="noStrike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TRINETRA OS</a:t>
              </a:r>
              <a:endParaRPr/>
            </a:p>
          </p:txBody>
        </p:sp>
      </p:grpSp>
      <p:grpSp>
        <p:nvGrpSpPr>
          <p:cNvPr id="111" name="Google Shape;111;p2"/>
          <p:cNvGrpSpPr/>
          <p:nvPr/>
        </p:nvGrpSpPr>
        <p:grpSpPr>
          <a:xfrm>
            <a:off x="13106400" y="9520237"/>
            <a:ext cx="4267200" cy="561976"/>
            <a:chOff x="0" y="-19050"/>
            <a:chExt cx="5689600" cy="749300"/>
          </a:xfrm>
        </p:grpSpPr>
        <p:sp>
          <p:nvSpPr>
            <p:cNvPr id="112" name="Google Shape;112;p2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113" name="Google Shape;113;p2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2</a:t>
              </a:r>
              <a:endParaRPr/>
            </a:p>
          </p:txBody>
        </p:sp>
      </p:grpSp>
      <p:grpSp>
        <p:nvGrpSpPr>
          <p:cNvPr id="114" name="Google Shape;114;p2"/>
          <p:cNvGrpSpPr/>
          <p:nvPr/>
        </p:nvGrpSpPr>
        <p:grpSpPr>
          <a:xfrm>
            <a:off x="6744460" y="9585284"/>
            <a:ext cx="4806001" cy="561976"/>
            <a:chOff x="0" y="-19050"/>
            <a:chExt cx="6408001" cy="749300"/>
          </a:xfrm>
        </p:grpSpPr>
        <p:sp>
          <p:nvSpPr>
            <p:cNvPr id="115" name="Google Shape;115;p2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116" name="Google Shape;116;p2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  <a:endParaRPr/>
            </a:p>
          </p:txBody>
        </p:sp>
      </p:grpSp>
      <p:grpSp>
        <p:nvGrpSpPr>
          <p:cNvPr id="117" name="Google Shape;117;p2"/>
          <p:cNvGrpSpPr/>
          <p:nvPr/>
        </p:nvGrpSpPr>
        <p:grpSpPr>
          <a:xfrm>
            <a:off x="194938" y="28732"/>
            <a:ext cx="1667524" cy="1124491"/>
            <a:chOff x="0" y="-57150"/>
            <a:chExt cx="2554516" cy="1722631"/>
          </a:xfrm>
        </p:grpSpPr>
        <p:sp>
          <p:nvSpPr>
            <p:cNvPr descr="Your startup LOGO" id="118" name="Google Shape;118;p2"/>
            <p:cNvSpPr/>
            <p:nvPr/>
          </p:nvSpPr>
          <p:spPr>
            <a:xfrm>
              <a:off x="0" y="0"/>
              <a:ext cx="2554478" cy="1665481"/>
            </a:xfrm>
            <a:custGeom>
              <a:rect b="b" l="l" r="r" t="t"/>
              <a:pathLst>
                <a:path extrusionOk="0"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cap="sq" cmpd="sng" w="38100">
              <a:solidFill>
                <a:srgbClr val="8064A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2"/>
            <p:cNvSpPr txBox="1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7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Baazigars</a:t>
              </a:r>
              <a:endParaRPr/>
            </a:p>
          </p:txBody>
        </p:sp>
      </p:grpSp>
      <p:grpSp>
        <p:nvGrpSpPr>
          <p:cNvPr id="120" name="Google Shape;120;p2"/>
          <p:cNvGrpSpPr/>
          <p:nvPr/>
        </p:nvGrpSpPr>
        <p:grpSpPr>
          <a:xfrm>
            <a:off x="4518199" y="763227"/>
            <a:ext cx="9211491" cy="883502"/>
            <a:chOff x="0" y="-19050"/>
            <a:chExt cx="1895368" cy="181791"/>
          </a:xfrm>
        </p:grpSpPr>
        <p:sp>
          <p:nvSpPr>
            <p:cNvPr id="121" name="Google Shape;121;p2"/>
            <p:cNvSpPr/>
            <p:nvPr/>
          </p:nvSpPr>
          <p:spPr>
            <a:xfrm>
              <a:off x="0" y="0"/>
              <a:ext cx="1895368" cy="162741"/>
            </a:xfrm>
            <a:custGeom>
              <a:rect b="b" l="l" r="r" t="t"/>
              <a:pathLst>
                <a:path extrusionOk="0" h="162741" w="1895368">
                  <a:moveTo>
                    <a:pt x="16415" y="0"/>
                  </a:moveTo>
                  <a:lnTo>
                    <a:pt x="1878953" y="0"/>
                  </a:lnTo>
                  <a:cubicBezTo>
                    <a:pt x="1883307" y="0"/>
                    <a:pt x="1887482" y="1729"/>
                    <a:pt x="1890561" y="4808"/>
                  </a:cubicBezTo>
                  <a:cubicBezTo>
                    <a:pt x="1893639" y="7886"/>
                    <a:pt x="1895368" y="12062"/>
                    <a:pt x="1895368" y="16415"/>
                  </a:cubicBezTo>
                  <a:lnTo>
                    <a:pt x="1895368" y="146325"/>
                  </a:lnTo>
                  <a:cubicBezTo>
                    <a:pt x="1895368" y="150679"/>
                    <a:pt x="1893639" y="154854"/>
                    <a:pt x="1890561" y="157933"/>
                  </a:cubicBezTo>
                  <a:cubicBezTo>
                    <a:pt x="1887482" y="161011"/>
                    <a:pt x="1883307" y="162741"/>
                    <a:pt x="1878953" y="162741"/>
                  </a:cubicBezTo>
                  <a:lnTo>
                    <a:pt x="16415" y="162741"/>
                  </a:lnTo>
                  <a:cubicBezTo>
                    <a:pt x="12062" y="162741"/>
                    <a:pt x="7886" y="161011"/>
                    <a:pt x="4808" y="157933"/>
                  </a:cubicBezTo>
                  <a:cubicBezTo>
                    <a:pt x="1729" y="154854"/>
                    <a:pt x="0" y="150679"/>
                    <a:pt x="0" y="146325"/>
                  </a:cubicBezTo>
                  <a:lnTo>
                    <a:pt x="0" y="16415"/>
                  </a:lnTo>
                  <a:cubicBezTo>
                    <a:pt x="0" y="12062"/>
                    <a:pt x="1729" y="7886"/>
                    <a:pt x="4808" y="4808"/>
                  </a:cubicBezTo>
                  <a:cubicBezTo>
                    <a:pt x="7886" y="1729"/>
                    <a:pt x="12062" y="0"/>
                    <a:pt x="16415" y="0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"/>
            <p:cNvSpPr txBox="1"/>
            <p:nvPr/>
          </p:nvSpPr>
          <p:spPr>
            <a:xfrm>
              <a:off x="0" y="-19050"/>
              <a:ext cx="1895368" cy="18179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one event driven platform turning city ANPR cameras into live vehicle tracking, traffic analytics &amp; instant alerts.</a:t>
              </a:r>
              <a:endParaRPr/>
            </a:p>
          </p:txBody>
        </p:sp>
      </p:grpSp>
      <p:sp>
        <p:nvSpPr>
          <p:cNvPr id="123" name="Google Shape;123;p2"/>
          <p:cNvSpPr/>
          <p:nvPr/>
        </p:nvSpPr>
        <p:spPr>
          <a:xfrm>
            <a:off x="8242199" y="5568536"/>
            <a:ext cx="2910835" cy="956590"/>
          </a:xfrm>
          <a:custGeom>
            <a:rect b="b" l="l" r="r" t="t"/>
            <a:pathLst>
              <a:path extrusionOk="0" h="956590" w="2910835">
                <a:moveTo>
                  <a:pt x="0" y="0"/>
                </a:moveTo>
                <a:lnTo>
                  <a:pt x="2910835" y="0"/>
                </a:lnTo>
                <a:lnTo>
                  <a:pt x="2910835" y="956589"/>
                </a:lnTo>
                <a:lnTo>
                  <a:pt x="0" y="9565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1615" r="-1615" t="0"/>
            </a:stretch>
          </a:blipFill>
          <a:ln>
            <a:noFill/>
          </a:ln>
        </p:spPr>
      </p:sp>
      <p:sp>
        <p:nvSpPr>
          <p:cNvPr id="124" name="Google Shape;124;p2"/>
          <p:cNvSpPr/>
          <p:nvPr/>
        </p:nvSpPr>
        <p:spPr>
          <a:xfrm rot="5400000">
            <a:off x="9558234" y="6610204"/>
            <a:ext cx="260382" cy="313713"/>
          </a:xfrm>
          <a:custGeom>
            <a:rect b="b" l="l" r="r" t="t"/>
            <a:pathLst>
              <a:path extrusionOk="0" h="313713" w="260382">
                <a:moveTo>
                  <a:pt x="0" y="0"/>
                </a:moveTo>
                <a:lnTo>
                  <a:pt x="260382" y="0"/>
                </a:lnTo>
                <a:lnTo>
                  <a:pt x="260382" y="313714"/>
                </a:lnTo>
                <a:lnTo>
                  <a:pt x="0" y="3137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5" name="Google Shape;125;p2"/>
          <p:cNvSpPr/>
          <p:nvPr/>
        </p:nvSpPr>
        <p:spPr>
          <a:xfrm>
            <a:off x="15655779" y="-24291"/>
            <a:ext cx="2494300" cy="1267835"/>
          </a:xfrm>
          <a:custGeom>
            <a:rect b="b" l="l" r="r" t="t"/>
            <a:pathLst>
              <a:path extrusionOk="0" h="2245741" w="4418203">
                <a:moveTo>
                  <a:pt x="0" y="0"/>
                </a:moveTo>
                <a:lnTo>
                  <a:pt x="4418203" y="0"/>
                </a:lnTo>
                <a:lnTo>
                  <a:pt x="4418203" y="2245741"/>
                </a:lnTo>
                <a:lnTo>
                  <a:pt x="0" y="22457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270" r="-270" t="0"/>
            </a:stretch>
          </a:blipFill>
          <a:ln>
            <a:noFill/>
          </a:ln>
        </p:spPr>
      </p:sp>
      <p:sp>
        <p:nvSpPr>
          <p:cNvPr id="126" name="Google Shape;126;p2"/>
          <p:cNvSpPr/>
          <p:nvPr/>
        </p:nvSpPr>
        <p:spPr>
          <a:xfrm>
            <a:off x="2646763" y="3055086"/>
            <a:ext cx="390740" cy="470771"/>
          </a:xfrm>
          <a:custGeom>
            <a:rect b="b" l="l" r="r" t="t"/>
            <a:pathLst>
              <a:path extrusionOk="0"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7" name="Google Shape;127;p2"/>
          <p:cNvSpPr/>
          <p:nvPr/>
        </p:nvSpPr>
        <p:spPr>
          <a:xfrm>
            <a:off x="5758872" y="3055086"/>
            <a:ext cx="390740" cy="470771"/>
          </a:xfrm>
          <a:custGeom>
            <a:rect b="b" l="l" r="r" t="t"/>
            <a:pathLst>
              <a:path extrusionOk="0"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8" name="Google Shape;128;p2"/>
          <p:cNvSpPr/>
          <p:nvPr/>
        </p:nvSpPr>
        <p:spPr>
          <a:xfrm>
            <a:off x="8960911" y="3055086"/>
            <a:ext cx="390740" cy="470771"/>
          </a:xfrm>
          <a:custGeom>
            <a:rect b="b" l="l" r="r" t="t"/>
            <a:pathLst>
              <a:path extrusionOk="0"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9" name="Google Shape;129;p2"/>
          <p:cNvSpPr/>
          <p:nvPr/>
        </p:nvSpPr>
        <p:spPr>
          <a:xfrm>
            <a:off x="12172890" y="3055086"/>
            <a:ext cx="390740" cy="470771"/>
          </a:xfrm>
          <a:custGeom>
            <a:rect b="b" l="l" r="r" t="t"/>
            <a:pathLst>
              <a:path extrusionOk="0"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0" name="Google Shape;130;p2"/>
          <p:cNvSpPr/>
          <p:nvPr/>
        </p:nvSpPr>
        <p:spPr>
          <a:xfrm>
            <a:off x="15309964" y="3055086"/>
            <a:ext cx="390740" cy="470771"/>
          </a:xfrm>
          <a:custGeom>
            <a:rect b="b" l="l" r="r" t="t"/>
            <a:pathLst>
              <a:path extrusionOk="0" h="470771" w="390740">
                <a:moveTo>
                  <a:pt x="0" y="0"/>
                </a:moveTo>
                <a:lnTo>
                  <a:pt x="390740" y="0"/>
                </a:lnTo>
                <a:lnTo>
                  <a:pt x="390740" y="470771"/>
                </a:lnTo>
                <a:lnTo>
                  <a:pt x="0" y="47077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31" name="Google Shape;131;p2"/>
          <p:cNvGrpSpPr/>
          <p:nvPr/>
        </p:nvGrpSpPr>
        <p:grpSpPr>
          <a:xfrm>
            <a:off x="63061" y="1675659"/>
            <a:ext cx="2587650" cy="3731299"/>
            <a:chOff x="0" y="-19050"/>
            <a:chExt cx="635000" cy="915647"/>
          </a:xfrm>
        </p:grpSpPr>
        <p:sp>
          <p:nvSpPr>
            <p:cNvPr id="132" name="Google Shape;132;p2"/>
            <p:cNvSpPr/>
            <p:nvPr/>
          </p:nvSpPr>
          <p:spPr>
            <a:xfrm>
              <a:off x="0" y="0"/>
              <a:ext cx="635000" cy="896597"/>
            </a:xfrm>
            <a:custGeom>
              <a:rect b="b" l="l" r="r" t="t"/>
              <a:pathLst>
                <a:path extrusionOk="0" h="896597" w="635000">
                  <a:moveTo>
                    <a:pt x="58435" y="0"/>
                  </a:moveTo>
                  <a:lnTo>
                    <a:pt x="576565" y="0"/>
                  </a:lnTo>
                  <a:cubicBezTo>
                    <a:pt x="608838" y="0"/>
                    <a:pt x="635000" y="26162"/>
                    <a:pt x="635000" y="58435"/>
                  </a:cubicBezTo>
                  <a:lnTo>
                    <a:pt x="635000" y="838162"/>
                  </a:lnTo>
                  <a:cubicBezTo>
                    <a:pt x="635000" y="853660"/>
                    <a:pt x="628843" y="868523"/>
                    <a:pt x="617885" y="879482"/>
                  </a:cubicBezTo>
                  <a:cubicBezTo>
                    <a:pt x="606926" y="890441"/>
                    <a:pt x="592063" y="896597"/>
                    <a:pt x="576565" y="896597"/>
                  </a:cubicBezTo>
                  <a:lnTo>
                    <a:pt x="58435" y="896597"/>
                  </a:lnTo>
                  <a:cubicBezTo>
                    <a:pt x="26162" y="896597"/>
                    <a:pt x="0" y="870435"/>
                    <a:pt x="0" y="838162"/>
                  </a:cubicBezTo>
                  <a:lnTo>
                    <a:pt x="0" y="58435"/>
                  </a:lnTo>
                  <a:cubicBezTo>
                    <a:pt x="0" y="26162"/>
                    <a:pt x="26162" y="0"/>
                    <a:pt x="58435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D0E2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2"/>
            <p:cNvSpPr txBox="1"/>
            <p:nvPr/>
          </p:nvSpPr>
          <p:spPr>
            <a:xfrm>
              <a:off x="0" y="-19050"/>
              <a:ext cx="635000" cy="9156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000" lIns="53000" spcFirstLastPara="1" rIns="53000" wrap="square" tIns="53000">
              <a:noAutofit/>
            </a:bodyPr>
            <a:lstStyle/>
            <a:p>
              <a:pPr indent="0" lvl="0" marL="0" marR="0" rtl="0" algn="ctr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4" name="Google Shape;134;p2"/>
          <p:cNvSpPr/>
          <p:nvPr/>
        </p:nvSpPr>
        <p:spPr>
          <a:xfrm>
            <a:off x="1013858" y="1990109"/>
            <a:ext cx="560476" cy="462393"/>
          </a:xfrm>
          <a:custGeom>
            <a:rect b="b" l="l" r="r" t="t"/>
            <a:pathLst>
              <a:path extrusionOk="0" h="462393" w="560476">
                <a:moveTo>
                  <a:pt x="0" y="0"/>
                </a:moveTo>
                <a:lnTo>
                  <a:pt x="560476" y="0"/>
                </a:lnTo>
                <a:lnTo>
                  <a:pt x="560476" y="462393"/>
                </a:lnTo>
                <a:lnTo>
                  <a:pt x="0" y="46239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35" name="Google Shape;135;p2"/>
          <p:cNvGrpSpPr/>
          <p:nvPr/>
        </p:nvGrpSpPr>
        <p:grpSpPr>
          <a:xfrm>
            <a:off x="3127825" y="1782417"/>
            <a:ext cx="2462069" cy="3521551"/>
            <a:chOff x="0" y="-19050"/>
            <a:chExt cx="635000" cy="908254"/>
          </a:xfrm>
        </p:grpSpPr>
        <p:sp>
          <p:nvSpPr>
            <p:cNvPr id="136" name="Google Shape;136;p2"/>
            <p:cNvSpPr/>
            <p:nvPr/>
          </p:nvSpPr>
          <p:spPr>
            <a:xfrm>
              <a:off x="0" y="0"/>
              <a:ext cx="635000" cy="889204"/>
            </a:xfrm>
            <a:custGeom>
              <a:rect b="b" l="l" r="r" t="t"/>
              <a:pathLst>
                <a:path extrusionOk="0" h="889204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7789"/>
                  </a:lnTo>
                  <a:cubicBezTo>
                    <a:pt x="635000" y="861707"/>
                    <a:pt x="607503" y="889204"/>
                    <a:pt x="573584" y="889204"/>
                  </a:cubicBezTo>
                  <a:lnTo>
                    <a:pt x="61416" y="889204"/>
                  </a:lnTo>
                  <a:cubicBezTo>
                    <a:pt x="27497" y="889204"/>
                    <a:pt x="0" y="861707"/>
                    <a:pt x="0" y="827789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D0E2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"/>
            <p:cNvSpPr txBox="1"/>
            <p:nvPr/>
          </p:nvSpPr>
          <p:spPr>
            <a:xfrm>
              <a:off x="0" y="-19050"/>
              <a:ext cx="635000" cy="9082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000" lIns="53000" spcFirstLastPara="1" rIns="53000" wrap="square" tIns="53000">
              <a:noAutofit/>
            </a:bodyPr>
            <a:lstStyle/>
            <a:p>
              <a:pPr indent="0" lvl="0" marL="0" marR="0" rtl="0" algn="ctr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8" name="Google Shape;138;p2"/>
          <p:cNvSpPr/>
          <p:nvPr/>
        </p:nvSpPr>
        <p:spPr>
          <a:xfrm>
            <a:off x="4163926" y="1937890"/>
            <a:ext cx="453768" cy="424273"/>
          </a:xfrm>
          <a:custGeom>
            <a:rect b="b" l="l" r="r" t="t"/>
            <a:pathLst>
              <a:path extrusionOk="0" h="424273" w="453768">
                <a:moveTo>
                  <a:pt x="0" y="0"/>
                </a:moveTo>
                <a:lnTo>
                  <a:pt x="453768" y="0"/>
                </a:lnTo>
                <a:lnTo>
                  <a:pt x="453768" y="424273"/>
                </a:lnTo>
                <a:lnTo>
                  <a:pt x="0" y="4242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39" name="Google Shape;139;p2"/>
          <p:cNvGrpSpPr/>
          <p:nvPr/>
        </p:nvGrpSpPr>
        <p:grpSpPr>
          <a:xfrm>
            <a:off x="6318590" y="1782417"/>
            <a:ext cx="2462069" cy="3521551"/>
            <a:chOff x="0" y="-19050"/>
            <a:chExt cx="635000" cy="908254"/>
          </a:xfrm>
        </p:grpSpPr>
        <p:sp>
          <p:nvSpPr>
            <p:cNvPr id="140" name="Google Shape;140;p2"/>
            <p:cNvSpPr/>
            <p:nvPr/>
          </p:nvSpPr>
          <p:spPr>
            <a:xfrm>
              <a:off x="0" y="0"/>
              <a:ext cx="635000" cy="889204"/>
            </a:xfrm>
            <a:custGeom>
              <a:rect b="b" l="l" r="r" t="t"/>
              <a:pathLst>
                <a:path extrusionOk="0" h="889204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7789"/>
                  </a:lnTo>
                  <a:cubicBezTo>
                    <a:pt x="635000" y="861707"/>
                    <a:pt x="607503" y="889204"/>
                    <a:pt x="573584" y="889204"/>
                  </a:cubicBezTo>
                  <a:lnTo>
                    <a:pt x="61416" y="889204"/>
                  </a:lnTo>
                  <a:cubicBezTo>
                    <a:pt x="27497" y="889204"/>
                    <a:pt x="0" y="861707"/>
                    <a:pt x="0" y="827789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D0E2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"/>
            <p:cNvSpPr txBox="1"/>
            <p:nvPr/>
          </p:nvSpPr>
          <p:spPr>
            <a:xfrm>
              <a:off x="0" y="-19050"/>
              <a:ext cx="635000" cy="9082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000" lIns="53000" spcFirstLastPara="1" rIns="53000" wrap="square" tIns="53000">
              <a:noAutofit/>
            </a:bodyPr>
            <a:lstStyle/>
            <a:p>
              <a:pPr indent="0" lvl="0" marL="0" marR="0" rtl="0" algn="ctr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2" name="Google Shape;142;p2"/>
          <p:cNvSpPr/>
          <p:nvPr/>
        </p:nvSpPr>
        <p:spPr>
          <a:xfrm>
            <a:off x="7074086" y="1937890"/>
            <a:ext cx="1056310" cy="433087"/>
          </a:xfrm>
          <a:custGeom>
            <a:rect b="b" l="l" r="r" t="t"/>
            <a:pathLst>
              <a:path extrusionOk="0" h="433087" w="1056310">
                <a:moveTo>
                  <a:pt x="0" y="0"/>
                </a:moveTo>
                <a:lnTo>
                  <a:pt x="1056310" y="0"/>
                </a:lnTo>
                <a:lnTo>
                  <a:pt x="1056310" y="433087"/>
                </a:lnTo>
                <a:lnTo>
                  <a:pt x="0" y="43308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43" name="Google Shape;143;p2"/>
          <p:cNvGrpSpPr/>
          <p:nvPr/>
        </p:nvGrpSpPr>
        <p:grpSpPr>
          <a:xfrm>
            <a:off x="9531241" y="1790166"/>
            <a:ext cx="2462085" cy="3506076"/>
            <a:chOff x="0" y="-19050"/>
            <a:chExt cx="635000" cy="904257"/>
          </a:xfrm>
        </p:grpSpPr>
        <p:sp>
          <p:nvSpPr>
            <p:cNvPr id="144" name="Google Shape;144;p2"/>
            <p:cNvSpPr/>
            <p:nvPr/>
          </p:nvSpPr>
          <p:spPr>
            <a:xfrm>
              <a:off x="0" y="0"/>
              <a:ext cx="635000" cy="885207"/>
            </a:xfrm>
            <a:custGeom>
              <a:rect b="b" l="l" r="r" t="t"/>
              <a:pathLst>
                <a:path extrusionOk="0" h="885207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3791"/>
                  </a:lnTo>
                  <a:cubicBezTo>
                    <a:pt x="635000" y="857710"/>
                    <a:pt x="607503" y="885207"/>
                    <a:pt x="573584" y="885207"/>
                  </a:cubicBezTo>
                  <a:lnTo>
                    <a:pt x="61416" y="885207"/>
                  </a:lnTo>
                  <a:cubicBezTo>
                    <a:pt x="45127" y="885207"/>
                    <a:pt x="29506" y="878736"/>
                    <a:pt x="17988" y="867219"/>
                  </a:cubicBezTo>
                  <a:cubicBezTo>
                    <a:pt x="6471" y="855701"/>
                    <a:pt x="0" y="840080"/>
                    <a:pt x="0" y="823791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D0E2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"/>
            <p:cNvSpPr txBox="1"/>
            <p:nvPr/>
          </p:nvSpPr>
          <p:spPr>
            <a:xfrm>
              <a:off x="0" y="-19050"/>
              <a:ext cx="635000" cy="9042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000" lIns="53000" spcFirstLastPara="1" rIns="53000" wrap="square" tIns="53000">
              <a:noAutofit/>
            </a:bodyPr>
            <a:lstStyle/>
            <a:p>
              <a:pPr indent="0" lvl="0" marL="0" marR="0" rtl="0" algn="ctr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6" name="Google Shape;146;p2"/>
          <p:cNvSpPr/>
          <p:nvPr/>
        </p:nvSpPr>
        <p:spPr>
          <a:xfrm>
            <a:off x="10392671" y="1918906"/>
            <a:ext cx="670038" cy="418774"/>
          </a:xfrm>
          <a:custGeom>
            <a:rect b="b" l="l" r="r" t="t"/>
            <a:pathLst>
              <a:path extrusionOk="0" h="418774" w="670038">
                <a:moveTo>
                  <a:pt x="0" y="0"/>
                </a:moveTo>
                <a:lnTo>
                  <a:pt x="670038" y="0"/>
                </a:lnTo>
                <a:lnTo>
                  <a:pt x="670038" y="418774"/>
                </a:lnTo>
                <a:lnTo>
                  <a:pt x="0" y="4187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47" name="Google Shape;147;p2"/>
          <p:cNvGrpSpPr/>
          <p:nvPr/>
        </p:nvGrpSpPr>
        <p:grpSpPr>
          <a:xfrm>
            <a:off x="12722668" y="1782417"/>
            <a:ext cx="2462069" cy="3521551"/>
            <a:chOff x="0" y="-19050"/>
            <a:chExt cx="635000" cy="908254"/>
          </a:xfrm>
        </p:grpSpPr>
        <p:sp>
          <p:nvSpPr>
            <p:cNvPr id="148" name="Google Shape;148;p2"/>
            <p:cNvSpPr/>
            <p:nvPr/>
          </p:nvSpPr>
          <p:spPr>
            <a:xfrm>
              <a:off x="0" y="0"/>
              <a:ext cx="635000" cy="889204"/>
            </a:xfrm>
            <a:custGeom>
              <a:rect b="b" l="l" r="r" t="t"/>
              <a:pathLst>
                <a:path extrusionOk="0" h="889204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27789"/>
                  </a:lnTo>
                  <a:cubicBezTo>
                    <a:pt x="635000" y="861707"/>
                    <a:pt x="607503" y="889204"/>
                    <a:pt x="573584" y="889204"/>
                  </a:cubicBezTo>
                  <a:lnTo>
                    <a:pt x="61416" y="889204"/>
                  </a:lnTo>
                  <a:cubicBezTo>
                    <a:pt x="27497" y="889204"/>
                    <a:pt x="0" y="861707"/>
                    <a:pt x="0" y="827789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D0E2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"/>
            <p:cNvSpPr txBox="1"/>
            <p:nvPr/>
          </p:nvSpPr>
          <p:spPr>
            <a:xfrm>
              <a:off x="0" y="-19050"/>
              <a:ext cx="635000" cy="9082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000" lIns="53000" spcFirstLastPara="1" rIns="53000" wrap="square" tIns="53000">
              <a:noAutofit/>
            </a:bodyPr>
            <a:lstStyle/>
            <a:p>
              <a:pPr indent="0" lvl="0" marL="0" marR="0" rtl="0" algn="ctr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0" name="Google Shape;150;p2"/>
          <p:cNvSpPr/>
          <p:nvPr/>
        </p:nvSpPr>
        <p:spPr>
          <a:xfrm>
            <a:off x="13748710" y="1959838"/>
            <a:ext cx="436510" cy="432145"/>
          </a:xfrm>
          <a:custGeom>
            <a:rect b="b" l="l" r="r" t="t"/>
            <a:pathLst>
              <a:path extrusionOk="0" h="432145" w="436510">
                <a:moveTo>
                  <a:pt x="0" y="0"/>
                </a:moveTo>
                <a:lnTo>
                  <a:pt x="436510" y="0"/>
                </a:lnTo>
                <a:lnTo>
                  <a:pt x="436510" y="432145"/>
                </a:lnTo>
                <a:lnTo>
                  <a:pt x="0" y="432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51" name="Google Shape;151;p2"/>
          <p:cNvGrpSpPr/>
          <p:nvPr/>
        </p:nvGrpSpPr>
        <p:grpSpPr>
          <a:xfrm>
            <a:off x="15825931" y="1741023"/>
            <a:ext cx="2462069" cy="3547446"/>
            <a:chOff x="0" y="-19050"/>
            <a:chExt cx="635000" cy="914933"/>
          </a:xfrm>
        </p:grpSpPr>
        <p:sp>
          <p:nvSpPr>
            <p:cNvPr id="152" name="Google Shape;152;p2"/>
            <p:cNvSpPr/>
            <p:nvPr/>
          </p:nvSpPr>
          <p:spPr>
            <a:xfrm>
              <a:off x="0" y="0"/>
              <a:ext cx="635000" cy="895883"/>
            </a:xfrm>
            <a:custGeom>
              <a:rect b="b" l="l" r="r" t="t"/>
              <a:pathLst>
                <a:path extrusionOk="0" h="895883" w="635000">
                  <a:moveTo>
                    <a:pt x="61416" y="0"/>
                  </a:moveTo>
                  <a:lnTo>
                    <a:pt x="573584" y="0"/>
                  </a:lnTo>
                  <a:cubicBezTo>
                    <a:pt x="607503" y="0"/>
                    <a:pt x="635000" y="27497"/>
                    <a:pt x="635000" y="61416"/>
                  </a:cubicBezTo>
                  <a:lnTo>
                    <a:pt x="635000" y="834467"/>
                  </a:lnTo>
                  <a:cubicBezTo>
                    <a:pt x="635000" y="868386"/>
                    <a:pt x="607503" y="895883"/>
                    <a:pt x="573584" y="895883"/>
                  </a:cubicBezTo>
                  <a:lnTo>
                    <a:pt x="61416" y="895883"/>
                  </a:lnTo>
                  <a:cubicBezTo>
                    <a:pt x="27497" y="895883"/>
                    <a:pt x="0" y="868386"/>
                    <a:pt x="0" y="834467"/>
                  </a:cubicBezTo>
                  <a:lnTo>
                    <a:pt x="0" y="61416"/>
                  </a:lnTo>
                  <a:cubicBezTo>
                    <a:pt x="0" y="27497"/>
                    <a:pt x="27497" y="0"/>
                    <a:pt x="61416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D0E2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"/>
            <p:cNvSpPr txBox="1"/>
            <p:nvPr/>
          </p:nvSpPr>
          <p:spPr>
            <a:xfrm>
              <a:off x="0" y="-19050"/>
              <a:ext cx="635000" cy="9149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000" lIns="53000" spcFirstLastPara="1" rIns="53000" wrap="square" tIns="53000">
              <a:noAutofit/>
            </a:bodyPr>
            <a:lstStyle/>
            <a:p>
              <a:pPr indent="0" lvl="0" marL="0" marR="0" rtl="0" algn="ctr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4" name="Google Shape;154;p2"/>
          <p:cNvSpPr/>
          <p:nvPr/>
        </p:nvSpPr>
        <p:spPr>
          <a:xfrm>
            <a:off x="16848582" y="1918906"/>
            <a:ext cx="416766" cy="496862"/>
          </a:xfrm>
          <a:custGeom>
            <a:rect b="b" l="l" r="r" t="t"/>
            <a:pathLst>
              <a:path extrusionOk="0" h="496862" w="416766">
                <a:moveTo>
                  <a:pt x="0" y="0"/>
                </a:moveTo>
                <a:lnTo>
                  <a:pt x="416766" y="0"/>
                </a:lnTo>
                <a:lnTo>
                  <a:pt x="416766" y="496862"/>
                </a:lnTo>
                <a:lnTo>
                  <a:pt x="0" y="4968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-32887" l="0" r="-2976" t="0"/>
            </a:stretch>
          </a:blipFill>
          <a:ln>
            <a:noFill/>
          </a:ln>
        </p:spPr>
      </p:sp>
      <p:grpSp>
        <p:nvGrpSpPr>
          <p:cNvPr id="155" name="Google Shape;155;p2"/>
          <p:cNvGrpSpPr/>
          <p:nvPr/>
        </p:nvGrpSpPr>
        <p:grpSpPr>
          <a:xfrm>
            <a:off x="475612" y="5261387"/>
            <a:ext cx="7195087" cy="4107032"/>
            <a:chOff x="0" y="-19050"/>
            <a:chExt cx="1374361" cy="784500"/>
          </a:xfrm>
        </p:grpSpPr>
        <p:sp>
          <p:nvSpPr>
            <p:cNvPr id="156" name="Google Shape;156;p2"/>
            <p:cNvSpPr/>
            <p:nvPr/>
          </p:nvSpPr>
          <p:spPr>
            <a:xfrm>
              <a:off x="0" y="0"/>
              <a:ext cx="1374361" cy="765450"/>
            </a:xfrm>
            <a:custGeom>
              <a:rect b="b" l="l" r="r" t="t"/>
              <a:pathLst>
                <a:path extrusionOk="0" h="765450" w="1374361">
                  <a:moveTo>
                    <a:pt x="21016" y="0"/>
                  </a:moveTo>
                  <a:lnTo>
                    <a:pt x="1353345" y="0"/>
                  </a:lnTo>
                  <a:cubicBezTo>
                    <a:pt x="1358919" y="0"/>
                    <a:pt x="1364264" y="2214"/>
                    <a:pt x="1368205" y="6155"/>
                  </a:cubicBezTo>
                  <a:cubicBezTo>
                    <a:pt x="1372147" y="10097"/>
                    <a:pt x="1374361" y="15442"/>
                    <a:pt x="1374361" y="21016"/>
                  </a:cubicBezTo>
                  <a:lnTo>
                    <a:pt x="1374361" y="744434"/>
                  </a:lnTo>
                  <a:cubicBezTo>
                    <a:pt x="1374361" y="756041"/>
                    <a:pt x="1364952" y="765450"/>
                    <a:pt x="1353345" y="765450"/>
                  </a:cubicBezTo>
                  <a:lnTo>
                    <a:pt x="21016" y="765450"/>
                  </a:lnTo>
                  <a:cubicBezTo>
                    <a:pt x="9409" y="765450"/>
                    <a:pt x="0" y="756041"/>
                    <a:pt x="0" y="744434"/>
                  </a:cubicBezTo>
                  <a:lnTo>
                    <a:pt x="0" y="21016"/>
                  </a:lnTo>
                  <a:cubicBezTo>
                    <a:pt x="0" y="9409"/>
                    <a:pt x="9409" y="0"/>
                    <a:pt x="21016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57150">
              <a:solidFill>
                <a:srgbClr val="DCE6F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2"/>
            <p:cNvSpPr txBox="1"/>
            <p:nvPr/>
          </p:nvSpPr>
          <p:spPr>
            <a:xfrm>
              <a:off x="0" y="-19050"/>
              <a:ext cx="1374361" cy="78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ctr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8" name="Google Shape;158;p2"/>
          <p:cNvGrpSpPr/>
          <p:nvPr/>
        </p:nvGrpSpPr>
        <p:grpSpPr>
          <a:xfrm rot="-5400000">
            <a:off x="2138917" y="6830135"/>
            <a:ext cx="2557586" cy="752803"/>
            <a:chOff x="0" y="-19050"/>
            <a:chExt cx="760745" cy="223919"/>
          </a:xfrm>
        </p:grpSpPr>
        <p:sp>
          <p:nvSpPr>
            <p:cNvPr id="159" name="Google Shape;159;p2"/>
            <p:cNvSpPr/>
            <p:nvPr/>
          </p:nvSpPr>
          <p:spPr>
            <a:xfrm>
              <a:off x="0" y="0"/>
              <a:ext cx="760745" cy="204869"/>
            </a:xfrm>
            <a:custGeom>
              <a:rect b="b" l="l" r="r" t="t"/>
              <a:pathLst>
                <a:path extrusionOk="0" h="204869" w="760745">
                  <a:moveTo>
                    <a:pt x="59122" y="0"/>
                  </a:moveTo>
                  <a:lnTo>
                    <a:pt x="701623" y="0"/>
                  </a:lnTo>
                  <a:cubicBezTo>
                    <a:pt x="734275" y="0"/>
                    <a:pt x="760745" y="26470"/>
                    <a:pt x="760745" y="59122"/>
                  </a:cubicBezTo>
                  <a:lnTo>
                    <a:pt x="760745" y="145747"/>
                  </a:lnTo>
                  <a:cubicBezTo>
                    <a:pt x="760745" y="178399"/>
                    <a:pt x="734275" y="204869"/>
                    <a:pt x="701623" y="204869"/>
                  </a:cubicBezTo>
                  <a:lnTo>
                    <a:pt x="59122" y="204869"/>
                  </a:lnTo>
                  <a:cubicBezTo>
                    <a:pt x="26470" y="204869"/>
                    <a:pt x="0" y="178399"/>
                    <a:pt x="0" y="145747"/>
                  </a:cubicBezTo>
                  <a:lnTo>
                    <a:pt x="0" y="59122"/>
                  </a:lnTo>
                  <a:cubicBezTo>
                    <a:pt x="0" y="26470"/>
                    <a:pt x="26470" y="0"/>
                    <a:pt x="59122" y="0"/>
                  </a:cubicBezTo>
                  <a:close/>
                </a:path>
              </a:pathLst>
            </a:custGeom>
            <a:solidFill>
              <a:srgbClr val="E28787">
                <a:alpha val="5921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"/>
            <p:cNvSpPr txBox="1"/>
            <p:nvPr/>
          </p:nvSpPr>
          <p:spPr>
            <a:xfrm>
              <a:off x="0" y="-19050"/>
              <a:ext cx="760745" cy="22391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1" name="Google Shape;161;p2"/>
          <p:cNvGrpSpPr/>
          <p:nvPr/>
        </p:nvGrpSpPr>
        <p:grpSpPr>
          <a:xfrm rot="-5400000">
            <a:off x="2880005" y="6841864"/>
            <a:ext cx="2531316" cy="745071"/>
            <a:chOff x="0" y="-19050"/>
            <a:chExt cx="760745" cy="223919"/>
          </a:xfrm>
        </p:grpSpPr>
        <p:sp>
          <p:nvSpPr>
            <p:cNvPr id="162" name="Google Shape;162;p2"/>
            <p:cNvSpPr/>
            <p:nvPr/>
          </p:nvSpPr>
          <p:spPr>
            <a:xfrm>
              <a:off x="0" y="0"/>
              <a:ext cx="760745" cy="204869"/>
            </a:xfrm>
            <a:custGeom>
              <a:rect b="b" l="l" r="r" t="t"/>
              <a:pathLst>
                <a:path extrusionOk="0" h="204869" w="760745">
                  <a:moveTo>
                    <a:pt x="59735" y="0"/>
                  </a:moveTo>
                  <a:lnTo>
                    <a:pt x="701009" y="0"/>
                  </a:lnTo>
                  <a:cubicBezTo>
                    <a:pt x="734000" y="0"/>
                    <a:pt x="760745" y="26744"/>
                    <a:pt x="760745" y="59735"/>
                  </a:cubicBezTo>
                  <a:lnTo>
                    <a:pt x="760745" y="145133"/>
                  </a:lnTo>
                  <a:cubicBezTo>
                    <a:pt x="760745" y="178124"/>
                    <a:pt x="734000" y="204869"/>
                    <a:pt x="701009" y="204869"/>
                  </a:cubicBezTo>
                  <a:lnTo>
                    <a:pt x="59735" y="204869"/>
                  </a:lnTo>
                  <a:cubicBezTo>
                    <a:pt x="26744" y="204869"/>
                    <a:pt x="0" y="178124"/>
                    <a:pt x="0" y="145133"/>
                  </a:cubicBezTo>
                  <a:lnTo>
                    <a:pt x="0" y="59735"/>
                  </a:lnTo>
                  <a:cubicBezTo>
                    <a:pt x="0" y="26744"/>
                    <a:pt x="26744" y="0"/>
                    <a:pt x="59735" y="0"/>
                  </a:cubicBezTo>
                  <a:close/>
                </a:path>
              </a:pathLst>
            </a:custGeom>
            <a:solidFill>
              <a:srgbClr val="8DCFA1">
                <a:alpha val="6156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"/>
            <p:cNvSpPr txBox="1"/>
            <p:nvPr/>
          </p:nvSpPr>
          <p:spPr>
            <a:xfrm>
              <a:off x="0" y="-19050"/>
              <a:ext cx="760745" cy="22391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4" name="Google Shape;164;p2"/>
          <p:cNvGrpSpPr/>
          <p:nvPr/>
        </p:nvGrpSpPr>
        <p:grpSpPr>
          <a:xfrm>
            <a:off x="682506" y="5493651"/>
            <a:ext cx="1992928" cy="867197"/>
            <a:chOff x="0" y="-19050"/>
            <a:chExt cx="603319" cy="262527"/>
          </a:xfrm>
        </p:grpSpPr>
        <p:sp>
          <p:nvSpPr>
            <p:cNvPr id="165" name="Google Shape;165;p2"/>
            <p:cNvSpPr/>
            <p:nvPr/>
          </p:nvSpPr>
          <p:spPr>
            <a:xfrm>
              <a:off x="0" y="0"/>
              <a:ext cx="603319" cy="243477"/>
            </a:xfrm>
            <a:custGeom>
              <a:rect b="b" l="l" r="r" t="t"/>
              <a:pathLst>
                <a:path extrusionOk="0" h="243477" w="603319">
                  <a:moveTo>
                    <a:pt x="75873" y="0"/>
                  </a:moveTo>
                  <a:lnTo>
                    <a:pt x="527446" y="0"/>
                  </a:lnTo>
                  <a:cubicBezTo>
                    <a:pt x="547569" y="0"/>
                    <a:pt x="566868" y="7994"/>
                    <a:pt x="581097" y="22223"/>
                  </a:cubicBezTo>
                  <a:cubicBezTo>
                    <a:pt x="595326" y="36452"/>
                    <a:pt x="603319" y="55750"/>
                    <a:pt x="603319" y="75873"/>
                  </a:cubicBezTo>
                  <a:lnTo>
                    <a:pt x="603319" y="167604"/>
                  </a:lnTo>
                  <a:cubicBezTo>
                    <a:pt x="603319" y="209507"/>
                    <a:pt x="569350" y="243477"/>
                    <a:pt x="527446" y="243477"/>
                  </a:cubicBezTo>
                  <a:lnTo>
                    <a:pt x="75873" y="243477"/>
                  </a:lnTo>
                  <a:cubicBezTo>
                    <a:pt x="33969" y="243477"/>
                    <a:pt x="0" y="209507"/>
                    <a:pt x="0" y="167604"/>
                  </a:cubicBezTo>
                  <a:lnTo>
                    <a:pt x="0" y="75873"/>
                  </a:lnTo>
                  <a:cubicBezTo>
                    <a:pt x="0" y="33969"/>
                    <a:pt x="33969" y="0"/>
                    <a:pt x="75873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FF444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"/>
            <p:cNvSpPr txBox="1"/>
            <p:nvPr/>
          </p:nvSpPr>
          <p:spPr>
            <a:xfrm>
              <a:off x="0" y="-19050"/>
              <a:ext cx="603319" cy="2625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7" name="Google Shape;167;p2"/>
          <p:cNvSpPr/>
          <p:nvPr/>
        </p:nvSpPr>
        <p:spPr>
          <a:xfrm>
            <a:off x="768370" y="5750119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8" name="Google Shape;168;p2"/>
          <p:cNvSpPr/>
          <p:nvPr/>
        </p:nvSpPr>
        <p:spPr>
          <a:xfrm>
            <a:off x="768370" y="6086552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9" name="Google Shape;169;p2"/>
          <p:cNvGrpSpPr/>
          <p:nvPr/>
        </p:nvGrpSpPr>
        <p:grpSpPr>
          <a:xfrm>
            <a:off x="731575" y="7359090"/>
            <a:ext cx="1964200" cy="935616"/>
            <a:chOff x="0" y="-19050"/>
            <a:chExt cx="594622" cy="283239"/>
          </a:xfrm>
        </p:grpSpPr>
        <p:sp>
          <p:nvSpPr>
            <p:cNvPr id="170" name="Google Shape;170;p2"/>
            <p:cNvSpPr/>
            <p:nvPr/>
          </p:nvSpPr>
          <p:spPr>
            <a:xfrm>
              <a:off x="0" y="0"/>
              <a:ext cx="594622" cy="264189"/>
            </a:xfrm>
            <a:custGeom>
              <a:rect b="b" l="l" r="r" t="t"/>
              <a:pathLst>
                <a:path extrusionOk="0" h="264189" w="594622">
                  <a:moveTo>
                    <a:pt x="76983" y="0"/>
                  </a:moveTo>
                  <a:lnTo>
                    <a:pt x="517640" y="0"/>
                  </a:lnTo>
                  <a:cubicBezTo>
                    <a:pt x="538057" y="0"/>
                    <a:pt x="557638" y="8111"/>
                    <a:pt x="572075" y="22548"/>
                  </a:cubicBezTo>
                  <a:cubicBezTo>
                    <a:pt x="586512" y="36985"/>
                    <a:pt x="594622" y="56566"/>
                    <a:pt x="594622" y="76983"/>
                  </a:cubicBezTo>
                  <a:lnTo>
                    <a:pt x="594622" y="187206"/>
                  </a:lnTo>
                  <a:cubicBezTo>
                    <a:pt x="594622" y="229723"/>
                    <a:pt x="560156" y="264189"/>
                    <a:pt x="517640" y="264189"/>
                  </a:cubicBezTo>
                  <a:lnTo>
                    <a:pt x="76983" y="264189"/>
                  </a:lnTo>
                  <a:cubicBezTo>
                    <a:pt x="56566" y="264189"/>
                    <a:pt x="36985" y="256079"/>
                    <a:pt x="22548" y="241641"/>
                  </a:cubicBezTo>
                  <a:cubicBezTo>
                    <a:pt x="8111" y="227204"/>
                    <a:pt x="0" y="207624"/>
                    <a:pt x="0" y="187206"/>
                  </a:cubicBezTo>
                  <a:lnTo>
                    <a:pt x="0" y="76983"/>
                  </a:lnTo>
                  <a:cubicBezTo>
                    <a:pt x="0" y="56566"/>
                    <a:pt x="8111" y="36985"/>
                    <a:pt x="22548" y="22548"/>
                  </a:cubicBezTo>
                  <a:cubicBezTo>
                    <a:pt x="36985" y="8111"/>
                    <a:pt x="56566" y="0"/>
                    <a:pt x="76983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FF444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2"/>
            <p:cNvSpPr txBox="1"/>
            <p:nvPr/>
          </p:nvSpPr>
          <p:spPr>
            <a:xfrm>
              <a:off x="0" y="-19050"/>
              <a:ext cx="594622" cy="2832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"/>
          <p:cNvSpPr/>
          <p:nvPr/>
        </p:nvSpPr>
        <p:spPr>
          <a:xfrm>
            <a:off x="780643" y="7743094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3" name="Google Shape;173;p2"/>
          <p:cNvSpPr/>
          <p:nvPr/>
        </p:nvSpPr>
        <p:spPr>
          <a:xfrm>
            <a:off x="780643" y="8004368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74" name="Google Shape;174;p2"/>
          <p:cNvGrpSpPr/>
          <p:nvPr/>
        </p:nvGrpSpPr>
        <p:grpSpPr>
          <a:xfrm>
            <a:off x="711234" y="6450575"/>
            <a:ext cx="1964200" cy="842614"/>
            <a:chOff x="0" y="-19050"/>
            <a:chExt cx="594622" cy="255085"/>
          </a:xfrm>
        </p:grpSpPr>
        <p:sp>
          <p:nvSpPr>
            <p:cNvPr id="175" name="Google Shape;175;p2"/>
            <p:cNvSpPr/>
            <p:nvPr/>
          </p:nvSpPr>
          <p:spPr>
            <a:xfrm>
              <a:off x="0" y="0"/>
              <a:ext cx="594622" cy="236035"/>
            </a:xfrm>
            <a:custGeom>
              <a:rect b="b" l="l" r="r" t="t"/>
              <a:pathLst>
                <a:path extrusionOk="0" h="236035" w="594622">
                  <a:moveTo>
                    <a:pt x="76983" y="0"/>
                  </a:moveTo>
                  <a:lnTo>
                    <a:pt x="517640" y="0"/>
                  </a:lnTo>
                  <a:cubicBezTo>
                    <a:pt x="538057" y="0"/>
                    <a:pt x="557638" y="8111"/>
                    <a:pt x="572075" y="22548"/>
                  </a:cubicBezTo>
                  <a:cubicBezTo>
                    <a:pt x="586512" y="36985"/>
                    <a:pt x="594622" y="56566"/>
                    <a:pt x="594622" y="76983"/>
                  </a:cubicBezTo>
                  <a:lnTo>
                    <a:pt x="594622" y="159052"/>
                  </a:lnTo>
                  <a:cubicBezTo>
                    <a:pt x="594622" y="179469"/>
                    <a:pt x="586512" y="199050"/>
                    <a:pt x="572075" y="213487"/>
                  </a:cubicBezTo>
                  <a:cubicBezTo>
                    <a:pt x="557638" y="227924"/>
                    <a:pt x="538057" y="236035"/>
                    <a:pt x="517640" y="236035"/>
                  </a:cubicBezTo>
                  <a:lnTo>
                    <a:pt x="76983" y="236035"/>
                  </a:lnTo>
                  <a:cubicBezTo>
                    <a:pt x="34466" y="236035"/>
                    <a:pt x="0" y="201568"/>
                    <a:pt x="0" y="159052"/>
                  </a:cubicBezTo>
                  <a:lnTo>
                    <a:pt x="0" y="76983"/>
                  </a:lnTo>
                  <a:cubicBezTo>
                    <a:pt x="0" y="56566"/>
                    <a:pt x="8111" y="36985"/>
                    <a:pt x="22548" y="22548"/>
                  </a:cubicBezTo>
                  <a:cubicBezTo>
                    <a:pt x="36985" y="8111"/>
                    <a:pt x="56566" y="0"/>
                    <a:pt x="76983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FF444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2"/>
            <p:cNvSpPr txBox="1"/>
            <p:nvPr/>
          </p:nvSpPr>
          <p:spPr>
            <a:xfrm>
              <a:off x="0" y="-19050"/>
              <a:ext cx="594622" cy="2550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7" name="Google Shape;177;p2"/>
          <p:cNvSpPr/>
          <p:nvPr/>
        </p:nvSpPr>
        <p:spPr>
          <a:xfrm>
            <a:off x="777119" y="6774987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8" name="Google Shape;178;p2"/>
          <p:cNvSpPr/>
          <p:nvPr/>
        </p:nvSpPr>
        <p:spPr>
          <a:xfrm>
            <a:off x="764461" y="7042692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79" name="Google Shape;179;p2"/>
          <p:cNvGrpSpPr/>
          <p:nvPr/>
        </p:nvGrpSpPr>
        <p:grpSpPr>
          <a:xfrm>
            <a:off x="4817752" y="5338126"/>
            <a:ext cx="2731872" cy="1050678"/>
            <a:chOff x="0" y="-19050"/>
            <a:chExt cx="756080" cy="290788"/>
          </a:xfrm>
        </p:grpSpPr>
        <p:sp>
          <p:nvSpPr>
            <p:cNvPr id="180" name="Google Shape;180;p2"/>
            <p:cNvSpPr/>
            <p:nvPr/>
          </p:nvSpPr>
          <p:spPr>
            <a:xfrm>
              <a:off x="0" y="0"/>
              <a:ext cx="756080" cy="271738"/>
            </a:xfrm>
            <a:custGeom>
              <a:rect b="b" l="l" r="r" t="t"/>
              <a:pathLst>
                <a:path extrusionOk="0" h="271738" w="756080">
                  <a:moveTo>
                    <a:pt x="55350" y="0"/>
                  </a:moveTo>
                  <a:lnTo>
                    <a:pt x="700730" y="0"/>
                  </a:lnTo>
                  <a:cubicBezTo>
                    <a:pt x="715410" y="0"/>
                    <a:pt x="729489" y="5832"/>
                    <a:pt x="739869" y="16212"/>
                  </a:cubicBezTo>
                  <a:cubicBezTo>
                    <a:pt x="750249" y="26592"/>
                    <a:pt x="756080" y="40670"/>
                    <a:pt x="756080" y="55350"/>
                  </a:cubicBezTo>
                  <a:lnTo>
                    <a:pt x="756080" y="216388"/>
                  </a:lnTo>
                  <a:cubicBezTo>
                    <a:pt x="756080" y="231068"/>
                    <a:pt x="750249" y="245146"/>
                    <a:pt x="739869" y="255527"/>
                  </a:cubicBezTo>
                  <a:cubicBezTo>
                    <a:pt x="729489" y="265907"/>
                    <a:pt x="715410" y="271738"/>
                    <a:pt x="700730" y="271738"/>
                  </a:cubicBezTo>
                  <a:lnTo>
                    <a:pt x="55350" y="271738"/>
                  </a:lnTo>
                  <a:cubicBezTo>
                    <a:pt x="40670" y="271738"/>
                    <a:pt x="26592" y="265907"/>
                    <a:pt x="16212" y="255527"/>
                  </a:cubicBezTo>
                  <a:cubicBezTo>
                    <a:pt x="5832" y="245146"/>
                    <a:pt x="0" y="231068"/>
                    <a:pt x="0" y="216388"/>
                  </a:cubicBezTo>
                  <a:lnTo>
                    <a:pt x="0" y="55350"/>
                  </a:lnTo>
                  <a:cubicBezTo>
                    <a:pt x="0" y="40670"/>
                    <a:pt x="5832" y="26592"/>
                    <a:pt x="16212" y="16212"/>
                  </a:cubicBezTo>
                  <a:cubicBezTo>
                    <a:pt x="26592" y="5832"/>
                    <a:pt x="40670" y="0"/>
                    <a:pt x="55350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2A8D4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"/>
            <p:cNvSpPr txBox="1"/>
            <p:nvPr/>
          </p:nvSpPr>
          <p:spPr>
            <a:xfrm>
              <a:off x="0" y="-19050"/>
              <a:ext cx="756080" cy="29078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2" name="Google Shape;182;p2"/>
          <p:cNvSpPr/>
          <p:nvPr/>
        </p:nvSpPr>
        <p:spPr>
          <a:xfrm>
            <a:off x="4832319" y="5620845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3" name="Google Shape;183;p2"/>
          <p:cNvSpPr/>
          <p:nvPr/>
        </p:nvSpPr>
        <p:spPr>
          <a:xfrm>
            <a:off x="4817752" y="5940594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4" name="Google Shape;184;p2"/>
          <p:cNvSpPr/>
          <p:nvPr/>
        </p:nvSpPr>
        <p:spPr>
          <a:xfrm>
            <a:off x="4838953" y="6173478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85" name="Google Shape;185;p2"/>
          <p:cNvGrpSpPr/>
          <p:nvPr/>
        </p:nvGrpSpPr>
        <p:grpSpPr>
          <a:xfrm>
            <a:off x="4790217" y="7329053"/>
            <a:ext cx="2669467" cy="1048837"/>
            <a:chOff x="0" y="-19050"/>
            <a:chExt cx="808128" cy="317515"/>
          </a:xfrm>
        </p:grpSpPr>
        <p:sp>
          <p:nvSpPr>
            <p:cNvPr id="186" name="Google Shape;186;p2"/>
            <p:cNvSpPr/>
            <p:nvPr/>
          </p:nvSpPr>
          <p:spPr>
            <a:xfrm>
              <a:off x="0" y="0"/>
              <a:ext cx="808128" cy="298465"/>
            </a:xfrm>
            <a:custGeom>
              <a:rect b="b" l="l" r="r" t="t"/>
              <a:pathLst>
                <a:path extrusionOk="0" h="298465" w="808128">
                  <a:moveTo>
                    <a:pt x="56644" y="0"/>
                  </a:moveTo>
                  <a:lnTo>
                    <a:pt x="751484" y="0"/>
                  </a:lnTo>
                  <a:cubicBezTo>
                    <a:pt x="782767" y="0"/>
                    <a:pt x="808128" y="25360"/>
                    <a:pt x="808128" y="56644"/>
                  </a:cubicBezTo>
                  <a:lnTo>
                    <a:pt x="808128" y="241821"/>
                  </a:lnTo>
                  <a:cubicBezTo>
                    <a:pt x="808128" y="273104"/>
                    <a:pt x="782767" y="298465"/>
                    <a:pt x="751484" y="298465"/>
                  </a:cubicBezTo>
                  <a:lnTo>
                    <a:pt x="56644" y="298465"/>
                  </a:lnTo>
                  <a:cubicBezTo>
                    <a:pt x="25360" y="298465"/>
                    <a:pt x="0" y="273104"/>
                    <a:pt x="0" y="241821"/>
                  </a:cubicBezTo>
                  <a:lnTo>
                    <a:pt x="0" y="56644"/>
                  </a:lnTo>
                  <a:cubicBezTo>
                    <a:pt x="0" y="25360"/>
                    <a:pt x="25360" y="0"/>
                    <a:pt x="56644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2A8D4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2"/>
            <p:cNvSpPr txBox="1"/>
            <p:nvPr/>
          </p:nvSpPr>
          <p:spPr>
            <a:xfrm>
              <a:off x="0" y="-19050"/>
              <a:ext cx="808128" cy="3175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8" name="Google Shape;188;p2"/>
          <p:cNvSpPr/>
          <p:nvPr/>
        </p:nvSpPr>
        <p:spPr>
          <a:xfrm>
            <a:off x="4832319" y="7629714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9" name="Google Shape;189;p2"/>
          <p:cNvSpPr/>
          <p:nvPr/>
        </p:nvSpPr>
        <p:spPr>
          <a:xfrm>
            <a:off x="4832319" y="7884935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0" name="Google Shape;190;p2"/>
          <p:cNvSpPr/>
          <p:nvPr/>
        </p:nvSpPr>
        <p:spPr>
          <a:xfrm>
            <a:off x="4848132" y="8149960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1" name="Google Shape;191;p2"/>
          <p:cNvGrpSpPr/>
          <p:nvPr/>
        </p:nvGrpSpPr>
        <p:grpSpPr>
          <a:xfrm>
            <a:off x="4790217" y="6349380"/>
            <a:ext cx="2683222" cy="983235"/>
            <a:chOff x="0" y="-19050"/>
            <a:chExt cx="812292" cy="297655"/>
          </a:xfrm>
        </p:grpSpPr>
        <p:sp>
          <p:nvSpPr>
            <p:cNvPr id="192" name="Google Shape;192;p2"/>
            <p:cNvSpPr/>
            <p:nvPr/>
          </p:nvSpPr>
          <p:spPr>
            <a:xfrm>
              <a:off x="0" y="0"/>
              <a:ext cx="812292" cy="278605"/>
            </a:xfrm>
            <a:custGeom>
              <a:rect b="b" l="l" r="r" t="t"/>
              <a:pathLst>
                <a:path extrusionOk="0" h="278605" w="812292">
                  <a:moveTo>
                    <a:pt x="56354" y="0"/>
                  </a:moveTo>
                  <a:lnTo>
                    <a:pt x="755938" y="0"/>
                  </a:lnTo>
                  <a:cubicBezTo>
                    <a:pt x="770884" y="0"/>
                    <a:pt x="785218" y="5937"/>
                    <a:pt x="795786" y="16506"/>
                  </a:cubicBezTo>
                  <a:cubicBezTo>
                    <a:pt x="806355" y="27074"/>
                    <a:pt x="812292" y="41408"/>
                    <a:pt x="812292" y="56354"/>
                  </a:cubicBezTo>
                  <a:lnTo>
                    <a:pt x="812292" y="222251"/>
                  </a:lnTo>
                  <a:cubicBezTo>
                    <a:pt x="812292" y="237197"/>
                    <a:pt x="806355" y="251531"/>
                    <a:pt x="795786" y="262099"/>
                  </a:cubicBezTo>
                  <a:cubicBezTo>
                    <a:pt x="785218" y="272668"/>
                    <a:pt x="770884" y="278605"/>
                    <a:pt x="755938" y="278605"/>
                  </a:cubicBezTo>
                  <a:lnTo>
                    <a:pt x="56354" y="278605"/>
                  </a:lnTo>
                  <a:cubicBezTo>
                    <a:pt x="41408" y="278605"/>
                    <a:pt x="27074" y="272668"/>
                    <a:pt x="16506" y="262099"/>
                  </a:cubicBezTo>
                  <a:cubicBezTo>
                    <a:pt x="5937" y="251531"/>
                    <a:pt x="0" y="237197"/>
                    <a:pt x="0" y="222251"/>
                  </a:cubicBezTo>
                  <a:lnTo>
                    <a:pt x="0" y="56354"/>
                  </a:lnTo>
                  <a:cubicBezTo>
                    <a:pt x="0" y="41408"/>
                    <a:pt x="5937" y="27074"/>
                    <a:pt x="16506" y="16506"/>
                  </a:cubicBezTo>
                  <a:cubicBezTo>
                    <a:pt x="27074" y="5937"/>
                    <a:pt x="41408" y="0"/>
                    <a:pt x="56354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2A8D4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"/>
            <p:cNvSpPr txBox="1"/>
            <p:nvPr/>
          </p:nvSpPr>
          <p:spPr>
            <a:xfrm>
              <a:off x="0" y="-19050"/>
              <a:ext cx="812292" cy="2976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4" name="Google Shape;194;p2"/>
          <p:cNvSpPr/>
          <p:nvPr/>
        </p:nvSpPr>
        <p:spPr>
          <a:xfrm>
            <a:off x="4848132" y="6637487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5" name="Google Shape;195;p2"/>
          <p:cNvSpPr/>
          <p:nvPr/>
        </p:nvSpPr>
        <p:spPr>
          <a:xfrm>
            <a:off x="4838067" y="6866899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6" name="Google Shape;196;p2"/>
          <p:cNvSpPr/>
          <p:nvPr/>
        </p:nvSpPr>
        <p:spPr>
          <a:xfrm>
            <a:off x="4848132" y="7084299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7" name="Google Shape;197;p2"/>
          <p:cNvGrpSpPr/>
          <p:nvPr/>
        </p:nvGrpSpPr>
        <p:grpSpPr>
          <a:xfrm>
            <a:off x="4728059" y="8331910"/>
            <a:ext cx="2737947" cy="1028789"/>
            <a:chOff x="0" y="-19050"/>
            <a:chExt cx="833023" cy="313010"/>
          </a:xfrm>
        </p:grpSpPr>
        <p:sp>
          <p:nvSpPr>
            <p:cNvPr id="198" name="Google Shape;198;p2"/>
            <p:cNvSpPr/>
            <p:nvPr/>
          </p:nvSpPr>
          <p:spPr>
            <a:xfrm>
              <a:off x="0" y="0"/>
              <a:ext cx="833023" cy="293960"/>
            </a:xfrm>
            <a:custGeom>
              <a:rect b="b" l="l" r="r" t="t"/>
              <a:pathLst>
                <a:path extrusionOk="0" h="293960" w="833023">
                  <a:moveTo>
                    <a:pt x="55227" y="0"/>
                  </a:moveTo>
                  <a:lnTo>
                    <a:pt x="777796" y="0"/>
                  </a:lnTo>
                  <a:cubicBezTo>
                    <a:pt x="792443" y="0"/>
                    <a:pt x="806490" y="5819"/>
                    <a:pt x="816847" y="16176"/>
                  </a:cubicBezTo>
                  <a:cubicBezTo>
                    <a:pt x="827204" y="26533"/>
                    <a:pt x="833023" y="40580"/>
                    <a:pt x="833023" y="55227"/>
                  </a:cubicBezTo>
                  <a:lnTo>
                    <a:pt x="833023" y="238733"/>
                  </a:lnTo>
                  <a:cubicBezTo>
                    <a:pt x="833023" y="253380"/>
                    <a:pt x="827204" y="267427"/>
                    <a:pt x="816847" y="277784"/>
                  </a:cubicBezTo>
                  <a:cubicBezTo>
                    <a:pt x="806490" y="288141"/>
                    <a:pt x="792443" y="293960"/>
                    <a:pt x="777796" y="293960"/>
                  </a:cubicBezTo>
                  <a:lnTo>
                    <a:pt x="55227" y="293960"/>
                  </a:lnTo>
                  <a:cubicBezTo>
                    <a:pt x="40580" y="293960"/>
                    <a:pt x="26533" y="288141"/>
                    <a:pt x="16176" y="277784"/>
                  </a:cubicBezTo>
                  <a:cubicBezTo>
                    <a:pt x="5819" y="267427"/>
                    <a:pt x="0" y="253380"/>
                    <a:pt x="0" y="238733"/>
                  </a:cubicBezTo>
                  <a:lnTo>
                    <a:pt x="0" y="55227"/>
                  </a:lnTo>
                  <a:cubicBezTo>
                    <a:pt x="0" y="40580"/>
                    <a:pt x="5819" y="26533"/>
                    <a:pt x="16176" y="16176"/>
                  </a:cubicBezTo>
                  <a:cubicBezTo>
                    <a:pt x="26533" y="5819"/>
                    <a:pt x="40580" y="0"/>
                    <a:pt x="55227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2A8D4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2"/>
            <p:cNvSpPr txBox="1"/>
            <p:nvPr/>
          </p:nvSpPr>
          <p:spPr>
            <a:xfrm>
              <a:off x="0" y="-19050"/>
              <a:ext cx="833023" cy="3130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550" lIns="45550" spcFirstLastPara="1" rIns="45550" wrap="square" tIns="455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0" name="Google Shape;200;p2"/>
          <p:cNvSpPr/>
          <p:nvPr/>
        </p:nvSpPr>
        <p:spPr>
          <a:xfrm>
            <a:off x="4772026" y="8606744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1" name="Google Shape;201;p2"/>
          <p:cNvSpPr/>
          <p:nvPr/>
        </p:nvSpPr>
        <p:spPr>
          <a:xfrm>
            <a:off x="4778661" y="8826061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2" name="Google Shape;202;p2"/>
          <p:cNvSpPr/>
          <p:nvPr/>
        </p:nvSpPr>
        <p:spPr>
          <a:xfrm>
            <a:off x="4804967" y="9029330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5" y="0"/>
                </a:lnTo>
                <a:lnTo>
                  <a:pt x="120585" y="103100"/>
                </a:lnTo>
                <a:lnTo>
                  <a:pt x="0" y="103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3" name="Google Shape;203;p2"/>
          <p:cNvSpPr txBox="1"/>
          <p:nvPr/>
        </p:nvSpPr>
        <p:spPr>
          <a:xfrm rot="-5400000">
            <a:off x="1944514" y="6994869"/>
            <a:ext cx="2961071" cy="4160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14" u="none" cap="none" strike="noStrike">
                <a:solidFill>
                  <a:srgbClr val="FFFFFF"/>
                </a:solidFill>
                <a:latin typeface="Times"/>
                <a:ea typeface="Times"/>
                <a:cs typeface="Times"/>
                <a:sym typeface="Times"/>
              </a:rPr>
              <a:t>Existing problem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 rot="5400000">
            <a:off x="2919384" y="6937828"/>
            <a:ext cx="2599285" cy="449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70" u="none" cap="none" strike="noStrike">
                <a:solidFill>
                  <a:srgbClr val="2A8D49"/>
                </a:solidFill>
                <a:latin typeface="Times"/>
                <a:ea typeface="Times"/>
                <a:cs typeface="Times"/>
                <a:sym typeface="Times"/>
              </a:rPr>
              <a:t>Our solution</a:t>
            </a:r>
            <a:endParaRPr/>
          </a:p>
        </p:txBody>
      </p:sp>
      <p:grpSp>
        <p:nvGrpSpPr>
          <p:cNvPr id="205" name="Google Shape;205;p2"/>
          <p:cNvGrpSpPr/>
          <p:nvPr/>
        </p:nvGrpSpPr>
        <p:grpSpPr>
          <a:xfrm>
            <a:off x="610906" y="8417005"/>
            <a:ext cx="2064529" cy="698022"/>
            <a:chOff x="0" y="-19050"/>
            <a:chExt cx="623753" cy="210892"/>
          </a:xfrm>
        </p:grpSpPr>
        <p:sp>
          <p:nvSpPr>
            <p:cNvPr id="206" name="Google Shape;206;p2"/>
            <p:cNvSpPr/>
            <p:nvPr/>
          </p:nvSpPr>
          <p:spPr>
            <a:xfrm>
              <a:off x="0" y="0"/>
              <a:ext cx="623753" cy="191842"/>
            </a:xfrm>
            <a:custGeom>
              <a:rect b="b" l="l" r="r" t="t"/>
              <a:pathLst>
                <a:path extrusionOk="0" h="191842" w="623753">
                  <a:moveTo>
                    <a:pt x="73242" y="0"/>
                  </a:moveTo>
                  <a:lnTo>
                    <a:pt x="550511" y="0"/>
                  </a:lnTo>
                  <a:cubicBezTo>
                    <a:pt x="569936" y="0"/>
                    <a:pt x="588565" y="7717"/>
                    <a:pt x="602301" y="21452"/>
                  </a:cubicBezTo>
                  <a:cubicBezTo>
                    <a:pt x="616036" y="35187"/>
                    <a:pt x="623753" y="53817"/>
                    <a:pt x="623753" y="73242"/>
                  </a:cubicBezTo>
                  <a:lnTo>
                    <a:pt x="623753" y="118601"/>
                  </a:lnTo>
                  <a:cubicBezTo>
                    <a:pt x="623753" y="159051"/>
                    <a:pt x="590961" y="191842"/>
                    <a:pt x="550511" y="191842"/>
                  </a:cubicBezTo>
                  <a:lnTo>
                    <a:pt x="73242" y="191842"/>
                  </a:lnTo>
                  <a:cubicBezTo>
                    <a:pt x="53817" y="191842"/>
                    <a:pt x="35187" y="184126"/>
                    <a:pt x="21452" y="170390"/>
                  </a:cubicBezTo>
                  <a:cubicBezTo>
                    <a:pt x="7717" y="156655"/>
                    <a:pt x="0" y="138025"/>
                    <a:pt x="0" y="118601"/>
                  </a:cubicBezTo>
                  <a:lnTo>
                    <a:pt x="0" y="73242"/>
                  </a:lnTo>
                  <a:cubicBezTo>
                    <a:pt x="0" y="53817"/>
                    <a:pt x="7717" y="35187"/>
                    <a:pt x="21452" y="21452"/>
                  </a:cubicBezTo>
                  <a:cubicBezTo>
                    <a:pt x="35187" y="7717"/>
                    <a:pt x="53817" y="0"/>
                    <a:pt x="73242" y="0"/>
                  </a:cubicBezTo>
                  <a:close/>
                </a:path>
              </a:pathLst>
            </a:custGeom>
            <a:solidFill>
              <a:srgbClr val="DCE6F2"/>
            </a:solidFill>
            <a:ln cap="rnd" cmpd="sng" w="19050">
              <a:solidFill>
                <a:srgbClr val="FF444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2"/>
            <p:cNvSpPr txBox="1"/>
            <p:nvPr/>
          </p:nvSpPr>
          <p:spPr>
            <a:xfrm>
              <a:off x="0" y="-19050"/>
              <a:ext cx="623753" cy="2108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4050" lIns="44050" spcFirstLastPara="1" rIns="44050" wrap="square" tIns="44050">
              <a:noAutofit/>
            </a:bodyPr>
            <a:lstStyle/>
            <a:p>
              <a:pPr indent="0" lvl="0" marL="0" marR="0" rtl="0" algn="l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8" name="Google Shape;208;p2"/>
          <p:cNvSpPr/>
          <p:nvPr/>
        </p:nvSpPr>
        <p:spPr>
          <a:xfrm>
            <a:off x="731575" y="8786532"/>
            <a:ext cx="120584" cy="103100"/>
          </a:xfrm>
          <a:custGeom>
            <a:rect b="b" l="l" r="r" t="t"/>
            <a:pathLst>
              <a:path extrusionOk="0" h="103100" w="120584">
                <a:moveTo>
                  <a:pt x="0" y="0"/>
                </a:moveTo>
                <a:lnTo>
                  <a:pt x="120584" y="0"/>
                </a:lnTo>
                <a:lnTo>
                  <a:pt x="120584" y="103099"/>
                </a:lnTo>
                <a:lnTo>
                  <a:pt x="0" y="1030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9" name="Google Shape;209;p2"/>
          <p:cNvSpPr/>
          <p:nvPr/>
        </p:nvSpPr>
        <p:spPr>
          <a:xfrm>
            <a:off x="4177357" y="5748210"/>
            <a:ext cx="640395" cy="200532"/>
          </a:xfrm>
          <a:custGeom>
            <a:rect b="b" l="l" r="r" t="t"/>
            <a:pathLst>
              <a:path extrusionOk="0" h="200532" w="640395">
                <a:moveTo>
                  <a:pt x="0" y="200532"/>
                </a:moveTo>
                <a:lnTo>
                  <a:pt x="0" y="100266"/>
                </a:lnTo>
                <a:cubicBezTo>
                  <a:pt x="0" y="44890"/>
                  <a:pt x="44891" y="0"/>
                  <a:pt x="100266" y="0"/>
                </a:cubicBezTo>
                <a:lnTo>
                  <a:pt x="336960" y="0"/>
                </a:lnTo>
                <a:cubicBezTo>
                  <a:pt x="378291" y="0"/>
                  <a:pt x="411795" y="33505"/>
                  <a:pt x="411795" y="74835"/>
                </a:cubicBezTo>
                <a:lnTo>
                  <a:pt x="411795" y="74835"/>
                </a:lnTo>
                <a:cubicBezTo>
                  <a:pt x="411795" y="116166"/>
                  <a:pt x="445300" y="149671"/>
                  <a:pt x="486631" y="149671"/>
                </a:cubicBezTo>
                <a:lnTo>
                  <a:pt x="640395" y="149671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"/>
          <p:cNvSpPr/>
          <p:nvPr/>
        </p:nvSpPr>
        <p:spPr>
          <a:xfrm>
            <a:off x="4593223" y="6903345"/>
            <a:ext cx="128514" cy="94807"/>
          </a:xfrm>
          <a:custGeom>
            <a:rect b="b" l="l" r="r" t="t"/>
            <a:pathLst>
              <a:path extrusionOk="0" h="94807" w="128514">
                <a:moveTo>
                  <a:pt x="0" y="94808"/>
                </a:moveTo>
                <a:lnTo>
                  <a:pt x="0" y="47404"/>
                </a:lnTo>
                <a:cubicBezTo>
                  <a:pt x="0" y="34832"/>
                  <a:pt x="4994" y="22774"/>
                  <a:pt x="13884" y="13885"/>
                </a:cubicBezTo>
                <a:cubicBezTo>
                  <a:pt x="22774" y="4995"/>
                  <a:pt x="34831" y="0"/>
                  <a:pt x="47403" y="0"/>
                </a:cubicBezTo>
                <a:lnTo>
                  <a:pt x="128514" y="0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2"/>
          <p:cNvSpPr/>
          <p:nvPr/>
        </p:nvSpPr>
        <p:spPr>
          <a:xfrm>
            <a:off x="4537219" y="7732814"/>
            <a:ext cx="266753" cy="152121"/>
          </a:xfrm>
          <a:custGeom>
            <a:rect b="b" l="l" r="r" t="t"/>
            <a:pathLst>
              <a:path extrusionOk="0" h="152121" w="266753">
                <a:moveTo>
                  <a:pt x="0" y="0"/>
                </a:moveTo>
                <a:lnTo>
                  <a:pt x="0" y="76061"/>
                </a:lnTo>
                <a:cubicBezTo>
                  <a:pt x="0" y="96233"/>
                  <a:pt x="8014" y="115579"/>
                  <a:pt x="22278" y="129843"/>
                </a:cubicBezTo>
                <a:cubicBezTo>
                  <a:pt x="36542" y="144108"/>
                  <a:pt x="55888" y="152121"/>
                  <a:pt x="76061" y="152121"/>
                </a:cubicBezTo>
                <a:lnTo>
                  <a:pt x="266753" y="152121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"/>
          <p:cNvSpPr/>
          <p:nvPr/>
        </p:nvSpPr>
        <p:spPr>
          <a:xfrm>
            <a:off x="4177357" y="8480058"/>
            <a:ext cx="550701" cy="397553"/>
          </a:xfrm>
          <a:custGeom>
            <a:rect b="b" l="l" r="r" t="t"/>
            <a:pathLst>
              <a:path extrusionOk="0" h="397553" w="550701">
                <a:moveTo>
                  <a:pt x="0" y="0"/>
                </a:moveTo>
                <a:lnTo>
                  <a:pt x="137676" y="0"/>
                </a:lnTo>
                <a:cubicBezTo>
                  <a:pt x="174189" y="0"/>
                  <a:pt x="209208" y="14505"/>
                  <a:pt x="235027" y="40323"/>
                </a:cubicBezTo>
                <a:cubicBezTo>
                  <a:pt x="260846" y="66143"/>
                  <a:pt x="275351" y="101161"/>
                  <a:pt x="275351" y="137675"/>
                </a:cubicBezTo>
                <a:lnTo>
                  <a:pt x="275351" y="259878"/>
                </a:lnTo>
                <a:cubicBezTo>
                  <a:pt x="275351" y="296392"/>
                  <a:pt x="289856" y="331410"/>
                  <a:pt x="315675" y="357229"/>
                </a:cubicBezTo>
                <a:cubicBezTo>
                  <a:pt x="341494" y="383048"/>
                  <a:pt x="376513" y="397553"/>
                  <a:pt x="413026" y="397553"/>
                </a:cubicBezTo>
                <a:lnTo>
                  <a:pt x="550702" y="397553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"/>
          <p:cNvSpPr/>
          <p:nvPr/>
        </p:nvSpPr>
        <p:spPr>
          <a:xfrm>
            <a:off x="2650711" y="5743280"/>
            <a:ext cx="783864" cy="205462"/>
          </a:xfrm>
          <a:custGeom>
            <a:rect b="b" l="l" r="r" t="t"/>
            <a:pathLst>
              <a:path extrusionOk="0" h="205462" w="783864">
                <a:moveTo>
                  <a:pt x="0" y="0"/>
                </a:moveTo>
                <a:lnTo>
                  <a:pt x="479458" y="0"/>
                </a:lnTo>
                <a:cubicBezTo>
                  <a:pt x="480820" y="0"/>
                  <a:pt x="481923" y="1103"/>
                  <a:pt x="481923" y="2465"/>
                </a:cubicBezTo>
                <a:lnTo>
                  <a:pt x="481923" y="2465"/>
                </a:lnTo>
                <a:cubicBezTo>
                  <a:pt x="481923" y="3826"/>
                  <a:pt x="483027" y="4930"/>
                  <a:pt x="484388" y="4930"/>
                </a:cubicBezTo>
                <a:lnTo>
                  <a:pt x="683597" y="4930"/>
                </a:lnTo>
                <a:cubicBezTo>
                  <a:pt x="710190" y="4930"/>
                  <a:pt x="735693" y="15493"/>
                  <a:pt x="754496" y="34297"/>
                </a:cubicBezTo>
                <a:cubicBezTo>
                  <a:pt x="773300" y="53100"/>
                  <a:pt x="783863" y="78603"/>
                  <a:pt x="783863" y="105196"/>
                </a:cubicBezTo>
                <a:lnTo>
                  <a:pt x="783863" y="205462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"/>
          <p:cNvSpPr/>
          <p:nvPr/>
        </p:nvSpPr>
        <p:spPr>
          <a:xfrm>
            <a:off x="2675434" y="8485331"/>
            <a:ext cx="774298" cy="312211"/>
          </a:xfrm>
          <a:custGeom>
            <a:rect b="b" l="l" r="r" t="t"/>
            <a:pathLst>
              <a:path extrusionOk="0" h="312211" w="774298">
                <a:moveTo>
                  <a:pt x="0" y="312211"/>
                </a:moveTo>
                <a:lnTo>
                  <a:pt x="231044" y="312211"/>
                </a:lnTo>
                <a:cubicBezTo>
                  <a:pt x="272446" y="312211"/>
                  <a:pt x="312152" y="295764"/>
                  <a:pt x="341427" y="266489"/>
                </a:cubicBezTo>
                <a:cubicBezTo>
                  <a:pt x="370703" y="237213"/>
                  <a:pt x="387150" y="197507"/>
                  <a:pt x="387150" y="156106"/>
                </a:cubicBezTo>
                <a:lnTo>
                  <a:pt x="387150" y="156106"/>
                </a:lnTo>
                <a:cubicBezTo>
                  <a:pt x="387150" y="114704"/>
                  <a:pt x="403596" y="74998"/>
                  <a:pt x="432872" y="45722"/>
                </a:cubicBezTo>
                <a:cubicBezTo>
                  <a:pt x="462147" y="16447"/>
                  <a:pt x="501853" y="0"/>
                  <a:pt x="543255" y="0"/>
                </a:cubicBezTo>
                <a:lnTo>
                  <a:pt x="774299" y="0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2"/>
          <p:cNvSpPr/>
          <p:nvPr/>
        </p:nvSpPr>
        <p:spPr>
          <a:xfrm>
            <a:off x="2788789" y="7877783"/>
            <a:ext cx="316565" cy="7152"/>
          </a:xfrm>
          <a:custGeom>
            <a:rect b="b" l="l" r="r" t="t"/>
            <a:pathLst>
              <a:path extrusionOk="0" h="7152" w="316565">
                <a:moveTo>
                  <a:pt x="0" y="7152"/>
                </a:moveTo>
                <a:lnTo>
                  <a:pt x="312989" y="7152"/>
                </a:lnTo>
                <a:cubicBezTo>
                  <a:pt x="313937" y="7152"/>
                  <a:pt x="314847" y="6775"/>
                  <a:pt x="315517" y="6105"/>
                </a:cubicBezTo>
                <a:cubicBezTo>
                  <a:pt x="316188" y="5434"/>
                  <a:pt x="316565" y="4524"/>
                  <a:pt x="316565" y="3576"/>
                </a:cubicBezTo>
                <a:lnTo>
                  <a:pt x="316565" y="0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"/>
          <p:cNvSpPr/>
          <p:nvPr/>
        </p:nvSpPr>
        <p:spPr>
          <a:xfrm>
            <a:off x="2668866" y="6932416"/>
            <a:ext cx="436488" cy="65736"/>
          </a:xfrm>
          <a:custGeom>
            <a:rect b="b" l="l" r="r" t="t"/>
            <a:pathLst>
              <a:path extrusionOk="0" h="65736" w="436488">
                <a:moveTo>
                  <a:pt x="0" y="0"/>
                </a:moveTo>
                <a:lnTo>
                  <a:pt x="403620" y="0"/>
                </a:lnTo>
                <a:cubicBezTo>
                  <a:pt x="412337" y="0"/>
                  <a:pt x="420697" y="3463"/>
                  <a:pt x="426861" y="9627"/>
                </a:cubicBezTo>
                <a:cubicBezTo>
                  <a:pt x="433025" y="15791"/>
                  <a:pt x="436488" y="24152"/>
                  <a:pt x="436488" y="32869"/>
                </a:cubicBezTo>
                <a:lnTo>
                  <a:pt x="436488" y="65737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"/>
          <p:cNvSpPr/>
          <p:nvPr/>
        </p:nvSpPr>
        <p:spPr>
          <a:xfrm>
            <a:off x="11591386" y="6207204"/>
            <a:ext cx="6558714" cy="3242423"/>
          </a:xfrm>
          <a:custGeom>
            <a:rect b="b" l="l" r="r" t="t"/>
            <a:pathLst>
              <a:path extrusionOk="0" h="3242423" w="6558714">
                <a:moveTo>
                  <a:pt x="0" y="0"/>
                </a:moveTo>
                <a:lnTo>
                  <a:pt x="6558714" y="0"/>
                </a:lnTo>
                <a:lnTo>
                  <a:pt x="6558714" y="3242423"/>
                </a:lnTo>
                <a:lnTo>
                  <a:pt x="0" y="3242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-1139" l="0" r="0" t="0"/>
            </a:stretch>
          </a:blipFill>
          <a:ln>
            <a:noFill/>
          </a:ln>
        </p:spPr>
      </p:sp>
      <p:sp>
        <p:nvSpPr>
          <p:cNvPr id="218" name="Google Shape;218;p2"/>
          <p:cNvSpPr txBox="1"/>
          <p:nvPr/>
        </p:nvSpPr>
        <p:spPr>
          <a:xfrm>
            <a:off x="422921" y="2471880"/>
            <a:ext cx="1828696" cy="396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CAPTURE → CONVERT TO EVENTS</a:t>
            </a:r>
            <a:endParaRPr/>
          </a:p>
        </p:txBody>
      </p:sp>
      <p:sp>
        <p:nvSpPr>
          <p:cNvPr id="219" name="Google Shape;219;p2"/>
          <p:cNvSpPr txBox="1"/>
          <p:nvPr/>
        </p:nvSpPr>
        <p:spPr>
          <a:xfrm>
            <a:off x="28602" y="2899331"/>
            <a:ext cx="2531100" cy="23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017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Instead of sending continuous video to the central server, each camera generates a lightweight event containing plate, timestamp, camera ID, location and confidence.</a:t>
            </a:r>
            <a:endParaRPr sz="9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7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Delhi uses ~60 virtual ANPR camera/gate locations on real junctions such as CP, India Gate, Lodi Road etc</a:t>
            </a:r>
            <a:endParaRPr sz="9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0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7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Standardized ingestion: Every source follows the same POST /ingest/v1/events contract, so replacing simulated feeds with real camera feeds does not require redesigning the downstream system.</a:t>
            </a:r>
            <a:endParaRPr sz="900"/>
          </a:p>
        </p:txBody>
      </p:sp>
      <p:sp>
        <p:nvSpPr>
          <p:cNvPr id="220" name="Google Shape;220;p2"/>
          <p:cNvSpPr txBox="1"/>
          <p:nvPr/>
        </p:nvSpPr>
        <p:spPr>
          <a:xfrm>
            <a:off x="3507512" y="2372933"/>
            <a:ext cx="1828696" cy="396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ONE VEHICLE, ONE IDENTITY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3265725" y="2889806"/>
            <a:ext cx="2186400" cy="24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5216" lvl="1" marL="182497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Raw plate readings are canonicalized into a consistent format before processing.</a:t>
            </a:r>
            <a:endParaRPr sz="7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5216" lvl="1" marL="182497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The system compares OCR variants instead of blindly trusting every reading.</a:t>
            </a:r>
            <a:endParaRPr sz="7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5216" lvl="1" marL="182497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Plates with up to one-character difference can be associated when they occur within a 10-minute temporal window.</a:t>
            </a:r>
            <a:endParaRPr sz="7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5216" lvl="1" marL="182497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DL51AB1234 → DL51AB123I → DL51AB1234 can still be treated as the same vehicle observation sequence.</a:t>
            </a:r>
            <a:endParaRPr sz="7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5216" lvl="1" marL="182497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Missed detections create gaps rather than automatically breaking the vehicle's identity, improving trajectory robustness under imperfect ANPR. </a:t>
            </a:r>
            <a:endParaRPr sz="750"/>
          </a:p>
        </p:txBody>
      </p:sp>
      <p:sp>
        <p:nvSpPr>
          <p:cNvPr id="222" name="Google Shape;222;p2"/>
          <p:cNvSpPr txBox="1"/>
          <p:nvPr/>
        </p:nvSpPr>
        <p:spPr>
          <a:xfrm>
            <a:off x="6659520" y="2398617"/>
            <a:ext cx="1828696" cy="396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FROM SIGHTINGS TO JOURNEY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6456490" y="2856759"/>
            <a:ext cx="2186400" cy="21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3771" lvl="1" marL="180243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34"/>
              <a:buFont typeface="Arial"/>
              <a:buChar char="•"/>
            </a:pPr>
            <a:r>
              <a:rPr b="1" i="0" lang="en-US" sz="73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Cross-camera trajectory reconstruction</a:t>
            </a:r>
            <a:r>
              <a:rPr b="0" i="0" lang="en-US" sz="73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: Connects detections of the same vehicle across multiple ANPR cameras</a:t>
            </a:r>
            <a:endParaRPr sz="130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34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3771" lvl="1" marL="180243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34"/>
              <a:buFont typeface="Arial"/>
              <a:buChar char="•"/>
            </a:pPr>
            <a:r>
              <a:rPr b="0" i="0" lang="en-US" sz="73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Each detection contributes camera location + timestamp + confidence to the vehicle's journey.</a:t>
            </a:r>
            <a:endParaRPr sz="130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34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3771" lvl="1" marL="180243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34"/>
              <a:buFont typeface="Arial"/>
              <a:buChar char="•"/>
            </a:pPr>
            <a:r>
              <a:rPr b="0" i="0" lang="en-US" sz="73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The reconstructed route is drawn directly on the Delhi road network.</a:t>
            </a:r>
            <a:endParaRPr sz="130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34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3771" lvl="1" marL="180243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34"/>
              <a:buFont typeface="Arial"/>
              <a:buChar char="•"/>
            </a:pPr>
            <a:r>
              <a:rPr b="1" i="0" lang="en-US" sz="73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Journey intelligence</a:t>
            </a:r>
            <a:r>
              <a:rPr b="0" i="0" lang="en-US" sz="73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: The system derives inter-camera travel information such as hop timing and speed where data supports it.</a:t>
            </a:r>
            <a:endParaRPr sz="130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34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3771" lvl="1" marL="180243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34"/>
              <a:buFont typeface="Arial"/>
              <a:buChar char="•"/>
            </a:pPr>
            <a:r>
              <a:rPr b="0" i="0" lang="en-US" sz="73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Authorities can search a plate and view its route, detection sequence and timeline.</a:t>
            </a:r>
            <a:endParaRPr sz="1300"/>
          </a:p>
        </p:txBody>
      </p:sp>
      <p:sp>
        <p:nvSpPr>
          <p:cNvPr id="224" name="Google Shape;224;p2"/>
          <p:cNvSpPr txBox="1"/>
          <p:nvPr/>
        </p:nvSpPr>
        <p:spPr>
          <a:xfrm>
            <a:off x="9722850" y="2398617"/>
            <a:ext cx="2057626" cy="396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INDIVIDUAL VEHICLES → CITY-LEVEL INSIGHTS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9669075" y="2786459"/>
            <a:ext cx="2186400" cy="25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4296" lvl="1" marL="177989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Real-time traffic density: Aggregates camera observations into traffic-volume rollups and map-based heatmaps.</a:t>
            </a:r>
            <a:endParaRPr sz="750"/>
          </a:p>
          <a:p>
            <a:pPr indent="0" lvl="0" marL="0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4296" lvl="1" marL="177989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Congestion detection: Compares observed travel time against a free-flow reference to identify heavy/congested corridors.</a:t>
            </a:r>
            <a:endParaRPr sz="750"/>
          </a:p>
          <a:p>
            <a:pPr indent="0" lvl="0" marL="0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4296" lvl="1" marL="177989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Origin–Destination analysis: Determines aggregated movement between camera regions — essentially “Where are vehicles coming from and where are they going?”</a:t>
            </a:r>
            <a:endParaRPr sz="750"/>
          </a:p>
          <a:p>
            <a:pPr indent="0" lvl="0" marL="0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4296" lvl="1" marL="177989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Peak-hour analysis: Tracks traffic trends across time windows to identify changing traffic patterns.</a:t>
            </a:r>
            <a:endParaRPr sz="750"/>
          </a:p>
          <a:p>
            <a:pPr indent="0" lvl="0" marL="0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4296" lvl="1" marL="177989" marR="0" rtl="0" algn="l">
              <a:lnSpc>
                <a:spcPct val="11104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Camera health analytics: Monitors expected vs observed detections to identify healthy, degraded or down cameras.</a:t>
            </a:r>
            <a:endParaRPr sz="750"/>
          </a:p>
        </p:txBody>
      </p:sp>
      <p:sp>
        <p:nvSpPr>
          <p:cNvPr id="226" name="Google Shape;226;p2"/>
          <p:cNvSpPr txBox="1"/>
          <p:nvPr/>
        </p:nvSpPr>
        <p:spPr>
          <a:xfrm>
            <a:off x="13040744" y="2447057"/>
            <a:ext cx="1828696" cy="396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DETECT → ALERT → INVESTIGATE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12858741" y="2887351"/>
            <a:ext cx="2186400" cy="25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6096" lvl="1" marL="18667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1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Blacklisted vehicle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 Authority adds a vehicle plate to the blacklist.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 matching detection automatically generates a blacklist alert.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Alert is published to the dashboard for operator acknowledgement/investigation.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6096" lvl="1" marL="18667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1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Impossible travel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The system compares detections of the same plate across cameras.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If the vehicle appears at another location faster than physically possible, it generates an impossible-travel alert.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5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6096" lvl="1" marL="18667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50"/>
              <a:buFont typeface="Arial"/>
              <a:buChar char="•"/>
            </a:pPr>
            <a:r>
              <a:rPr b="1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Camera anomalies</a:t>
            </a:r>
            <a:endParaRPr sz="750"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Monitors camera observation patterns </a:t>
            </a:r>
            <a:r>
              <a:rPr b="0" i="0" lang="en-US" sz="864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against expected activity.</a:t>
            </a:r>
            <a:endParaRPr/>
          </a:p>
          <a:p>
            <a:pPr indent="0" lvl="0" marL="0" marR="0" rtl="0" algn="l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64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"/>
          <p:cNvSpPr txBox="1"/>
          <p:nvPr/>
        </p:nvSpPr>
        <p:spPr>
          <a:xfrm>
            <a:off x="16120944" y="2479044"/>
            <a:ext cx="1828696" cy="396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ONE OPERATIONAL VIEW</a:t>
            </a:r>
            <a:endParaRPr/>
          </a:p>
        </p:txBody>
      </p:sp>
      <p:sp>
        <p:nvSpPr>
          <p:cNvPr id="229" name="Google Shape;229;p2"/>
          <p:cNvSpPr txBox="1"/>
          <p:nvPr/>
        </p:nvSpPr>
        <p:spPr>
          <a:xfrm>
            <a:off x="15963831" y="2896876"/>
            <a:ext cx="2186400" cy="23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1121" lvl="1" marL="17799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00"/>
              <a:buFont typeface="Arial"/>
              <a:buChar char="•"/>
            </a:pPr>
            <a:r>
              <a:rPr b="0" i="0" lang="en-US" sz="7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Centralized command interface: Combines the city map, vehicle trajectories, traffic analytics, camera health and alerts.</a:t>
            </a:r>
            <a:endParaRPr sz="700"/>
          </a:p>
          <a:p>
            <a:pPr indent="0" lvl="0" marL="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0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1121" lvl="1" marL="17799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00"/>
              <a:buFont typeface="Arial"/>
              <a:buChar char="•"/>
            </a:pPr>
            <a:r>
              <a:rPr b="0" i="0" lang="en-US" sz="7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Live GIS map: Displays cameras, traffic heatmaps and active vehicle movement.</a:t>
            </a:r>
            <a:endParaRPr sz="700"/>
          </a:p>
          <a:p>
            <a:pPr indent="0" lvl="0" marL="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0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1121" lvl="1" marL="17799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00"/>
              <a:buFont typeface="Arial"/>
              <a:buChar char="•"/>
            </a:pPr>
            <a:r>
              <a:rPr b="0" i="0" lang="en-US" sz="7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Alert management: View, acknowledge and investigate blacklist/impossible-travel/anomaly alerts.</a:t>
            </a:r>
            <a:endParaRPr sz="700"/>
          </a:p>
          <a:p>
            <a:pPr indent="0" lvl="0" marL="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0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1121" lvl="1" marL="17799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00"/>
              <a:buFont typeface="Arial"/>
              <a:buChar char="•"/>
            </a:pPr>
            <a:r>
              <a:rPr b="0" i="0" lang="en-US" sz="7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Analytics view: Provides congestion, traffic volume, OD patterns and camera-health information.</a:t>
            </a:r>
            <a:endParaRPr sz="700"/>
          </a:p>
          <a:p>
            <a:pPr indent="0" lvl="0" marL="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00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81121" lvl="1" marL="177990" marR="0" rtl="0" algn="l">
              <a:lnSpc>
                <a:spcPct val="120024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700"/>
              <a:buFont typeface="Arial"/>
              <a:buChar char="•"/>
            </a:pPr>
            <a:r>
              <a:rPr b="0" i="0" lang="en-US" sz="7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Operator-focused design: Information is organized for quick investigation rather than requiring authorities to switch between multiple systems. </a:t>
            </a:r>
            <a:endParaRPr sz="700"/>
          </a:p>
        </p:txBody>
      </p:sp>
      <p:sp>
        <p:nvSpPr>
          <p:cNvPr id="230" name="Google Shape;230;p2"/>
          <p:cNvSpPr txBox="1"/>
          <p:nvPr/>
        </p:nvSpPr>
        <p:spPr>
          <a:xfrm>
            <a:off x="12213353" y="5477701"/>
            <a:ext cx="6193223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99" u="none" cap="none" strike="noStrike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We don't just detect vehicles, we connect their movement to understand the city.</a:t>
            </a:r>
            <a:endParaRPr/>
          </a:p>
          <a:p>
            <a:pPr indent="0" lvl="0" marL="0" marR="0" rtl="0" algn="ctr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99" u="none" cap="none" strike="noStrike">
              <a:solidFill>
                <a:srgbClr val="000000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231" name="Google Shape;231;p2"/>
          <p:cNvSpPr txBox="1"/>
          <p:nvPr/>
        </p:nvSpPr>
        <p:spPr>
          <a:xfrm>
            <a:off x="4992193" y="6627345"/>
            <a:ext cx="2467491" cy="1132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9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Congestion heatmaps, density/volume trends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4925552" y="8599070"/>
            <a:ext cx="2544408" cy="1126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Confidence-aware normalization handles OCR variations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5152910" y="5430292"/>
            <a:ext cx="1957837" cy="162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4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Unified Event-Based Network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5111850" y="7436472"/>
            <a:ext cx="2192585" cy="1344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299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4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City-Wide Trajectory Reconstruction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768370" y="5564297"/>
            <a:ext cx="1845299" cy="197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71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Isolated Data Silos</a:t>
            </a:r>
            <a:endParaRPr/>
          </a:p>
        </p:txBody>
      </p:sp>
      <p:sp>
        <p:nvSpPr>
          <p:cNvPr id="236" name="Google Shape;236;p2"/>
          <p:cNvSpPr txBox="1"/>
          <p:nvPr/>
        </p:nvSpPr>
        <p:spPr>
          <a:xfrm>
            <a:off x="923271" y="5733755"/>
            <a:ext cx="1699702" cy="319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CCTV/ANPR cameras operate independently, no inter-node communication</a:t>
            </a:r>
            <a:endParaRPr/>
          </a:p>
        </p:txBody>
      </p:sp>
      <p:sp>
        <p:nvSpPr>
          <p:cNvPr id="237" name="Google Shape;237;p2"/>
          <p:cNvSpPr txBox="1"/>
          <p:nvPr/>
        </p:nvSpPr>
        <p:spPr>
          <a:xfrm>
            <a:off x="952597" y="6060787"/>
            <a:ext cx="1605190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Local data capture → no central visibility across sectors/jurisdictions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40936" y="7465055"/>
            <a:ext cx="1801778" cy="260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3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Inability to Track Vehicle Trajectories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38023" y="7723289"/>
            <a:ext cx="1704691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No spatial-temporal linking → can't trace continuous vehicle movement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917683" y="8003980"/>
            <a:ext cx="1689535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Hard to recreate routes of blacklisted/high-interest vehicles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797098" y="6554919"/>
            <a:ext cx="1790141" cy="2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9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4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Lack of Macro-Level Traffic Insights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917683" y="6755085"/>
            <a:ext cx="1704691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Only localized detection (e.g., single-lane checks)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923145" y="6996477"/>
            <a:ext cx="1664093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Can't extract city-wide trends: density, OD patterns, bottlenecks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4964075" y="5599039"/>
            <a:ext cx="2495609" cy="216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9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Common event-ingestion layer standardizing plate, timestamp, camera ID/location, confidence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4968717" y="5877974"/>
            <a:ext cx="2490967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Redis real-time processing; central storage in PostgreSQL + PostGIS + TimescaleDB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4982365" y="6170260"/>
            <a:ext cx="2010226" cy="1126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Future-ready for RTSP/edge camera feeds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4985870" y="7599524"/>
            <a:ext cx="2480135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Links detections via plate normalization + fuzzy matching (tolerant to OCR errors)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4979548" y="7868258"/>
            <a:ext cx="2480135" cy="2158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Reconstructs movement using timestamp + location + confidence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4998861" y="8131740"/>
            <a:ext cx="2491074" cy="1126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GIS map visualization + plate-based trajectory search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5083382" y="6463315"/>
            <a:ext cx="2028412" cy="131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9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4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City-Wide Traffic Intelligence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4982365" y="6832558"/>
            <a:ext cx="2369743" cy="216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9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Origin-Destination patterns, travel-time/congestion indicators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4992193" y="7103341"/>
            <a:ext cx="2393457" cy="1126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Camera health/coverage analytics for data reliability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5219126" y="8439344"/>
            <a:ext cx="1820893" cy="131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905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4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Robust ANPR Pipeline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4950811" y="8816536"/>
            <a:ext cx="2537611" cy="1126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Missed detections → gaps, not broken identity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4950255" y="9029771"/>
            <a:ext cx="2551366" cy="6285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Planned YOLO + PP-OCRv4 pipeline, targeting &gt;90% accuracy</a:t>
            </a:r>
            <a:endParaRPr/>
          </a:p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96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96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96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96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96" u="none" cap="none" strike="noStrike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"/>
          <p:cNvSpPr txBox="1"/>
          <p:nvPr/>
        </p:nvSpPr>
        <p:spPr>
          <a:xfrm>
            <a:off x="802185" y="8506443"/>
            <a:ext cx="1720596" cy="271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9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4" u="none" cap="none" strike="noStrike">
                <a:solidFill>
                  <a:srgbClr val="1F497D"/>
                </a:solidFill>
                <a:latin typeface="Times"/>
                <a:ea typeface="Times"/>
                <a:cs typeface="Times"/>
                <a:sym typeface="Times"/>
              </a:rPr>
              <a:t>Environmental &amp; Real-World Accuracy Drop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868975" y="8777359"/>
            <a:ext cx="1724670" cy="319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6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OCR degrades under motion blur, bad angles, weather, poor lighting, damaged plates</a:t>
            </a:r>
            <a:endParaRPr/>
          </a:p>
        </p:txBody>
      </p:sp>
      <p:grpSp>
        <p:nvGrpSpPr>
          <p:cNvPr id="258" name="Google Shape;258;p2"/>
          <p:cNvGrpSpPr/>
          <p:nvPr/>
        </p:nvGrpSpPr>
        <p:grpSpPr>
          <a:xfrm>
            <a:off x="8855706" y="6972627"/>
            <a:ext cx="1734289" cy="2455494"/>
            <a:chOff x="0" y="-51900"/>
            <a:chExt cx="2312385" cy="3273993"/>
          </a:xfrm>
        </p:grpSpPr>
        <p:grpSp>
          <p:nvGrpSpPr>
            <p:cNvPr id="259" name="Google Shape;259;p2"/>
            <p:cNvGrpSpPr/>
            <p:nvPr/>
          </p:nvGrpSpPr>
          <p:grpSpPr>
            <a:xfrm>
              <a:off x="0" y="-51900"/>
              <a:ext cx="2312385" cy="3273993"/>
              <a:chOff x="0" y="-19050"/>
              <a:chExt cx="848766" cy="1201727"/>
            </a:xfrm>
          </p:grpSpPr>
          <p:sp>
            <p:nvSpPr>
              <p:cNvPr id="260" name="Google Shape;260;p2"/>
              <p:cNvSpPr/>
              <p:nvPr/>
            </p:nvSpPr>
            <p:spPr>
              <a:xfrm>
                <a:off x="0" y="0"/>
                <a:ext cx="848766" cy="1182677"/>
              </a:xfrm>
              <a:custGeom>
                <a:rect b="b" l="l" r="r" t="t"/>
                <a:pathLst>
                  <a:path extrusionOk="0" h="1182677" w="848766">
                    <a:moveTo>
                      <a:pt x="19418" y="0"/>
                    </a:moveTo>
                    <a:lnTo>
                      <a:pt x="829348" y="0"/>
                    </a:lnTo>
                    <a:cubicBezTo>
                      <a:pt x="840073" y="0"/>
                      <a:pt x="848766" y="8694"/>
                      <a:pt x="848766" y="19418"/>
                    </a:cubicBezTo>
                    <a:lnTo>
                      <a:pt x="848766" y="1163259"/>
                    </a:lnTo>
                    <a:cubicBezTo>
                      <a:pt x="848766" y="1173983"/>
                      <a:pt x="840073" y="1182677"/>
                      <a:pt x="829348" y="1182677"/>
                    </a:cubicBezTo>
                    <a:lnTo>
                      <a:pt x="19418" y="1182677"/>
                    </a:lnTo>
                    <a:cubicBezTo>
                      <a:pt x="8694" y="1182677"/>
                      <a:pt x="0" y="1173983"/>
                      <a:pt x="0" y="1163259"/>
                    </a:cubicBezTo>
                    <a:lnTo>
                      <a:pt x="0" y="19418"/>
                    </a:lnTo>
                    <a:cubicBezTo>
                      <a:pt x="0" y="8694"/>
                      <a:pt x="8694" y="0"/>
                      <a:pt x="194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D1F1F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2"/>
              <p:cNvSpPr txBox="1"/>
              <p:nvPr/>
            </p:nvSpPr>
            <p:spPr>
              <a:xfrm>
                <a:off x="0" y="-19050"/>
                <a:ext cx="848766" cy="12017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2" name="Google Shape;262;p2"/>
            <p:cNvGrpSpPr/>
            <p:nvPr/>
          </p:nvGrpSpPr>
          <p:grpSpPr>
            <a:xfrm>
              <a:off x="291193" y="150397"/>
              <a:ext cx="1729998" cy="384458"/>
              <a:chOff x="0" y="-19050"/>
              <a:chExt cx="635000" cy="141116"/>
            </a:xfrm>
          </p:grpSpPr>
          <p:sp>
            <p:nvSpPr>
              <p:cNvPr id="263" name="Google Shape;263;p2"/>
              <p:cNvSpPr/>
              <p:nvPr/>
            </p:nvSpPr>
            <p:spPr>
              <a:xfrm>
                <a:off x="0" y="0"/>
                <a:ext cx="635000" cy="122066"/>
              </a:xfrm>
              <a:custGeom>
                <a:rect b="b" l="l" r="r" t="t"/>
                <a:pathLst>
                  <a:path extrusionOk="0"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D1F1F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" name="Google Shape;264;p2"/>
              <p:cNvSpPr txBox="1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5" name="Google Shape;265;p2"/>
            <p:cNvSpPr txBox="1"/>
            <p:nvPr/>
          </p:nvSpPr>
          <p:spPr>
            <a:xfrm>
              <a:off x="778917" y="247091"/>
              <a:ext cx="754551" cy="2334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13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EVENTS</a:t>
              </a:r>
              <a:endParaRPr/>
            </a:p>
          </p:txBody>
        </p:sp>
        <p:grpSp>
          <p:nvGrpSpPr>
            <p:cNvPr id="266" name="Google Shape;266;p2"/>
            <p:cNvGrpSpPr/>
            <p:nvPr/>
          </p:nvGrpSpPr>
          <p:grpSpPr>
            <a:xfrm>
              <a:off x="291193" y="771632"/>
              <a:ext cx="1729998" cy="384458"/>
              <a:chOff x="0" y="-19050"/>
              <a:chExt cx="635000" cy="141116"/>
            </a:xfrm>
          </p:grpSpPr>
          <p:sp>
            <p:nvSpPr>
              <p:cNvPr id="267" name="Google Shape;267;p2"/>
              <p:cNvSpPr/>
              <p:nvPr/>
            </p:nvSpPr>
            <p:spPr>
              <a:xfrm>
                <a:off x="0" y="0"/>
                <a:ext cx="635000" cy="122066"/>
              </a:xfrm>
              <a:custGeom>
                <a:rect b="b" l="l" r="r" t="t"/>
                <a:pathLst>
                  <a:path extrusionOk="0"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D1F1F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" name="Google Shape;268;p2"/>
              <p:cNvSpPr txBox="1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9" name="Google Shape;269;p2"/>
            <p:cNvSpPr txBox="1"/>
            <p:nvPr/>
          </p:nvSpPr>
          <p:spPr>
            <a:xfrm>
              <a:off x="726620" y="868326"/>
              <a:ext cx="859145" cy="2334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13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IDENTITY</a:t>
              </a:r>
              <a:endParaRPr/>
            </a:p>
          </p:txBody>
        </p:sp>
        <p:grpSp>
          <p:nvGrpSpPr>
            <p:cNvPr id="270" name="Google Shape;270;p2"/>
            <p:cNvGrpSpPr/>
            <p:nvPr/>
          </p:nvGrpSpPr>
          <p:grpSpPr>
            <a:xfrm>
              <a:off x="291193" y="2623676"/>
              <a:ext cx="1729998" cy="384458"/>
              <a:chOff x="0" y="-19050"/>
              <a:chExt cx="635000" cy="141116"/>
            </a:xfrm>
          </p:grpSpPr>
          <p:sp>
            <p:nvSpPr>
              <p:cNvPr id="271" name="Google Shape;271;p2"/>
              <p:cNvSpPr/>
              <p:nvPr/>
            </p:nvSpPr>
            <p:spPr>
              <a:xfrm>
                <a:off x="0" y="0"/>
                <a:ext cx="635000" cy="122066"/>
              </a:xfrm>
              <a:custGeom>
                <a:rect b="b" l="l" r="r" t="t"/>
                <a:pathLst>
                  <a:path extrusionOk="0"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D1F1F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" name="Google Shape;272;p2"/>
              <p:cNvSpPr txBox="1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73" name="Google Shape;273;p2"/>
            <p:cNvSpPr txBox="1"/>
            <p:nvPr/>
          </p:nvSpPr>
          <p:spPr>
            <a:xfrm>
              <a:off x="791071" y="2720370"/>
              <a:ext cx="730244" cy="2334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13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ALERTS</a:t>
              </a:r>
              <a:endParaRPr/>
            </a:p>
          </p:txBody>
        </p:sp>
        <p:grpSp>
          <p:nvGrpSpPr>
            <p:cNvPr id="274" name="Google Shape;274;p2"/>
            <p:cNvGrpSpPr/>
            <p:nvPr/>
          </p:nvGrpSpPr>
          <p:grpSpPr>
            <a:xfrm>
              <a:off x="291193" y="2008272"/>
              <a:ext cx="1729998" cy="384458"/>
              <a:chOff x="0" y="-19050"/>
              <a:chExt cx="635000" cy="141116"/>
            </a:xfrm>
          </p:grpSpPr>
          <p:sp>
            <p:nvSpPr>
              <p:cNvPr id="275" name="Google Shape;275;p2"/>
              <p:cNvSpPr/>
              <p:nvPr/>
            </p:nvSpPr>
            <p:spPr>
              <a:xfrm>
                <a:off x="0" y="0"/>
                <a:ext cx="635000" cy="122066"/>
              </a:xfrm>
              <a:custGeom>
                <a:rect b="b" l="l" r="r" t="t"/>
                <a:pathLst>
                  <a:path extrusionOk="0"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D1F1F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" name="Google Shape;276;p2"/>
              <p:cNvSpPr txBox="1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77" name="Google Shape;277;p2"/>
            <p:cNvSpPr txBox="1"/>
            <p:nvPr/>
          </p:nvSpPr>
          <p:spPr>
            <a:xfrm>
              <a:off x="639188" y="2104966"/>
              <a:ext cx="1034009" cy="2334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13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ANALYTICS</a:t>
              </a:r>
              <a:endParaRPr/>
            </a:p>
          </p:txBody>
        </p:sp>
        <p:grpSp>
          <p:nvGrpSpPr>
            <p:cNvPr id="278" name="Google Shape;278;p2"/>
            <p:cNvGrpSpPr/>
            <p:nvPr/>
          </p:nvGrpSpPr>
          <p:grpSpPr>
            <a:xfrm>
              <a:off x="291193" y="1392867"/>
              <a:ext cx="1729998" cy="384458"/>
              <a:chOff x="0" y="-19050"/>
              <a:chExt cx="635000" cy="141116"/>
            </a:xfrm>
          </p:grpSpPr>
          <p:sp>
            <p:nvSpPr>
              <p:cNvPr id="279" name="Google Shape;279;p2"/>
              <p:cNvSpPr/>
              <p:nvPr/>
            </p:nvSpPr>
            <p:spPr>
              <a:xfrm>
                <a:off x="0" y="0"/>
                <a:ext cx="635000" cy="122066"/>
              </a:xfrm>
              <a:custGeom>
                <a:rect b="b" l="l" r="r" t="t"/>
                <a:pathLst>
                  <a:path extrusionOk="0" h="122066" w="635000">
                    <a:moveTo>
                      <a:pt x="25955" y="0"/>
                    </a:moveTo>
                    <a:lnTo>
                      <a:pt x="609045" y="0"/>
                    </a:lnTo>
                    <a:cubicBezTo>
                      <a:pt x="615929" y="0"/>
                      <a:pt x="622531" y="2735"/>
                      <a:pt x="627398" y="7602"/>
                    </a:cubicBezTo>
                    <a:cubicBezTo>
                      <a:pt x="632265" y="12469"/>
                      <a:pt x="635000" y="19071"/>
                      <a:pt x="635000" y="25955"/>
                    </a:cubicBezTo>
                    <a:lnTo>
                      <a:pt x="635000" y="96111"/>
                    </a:lnTo>
                    <a:cubicBezTo>
                      <a:pt x="635000" y="110446"/>
                      <a:pt x="623380" y="122066"/>
                      <a:pt x="609045" y="122066"/>
                    </a:cubicBezTo>
                    <a:lnTo>
                      <a:pt x="25955" y="122066"/>
                    </a:lnTo>
                    <a:cubicBezTo>
                      <a:pt x="19071" y="122066"/>
                      <a:pt x="12469" y="119332"/>
                      <a:pt x="7602" y="114464"/>
                    </a:cubicBezTo>
                    <a:cubicBezTo>
                      <a:pt x="2735" y="109597"/>
                      <a:pt x="0" y="102995"/>
                      <a:pt x="0" y="96111"/>
                    </a:cubicBezTo>
                    <a:lnTo>
                      <a:pt x="0" y="25955"/>
                    </a:lnTo>
                    <a:cubicBezTo>
                      <a:pt x="0" y="19071"/>
                      <a:pt x="2735" y="12469"/>
                      <a:pt x="7602" y="7602"/>
                    </a:cubicBezTo>
                    <a:cubicBezTo>
                      <a:pt x="12469" y="2735"/>
                      <a:pt x="19071" y="0"/>
                      <a:pt x="259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D1F1F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0" name="Google Shape;280;p2"/>
              <p:cNvSpPr txBox="1"/>
              <p:nvPr/>
            </p:nvSpPr>
            <p:spPr>
              <a:xfrm>
                <a:off x="0" y="-19050"/>
                <a:ext cx="635000" cy="141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81" name="Google Shape;281;p2"/>
            <p:cNvSpPr txBox="1"/>
            <p:nvPr/>
          </p:nvSpPr>
          <p:spPr>
            <a:xfrm>
              <a:off x="530985" y="1489561"/>
              <a:ext cx="1250415" cy="2334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13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TRAJECTORY</a:t>
              </a:r>
              <a:endParaRPr/>
            </a:p>
          </p:txBody>
        </p:sp>
        <p:sp>
          <p:nvSpPr>
            <p:cNvPr id="282" name="Google Shape;282;p2"/>
            <p:cNvSpPr/>
            <p:nvPr/>
          </p:nvSpPr>
          <p:spPr>
            <a:xfrm rot="5400000">
              <a:off x="1072380" y="593232"/>
              <a:ext cx="167625" cy="171923"/>
            </a:xfrm>
            <a:custGeom>
              <a:rect b="b" l="l" r="r" t="t"/>
              <a:pathLst>
                <a:path extrusionOk="0"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83" name="Google Shape;283;p2"/>
            <p:cNvSpPr/>
            <p:nvPr/>
          </p:nvSpPr>
          <p:spPr>
            <a:xfrm rot="5400000">
              <a:off x="1072380" y="1212868"/>
              <a:ext cx="167625" cy="171923"/>
            </a:xfrm>
            <a:custGeom>
              <a:rect b="b" l="l" r="r" t="t"/>
              <a:pathLst>
                <a:path extrusionOk="0"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84" name="Google Shape;284;p2"/>
            <p:cNvSpPr/>
            <p:nvPr/>
          </p:nvSpPr>
          <p:spPr>
            <a:xfrm rot="5400000">
              <a:off x="1072380" y="1834103"/>
              <a:ext cx="167625" cy="171923"/>
            </a:xfrm>
            <a:custGeom>
              <a:rect b="b" l="l" r="r" t="t"/>
              <a:pathLst>
                <a:path extrusionOk="0"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85" name="Google Shape;285;p2"/>
            <p:cNvSpPr/>
            <p:nvPr/>
          </p:nvSpPr>
          <p:spPr>
            <a:xfrm rot="5400000">
              <a:off x="1072380" y="2455338"/>
              <a:ext cx="167625" cy="171923"/>
            </a:xfrm>
            <a:custGeom>
              <a:rect b="b" l="l" r="r" t="t"/>
              <a:pathLst>
                <a:path extrusionOk="0" h="171923" w="167625">
                  <a:moveTo>
                    <a:pt x="0" y="0"/>
                  </a:moveTo>
                  <a:lnTo>
                    <a:pt x="167625" y="0"/>
                  </a:lnTo>
                  <a:lnTo>
                    <a:pt x="167625" y="171923"/>
                  </a:lnTo>
                  <a:lnTo>
                    <a:pt x="0" y="17192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"/>
          <p:cNvSpPr/>
          <p:nvPr/>
        </p:nvSpPr>
        <p:spPr>
          <a:xfrm>
            <a:off x="0" y="9532144"/>
            <a:ext cx="18288000" cy="754856"/>
          </a:xfrm>
          <a:custGeom>
            <a:rect b="b" l="l" r="r" t="t"/>
            <a:pathLst>
              <a:path extrusionOk="0" h="1006475" w="24384000">
                <a:moveTo>
                  <a:pt x="0" y="0"/>
                </a:moveTo>
                <a:lnTo>
                  <a:pt x="24384000" y="0"/>
                </a:lnTo>
                <a:lnTo>
                  <a:pt x="24384000" y="1006475"/>
                </a:lnTo>
                <a:lnTo>
                  <a:pt x="0" y="10064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295" name="Google Shape;295;p3"/>
          <p:cNvGrpSpPr/>
          <p:nvPr/>
        </p:nvGrpSpPr>
        <p:grpSpPr>
          <a:xfrm>
            <a:off x="13106400" y="9520237"/>
            <a:ext cx="4267200" cy="561976"/>
            <a:chOff x="0" y="-19050"/>
            <a:chExt cx="5689600" cy="749300"/>
          </a:xfrm>
        </p:grpSpPr>
        <p:sp>
          <p:nvSpPr>
            <p:cNvPr id="296" name="Google Shape;296;p3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297" name="Google Shape;297;p3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3</a:t>
              </a:r>
              <a:endParaRPr/>
            </a:p>
          </p:txBody>
        </p:sp>
      </p:grpSp>
      <p:grpSp>
        <p:nvGrpSpPr>
          <p:cNvPr id="298" name="Google Shape;298;p3"/>
          <p:cNvGrpSpPr/>
          <p:nvPr/>
        </p:nvGrpSpPr>
        <p:grpSpPr>
          <a:xfrm>
            <a:off x="6972300" y="9520237"/>
            <a:ext cx="4806001" cy="561976"/>
            <a:chOff x="0" y="-19050"/>
            <a:chExt cx="6408001" cy="749300"/>
          </a:xfrm>
        </p:grpSpPr>
        <p:sp>
          <p:nvSpPr>
            <p:cNvPr id="299" name="Google Shape;299;p3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300" name="Google Shape;300;p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  <a:endParaRPr/>
            </a:p>
          </p:txBody>
        </p:sp>
      </p:grpSp>
      <p:sp>
        <p:nvSpPr>
          <p:cNvPr id="301" name="Google Shape;301;p3"/>
          <p:cNvSpPr/>
          <p:nvPr/>
        </p:nvSpPr>
        <p:spPr>
          <a:xfrm>
            <a:off x="15679379" y="62223"/>
            <a:ext cx="2471349" cy="1302606"/>
          </a:xfrm>
          <a:custGeom>
            <a:rect b="b" l="l" r="r" t="t"/>
            <a:pathLst>
              <a:path extrusionOk="0" h="1302606" w="2471349">
                <a:moveTo>
                  <a:pt x="0" y="0"/>
                </a:moveTo>
                <a:lnTo>
                  <a:pt x="2471349" y="0"/>
                </a:lnTo>
                <a:lnTo>
                  <a:pt x="2471349" y="1302606"/>
                </a:lnTo>
                <a:lnTo>
                  <a:pt x="0" y="13026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129" r="-2129" t="0"/>
            </a:stretch>
          </a:blipFill>
          <a:ln>
            <a:noFill/>
          </a:ln>
        </p:spPr>
      </p:sp>
      <p:sp>
        <p:nvSpPr>
          <p:cNvPr id="302" name="Google Shape;302;p3"/>
          <p:cNvSpPr/>
          <p:nvPr/>
        </p:nvSpPr>
        <p:spPr>
          <a:xfrm>
            <a:off x="0" y="9622076"/>
            <a:ext cx="18288000" cy="754856"/>
          </a:xfrm>
          <a:custGeom>
            <a:rect b="b" l="l" r="r" t="t"/>
            <a:pathLst>
              <a:path extrusionOk="0" h="1006475" w="24384000">
                <a:moveTo>
                  <a:pt x="0" y="0"/>
                </a:moveTo>
                <a:lnTo>
                  <a:pt x="24384000" y="0"/>
                </a:lnTo>
                <a:lnTo>
                  <a:pt x="24384000" y="1006475"/>
                </a:lnTo>
                <a:lnTo>
                  <a:pt x="0" y="10064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303" name="Google Shape;303;p3"/>
          <p:cNvGrpSpPr/>
          <p:nvPr/>
        </p:nvGrpSpPr>
        <p:grpSpPr>
          <a:xfrm>
            <a:off x="6858858" y="9575401"/>
            <a:ext cx="4806001" cy="561976"/>
            <a:chOff x="0" y="-19050"/>
            <a:chExt cx="6408001" cy="749300"/>
          </a:xfrm>
        </p:grpSpPr>
        <p:sp>
          <p:nvSpPr>
            <p:cNvPr id="304" name="Google Shape;304;p3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305" name="Google Shape;305;p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  <a:endParaRPr/>
            </a:p>
          </p:txBody>
        </p:sp>
      </p:grpSp>
      <p:grpSp>
        <p:nvGrpSpPr>
          <p:cNvPr id="306" name="Google Shape;306;p3"/>
          <p:cNvGrpSpPr/>
          <p:nvPr/>
        </p:nvGrpSpPr>
        <p:grpSpPr>
          <a:xfrm>
            <a:off x="13275421" y="9520237"/>
            <a:ext cx="4267200" cy="561976"/>
            <a:chOff x="0" y="-19050"/>
            <a:chExt cx="5689600" cy="749300"/>
          </a:xfrm>
        </p:grpSpPr>
        <p:sp>
          <p:nvSpPr>
            <p:cNvPr id="307" name="Google Shape;307;p3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308" name="Google Shape;308;p3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3</a:t>
              </a:r>
              <a:endParaRPr/>
            </a:p>
          </p:txBody>
        </p:sp>
      </p:grpSp>
      <p:grpSp>
        <p:nvGrpSpPr>
          <p:cNvPr id="309" name="Google Shape;309;p3"/>
          <p:cNvGrpSpPr/>
          <p:nvPr/>
        </p:nvGrpSpPr>
        <p:grpSpPr>
          <a:xfrm>
            <a:off x="2443741" y="2370557"/>
            <a:ext cx="2000773" cy="2094413"/>
            <a:chOff x="0" y="-19050"/>
            <a:chExt cx="526953" cy="551615"/>
          </a:xfrm>
        </p:grpSpPr>
        <p:sp>
          <p:nvSpPr>
            <p:cNvPr id="310" name="Google Shape;310;p3"/>
            <p:cNvSpPr/>
            <p:nvPr/>
          </p:nvSpPr>
          <p:spPr>
            <a:xfrm>
              <a:off x="0" y="0"/>
              <a:ext cx="526953" cy="532565"/>
            </a:xfrm>
            <a:custGeom>
              <a:rect b="b" l="l" r="r" t="t"/>
              <a:pathLst>
                <a:path extrusionOk="0" h="532565" w="526953">
                  <a:moveTo>
                    <a:pt x="65781" y="0"/>
                  </a:moveTo>
                  <a:lnTo>
                    <a:pt x="461172" y="0"/>
                  </a:lnTo>
                  <a:cubicBezTo>
                    <a:pt x="497501" y="0"/>
                    <a:pt x="526953" y="29451"/>
                    <a:pt x="526953" y="65781"/>
                  </a:cubicBezTo>
                  <a:lnTo>
                    <a:pt x="526953" y="466784"/>
                  </a:lnTo>
                  <a:cubicBezTo>
                    <a:pt x="526953" y="503114"/>
                    <a:pt x="497501" y="532565"/>
                    <a:pt x="461172" y="532565"/>
                  </a:cubicBezTo>
                  <a:lnTo>
                    <a:pt x="65781" y="532565"/>
                  </a:lnTo>
                  <a:cubicBezTo>
                    <a:pt x="29451" y="532565"/>
                    <a:pt x="0" y="503114"/>
                    <a:pt x="0" y="466784"/>
                  </a:cubicBezTo>
                  <a:lnTo>
                    <a:pt x="0" y="65781"/>
                  </a:lnTo>
                  <a:cubicBezTo>
                    <a:pt x="0" y="29451"/>
                    <a:pt x="29451" y="0"/>
                    <a:pt x="65781" y="0"/>
                  </a:cubicBezTo>
                  <a:close/>
                </a:path>
              </a:pathLst>
            </a:custGeom>
            <a:noFill/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3"/>
            <p:cNvSpPr txBox="1"/>
            <p:nvPr/>
          </p:nvSpPr>
          <p:spPr>
            <a:xfrm>
              <a:off x="0" y="-19050"/>
              <a:ext cx="526953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2" name="Google Shape;312;p3"/>
          <p:cNvGrpSpPr/>
          <p:nvPr/>
        </p:nvGrpSpPr>
        <p:grpSpPr>
          <a:xfrm>
            <a:off x="6820311" y="2370557"/>
            <a:ext cx="2000773" cy="2094413"/>
            <a:chOff x="0" y="-19050"/>
            <a:chExt cx="526953" cy="551615"/>
          </a:xfrm>
        </p:grpSpPr>
        <p:sp>
          <p:nvSpPr>
            <p:cNvPr id="313" name="Google Shape;313;p3"/>
            <p:cNvSpPr/>
            <p:nvPr/>
          </p:nvSpPr>
          <p:spPr>
            <a:xfrm>
              <a:off x="0" y="0"/>
              <a:ext cx="526953" cy="532565"/>
            </a:xfrm>
            <a:custGeom>
              <a:rect b="b" l="l" r="r" t="t"/>
              <a:pathLst>
                <a:path extrusionOk="0" h="532565" w="526953">
                  <a:moveTo>
                    <a:pt x="65781" y="0"/>
                  </a:moveTo>
                  <a:lnTo>
                    <a:pt x="461172" y="0"/>
                  </a:lnTo>
                  <a:cubicBezTo>
                    <a:pt x="497501" y="0"/>
                    <a:pt x="526953" y="29451"/>
                    <a:pt x="526953" y="65781"/>
                  </a:cubicBezTo>
                  <a:lnTo>
                    <a:pt x="526953" y="466784"/>
                  </a:lnTo>
                  <a:cubicBezTo>
                    <a:pt x="526953" y="503114"/>
                    <a:pt x="497501" y="532565"/>
                    <a:pt x="461172" y="532565"/>
                  </a:cubicBezTo>
                  <a:lnTo>
                    <a:pt x="65781" y="532565"/>
                  </a:lnTo>
                  <a:cubicBezTo>
                    <a:pt x="29451" y="532565"/>
                    <a:pt x="0" y="503114"/>
                    <a:pt x="0" y="466784"/>
                  </a:cubicBezTo>
                  <a:lnTo>
                    <a:pt x="0" y="65781"/>
                  </a:lnTo>
                  <a:cubicBezTo>
                    <a:pt x="0" y="29451"/>
                    <a:pt x="29451" y="0"/>
                    <a:pt x="65781" y="0"/>
                  </a:cubicBezTo>
                  <a:close/>
                </a:path>
              </a:pathLst>
            </a:custGeom>
            <a:noFill/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3"/>
            <p:cNvSpPr txBox="1"/>
            <p:nvPr/>
          </p:nvSpPr>
          <p:spPr>
            <a:xfrm>
              <a:off x="0" y="-19050"/>
              <a:ext cx="526953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" name="Google Shape;315;p3"/>
          <p:cNvGrpSpPr/>
          <p:nvPr/>
        </p:nvGrpSpPr>
        <p:grpSpPr>
          <a:xfrm>
            <a:off x="125551" y="2370557"/>
            <a:ext cx="2197713" cy="2094413"/>
            <a:chOff x="0" y="-19050"/>
            <a:chExt cx="578821" cy="551615"/>
          </a:xfrm>
        </p:grpSpPr>
        <p:sp>
          <p:nvSpPr>
            <p:cNvPr id="316" name="Google Shape;316;p3"/>
            <p:cNvSpPr/>
            <p:nvPr/>
          </p:nvSpPr>
          <p:spPr>
            <a:xfrm>
              <a:off x="0" y="0"/>
              <a:ext cx="578821" cy="532565"/>
            </a:xfrm>
            <a:custGeom>
              <a:rect b="b" l="l" r="r" t="t"/>
              <a:pathLst>
                <a:path extrusionOk="0" h="532565" w="578821">
                  <a:moveTo>
                    <a:pt x="59886" y="0"/>
                  </a:moveTo>
                  <a:lnTo>
                    <a:pt x="518935" y="0"/>
                  </a:lnTo>
                  <a:cubicBezTo>
                    <a:pt x="552009" y="0"/>
                    <a:pt x="578821" y="26812"/>
                    <a:pt x="578821" y="59886"/>
                  </a:cubicBezTo>
                  <a:lnTo>
                    <a:pt x="578821" y="472679"/>
                  </a:lnTo>
                  <a:cubicBezTo>
                    <a:pt x="578821" y="488562"/>
                    <a:pt x="572512" y="503794"/>
                    <a:pt x="561281" y="515025"/>
                  </a:cubicBezTo>
                  <a:cubicBezTo>
                    <a:pt x="550050" y="526256"/>
                    <a:pt x="534818" y="532565"/>
                    <a:pt x="518935" y="532565"/>
                  </a:cubicBezTo>
                  <a:lnTo>
                    <a:pt x="59886" y="532565"/>
                  </a:lnTo>
                  <a:cubicBezTo>
                    <a:pt x="44003" y="532565"/>
                    <a:pt x="28771" y="526256"/>
                    <a:pt x="17540" y="515025"/>
                  </a:cubicBezTo>
                  <a:cubicBezTo>
                    <a:pt x="6309" y="503794"/>
                    <a:pt x="0" y="488562"/>
                    <a:pt x="0" y="472679"/>
                  </a:cubicBezTo>
                  <a:lnTo>
                    <a:pt x="0" y="59886"/>
                  </a:lnTo>
                  <a:cubicBezTo>
                    <a:pt x="0" y="44003"/>
                    <a:pt x="6309" y="28771"/>
                    <a:pt x="17540" y="17540"/>
                  </a:cubicBezTo>
                  <a:cubicBezTo>
                    <a:pt x="28771" y="6309"/>
                    <a:pt x="44003" y="0"/>
                    <a:pt x="59886" y="0"/>
                  </a:cubicBezTo>
                  <a:close/>
                </a:path>
              </a:pathLst>
            </a:custGeom>
            <a:noFill/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3"/>
            <p:cNvSpPr txBox="1"/>
            <p:nvPr/>
          </p:nvSpPr>
          <p:spPr>
            <a:xfrm>
              <a:off x="0" y="-19050"/>
              <a:ext cx="578821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" name="Google Shape;318;p3"/>
          <p:cNvGrpSpPr/>
          <p:nvPr/>
        </p:nvGrpSpPr>
        <p:grpSpPr>
          <a:xfrm>
            <a:off x="4564991" y="2370557"/>
            <a:ext cx="2134843" cy="2094413"/>
            <a:chOff x="0" y="-19050"/>
            <a:chExt cx="562263" cy="551615"/>
          </a:xfrm>
        </p:grpSpPr>
        <p:sp>
          <p:nvSpPr>
            <p:cNvPr id="319" name="Google Shape;319;p3"/>
            <p:cNvSpPr/>
            <p:nvPr/>
          </p:nvSpPr>
          <p:spPr>
            <a:xfrm>
              <a:off x="0" y="0"/>
              <a:ext cx="562263" cy="532565"/>
            </a:xfrm>
            <a:custGeom>
              <a:rect b="b" l="l" r="r" t="t"/>
              <a:pathLst>
                <a:path extrusionOk="0" h="532565" w="562263">
                  <a:moveTo>
                    <a:pt x="61650" y="0"/>
                  </a:moveTo>
                  <a:lnTo>
                    <a:pt x="500613" y="0"/>
                  </a:lnTo>
                  <a:cubicBezTo>
                    <a:pt x="534662" y="0"/>
                    <a:pt x="562263" y="27602"/>
                    <a:pt x="562263" y="61650"/>
                  </a:cubicBezTo>
                  <a:lnTo>
                    <a:pt x="562263" y="470915"/>
                  </a:lnTo>
                  <a:cubicBezTo>
                    <a:pt x="562263" y="504964"/>
                    <a:pt x="534662" y="532565"/>
                    <a:pt x="500613" y="532565"/>
                  </a:cubicBezTo>
                  <a:lnTo>
                    <a:pt x="61650" y="532565"/>
                  </a:lnTo>
                  <a:cubicBezTo>
                    <a:pt x="27602" y="532565"/>
                    <a:pt x="0" y="504964"/>
                    <a:pt x="0" y="470915"/>
                  </a:cubicBezTo>
                  <a:lnTo>
                    <a:pt x="0" y="61650"/>
                  </a:lnTo>
                  <a:cubicBezTo>
                    <a:pt x="0" y="27602"/>
                    <a:pt x="27602" y="0"/>
                    <a:pt x="61650" y="0"/>
                  </a:cubicBezTo>
                  <a:close/>
                </a:path>
              </a:pathLst>
            </a:custGeom>
            <a:noFill/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3"/>
            <p:cNvSpPr txBox="1"/>
            <p:nvPr/>
          </p:nvSpPr>
          <p:spPr>
            <a:xfrm>
              <a:off x="0" y="-19050"/>
              <a:ext cx="562263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" name="Google Shape;321;p3"/>
          <p:cNvGrpSpPr/>
          <p:nvPr/>
        </p:nvGrpSpPr>
        <p:grpSpPr>
          <a:xfrm>
            <a:off x="12792319" y="2370557"/>
            <a:ext cx="1705818" cy="2094413"/>
            <a:chOff x="0" y="-19050"/>
            <a:chExt cx="449269" cy="551615"/>
          </a:xfrm>
        </p:grpSpPr>
        <p:sp>
          <p:nvSpPr>
            <p:cNvPr id="322" name="Google Shape;322;p3"/>
            <p:cNvSpPr/>
            <p:nvPr/>
          </p:nvSpPr>
          <p:spPr>
            <a:xfrm>
              <a:off x="0" y="0"/>
              <a:ext cx="449269" cy="532565"/>
            </a:xfrm>
            <a:custGeom>
              <a:rect b="b" l="l" r="r" t="t"/>
              <a:pathLst>
                <a:path extrusionOk="0" h="532565" w="449269">
                  <a:moveTo>
                    <a:pt x="77155" y="0"/>
                  </a:moveTo>
                  <a:lnTo>
                    <a:pt x="372114" y="0"/>
                  </a:lnTo>
                  <a:cubicBezTo>
                    <a:pt x="392577" y="0"/>
                    <a:pt x="412201" y="8129"/>
                    <a:pt x="426671" y="22598"/>
                  </a:cubicBezTo>
                  <a:cubicBezTo>
                    <a:pt x="441140" y="37068"/>
                    <a:pt x="449269" y="56692"/>
                    <a:pt x="449269" y="77155"/>
                  </a:cubicBezTo>
                  <a:lnTo>
                    <a:pt x="449269" y="455410"/>
                  </a:lnTo>
                  <a:cubicBezTo>
                    <a:pt x="449269" y="475873"/>
                    <a:pt x="441140" y="495498"/>
                    <a:pt x="426671" y="509967"/>
                  </a:cubicBezTo>
                  <a:cubicBezTo>
                    <a:pt x="412201" y="524436"/>
                    <a:pt x="392577" y="532565"/>
                    <a:pt x="372114" y="532565"/>
                  </a:cubicBezTo>
                  <a:lnTo>
                    <a:pt x="77155" y="532565"/>
                  </a:lnTo>
                  <a:cubicBezTo>
                    <a:pt x="34544" y="532565"/>
                    <a:pt x="0" y="498022"/>
                    <a:pt x="0" y="455410"/>
                  </a:cubicBezTo>
                  <a:lnTo>
                    <a:pt x="0" y="77155"/>
                  </a:lnTo>
                  <a:cubicBezTo>
                    <a:pt x="0" y="34544"/>
                    <a:pt x="34544" y="0"/>
                    <a:pt x="77155" y="0"/>
                  </a:cubicBezTo>
                  <a:close/>
                </a:path>
              </a:pathLst>
            </a:custGeom>
            <a:noFill/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3"/>
            <p:cNvSpPr txBox="1"/>
            <p:nvPr/>
          </p:nvSpPr>
          <p:spPr>
            <a:xfrm>
              <a:off x="0" y="-19050"/>
              <a:ext cx="449269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" name="Google Shape;324;p3"/>
          <p:cNvGrpSpPr/>
          <p:nvPr/>
        </p:nvGrpSpPr>
        <p:grpSpPr>
          <a:xfrm>
            <a:off x="14618615" y="2370557"/>
            <a:ext cx="1705818" cy="2094413"/>
            <a:chOff x="0" y="-19050"/>
            <a:chExt cx="449269" cy="551615"/>
          </a:xfrm>
        </p:grpSpPr>
        <p:sp>
          <p:nvSpPr>
            <p:cNvPr id="325" name="Google Shape;325;p3"/>
            <p:cNvSpPr/>
            <p:nvPr/>
          </p:nvSpPr>
          <p:spPr>
            <a:xfrm>
              <a:off x="0" y="0"/>
              <a:ext cx="449269" cy="532565"/>
            </a:xfrm>
            <a:custGeom>
              <a:rect b="b" l="l" r="r" t="t"/>
              <a:pathLst>
                <a:path extrusionOk="0" h="532565" w="449269">
                  <a:moveTo>
                    <a:pt x="77155" y="0"/>
                  </a:moveTo>
                  <a:lnTo>
                    <a:pt x="372114" y="0"/>
                  </a:lnTo>
                  <a:cubicBezTo>
                    <a:pt x="392577" y="0"/>
                    <a:pt x="412201" y="8129"/>
                    <a:pt x="426671" y="22598"/>
                  </a:cubicBezTo>
                  <a:cubicBezTo>
                    <a:pt x="441140" y="37068"/>
                    <a:pt x="449269" y="56692"/>
                    <a:pt x="449269" y="77155"/>
                  </a:cubicBezTo>
                  <a:lnTo>
                    <a:pt x="449269" y="455410"/>
                  </a:lnTo>
                  <a:cubicBezTo>
                    <a:pt x="449269" y="475873"/>
                    <a:pt x="441140" y="495498"/>
                    <a:pt x="426671" y="509967"/>
                  </a:cubicBezTo>
                  <a:cubicBezTo>
                    <a:pt x="412201" y="524436"/>
                    <a:pt x="392577" y="532565"/>
                    <a:pt x="372114" y="532565"/>
                  </a:cubicBezTo>
                  <a:lnTo>
                    <a:pt x="77155" y="532565"/>
                  </a:lnTo>
                  <a:cubicBezTo>
                    <a:pt x="34544" y="532565"/>
                    <a:pt x="0" y="498022"/>
                    <a:pt x="0" y="455410"/>
                  </a:cubicBezTo>
                  <a:lnTo>
                    <a:pt x="0" y="77155"/>
                  </a:lnTo>
                  <a:cubicBezTo>
                    <a:pt x="0" y="34544"/>
                    <a:pt x="34544" y="0"/>
                    <a:pt x="77155" y="0"/>
                  </a:cubicBezTo>
                  <a:close/>
                </a:path>
              </a:pathLst>
            </a:custGeom>
            <a:noFill/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3"/>
            <p:cNvSpPr txBox="1"/>
            <p:nvPr/>
          </p:nvSpPr>
          <p:spPr>
            <a:xfrm>
              <a:off x="0" y="-19050"/>
              <a:ext cx="449269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" name="Google Shape;327;p3"/>
          <p:cNvGrpSpPr/>
          <p:nvPr/>
        </p:nvGrpSpPr>
        <p:grpSpPr>
          <a:xfrm>
            <a:off x="16444910" y="2370557"/>
            <a:ext cx="1705818" cy="2094413"/>
            <a:chOff x="0" y="-19050"/>
            <a:chExt cx="449269" cy="551615"/>
          </a:xfrm>
        </p:grpSpPr>
        <p:sp>
          <p:nvSpPr>
            <p:cNvPr id="328" name="Google Shape;328;p3"/>
            <p:cNvSpPr/>
            <p:nvPr/>
          </p:nvSpPr>
          <p:spPr>
            <a:xfrm>
              <a:off x="0" y="0"/>
              <a:ext cx="449269" cy="532565"/>
            </a:xfrm>
            <a:custGeom>
              <a:rect b="b" l="l" r="r" t="t"/>
              <a:pathLst>
                <a:path extrusionOk="0" h="532565" w="449269">
                  <a:moveTo>
                    <a:pt x="77155" y="0"/>
                  </a:moveTo>
                  <a:lnTo>
                    <a:pt x="372114" y="0"/>
                  </a:lnTo>
                  <a:cubicBezTo>
                    <a:pt x="392577" y="0"/>
                    <a:pt x="412201" y="8129"/>
                    <a:pt x="426671" y="22598"/>
                  </a:cubicBezTo>
                  <a:cubicBezTo>
                    <a:pt x="441140" y="37068"/>
                    <a:pt x="449269" y="56692"/>
                    <a:pt x="449269" y="77155"/>
                  </a:cubicBezTo>
                  <a:lnTo>
                    <a:pt x="449269" y="455410"/>
                  </a:lnTo>
                  <a:cubicBezTo>
                    <a:pt x="449269" y="475873"/>
                    <a:pt x="441140" y="495498"/>
                    <a:pt x="426671" y="509967"/>
                  </a:cubicBezTo>
                  <a:cubicBezTo>
                    <a:pt x="412201" y="524436"/>
                    <a:pt x="392577" y="532565"/>
                    <a:pt x="372114" y="532565"/>
                  </a:cubicBezTo>
                  <a:lnTo>
                    <a:pt x="77155" y="532565"/>
                  </a:lnTo>
                  <a:cubicBezTo>
                    <a:pt x="34544" y="532565"/>
                    <a:pt x="0" y="498022"/>
                    <a:pt x="0" y="455410"/>
                  </a:cubicBezTo>
                  <a:lnTo>
                    <a:pt x="0" y="77155"/>
                  </a:lnTo>
                  <a:cubicBezTo>
                    <a:pt x="0" y="34544"/>
                    <a:pt x="34544" y="0"/>
                    <a:pt x="77155" y="0"/>
                  </a:cubicBezTo>
                  <a:close/>
                </a:path>
              </a:pathLst>
            </a:custGeom>
            <a:noFill/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3"/>
            <p:cNvSpPr txBox="1"/>
            <p:nvPr/>
          </p:nvSpPr>
          <p:spPr>
            <a:xfrm>
              <a:off x="0" y="-19050"/>
              <a:ext cx="449269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" name="Google Shape;330;p3"/>
          <p:cNvGrpSpPr/>
          <p:nvPr/>
        </p:nvGrpSpPr>
        <p:grpSpPr>
          <a:xfrm>
            <a:off x="10285603" y="5269655"/>
            <a:ext cx="1350313" cy="2398146"/>
            <a:chOff x="0" y="-19050"/>
            <a:chExt cx="291480" cy="583864"/>
          </a:xfrm>
        </p:grpSpPr>
        <p:sp>
          <p:nvSpPr>
            <p:cNvPr id="331" name="Google Shape;331;p3"/>
            <p:cNvSpPr/>
            <p:nvPr/>
          </p:nvSpPr>
          <p:spPr>
            <a:xfrm>
              <a:off x="0" y="0"/>
              <a:ext cx="291480" cy="564814"/>
            </a:xfrm>
            <a:custGeom>
              <a:rect b="b" l="l" r="r" t="t"/>
              <a:pathLst>
                <a:path extrusionOk="0" h="564814" w="291480">
                  <a:moveTo>
                    <a:pt x="97468" y="0"/>
                  </a:moveTo>
                  <a:lnTo>
                    <a:pt x="194012" y="0"/>
                  </a:lnTo>
                  <a:cubicBezTo>
                    <a:pt x="219862" y="0"/>
                    <a:pt x="244654" y="10269"/>
                    <a:pt x="262932" y="28548"/>
                  </a:cubicBezTo>
                  <a:cubicBezTo>
                    <a:pt x="281211" y="46827"/>
                    <a:pt x="291480" y="71618"/>
                    <a:pt x="291480" y="97468"/>
                  </a:cubicBezTo>
                  <a:lnTo>
                    <a:pt x="291480" y="467346"/>
                  </a:lnTo>
                  <a:cubicBezTo>
                    <a:pt x="291480" y="521176"/>
                    <a:pt x="247842" y="564814"/>
                    <a:pt x="194012" y="564814"/>
                  </a:cubicBezTo>
                  <a:lnTo>
                    <a:pt x="97468" y="564814"/>
                  </a:lnTo>
                  <a:cubicBezTo>
                    <a:pt x="71618" y="564814"/>
                    <a:pt x="46827" y="554545"/>
                    <a:pt x="28548" y="536266"/>
                  </a:cubicBezTo>
                  <a:cubicBezTo>
                    <a:pt x="10269" y="517988"/>
                    <a:pt x="0" y="493196"/>
                    <a:pt x="0" y="467346"/>
                  </a:cubicBezTo>
                  <a:lnTo>
                    <a:pt x="0" y="97468"/>
                  </a:lnTo>
                  <a:cubicBezTo>
                    <a:pt x="0" y="43638"/>
                    <a:pt x="43638" y="0"/>
                    <a:pt x="97468" y="0"/>
                  </a:cubicBezTo>
                  <a:close/>
                </a:path>
              </a:pathLst>
            </a:custGeom>
            <a:noFill/>
            <a:ln cap="sq" cmpd="sng" w="2857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3"/>
            <p:cNvSpPr txBox="1"/>
            <p:nvPr/>
          </p:nvSpPr>
          <p:spPr>
            <a:xfrm>
              <a:off x="0" y="-19050"/>
              <a:ext cx="291480" cy="5838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3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find the plate → straighten the photo → read characters → fix letter/digit mix-ups → confidence score</a:t>
              </a:r>
              <a:endParaRPr/>
            </a:p>
          </p:txBody>
        </p:sp>
      </p:grpSp>
      <p:grpSp>
        <p:nvGrpSpPr>
          <p:cNvPr id="333" name="Google Shape;333;p3"/>
          <p:cNvGrpSpPr/>
          <p:nvPr/>
        </p:nvGrpSpPr>
        <p:grpSpPr>
          <a:xfrm>
            <a:off x="11716596" y="5270867"/>
            <a:ext cx="1350313" cy="2383519"/>
            <a:chOff x="0" y="-9525"/>
            <a:chExt cx="291480" cy="574339"/>
          </a:xfrm>
        </p:grpSpPr>
        <p:sp>
          <p:nvSpPr>
            <p:cNvPr id="334" name="Google Shape;334;p3"/>
            <p:cNvSpPr/>
            <p:nvPr/>
          </p:nvSpPr>
          <p:spPr>
            <a:xfrm>
              <a:off x="0" y="0"/>
              <a:ext cx="291480" cy="564814"/>
            </a:xfrm>
            <a:custGeom>
              <a:rect b="b" l="l" r="r" t="t"/>
              <a:pathLst>
                <a:path extrusionOk="0" h="564814" w="291480">
                  <a:moveTo>
                    <a:pt x="97468" y="0"/>
                  </a:moveTo>
                  <a:lnTo>
                    <a:pt x="194012" y="0"/>
                  </a:lnTo>
                  <a:cubicBezTo>
                    <a:pt x="219862" y="0"/>
                    <a:pt x="244654" y="10269"/>
                    <a:pt x="262932" y="28548"/>
                  </a:cubicBezTo>
                  <a:cubicBezTo>
                    <a:pt x="281211" y="46827"/>
                    <a:pt x="291480" y="71618"/>
                    <a:pt x="291480" y="97468"/>
                  </a:cubicBezTo>
                  <a:lnTo>
                    <a:pt x="291480" y="467346"/>
                  </a:lnTo>
                  <a:cubicBezTo>
                    <a:pt x="291480" y="521176"/>
                    <a:pt x="247842" y="564814"/>
                    <a:pt x="194012" y="564814"/>
                  </a:cubicBezTo>
                  <a:lnTo>
                    <a:pt x="97468" y="564814"/>
                  </a:lnTo>
                  <a:cubicBezTo>
                    <a:pt x="71618" y="564814"/>
                    <a:pt x="46827" y="554545"/>
                    <a:pt x="28548" y="536266"/>
                  </a:cubicBezTo>
                  <a:cubicBezTo>
                    <a:pt x="10269" y="517988"/>
                    <a:pt x="0" y="493196"/>
                    <a:pt x="0" y="467346"/>
                  </a:cubicBezTo>
                  <a:lnTo>
                    <a:pt x="0" y="97468"/>
                  </a:lnTo>
                  <a:cubicBezTo>
                    <a:pt x="0" y="43638"/>
                    <a:pt x="43638" y="0"/>
                    <a:pt x="97468" y="0"/>
                  </a:cubicBezTo>
                  <a:close/>
                </a:path>
              </a:pathLst>
            </a:custGeom>
            <a:noFill/>
            <a:ln cap="sq" cmpd="sng" w="2857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3"/>
            <p:cNvSpPr txBox="1"/>
            <p:nvPr/>
          </p:nvSpPr>
          <p:spPr>
            <a:xfrm>
              <a:off x="0" y="-9525"/>
              <a:ext cx="291480" cy="5743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1200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49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Indian plates follow rules. We use them:-</a:t>
              </a:r>
              <a:endParaRPr/>
            </a:p>
            <a:p>
              <a:pPr indent="0" lvl="0" marL="0" marR="0" rtl="0" algn="l">
                <a:lnSpc>
                  <a:spcPct val="1200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49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0↔O, 1↔I, 8↔B only where a digit or letter must be. Measured on our test model: exact-match 89.2% → 91.7%</a:t>
              </a:r>
              <a:endParaRPr/>
            </a:p>
          </p:txBody>
        </p:sp>
      </p:grpSp>
      <p:grpSp>
        <p:nvGrpSpPr>
          <p:cNvPr id="336" name="Google Shape;336;p3"/>
          <p:cNvGrpSpPr/>
          <p:nvPr/>
        </p:nvGrpSpPr>
        <p:grpSpPr>
          <a:xfrm>
            <a:off x="13171503" y="5213958"/>
            <a:ext cx="1350313" cy="2440428"/>
            <a:chOff x="0" y="-19050"/>
            <a:chExt cx="291480" cy="580968"/>
          </a:xfrm>
        </p:grpSpPr>
        <p:sp>
          <p:nvSpPr>
            <p:cNvPr id="337" name="Google Shape;337;p3"/>
            <p:cNvSpPr/>
            <p:nvPr/>
          </p:nvSpPr>
          <p:spPr>
            <a:xfrm>
              <a:off x="0" y="0"/>
              <a:ext cx="291480" cy="561918"/>
            </a:xfrm>
            <a:custGeom>
              <a:rect b="b" l="l" r="r" t="t"/>
              <a:pathLst>
                <a:path extrusionOk="0" h="561918" w="291480">
                  <a:moveTo>
                    <a:pt x="97468" y="0"/>
                  </a:moveTo>
                  <a:lnTo>
                    <a:pt x="194012" y="0"/>
                  </a:lnTo>
                  <a:cubicBezTo>
                    <a:pt x="219862" y="0"/>
                    <a:pt x="244654" y="10269"/>
                    <a:pt x="262932" y="28548"/>
                  </a:cubicBezTo>
                  <a:cubicBezTo>
                    <a:pt x="281211" y="46827"/>
                    <a:pt x="291480" y="71618"/>
                    <a:pt x="291480" y="97468"/>
                  </a:cubicBezTo>
                  <a:lnTo>
                    <a:pt x="291480" y="464450"/>
                  </a:lnTo>
                  <a:cubicBezTo>
                    <a:pt x="291480" y="518280"/>
                    <a:pt x="247842" y="561918"/>
                    <a:pt x="194012" y="561918"/>
                  </a:cubicBezTo>
                  <a:lnTo>
                    <a:pt x="97468" y="561918"/>
                  </a:lnTo>
                  <a:cubicBezTo>
                    <a:pt x="43638" y="561918"/>
                    <a:pt x="0" y="518280"/>
                    <a:pt x="0" y="464450"/>
                  </a:cubicBezTo>
                  <a:lnTo>
                    <a:pt x="0" y="97468"/>
                  </a:lnTo>
                  <a:cubicBezTo>
                    <a:pt x="0" y="43638"/>
                    <a:pt x="43638" y="0"/>
                    <a:pt x="97468" y="0"/>
                  </a:cubicBezTo>
                  <a:close/>
                </a:path>
              </a:pathLst>
            </a:custGeom>
            <a:noFill/>
            <a:ln cap="sq" cmpd="sng" w="2857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3"/>
            <p:cNvSpPr txBox="1"/>
            <p:nvPr/>
          </p:nvSpPr>
          <p:spPr>
            <a:xfrm>
              <a:off x="0" y="-19050"/>
              <a:ext cx="291480" cy="5809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9" name="Google Shape;339;p3"/>
          <p:cNvGrpSpPr/>
          <p:nvPr/>
        </p:nvGrpSpPr>
        <p:grpSpPr>
          <a:xfrm>
            <a:off x="8941562" y="2370557"/>
            <a:ext cx="3730280" cy="2094413"/>
            <a:chOff x="0" y="-19050"/>
            <a:chExt cx="982461" cy="551615"/>
          </a:xfrm>
        </p:grpSpPr>
        <p:sp>
          <p:nvSpPr>
            <p:cNvPr id="340" name="Google Shape;340;p3"/>
            <p:cNvSpPr/>
            <p:nvPr/>
          </p:nvSpPr>
          <p:spPr>
            <a:xfrm>
              <a:off x="0" y="0"/>
              <a:ext cx="982461" cy="532565"/>
            </a:xfrm>
            <a:custGeom>
              <a:rect b="b" l="l" r="r" t="t"/>
              <a:pathLst>
                <a:path extrusionOk="0" h="532565" w="982461">
                  <a:moveTo>
                    <a:pt x="35282" y="0"/>
                  </a:moveTo>
                  <a:lnTo>
                    <a:pt x="947178" y="0"/>
                  </a:lnTo>
                  <a:cubicBezTo>
                    <a:pt x="966664" y="0"/>
                    <a:pt x="982461" y="15796"/>
                    <a:pt x="982461" y="35282"/>
                  </a:cubicBezTo>
                  <a:lnTo>
                    <a:pt x="982461" y="497283"/>
                  </a:lnTo>
                  <a:cubicBezTo>
                    <a:pt x="982461" y="506640"/>
                    <a:pt x="978743" y="515615"/>
                    <a:pt x="972127" y="522231"/>
                  </a:cubicBezTo>
                  <a:cubicBezTo>
                    <a:pt x="965510" y="528848"/>
                    <a:pt x="956536" y="532565"/>
                    <a:pt x="947178" y="532565"/>
                  </a:cubicBezTo>
                  <a:lnTo>
                    <a:pt x="35282" y="532565"/>
                  </a:lnTo>
                  <a:cubicBezTo>
                    <a:pt x="15796" y="532565"/>
                    <a:pt x="0" y="516769"/>
                    <a:pt x="0" y="497283"/>
                  </a:cubicBezTo>
                  <a:lnTo>
                    <a:pt x="0" y="35282"/>
                  </a:lnTo>
                  <a:cubicBezTo>
                    <a:pt x="0" y="15796"/>
                    <a:pt x="15796" y="0"/>
                    <a:pt x="35282" y="0"/>
                  </a:cubicBezTo>
                  <a:close/>
                </a:path>
              </a:pathLst>
            </a:custGeom>
            <a:noFill/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" name="Google Shape;341;p3"/>
            <p:cNvSpPr txBox="1"/>
            <p:nvPr/>
          </p:nvSpPr>
          <p:spPr>
            <a:xfrm>
              <a:off x="0" y="-19050"/>
              <a:ext cx="982461" cy="5516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2" name="Google Shape;342;p3"/>
          <p:cNvGrpSpPr/>
          <p:nvPr/>
        </p:nvGrpSpPr>
        <p:grpSpPr>
          <a:xfrm>
            <a:off x="125551" y="4648643"/>
            <a:ext cx="5268717" cy="3076584"/>
            <a:chOff x="0" y="-19050"/>
            <a:chExt cx="1387646" cy="810293"/>
          </a:xfrm>
        </p:grpSpPr>
        <p:sp>
          <p:nvSpPr>
            <p:cNvPr id="343" name="Google Shape;343;p3"/>
            <p:cNvSpPr/>
            <p:nvPr/>
          </p:nvSpPr>
          <p:spPr>
            <a:xfrm>
              <a:off x="0" y="0"/>
              <a:ext cx="1387646" cy="791243"/>
            </a:xfrm>
            <a:custGeom>
              <a:rect b="b" l="l" r="r" t="t"/>
              <a:pathLst>
                <a:path extrusionOk="0" h="791243" w="1387646">
                  <a:moveTo>
                    <a:pt x="24980" y="0"/>
                  </a:moveTo>
                  <a:lnTo>
                    <a:pt x="1362666" y="0"/>
                  </a:lnTo>
                  <a:cubicBezTo>
                    <a:pt x="1376462" y="0"/>
                    <a:pt x="1387646" y="11184"/>
                    <a:pt x="1387646" y="24980"/>
                  </a:cubicBezTo>
                  <a:lnTo>
                    <a:pt x="1387646" y="766263"/>
                  </a:lnTo>
                  <a:cubicBezTo>
                    <a:pt x="1387646" y="772889"/>
                    <a:pt x="1385014" y="779242"/>
                    <a:pt x="1380329" y="783927"/>
                  </a:cubicBezTo>
                  <a:cubicBezTo>
                    <a:pt x="1375644" y="788612"/>
                    <a:pt x="1369291" y="791243"/>
                    <a:pt x="1362666" y="791243"/>
                  </a:cubicBezTo>
                  <a:lnTo>
                    <a:pt x="24980" y="791243"/>
                  </a:lnTo>
                  <a:cubicBezTo>
                    <a:pt x="18355" y="791243"/>
                    <a:pt x="12001" y="788612"/>
                    <a:pt x="7316" y="783927"/>
                  </a:cubicBezTo>
                  <a:cubicBezTo>
                    <a:pt x="2632" y="779242"/>
                    <a:pt x="0" y="772889"/>
                    <a:pt x="0" y="766263"/>
                  </a:cubicBezTo>
                  <a:lnTo>
                    <a:pt x="0" y="24980"/>
                  </a:lnTo>
                  <a:cubicBezTo>
                    <a:pt x="0" y="18355"/>
                    <a:pt x="2632" y="12001"/>
                    <a:pt x="7316" y="7316"/>
                  </a:cubicBezTo>
                  <a:cubicBezTo>
                    <a:pt x="12001" y="2632"/>
                    <a:pt x="18355" y="0"/>
                    <a:pt x="24980" y="0"/>
                  </a:cubicBezTo>
                  <a:close/>
                </a:path>
              </a:pathLst>
            </a:custGeom>
            <a:noFill/>
            <a:ln cap="sq" cmpd="sng" w="28575">
              <a:solidFill>
                <a:srgbClr val="D0E2F7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3"/>
            <p:cNvSpPr txBox="1"/>
            <p:nvPr/>
          </p:nvSpPr>
          <p:spPr>
            <a:xfrm>
              <a:off x="0" y="-19050"/>
              <a:ext cx="1387646" cy="8102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5" name="Google Shape;345;p3"/>
          <p:cNvGrpSpPr/>
          <p:nvPr/>
        </p:nvGrpSpPr>
        <p:grpSpPr>
          <a:xfrm>
            <a:off x="5499846" y="4648643"/>
            <a:ext cx="4518779" cy="3076584"/>
            <a:chOff x="0" y="-19050"/>
            <a:chExt cx="1190131" cy="810293"/>
          </a:xfrm>
        </p:grpSpPr>
        <p:sp>
          <p:nvSpPr>
            <p:cNvPr id="346" name="Google Shape;346;p3"/>
            <p:cNvSpPr/>
            <p:nvPr/>
          </p:nvSpPr>
          <p:spPr>
            <a:xfrm>
              <a:off x="0" y="0"/>
              <a:ext cx="1190131" cy="791243"/>
            </a:xfrm>
            <a:custGeom>
              <a:rect b="b" l="l" r="r" t="t"/>
              <a:pathLst>
                <a:path extrusionOk="0" h="791243" w="1190131">
                  <a:moveTo>
                    <a:pt x="29126" y="0"/>
                  </a:moveTo>
                  <a:lnTo>
                    <a:pt x="1161005" y="0"/>
                  </a:lnTo>
                  <a:cubicBezTo>
                    <a:pt x="1177091" y="0"/>
                    <a:pt x="1190131" y="13040"/>
                    <a:pt x="1190131" y="29126"/>
                  </a:cubicBezTo>
                  <a:lnTo>
                    <a:pt x="1190131" y="762118"/>
                  </a:lnTo>
                  <a:cubicBezTo>
                    <a:pt x="1190131" y="778203"/>
                    <a:pt x="1177091" y="791243"/>
                    <a:pt x="1161005" y="791243"/>
                  </a:cubicBezTo>
                  <a:lnTo>
                    <a:pt x="29126" y="791243"/>
                  </a:lnTo>
                  <a:cubicBezTo>
                    <a:pt x="13040" y="791243"/>
                    <a:pt x="0" y="778203"/>
                    <a:pt x="0" y="762118"/>
                  </a:cubicBezTo>
                  <a:lnTo>
                    <a:pt x="0" y="29126"/>
                  </a:lnTo>
                  <a:cubicBezTo>
                    <a:pt x="0" y="13040"/>
                    <a:pt x="13040" y="0"/>
                    <a:pt x="29126" y="0"/>
                  </a:cubicBezTo>
                  <a:close/>
                </a:path>
              </a:pathLst>
            </a:custGeom>
            <a:noFill/>
            <a:ln cap="sq" cmpd="sng" w="28575">
              <a:solidFill>
                <a:srgbClr val="AFD8F8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3"/>
            <p:cNvSpPr txBox="1"/>
            <p:nvPr/>
          </p:nvSpPr>
          <p:spPr>
            <a:xfrm>
              <a:off x="0" y="-19050"/>
              <a:ext cx="1190131" cy="8102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8" name="Google Shape;348;p3"/>
          <p:cNvGrpSpPr/>
          <p:nvPr/>
        </p:nvGrpSpPr>
        <p:grpSpPr>
          <a:xfrm>
            <a:off x="10119680" y="4659340"/>
            <a:ext cx="7952789" cy="3076601"/>
            <a:chOff x="0" y="-19050"/>
            <a:chExt cx="2094548" cy="810293"/>
          </a:xfrm>
        </p:grpSpPr>
        <p:sp>
          <p:nvSpPr>
            <p:cNvPr id="349" name="Google Shape;349;p3"/>
            <p:cNvSpPr/>
            <p:nvPr/>
          </p:nvSpPr>
          <p:spPr>
            <a:xfrm>
              <a:off x="0" y="0"/>
              <a:ext cx="2094548" cy="791243"/>
            </a:xfrm>
            <a:custGeom>
              <a:rect b="b" l="l" r="r" t="t"/>
              <a:pathLst>
                <a:path extrusionOk="0" h="791243" w="2094548">
                  <a:moveTo>
                    <a:pt x="16549" y="0"/>
                  </a:moveTo>
                  <a:lnTo>
                    <a:pt x="2077999" y="0"/>
                  </a:lnTo>
                  <a:cubicBezTo>
                    <a:pt x="2082388" y="0"/>
                    <a:pt x="2086597" y="1744"/>
                    <a:pt x="2089701" y="4847"/>
                  </a:cubicBezTo>
                  <a:cubicBezTo>
                    <a:pt x="2092804" y="7951"/>
                    <a:pt x="2094548" y="12160"/>
                    <a:pt x="2094548" y="16549"/>
                  </a:cubicBezTo>
                  <a:lnTo>
                    <a:pt x="2094548" y="774694"/>
                  </a:lnTo>
                  <a:cubicBezTo>
                    <a:pt x="2094548" y="783834"/>
                    <a:pt x="2087138" y="791243"/>
                    <a:pt x="2077999" y="791243"/>
                  </a:cubicBezTo>
                  <a:lnTo>
                    <a:pt x="16549" y="791243"/>
                  </a:lnTo>
                  <a:cubicBezTo>
                    <a:pt x="12160" y="791243"/>
                    <a:pt x="7951" y="789500"/>
                    <a:pt x="4847" y="786396"/>
                  </a:cubicBezTo>
                  <a:cubicBezTo>
                    <a:pt x="1744" y="783293"/>
                    <a:pt x="0" y="779083"/>
                    <a:pt x="0" y="774694"/>
                  </a:cubicBezTo>
                  <a:lnTo>
                    <a:pt x="0" y="16549"/>
                  </a:lnTo>
                  <a:cubicBezTo>
                    <a:pt x="0" y="12160"/>
                    <a:pt x="1744" y="7951"/>
                    <a:pt x="4847" y="4847"/>
                  </a:cubicBezTo>
                  <a:cubicBezTo>
                    <a:pt x="7951" y="1744"/>
                    <a:pt x="12160" y="0"/>
                    <a:pt x="16549" y="0"/>
                  </a:cubicBezTo>
                  <a:close/>
                </a:path>
              </a:pathLst>
            </a:custGeom>
            <a:noFill/>
            <a:ln cap="sq" cmpd="sng" w="28575">
              <a:solidFill>
                <a:srgbClr val="AFD8F8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3"/>
            <p:cNvSpPr txBox="1"/>
            <p:nvPr/>
          </p:nvSpPr>
          <p:spPr>
            <a:xfrm>
              <a:off x="0" y="-19050"/>
              <a:ext cx="2094548" cy="8102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1" name="Google Shape;351;p3"/>
          <p:cNvGrpSpPr/>
          <p:nvPr/>
        </p:nvGrpSpPr>
        <p:grpSpPr>
          <a:xfrm>
            <a:off x="2456238" y="576170"/>
            <a:ext cx="13111329" cy="832730"/>
            <a:chOff x="0" y="-19050"/>
            <a:chExt cx="3453190" cy="219320"/>
          </a:xfrm>
        </p:grpSpPr>
        <p:sp>
          <p:nvSpPr>
            <p:cNvPr id="352" name="Google Shape;352;p3"/>
            <p:cNvSpPr/>
            <p:nvPr/>
          </p:nvSpPr>
          <p:spPr>
            <a:xfrm>
              <a:off x="0" y="0"/>
              <a:ext cx="3453190" cy="200270"/>
            </a:xfrm>
            <a:custGeom>
              <a:rect b="b" l="l" r="r" t="t"/>
              <a:pathLst>
                <a:path extrusionOk="0" h="200270" w="3453190">
                  <a:moveTo>
                    <a:pt x="10038" y="0"/>
                  </a:moveTo>
                  <a:lnTo>
                    <a:pt x="3443151" y="0"/>
                  </a:lnTo>
                  <a:cubicBezTo>
                    <a:pt x="3448695" y="0"/>
                    <a:pt x="3453190" y="4494"/>
                    <a:pt x="3453190" y="10038"/>
                  </a:cubicBezTo>
                  <a:lnTo>
                    <a:pt x="3453190" y="190232"/>
                  </a:lnTo>
                  <a:cubicBezTo>
                    <a:pt x="3453190" y="192894"/>
                    <a:pt x="3452132" y="195447"/>
                    <a:pt x="3450249" y="197330"/>
                  </a:cubicBezTo>
                  <a:cubicBezTo>
                    <a:pt x="3448367" y="199212"/>
                    <a:pt x="3445814" y="200270"/>
                    <a:pt x="3443151" y="200270"/>
                  </a:cubicBezTo>
                  <a:lnTo>
                    <a:pt x="10038" y="200270"/>
                  </a:lnTo>
                  <a:cubicBezTo>
                    <a:pt x="7376" y="200270"/>
                    <a:pt x="4823" y="199212"/>
                    <a:pt x="2940" y="197330"/>
                  </a:cubicBezTo>
                  <a:cubicBezTo>
                    <a:pt x="1058" y="195447"/>
                    <a:pt x="0" y="192894"/>
                    <a:pt x="0" y="190232"/>
                  </a:cubicBezTo>
                  <a:lnTo>
                    <a:pt x="0" y="10038"/>
                  </a:lnTo>
                  <a:cubicBezTo>
                    <a:pt x="0" y="7376"/>
                    <a:pt x="1058" y="4823"/>
                    <a:pt x="2940" y="2940"/>
                  </a:cubicBezTo>
                  <a:cubicBezTo>
                    <a:pt x="4823" y="1058"/>
                    <a:pt x="7376" y="0"/>
                    <a:pt x="10038" y="0"/>
                  </a:cubicBezTo>
                  <a:close/>
                </a:path>
              </a:pathLst>
            </a:custGeom>
            <a:solidFill>
              <a:srgbClr val="EBF4FF"/>
            </a:solidFill>
            <a:ln cap="sq" cmpd="sng" w="28575">
              <a:solidFill>
                <a:srgbClr val="1F497D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3"/>
            <p:cNvSpPr txBox="1"/>
            <p:nvPr/>
          </p:nvSpPr>
          <p:spPr>
            <a:xfrm>
              <a:off x="0" y="-19050"/>
              <a:ext cx="3453190" cy="219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An end-to-end, event-driven system turning city ANPR cameras into live tracking, analytics and instant alerts.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"From isolated detections to connected city-wide intelligence."</a:t>
              </a:r>
              <a:endParaRPr/>
            </a:p>
          </p:txBody>
        </p:sp>
      </p:grpSp>
      <p:grpSp>
        <p:nvGrpSpPr>
          <p:cNvPr id="354" name="Google Shape;354;p3"/>
          <p:cNvGrpSpPr/>
          <p:nvPr/>
        </p:nvGrpSpPr>
        <p:grpSpPr>
          <a:xfrm>
            <a:off x="1163590" y="1397274"/>
            <a:ext cx="15960820" cy="566030"/>
            <a:chOff x="0" y="-19050"/>
            <a:chExt cx="4203673" cy="149078"/>
          </a:xfrm>
        </p:grpSpPr>
        <p:sp>
          <p:nvSpPr>
            <p:cNvPr id="355" name="Google Shape;355;p3"/>
            <p:cNvSpPr/>
            <p:nvPr/>
          </p:nvSpPr>
          <p:spPr>
            <a:xfrm>
              <a:off x="0" y="0"/>
              <a:ext cx="4203673" cy="130028"/>
            </a:xfrm>
            <a:custGeom>
              <a:rect b="b" l="l" r="r" t="t"/>
              <a:pathLst>
                <a:path extrusionOk="0" h="130028" w="4203673">
                  <a:moveTo>
                    <a:pt x="8246" y="0"/>
                  </a:moveTo>
                  <a:lnTo>
                    <a:pt x="4195427" y="0"/>
                  </a:lnTo>
                  <a:cubicBezTo>
                    <a:pt x="4197614" y="0"/>
                    <a:pt x="4199711" y="869"/>
                    <a:pt x="4201258" y="2415"/>
                  </a:cubicBezTo>
                  <a:cubicBezTo>
                    <a:pt x="4202804" y="3962"/>
                    <a:pt x="4203673" y="6059"/>
                    <a:pt x="4203673" y="8246"/>
                  </a:cubicBezTo>
                  <a:lnTo>
                    <a:pt x="4203673" y="121782"/>
                  </a:lnTo>
                  <a:cubicBezTo>
                    <a:pt x="4203673" y="123969"/>
                    <a:pt x="4202804" y="126066"/>
                    <a:pt x="4201258" y="127613"/>
                  </a:cubicBezTo>
                  <a:cubicBezTo>
                    <a:pt x="4199711" y="129159"/>
                    <a:pt x="4197614" y="130028"/>
                    <a:pt x="4195427" y="130028"/>
                  </a:cubicBezTo>
                  <a:lnTo>
                    <a:pt x="8246" y="130028"/>
                  </a:lnTo>
                  <a:cubicBezTo>
                    <a:pt x="6059" y="130028"/>
                    <a:pt x="3962" y="129159"/>
                    <a:pt x="2415" y="127613"/>
                  </a:cubicBezTo>
                  <a:cubicBezTo>
                    <a:pt x="869" y="126066"/>
                    <a:pt x="0" y="123969"/>
                    <a:pt x="0" y="121782"/>
                  </a:cubicBezTo>
                  <a:lnTo>
                    <a:pt x="0" y="8246"/>
                  </a:lnTo>
                  <a:cubicBezTo>
                    <a:pt x="0" y="6059"/>
                    <a:pt x="869" y="3962"/>
                    <a:pt x="2415" y="2415"/>
                  </a:cubicBezTo>
                  <a:cubicBezTo>
                    <a:pt x="3962" y="869"/>
                    <a:pt x="6059" y="0"/>
                    <a:pt x="8246" y="0"/>
                  </a:cubicBezTo>
                  <a:close/>
                </a:path>
              </a:pathLst>
            </a:custGeom>
            <a:solidFill>
              <a:srgbClr val="EBF4FF"/>
            </a:solidFill>
            <a:ln cap="sq" cmpd="sng" w="28575">
              <a:solidFill>
                <a:srgbClr val="104378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3"/>
            <p:cNvSpPr txBox="1"/>
            <p:nvPr/>
          </p:nvSpPr>
          <p:spPr>
            <a:xfrm>
              <a:off x="0" y="-19050"/>
              <a:ext cx="4203673" cy="14907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60 cameras · 296 detector loops · 13×12 km Delhi OSM (11,955 nodes / 30,510 edges) · ~300 events/sec · alert on screen &lt;2s p99 · ANPR avg &gt;90%</a:t>
              </a:r>
              <a:endParaRPr/>
            </a:p>
          </p:txBody>
        </p:sp>
      </p:grpSp>
      <p:sp>
        <p:nvSpPr>
          <p:cNvPr id="357" name="Google Shape;357;p3"/>
          <p:cNvSpPr/>
          <p:nvPr/>
        </p:nvSpPr>
        <p:spPr>
          <a:xfrm>
            <a:off x="837691" y="2824842"/>
            <a:ext cx="773432" cy="630347"/>
          </a:xfrm>
          <a:custGeom>
            <a:rect b="b" l="l" r="r" t="t"/>
            <a:pathLst>
              <a:path extrusionOk="0" h="630347" w="773432">
                <a:moveTo>
                  <a:pt x="0" y="0"/>
                </a:moveTo>
                <a:lnTo>
                  <a:pt x="773432" y="0"/>
                </a:lnTo>
                <a:lnTo>
                  <a:pt x="773432" y="630347"/>
                </a:lnTo>
                <a:lnTo>
                  <a:pt x="0" y="6303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8" name="Google Shape;358;p3"/>
          <p:cNvSpPr/>
          <p:nvPr/>
        </p:nvSpPr>
        <p:spPr>
          <a:xfrm>
            <a:off x="5435802" y="2843619"/>
            <a:ext cx="393221" cy="473760"/>
          </a:xfrm>
          <a:custGeom>
            <a:rect b="b" l="l" r="r" t="t"/>
            <a:pathLst>
              <a:path extrusionOk="0" h="473760" w="393221">
                <a:moveTo>
                  <a:pt x="0" y="0"/>
                </a:moveTo>
                <a:lnTo>
                  <a:pt x="393221" y="0"/>
                </a:lnTo>
                <a:lnTo>
                  <a:pt x="393221" y="473760"/>
                </a:lnTo>
                <a:lnTo>
                  <a:pt x="0" y="47376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9" name="Google Shape;359;p3"/>
          <p:cNvSpPr/>
          <p:nvPr/>
        </p:nvSpPr>
        <p:spPr>
          <a:xfrm>
            <a:off x="7528509" y="2879870"/>
            <a:ext cx="672888" cy="575320"/>
          </a:xfrm>
          <a:custGeom>
            <a:rect b="b" l="l" r="r" t="t"/>
            <a:pathLst>
              <a:path extrusionOk="0" h="575320" w="672888">
                <a:moveTo>
                  <a:pt x="0" y="0"/>
                </a:moveTo>
                <a:lnTo>
                  <a:pt x="672888" y="0"/>
                </a:lnTo>
                <a:lnTo>
                  <a:pt x="672888" y="575319"/>
                </a:lnTo>
                <a:lnTo>
                  <a:pt x="0" y="5753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0" name="Google Shape;360;p3"/>
          <p:cNvSpPr txBox="1"/>
          <p:nvPr/>
        </p:nvSpPr>
        <p:spPr>
          <a:xfrm>
            <a:off x="13051007" y="2500434"/>
            <a:ext cx="1188442" cy="4352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37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TIMESCALEDB (POSTGRES)</a:t>
            </a:r>
            <a:endParaRPr/>
          </a:p>
        </p:txBody>
      </p:sp>
      <p:sp>
        <p:nvSpPr>
          <p:cNvPr id="361" name="Google Shape;361;p3"/>
          <p:cNvSpPr/>
          <p:nvPr/>
        </p:nvSpPr>
        <p:spPr>
          <a:xfrm>
            <a:off x="9331114" y="3062904"/>
            <a:ext cx="533651" cy="533651"/>
          </a:xfrm>
          <a:custGeom>
            <a:rect b="b" l="l" r="r" t="t"/>
            <a:pathLst>
              <a:path extrusionOk="0" h="533651" w="533651">
                <a:moveTo>
                  <a:pt x="0" y="0"/>
                </a:moveTo>
                <a:lnTo>
                  <a:pt x="533652" y="0"/>
                </a:lnTo>
                <a:lnTo>
                  <a:pt x="533652" y="533651"/>
                </a:lnTo>
                <a:lnTo>
                  <a:pt x="0" y="5336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2" name="Google Shape;362;p3"/>
          <p:cNvSpPr/>
          <p:nvPr/>
        </p:nvSpPr>
        <p:spPr>
          <a:xfrm>
            <a:off x="10593899" y="3075190"/>
            <a:ext cx="366861" cy="542955"/>
          </a:xfrm>
          <a:custGeom>
            <a:rect b="b" l="l" r="r" t="t"/>
            <a:pathLst>
              <a:path extrusionOk="0" h="542955" w="366861">
                <a:moveTo>
                  <a:pt x="0" y="0"/>
                </a:moveTo>
                <a:lnTo>
                  <a:pt x="366861" y="0"/>
                </a:lnTo>
                <a:lnTo>
                  <a:pt x="366861" y="542955"/>
                </a:lnTo>
                <a:lnTo>
                  <a:pt x="0" y="5429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3" name="Google Shape;363;p3"/>
          <p:cNvSpPr/>
          <p:nvPr/>
        </p:nvSpPr>
        <p:spPr>
          <a:xfrm>
            <a:off x="11771180" y="3075190"/>
            <a:ext cx="437821" cy="581946"/>
          </a:xfrm>
          <a:custGeom>
            <a:rect b="b" l="l" r="r" t="t"/>
            <a:pathLst>
              <a:path extrusionOk="0" h="581946" w="437821">
                <a:moveTo>
                  <a:pt x="0" y="0"/>
                </a:moveTo>
                <a:lnTo>
                  <a:pt x="437821" y="0"/>
                </a:lnTo>
                <a:lnTo>
                  <a:pt x="437821" y="581947"/>
                </a:lnTo>
                <a:lnTo>
                  <a:pt x="0" y="5819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-32919" r="0" t="0"/>
            </a:stretch>
          </a:blipFill>
          <a:ln>
            <a:noFill/>
          </a:ln>
        </p:spPr>
      </p:sp>
      <p:sp>
        <p:nvSpPr>
          <p:cNvPr id="364" name="Google Shape;364;p3"/>
          <p:cNvSpPr txBox="1"/>
          <p:nvPr/>
        </p:nvSpPr>
        <p:spPr>
          <a:xfrm>
            <a:off x="13017421" y="3568785"/>
            <a:ext cx="1641900" cy="8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Optimized for chronological and time-series data indexing</a:t>
            </a:r>
            <a:endParaRPr sz="1300"/>
          </a:p>
        </p:txBody>
      </p:sp>
      <p:sp>
        <p:nvSpPr>
          <p:cNvPr id="365" name="Google Shape;365;p3"/>
          <p:cNvSpPr/>
          <p:nvPr/>
        </p:nvSpPr>
        <p:spPr>
          <a:xfrm>
            <a:off x="13341105" y="2916185"/>
            <a:ext cx="589196" cy="759752"/>
          </a:xfrm>
          <a:custGeom>
            <a:rect b="b" l="l" r="r" t="t"/>
            <a:pathLst>
              <a:path extrusionOk="0" h="759752" w="589196">
                <a:moveTo>
                  <a:pt x="0" y="0"/>
                </a:moveTo>
                <a:lnTo>
                  <a:pt x="589196" y="0"/>
                </a:lnTo>
                <a:lnTo>
                  <a:pt x="589196" y="759753"/>
                </a:lnTo>
                <a:lnTo>
                  <a:pt x="0" y="7597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6" name="Google Shape;366;p3"/>
          <p:cNvSpPr/>
          <p:nvPr/>
        </p:nvSpPr>
        <p:spPr>
          <a:xfrm>
            <a:off x="15105746" y="2790989"/>
            <a:ext cx="775258" cy="573691"/>
          </a:xfrm>
          <a:custGeom>
            <a:rect b="b" l="l" r="r" t="t"/>
            <a:pathLst>
              <a:path extrusionOk="0" h="573691" w="775258">
                <a:moveTo>
                  <a:pt x="0" y="0"/>
                </a:moveTo>
                <a:lnTo>
                  <a:pt x="775258" y="0"/>
                </a:lnTo>
                <a:lnTo>
                  <a:pt x="775258" y="573691"/>
                </a:lnTo>
                <a:lnTo>
                  <a:pt x="0" y="573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7" name="Google Shape;367;p3"/>
          <p:cNvSpPr/>
          <p:nvPr/>
        </p:nvSpPr>
        <p:spPr>
          <a:xfrm>
            <a:off x="16934033" y="2824842"/>
            <a:ext cx="608588" cy="608588"/>
          </a:xfrm>
          <a:custGeom>
            <a:rect b="b" l="l" r="r" t="t"/>
            <a:pathLst>
              <a:path extrusionOk="0" h="608588" w="608588">
                <a:moveTo>
                  <a:pt x="0" y="0"/>
                </a:moveTo>
                <a:lnTo>
                  <a:pt x="608588" y="0"/>
                </a:lnTo>
                <a:lnTo>
                  <a:pt x="608588" y="608588"/>
                </a:lnTo>
                <a:lnTo>
                  <a:pt x="0" y="60858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68" name="Google Shape;368;p3"/>
          <p:cNvGrpSpPr/>
          <p:nvPr/>
        </p:nvGrpSpPr>
        <p:grpSpPr>
          <a:xfrm>
            <a:off x="13256304" y="5664275"/>
            <a:ext cx="1180711" cy="1208384"/>
            <a:chOff x="0" y="-19050"/>
            <a:chExt cx="812800" cy="831850"/>
          </a:xfrm>
        </p:grpSpPr>
        <p:sp>
          <p:nvSpPr>
            <p:cNvPr id="369" name="Google Shape;369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370" name="Google Shape;370;p3"/>
            <p:cNvSpPr txBox="1"/>
            <p:nvPr/>
          </p:nvSpPr>
          <p:spPr>
            <a:xfrm>
              <a:off x="0" y="-19050"/>
              <a:ext cx="812800" cy="8318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1" name="Google Shape;371;p3"/>
          <p:cNvGrpSpPr/>
          <p:nvPr/>
        </p:nvGrpSpPr>
        <p:grpSpPr>
          <a:xfrm>
            <a:off x="13256304" y="5677125"/>
            <a:ext cx="590355" cy="605178"/>
            <a:chOff x="0" y="-19050"/>
            <a:chExt cx="758687" cy="777737"/>
          </a:xfrm>
        </p:grpSpPr>
        <p:sp>
          <p:nvSpPr>
            <p:cNvPr id="372" name="Google Shape;372;p3"/>
            <p:cNvSpPr/>
            <p:nvPr/>
          </p:nvSpPr>
          <p:spPr>
            <a:xfrm>
              <a:off x="0" y="0"/>
              <a:ext cx="758687" cy="758687"/>
            </a:xfrm>
            <a:custGeom>
              <a:rect b="b" l="l" r="r" t="t"/>
              <a:pathLst>
                <a:path extrusionOk="0"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D1F1F9"/>
            </a:solidFill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373" name="Google Shape;373;p3"/>
            <p:cNvSpPr txBox="1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CLEAN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97%</a:t>
              </a:r>
              <a:endParaRPr/>
            </a:p>
          </p:txBody>
        </p:sp>
      </p:grpSp>
      <p:grpSp>
        <p:nvGrpSpPr>
          <p:cNvPr id="374" name="Google Shape;374;p3"/>
          <p:cNvGrpSpPr/>
          <p:nvPr/>
        </p:nvGrpSpPr>
        <p:grpSpPr>
          <a:xfrm>
            <a:off x="13256304" y="6267480"/>
            <a:ext cx="590355" cy="605178"/>
            <a:chOff x="0" y="-19050"/>
            <a:chExt cx="758687" cy="777737"/>
          </a:xfrm>
        </p:grpSpPr>
        <p:sp>
          <p:nvSpPr>
            <p:cNvPr id="375" name="Google Shape;375;p3"/>
            <p:cNvSpPr/>
            <p:nvPr/>
          </p:nvSpPr>
          <p:spPr>
            <a:xfrm>
              <a:off x="0" y="0"/>
              <a:ext cx="758687" cy="758687"/>
            </a:xfrm>
            <a:custGeom>
              <a:rect b="b" l="l" r="r" t="t"/>
              <a:pathLst>
                <a:path extrusionOk="0"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38B6FF"/>
            </a:solidFill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376" name="Google Shape;376;p3"/>
            <p:cNvSpPr txBox="1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NIGHT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88%</a:t>
              </a:r>
              <a:endParaRPr/>
            </a:p>
          </p:txBody>
        </p:sp>
      </p:grpSp>
      <p:grpSp>
        <p:nvGrpSpPr>
          <p:cNvPr id="377" name="Google Shape;377;p3"/>
          <p:cNvGrpSpPr/>
          <p:nvPr/>
        </p:nvGrpSpPr>
        <p:grpSpPr>
          <a:xfrm>
            <a:off x="13846660" y="6267480"/>
            <a:ext cx="590355" cy="605178"/>
            <a:chOff x="0" y="-19050"/>
            <a:chExt cx="758687" cy="777737"/>
          </a:xfrm>
        </p:grpSpPr>
        <p:sp>
          <p:nvSpPr>
            <p:cNvPr id="378" name="Google Shape;378;p3"/>
            <p:cNvSpPr/>
            <p:nvPr/>
          </p:nvSpPr>
          <p:spPr>
            <a:xfrm>
              <a:off x="0" y="0"/>
              <a:ext cx="758687" cy="758687"/>
            </a:xfrm>
            <a:custGeom>
              <a:rect b="b" l="l" r="r" t="t"/>
              <a:pathLst>
                <a:path extrusionOk="0"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D1F1F9"/>
            </a:solidFill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379" name="Google Shape;379;p3"/>
            <p:cNvSpPr txBox="1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RAIN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86%</a:t>
              </a:r>
              <a:endParaRPr/>
            </a:p>
          </p:txBody>
        </p:sp>
      </p:grpSp>
      <p:grpSp>
        <p:nvGrpSpPr>
          <p:cNvPr id="380" name="Google Shape;380;p3"/>
          <p:cNvGrpSpPr/>
          <p:nvPr/>
        </p:nvGrpSpPr>
        <p:grpSpPr>
          <a:xfrm>
            <a:off x="13846660" y="5677125"/>
            <a:ext cx="590355" cy="605178"/>
            <a:chOff x="0" y="-19050"/>
            <a:chExt cx="758687" cy="777737"/>
          </a:xfrm>
        </p:grpSpPr>
        <p:sp>
          <p:nvSpPr>
            <p:cNvPr id="381" name="Google Shape;381;p3"/>
            <p:cNvSpPr/>
            <p:nvPr/>
          </p:nvSpPr>
          <p:spPr>
            <a:xfrm>
              <a:off x="0" y="0"/>
              <a:ext cx="758687" cy="758687"/>
            </a:xfrm>
            <a:custGeom>
              <a:rect b="b" l="l" r="r" t="t"/>
              <a:pathLst>
                <a:path extrusionOk="0" h="758687" w="758687">
                  <a:moveTo>
                    <a:pt x="0" y="0"/>
                  </a:moveTo>
                  <a:lnTo>
                    <a:pt x="758687" y="0"/>
                  </a:lnTo>
                  <a:lnTo>
                    <a:pt x="758687" y="758687"/>
                  </a:lnTo>
                  <a:lnTo>
                    <a:pt x="0" y="758687"/>
                  </a:lnTo>
                  <a:close/>
                </a:path>
              </a:pathLst>
            </a:custGeom>
            <a:solidFill>
              <a:srgbClr val="38B6FF"/>
            </a:solidFill>
            <a:ln cap="sq" cmpd="sng" w="952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382" name="Google Shape;382;p3"/>
            <p:cNvSpPr txBox="1"/>
            <p:nvPr/>
          </p:nvSpPr>
          <p:spPr>
            <a:xfrm>
              <a:off x="0" y="-19050"/>
              <a:ext cx="758687" cy="7777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BLUR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93%</a:t>
              </a:r>
              <a:endParaRPr/>
            </a:p>
          </p:txBody>
        </p:sp>
      </p:grpSp>
      <p:sp>
        <p:nvSpPr>
          <p:cNvPr id="383" name="Google Shape;383;p3"/>
          <p:cNvSpPr/>
          <p:nvPr/>
        </p:nvSpPr>
        <p:spPr>
          <a:xfrm>
            <a:off x="14618615" y="5051240"/>
            <a:ext cx="3377915" cy="2523547"/>
          </a:xfrm>
          <a:custGeom>
            <a:rect b="b" l="l" r="r" t="t"/>
            <a:pathLst>
              <a:path extrusionOk="0" h="2523547" w="3377915">
                <a:moveTo>
                  <a:pt x="0" y="0"/>
                </a:moveTo>
                <a:lnTo>
                  <a:pt x="3377915" y="0"/>
                </a:lnTo>
                <a:lnTo>
                  <a:pt x="3377915" y="2523547"/>
                </a:lnTo>
                <a:lnTo>
                  <a:pt x="0" y="2523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-73493" r="-26984" t="-50948"/>
            </a:stretch>
          </a:blipFill>
          <a:ln>
            <a:noFill/>
          </a:ln>
        </p:spPr>
      </p:sp>
      <p:sp>
        <p:nvSpPr>
          <p:cNvPr id="384" name="Google Shape;384;p3"/>
          <p:cNvSpPr txBox="1"/>
          <p:nvPr/>
        </p:nvSpPr>
        <p:spPr>
          <a:xfrm>
            <a:off x="5632412" y="5284121"/>
            <a:ext cx="4232400" cy="237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65967" lvl="1" marL="331935" marR="0" rtl="0" algn="l">
              <a:lnSpc>
                <a:spcPct val="12901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37"/>
              <a:buFont typeface="Arial"/>
              <a:buChar char="•"/>
            </a:pPr>
            <a:r>
              <a:rPr b="1" i="0" lang="en-US" sz="153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Real-time Vehicle Tracking </a:t>
            </a:r>
            <a:r>
              <a:rPr b="1" lang="en-US" sz="1537">
                <a:latin typeface="Arimo"/>
                <a:ea typeface="Arimo"/>
                <a:cs typeface="Arimo"/>
                <a:sym typeface="Arimo"/>
              </a:rPr>
              <a:t>:</a:t>
            </a:r>
            <a:r>
              <a:rPr b="1" i="0" lang="en-US" sz="153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full trajectory + timestamps </a:t>
            </a:r>
            <a:endParaRPr/>
          </a:p>
          <a:p>
            <a:pPr indent="-165967" lvl="1" marL="331935" marR="0" rtl="0" algn="l">
              <a:lnSpc>
                <a:spcPct val="12901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37"/>
              <a:buFont typeface="Arial"/>
              <a:buChar char="•"/>
            </a:pPr>
            <a:r>
              <a:rPr b="1" i="0" lang="en-US" sz="153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Traffic Analytics </a:t>
            </a:r>
            <a:r>
              <a:rPr b="1" lang="en-US" sz="1537">
                <a:latin typeface="Arimo"/>
                <a:ea typeface="Arimo"/>
                <a:cs typeface="Arimo"/>
                <a:sym typeface="Arimo"/>
              </a:rPr>
              <a:t>:</a:t>
            </a:r>
            <a:r>
              <a:rPr b="1" i="0" lang="en-US" sz="153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heatmap, OD, congestion, peak hours </a:t>
            </a:r>
            <a:endParaRPr/>
          </a:p>
          <a:p>
            <a:pPr indent="-165967" lvl="1" marL="331935" marR="0" rtl="0" algn="l">
              <a:lnSpc>
                <a:spcPct val="12901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37"/>
              <a:buFont typeface="Arial"/>
              <a:buChar char="•"/>
            </a:pPr>
            <a:r>
              <a:rPr b="1" i="0" lang="en-US" sz="153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Alerts &amp; Anomaly Detection </a:t>
            </a:r>
            <a:r>
              <a:rPr b="1" lang="en-US" sz="1537">
                <a:latin typeface="Arimo"/>
                <a:ea typeface="Arimo"/>
                <a:cs typeface="Arimo"/>
                <a:sym typeface="Arimo"/>
              </a:rPr>
              <a:t>:</a:t>
            </a:r>
            <a:r>
              <a:rPr b="1" i="0" lang="en-US" sz="153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blacklist, clone/impossible travel, camera health</a:t>
            </a:r>
            <a:endParaRPr/>
          </a:p>
          <a:p>
            <a:pPr indent="-165967" lvl="1" marL="331935" marR="0" rtl="0" algn="l">
              <a:lnSpc>
                <a:spcPct val="12901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37"/>
              <a:buFont typeface="Arial"/>
              <a:buChar char="•"/>
            </a:pPr>
            <a:r>
              <a:rPr b="1" i="0" lang="en-US" sz="153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Scalable Architecture : event-driven, swap real cameras in</a:t>
            </a:r>
            <a:endParaRPr/>
          </a:p>
        </p:txBody>
      </p:sp>
      <p:sp>
        <p:nvSpPr>
          <p:cNvPr id="385" name="Google Shape;385;p3"/>
          <p:cNvSpPr txBox="1"/>
          <p:nvPr/>
        </p:nvSpPr>
        <p:spPr>
          <a:xfrm>
            <a:off x="244300" y="5085450"/>
            <a:ext cx="4988700" cy="24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69738" lvl="1" marL="339476" marR="0" rtl="0" algn="l">
              <a:lnSpc>
                <a:spcPct val="129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2"/>
              <a:buFont typeface="Arial"/>
              <a:buChar char="•"/>
            </a:pPr>
            <a:r>
              <a:rPr b="1" i="0" lang="en-US" sz="1572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Camera source: SUMO sim / RTSP / file (one swap layer) </a:t>
            </a:r>
            <a:endParaRPr/>
          </a:p>
          <a:p>
            <a:pPr indent="-169738" lvl="1" marL="339476" marR="0" rtl="0" algn="l">
              <a:lnSpc>
                <a:spcPct val="129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2"/>
              <a:buFont typeface="Arial"/>
              <a:buChar char="•"/>
            </a:pPr>
            <a:r>
              <a:rPr b="1" i="0" lang="en-US" sz="1572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ANPR service: plate brain of the system (see →) </a:t>
            </a:r>
            <a:endParaRPr/>
          </a:p>
          <a:p>
            <a:pPr indent="-169738" lvl="1" marL="339476" marR="0" rtl="0" algn="l">
              <a:lnSpc>
                <a:spcPct val="129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2"/>
              <a:buFont typeface="Arial"/>
              <a:buChar char="•"/>
            </a:pPr>
            <a:r>
              <a:rPr b="1" i="0" lang="en-US" sz="1572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Ingest + Redis: ordered, buffered event backbone </a:t>
            </a:r>
            <a:endParaRPr/>
          </a:p>
          <a:p>
            <a:pPr indent="-169738" lvl="1" marL="339476" marR="0" rtl="0" algn="l">
              <a:lnSpc>
                <a:spcPct val="129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2"/>
              <a:buFont typeface="Arial"/>
              <a:buChar char="•"/>
            </a:pPr>
            <a:r>
              <a:rPr b="1" i="0" lang="en-US" sz="1572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Workers: parallel fuzzy-match, analytics, alerting </a:t>
            </a:r>
            <a:endParaRPr/>
          </a:p>
          <a:p>
            <a:pPr indent="-169738" lvl="1" marL="339476" marR="0" rtl="0" algn="l">
              <a:lnSpc>
                <a:spcPct val="129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2"/>
              <a:buFont typeface="Arial"/>
              <a:buChar char="•"/>
            </a:pPr>
            <a:r>
              <a:rPr b="1" i="0" lang="en-US" sz="1572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TimescaleDB + API + dashboard: store once, serve fast</a:t>
            </a:r>
            <a:endParaRPr/>
          </a:p>
        </p:txBody>
      </p:sp>
      <p:sp>
        <p:nvSpPr>
          <p:cNvPr id="386" name="Google Shape;386;p3"/>
          <p:cNvSpPr txBox="1"/>
          <p:nvPr/>
        </p:nvSpPr>
        <p:spPr>
          <a:xfrm>
            <a:off x="379396" y="2488449"/>
            <a:ext cx="1690021" cy="239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37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CAMERA / SUMO</a:t>
            </a:r>
            <a:endParaRPr/>
          </a:p>
        </p:txBody>
      </p:sp>
      <p:sp>
        <p:nvSpPr>
          <p:cNvPr id="387" name="Google Shape;387;p3"/>
          <p:cNvSpPr txBox="1"/>
          <p:nvPr/>
        </p:nvSpPr>
        <p:spPr>
          <a:xfrm>
            <a:off x="10418775" y="5049520"/>
            <a:ext cx="1155609" cy="2787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25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PIPELINE </a:t>
            </a:r>
            <a:endParaRPr/>
          </a:p>
        </p:txBody>
      </p:sp>
      <p:sp>
        <p:nvSpPr>
          <p:cNvPr id="388" name="Google Shape;388;p3"/>
          <p:cNvSpPr txBox="1"/>
          <p:nvPr/>
        </p:nvSpPr>
        <p:spPr>
          <a:xfrm>
            <a:off x="11796725" y="5010313"/>
            <a:ext cx="135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9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CORRECTOR</a:t>
            </a:r>
            <a:endParaRPr sz="1600"/>
          </a:p>
        </p:txBody>
      </p:sp>
      <p:sp>
        <p:nvSpPr>
          <p:cNvPr id="389" name="Google Shape;389;p3"/>
          <p:cNvSpPr txBox="1"/>
          <p:nvPr/>
        </p:nvSpPr>
        <p:spPr>
          <a:xfrm>
            <a:off x="13369381" y="4749734"/>
            <a:ext cx="1253490" cy="465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25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/>
          </a:p>
          <a:p>
            <a:pPr indent="0" lvl="0" marL="0" marR="0" rtl="0" algn="l">
              <a:lnSpc>
                <a:spcPct val="1400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25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SCORECARD</a:t>
            </a:r>
            <a:endParaRPr/>
          </a:p>
        </p:txBody>
      </p:sp>
      <p:sp>
        <p:nvSpPr>
          <p:cNvPr id="390" name="Google Shape;390;p3"/>
          <p:cNvSpPr txBox="1"/>
          <p:nvPr/>
        </p:nvSpPr>
        <p:spPr>
          <a:xfrm>
            <a:off x="5111795" y="2500940"/>
            <a:ext cx="1041235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INGEST API</a:t>
            </a:r>
            <a:endParaRPr/>
          </a:p>
        </p:txBody>
      </p:sp>
      <p:sp>
        <p:nvSpPr>
          <p:cNvPr id="391" name="Google Shape;391;p3"/>
          <p:cNvSpPr txBox="1"/>
          <p:nvPr/>
        </p:nvSpPr>
        <p:spPr>
          <a:xfrm>
            <a:off x="7073950" y="2513432"/>
            <a:ext cx="1493496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REDIS STREAMS</a:t>
            </a:r>
            <a:endParaRPr/>
          </a:p>
        </p:txBody>
      </p:sp>
      <p:sp>
        <p:nvSpPr>
          <p:cNvPr id="392" name="Google Shape;392;p3"/>
          <p:cNvSpPr txBox="1"/>
          <p:nvPr/>
        </p:nvSpPr>
        <p:spPr>
          <a:xfrm>
            <a:off x="9144000" y="2831476"/>
            <a:ext cx="975680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MATCHER</a:t>
            </a:r>
            <a:endParaRPr/>
          </a:p>
        </p:txBody>
      </p:sp>
      <p:sp>
        <p:nvSpPr>
          <p:cNvPr id="393" name="Google Shape;393;p3"/>
          <p:cNvSpPr txBox="1"/>
          <p:nvPr/>
        </p:nvSpPr>
        <p:spPr>
          <a:xfrm>
            <a:off x="10308558" y="2858435"/>
            <a:ext cx="1122258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ANALYTICS</a:t>
            </a:r>
            <a:endParaRPr/>
          </a:p>
        </p:txBody>
      </p:sp>
      <p:sp>
        <p:nvSpPr>
          <p:cNvPr id="394" name="Google Shape;394;p3"/>
          <p:cNvSpPr txBox="1"/>
          <p:nvPr/>
        </p:nvSpPr>
        <p:spPr>
          <a:xfrm>
            <a:off x="11664859" y="2831476"/>
            <a:ext cx="1122258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ALERTS</a:t>
            </a:r>
            <a:endParaRPr/>
          </a:p>
        </p:txBody>
      </p:sp>
      <p:sp>
        <p:nvSpPr>
          <p:cNvPr id="395" name="Google Shape;395;p3"/>
          <p:cNvSpPr txBox="1"/>
          <p:nvPr/>
        </p:nvSpPr>
        <p:spPr>
          <a:xfrm>
            <a:off x="9771305" y="2488449"/>
            <a:ext cx="2070793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WORKERS (PARALLEL)</a:t>
            </a:r>
            <a:endParaRPr/>
          </a:p>
        </p:txBody>
      </p:sp>
      <p:sp>
        <p:nvSpPr>
          <p:cNvPr id="396" name="Google Shape;396;p3"/>
          <p:cNvSpPr txBox="1"/>
          <p:nvPr/>
        </p:nvSpPr>
        <p:spPr>
          <a:xfrm>
            <a:off x="15062043" y="2488449"/>
            <a:ext cx="818961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FASTAPI</a:t>
            </a:r>
            <a:endParaRPr/>
          </a:p>
        </p:txBody>
      </p:sp>
      <p:sp>
        <p:nvSpPr>
          <p:cNvPr id="397" name="Google Shape;397;p3"/>
          <p:cNvSpPr txBox="1"/>
          <p:nvPr/>
        </p:nvSpPr>
        <p:spPr>
          <a:xfrm>
            <a:off x="16663311" y="2488449"/>
            <a:ext cx="1191978" cy="231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8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DASHBOARD</a:t>
            </a:r>
            <a:endParaRPr/>
          </a:p>
        </p:txBody>
      </p:sp>
      <p:sp>
        <p:nvSpPr>
          <p:cNvPr id="398" name="Google Shape;398;p3"/>
          <p:cNvSpPr txBox="1"/>
          <p:nvPr/>
        </p:nvSpPr>
        <p:spPr>
          <a:xfrm>
            <a:off x="244303" y="3531389"/>
            <a:ext cx="1961312" cy="617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30244" lvl="1" marL="260487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6"/>
              <a:buFont typeface="Arial"/>
              <a:buChar char="•"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Real + Simulated Feeds</a:t>
            </a:r>
            <a:endParaRPr/>
          </a:p>
          <a:p>
            <a:pPr indent="-130244" lvl="1" marL="260487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6"/>
              <a:buFont typeface="Arial"/>
              <a:buChar char="•"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Gate triggers + speed</a:t>
            </a:r>
            <a:endParaRPr/>
          </a:p>
        </p:txBody>
      </p:sp>
      <p:sp>
        <p:nvSpPr>
          <p:cNvPr id="399" name="Google Shape;399;p3"/>
          <p:cNvSpPr txBox="1"/>
          <p:nvPr/>
        </p:nvSpPr>
        <p:spPr>
          <a:xfrm>
            <a:off x="2529986" y="3608620"/>
            <a:ext cx="1825454" cy="617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Reads the Plate</a:t>
            </a:r>
            <a:endParaRPr/>
          </a:p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Find + Straighten + OCR + Correct Mismatches</a:t>
            </a:r>
            <a:endParaRPr/>
          </a:p>
        </p:txBody>
      </p:sp>
      <p:sp>
        <p:nvSpPr>
          <p:cNvPr id="400" name="Google Shape;400;p3"/>
          <p:cNvSpPr txBox="1"/>
          <p:nvPr/>
        </p:nvSpPr>
        <p:spPr>
          <a:xfrm>
            <a:off x="4651756" y="3466421"/>
            <a:ext cx="1961400" cy="9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Validates and </a:t>
            </a:r>
            <a:r>
              <a:rPr b="1" lang="en-US" sz="1206"/>
              <a:t>canonicalise</a:t>
            </a: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plate</a:t>
            </a:r>
            <a:endParaRPr/>
          </a:p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Adds metadata (camera_id, ts, location)</a:t>
            </a:r>
            <a:endParaRPr/>
          </a:p>
        </p:txBody>
      </p:sp>
      <p:sp>
        <p:nvSpPr>
          <p:cNvPr id="401" name="Google Shape;401;p3"/>
          <p:cNvSpPr txBox="1"/>
          <p:nvPr/>
        </p:nvSpPr>
        <p:spPr>
          <a:xfrm>
            <a:off x="6937959" y="3569489"/>
            <a:ext cx="1843665" cy="617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Waiting Line : </a:t>
            </a:r>
            <a:endParaRPr/>
          </a:p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 that nothing is lost  at rush hour</a:t>
            </a:r>
            <a:endParaRPr/>
          </a:p>
        </p:txBody>
      </p:sp>
      <p:sp>
        <p:nvSpPr>
          <p:cNvPr id="402" name="Google Shape;402;p3"/>
          <p:cNvSpPr txBox="1"/>
          <p:nvPr/>
        </p:nvSpPr>
        <p:spPr>
          <a:xfrm>
            <a:off x="9153751" y="3712257"/>
            <a:ext cx="965929" cy="407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Fuzzy edits plates </a:t>
            </a:r>
            <a:endParaRPr/>
          </a:p>
        </p:txBody>
      </p:sp>
      <p:sp>
        <p:nvSpPr>
          <p:cNvPr id="403" name="Google Shape;403;p3"/>
          <p:cNvSpPr txBox="1"/>
          <p:nvPr/>
        </p:nvSpPr>
        <p:spPr>
          <a:xfrm>
            <a:off x="10375224" y="3577505"/>
            <a:ext cx="920106" cy="752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Rollups, travel time graph,</a:t>
            </a:r>
            <a:endParaRPr/>
          </a:p>
          <a:p>
            <a:pPr indent="0" lvl="0" marL="0" marR="0" rtl="0" algn="l">
              <a:lnSpc>
                <a:spcPct val="1400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OD matrix, </a:t>
            </a:r>
            <a:endParaRPr/>
          </a:p>
        </p:txBody>
      </p:sp>
      <p:sp>
        <p:nvSpPr>
          <p:cNvPr id="404" name="Google Shape;404;p3"/>
          <p:cNvSpPr txBox="1"/>
          <p:nvPr/>
        </p:nvSpPr>
        <p:spPr>
          <a:xfrm>
            <a:off x="11609061" y="3608620"/>
            <a:ext cx="920106" cy="6792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Blacklist, impossible travel, camera health </a:t>
            </a:r>
            <a:endParaRPr/>
          </a:p>
        </p:txBody>
      </p:sp>
      <p:sp>
        <p:nvSpPr>
          <p:cNvPr id="405" name="Google Shape;405;p3"/>
          <p:cNvSpPr txBox="1"/>
          <p:nvPr/>
        </p:nvSpPr>
        <p:spPr>
          <a:xfrm>
            <a:off x="14755312" y="3369464"/>
            <a:ext cx="1569000" cy="11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23894" lvl="1" marL="260487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6"/>
              <a:buFont typeface="Arial"/>
              <a:buChar char="•"/>
            </a:pPr>
            <a:r>
              <a:rPr b="1" i="0" lang="en-US" sz="11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REST</a:t>
            </a:r>
            <a:endParaRPr sz="1300"/>
          </a:p>
          <a:p>
            <a:pPr indent="-123894" lvl="1" marL="260487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6"/>
              <a:buFont typeface="Arial"/>
              <a:buChar char="•"/>
            </a:pPr>
            <a:r>
              <a:rPr b="1" i="0" lang="en-US" sz="11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Websocket</a:t>
            </a:r>
            <a:endParaRPr sz="1300"/>
          </a:p>
          <a:p>
            <a:pPr indent="-123894" lvl="1" marL="260487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6"/>
              <a:buFont typeface="Arial"/>
              <a:buChar char="•"/>
            </a:pPr>
            <a:r>
              <a:rPr b="1" i="0" lang="en-US" sz="11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Pushes Live Updates within seconds</a:t>
            </a:r>
            <a:endParaRPr sz="1300"/>
          </a:p>
        </p:txBody>
      </p:sp>
      <p:sp>
        <p:nvSpPr>
          <p:cNvPr id="406" name="Google Shape;406;p3"/>
          <p:cNvSpPr txBox="1"/>
          <p:nvPr/>
        </p:nvSpPr>
        <p:spPr>
          <a:xfrm>
            <a:off x="16533983" y="3531389"/>
            <a:ext cx="1538434" cy="617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map, search, analytics, alerts (polls every 150ms)</a:t>
            </a:r>
            <a:endParaRPr/>
          </a:p>
        </p:txBody>
      </p:sp>
      <p:sp>
        <p:nvSpPr>
          <p:cNvPr id="407" name="Google Shape;407;p3"/>
          <p:cNvSpPr txBox="1"/>
          <p:nvPr/>
        </p:nvSpPr>
        <p:spPr>
          <a:xfrm>
            <a:off x="244303" y="2058554"/>
            <a:ext cx="4778728" cy="313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Data Flow (From Camera to Dashboard)</a:t>
            </a:r>
            <a:endParaRPr/>
          </a:p>
        </p:txBody>
      </p:sp>
      <p:sp>
        <p:nvSpPr>
          <p:cNvPr id="408" name="Google Shape;408;p3"/>
          <p:cNvSpPr txBox="1"/>
          <p:nvPr/>
        </p:nvSpPr>
        <p:spPr>
          <a:xfrm>
            <a:off x="244303" y="4756458"/>
            <a:ext cx="2250109" cy="2813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77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KEY COMPONENTS</a:t>
            </a:r>
            <a:endParaRPr/>
          </a:p>
        </p:txBody>
      </p:sp>
      <p:sp>
        <p:nvSpPr>
          <p:cNvPr id="409" name="Google Shape;409;p3"/>
          <p:cNvSpPr txBox="1"/>
          <p:nvPr/>
        </p:nvSpPr>
        <p:spPr>
          <a:xfrm>
            <a:off x="5695257" y="4756458"/>
            <a:ext cx="2250109" cy="2813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77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CORE FEATURES</a:t>
            </a:r>
            <a:endParaRPr/>
          </a:p>
        </p:txBody>
      </p:sp>
      <p:sp>
        <p:nvSpPr>
          <p:cNvPr id="410" name="Google Shape;410;p3"/>
          <p:cNvSpPr txBox="1"/>
          <p:nvPr/>
        </p:nvSpPr>
        <p:spPr>
          <a:xfrm>
            <a:off x="10228522" y="4756450"/>
            <a:ext cx="1641900" cy="2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77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ANPR ENGINE</a:t>
            </a:r>
            <a:endParaRPr/>
          </a:p>
        </p:txBody>
      </p:sp>
      <p:sp>
        <p:nvSpPr>
          <p:cNvPr id="411" name="Google Shape;411;p3"/>
          <p:cNvSpPr txBox="1"/>
          <p:nvPr/>
        </p:nvSpPr>
        <p:spPr>
          <a:xfrm>
            <a:off x="2762350" y="2526225"/>
            <a:ext cx="1493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CORE FEATURES</a:t>
            </a:r>
            <a:endParaRPr sz="1350"/>
          </a:p>
        </p:txBody>
      </p:sp>
      <p:sp>
        <p:nvSpPr>
          <p:cNvPr id="412" name="Google Shape;412;p3"/>
          <p:cNvSpPr txBox="1"/>
          <p:nvPr/>
        </p:nvSpPr>
        <p:spPr>
          <a:xfrm>
            <a:off x="13224781" y="7087688"/>
            <a:ext cx="1243757" cy="247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95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average ~91%</a:t>
            </a:r>
            <a:endParaRPr/>
          </a:p>
        </p:txBody>
      </p:sp>
      <p:grpSp>
        <p:nvGrpSpPr>
          <p:cNvPr id="413" name="Google Shape;413;p3"/>
          <p:cNvGrpSpPr/>
          <p:nvPr/>
        </p:nvGrpSpPr>
        <p:grpSpPr>
          <a:xfrm>
            <a:off x="125551" y="8082693"/>
            <a:ext cx="2792950" cy="1411746"/>
            <a:chOff x="0" y="-96441"/>
            <a:chExt cx="3723933" cy="1882329"/>
          </a:xfrm>
        </p:grpSpPr>
        <p:grpSp>
          <p:nvGrpSpPr>
            <p:cNvPr id="414" name="Google Shape;414;p3"/>
            <p:cNvGrpSpPr/>
            <p:nvPr/>
          </p:nvGrpSpPr>
          <p:grpSpPr>
            <a:xfrm>
              <a:off x="0" y="-96441"/>
              <a:ext cx="3723933" cy="1882329"/>
              <a:chOff x="0" y="-19050"/>
              <a:chExt cx="735592" cy="371818"/>
            </a:xfrm>
          </p:grpSpPr>
          <p:sp>
            <p:nvSpPr>
              <p:cNvPr id="415" name="Google Shape;415;p3"/>
              <p:cNvSpPr/>
              <p:nvPr/>
            </p:nvSpPr>
            <p:spPr>
              <a:xfrm>
                <a:off x="0" y="0"/>
                <a:ext cx="735592" cy="352768"/>
              </a:xfrm>
              <a:custGeom>
                <a:rect b="b" l="l" r="r" t="t"/>
                <a:pathLst>
                  <a:path extrusionOk="0"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noFill/>
              <a:ln cap="sq" cmpd="sng" w="28575">
                <a:solidFill>
                  <a:srgbClr val="0070C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6" name="Google Shape;416;p3"/>
              <p:cNvSpPr txBox="1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17" name="Google Shape;417;p3"/>
            <p:cNvSpPr txBox="1"/>
            <p:nvPr/>
          </p:nvSpPr>
          <p:spPr>
            <a:xfrm>
              <a:off x="1195740" y="179446"/>
              <a:ext cx="1130111" cy="2679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74" u="none" cap="none" strike="noStrike">
                  <a:solidFill>
                    <a:srgbClr val="004AAD"/>
                  </a:solidFill>
                  <a:latin typeface="Arial"/>
                  <a:ea typeface="Arial"/>
                  <a:cs typeface="Arial"/>
                  <a:sym typeface="Arial"/>
                </a:rPr>
                <a:t>Backend</a:t>
              </a:r>
              <a:endParaRPr/>
            </a:p>
          </p:txBody>
        </p:sp>
        <p:sp>
          <p:nvSpPr>
            <p:cNvPr id="418" name="Google Shape;418;p3"/>
            <p:cNvSpPr txBox="1"/>
            <p:nvPr/>
          </p:nvSpPr>
          <p:spPr>
            <a:xfrm>
              <a:off x="523220" y="603472"/>
              <a:ext cx="2825277" cy="9096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FastAPI (REST + WS)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Python 3.11+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Unicam</a:t>
              </a:r>
              <a:endParaRPr/>
            </a:p>
          </p:txBody>
        </p:sp>
      </p:grpSp>
      <p:grpSp>
        <p:nvGrpSpPr>
          <p:cNvPr id="419" name="Google Shape;419;p3"/>
          <p:cNvGrpSpPr/>
          <p:nvPr/>
        </p:nvGrpSpPr>
        <p:grpSpPr>
          <a:xfrm>
            <a:off x="3164068" y="8082693"/>
            <a:ext cx="2792950" cy="1411746"/>
            <a:chOff x="0" y="-96441"/>
            <a:chExt cx="3723933" cy="1882329"/>
          </a:xfrm>
        </p:grpSpPr>
        <p:grpSp>
          <p:nvGrpSpPr>
            <p:cNvPr id="420" name="Google Shape;420;p3"/>
            <p:cNvGrpSpPr/>
            <p:nvPr/>
          </p:nvGrpSpPr>
          <p:grpSpPr>
            <a:xfrm>
              <a:off x="0" y="-96441"/>
              <a:ext cx="3723933" cy="1882329"/>
              <a:chOff x="0" y="-19050"/>
              <a:chExt cx="735592" cy="371818"/>
            </a:xfrm>
          </p:grpSpPr>
          <p:sp>
            <p:nvSpPr>
              <p:cNvPr id="421" name="Google Shape;421;p3"/>
              <p:cNvSpPr/>
              <p:nvPr/>
            </p:nvSpPr>
            <p:spPr>
              <a:xfrm>
                <a:off x="0" y="0"/>
                <a:ext cx="735592" cy="352768"/>
              </a:xfrm>
              <a:custGeom>
                <a:rect b="b" l="l" r="r" t="t"/>
                <a:pathLst>
                  <a:path extrusionOk="0"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noFill/>
              <a:ln cap="sq" cmpd="sng" w="28575">
                <a:solidFill>
                  <a:srgbClr val="0070C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" name="Google Shape;422;p3"/>
              <p:cNvSpPr txBox="1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23" name="Google Shape;423;p3"/>
            <p:cNvSpPr txBox="1"/>
            <p:nvPr/>
          </p:nvSpPr>
          <p:spPr>
            <a:xfrm>
              <a:off x="845497" y="179446"/>
              <a:ext cx="1686538" cy="2679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74" u="none" cap="none" strike="noStrike">
                  <a:solidFill>
                    <a:srgbClr val="004AAD"/>
                  </a:solidFill>
                  <a:latin typeface="Arial"/>
                  <a:ea typeface="Arial"/>
                  <a:cs typeface="Arial"/>
                  <a:sym typeface="Arial"/>
                </a:rPr>
                <a:t>ANPR / ML</a:t>
              </a:r>
              <a:endParaRPr/>
            </a:p>
          </p:txBody>
        </p:sp>
        <p:sp>
          <p:nvSpPr>
            <p:cNvPr id="424" name="Google Shape;424;p3"/>
            <p:cNvSpPr txBox="1"/>
            <p:nvPr/>
          </p:nvSpPr>
          <p:spPr>
            <a:xfrm>
              <a:off x="451555" y="555365"/>
              <a:ext cx="2825277" cy="9096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OpenCV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(Stub / Future: YOLO + Tesserate / EasyOCR)</a:t>
              </a:r>
              <a:endParaRPr/>
            </a:p>
          </p:txBody>
        </p:sp>
      </p:grpSp>
      <p:grpSp>
        <p:nvGrpSpPr>
          <p:cNvPr id="425" name="Google Shape;425;p3"/>
          <p:cNvGrpSpPr/>
          <p:nvPr/>
        </p:nvGrpSpPr>
        <p:grpSpPr>
          <a:xfrm>
            <a:off x="6205927" y="8082693"/>
            <a:ext cx="2792950" cy="1411746"/>
            <a:chOff x="0" y="-96441"/>
            <a:chExt cx="3723933" cy="1882329"/>
          </a:xfrm>
        </p:grpSpPr>
        <p:grpSp>
          <p:nvGrpSpPr>
            <p:cNvPr id="426" name="Google Shape;426;p3"/>
            <p:cNvGrpSpPr/>
            <p:nvPr/>
          </p:nvGrpSpPr>
          <p:grpSpPr>
            <a:xfrm>
              <a:off x="0" y="-96441"/>
              <a:ext cx="3723933" cy="1882329"/>
              <a:chOff x="0" y="-19050"/>
              <a:chExt cx="735592" cy="371818"/>
            </a:xfrm>
          </p:grpSpPr>
          <p:sp>
            <p:nvSpPr>
              <p:cNvPr id="427" name="Google Shape;427;p3"/>
              <p:cNvSpPr/>
              <p:nvPr/>
            </p:nvSpPr>
            <p:spPr>
              <a:xfrm>
                <a:off x="0" y="0"/>
                <a:ext cx="735592" cy="352768"/>
              </a:xfrm>
              <a:custGeom>
                <a:rect b="b" l="l" r="r" t="t"/>
                <a:pathLst>
                  <a:path extrusionOk="0"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noFill/>
              <a:ln cap="sq" cmpd="sng" w="28575">
                <a:solidFill>
                  <a:srgbClr val="0070C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" name="Google Shape;428;p3"/>
              <p:cNvSpPr txBox="1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29" name="Google Shape;429;p3"/>
            <p:cNvSpPr txBox="1"/>
            <p:nvPr/>
          </p:nvSpPr>
          <p:spPr>
            <a:xfrm>
              <a:off x="1051700" y="179446"/>
              <a:ext cx="1497397" cy="2679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74" u="none" cap="none" strike="noStrike">
                  <a:solidFill>
                    <a:srgbClr val="004AAD"/>
                  </a:solidFill>
                  <a:latin typeface="Arial"/>
                  <a:ea typeface="Arial"/>
                  <a:cs typeface="Arial"/>
                  <a:sym typeface="Arial"/>
                </a:rPr>
                <a:t>Simulation</a:t>
              </a:r>
              <a:endParaRPr/>
            </a:p>
          </p:txBody>
        </p:sp>
        <p:sp>
          <p:nvSpPr>
            <p:cNvPr id="430" name="Google Shape;430;p3"/>
            <p:cNvSpPr txBox="1"/>
            <p:nvPr/>
          </p:nvSpPr>
          <p:spPr>
            <a:xfrm>
              <a:off x="257374" y="555365"/>
              <a:ext cx="3399630" cy="9096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SUMO (Traffic simulator)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TraCI (control interface)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Netedit (map editing)</a:t>
              </a:r>
              <a:endParaRPr/>
            </a:p>
          </p:txBody>
        </p:sp>
      </p:grpSp>
      <p:grpSp>
        <p:nvGrpSpPr>
          <p:cNvPr id="431" name="Google Shape;431;p3"/>
          <p:cNvGrpSpPr/>
          <p:nvPr/>
        </p:nvGrpSpPr>
        <p:grpSpPr>
          <a:xfrm>
            <a:off x="9247785" y="8082693"/>
            <a:ext cx="3041858" cy="1411746"/>
            <a:chOff x="0" y="-96441"/>
            <a:chExt cx="4055811" cy="1882329"/>
          </a:xfrm>
        </p:grpSpPr>
        <p:grpSp>
          <p:nvGrpSpPr>
            <p:cNvPr id="432" name="Google Shape;432;p3"/>
            <p:cNvGrpSpPr/>
            <p:nvPr/>
          </p:nvGrpSpPr>
          <p:grpSpPr>
            <a:xfrm>
              <a:off x="0" y="-96441"/>
              <a:ext cx="3723933" cy="1882329"/>
              <a:chOff x="0" y="-19050"/>
              <a:chExt cx="735592" cy="371818"/>
            </a:xfrm>
          </p:grpSpPr>
          <p:sp>
            <p:nvSpPr>
              <p:cNvPr id="433" name="Google Shape;433;p3"/>
              <p:cNvSpPr/>
              <p:nvPr/>
            </p:nvSpPr>
            <p:spPr>
              <a:xfrm>
                <a:off x="0" y="0"/>
                <a:ext cx="735592" cy="352768"/>
              </a:xfrm>
              <a:custGeom>
                <a:rect b="b" l="l" r="r" t="t"/>
                <a:pathLst>
                  <a:path extrusionOk="0"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noFill/>
              <a:ln cap="sq" cmpd="sng" w="28575">
                <a:solidFill>
                  <a:srgbClr val="0070C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4" name="Google Shape;434;p3"/>
              <p:cNvSpPr txBox="1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5" name="Google Shape;435;p3"/>
            <p:cNvSpPr txBox="1"/>
            <p:nvPr/>
          </p:nvSpPr>
          <p:spPr>
            <a:xfrm>
              <a:off x="630193" y="119088"/>
              <a:ext cx="2486244" cy="2679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74" u="none" cap="none" strike="noStrike">
                  <a:solidFill>
                    <a:srgbClr val="004AAD"/>
                  </a:solidFill>
                  <a:latin typeface="Arial"/>
                  <a:ea typeface="Arial"/>
                  <a:cs typeface="Arial"/>
                  <a:sym typeface="Arial"/>
                </a:rPr>
                <a:t>Streaming /Queue</a:t>
              </a:r>
              <a:endParaRPr/>
            </a:p>
          </p:txBody>
        </p:sp>
        <p:sp>
          <p:nvSpPr>
            <p:cNvPr id="436" name="Google Shape;436;p3"/>
            <p:cNvSpPr txBox="1"/>
            <p:nvPr/>
          </p:nvSpPr>
          <p:spPr>
            <a:xfrm>
              <a:off x="162897" y="439552"/>
              <a:ext cx="3892914" cy="12271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Redis Streams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 shards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3 consumer groups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Event buffering &amp; scaling</a:t>
              </a:r>
              <a:endParaRPr/>
            </a:p>
          </p:txBody>
        </p:sp>
      </p:grpSp>
      <p:grpSp>
        <p:nvGrpSpPr>
          <p:cNvPr id="437" name="Google Shape;437;p3"/>
          <p:cNvGrpSpPr/>
          <p:nvPr/>
        </p:nvGrpSpPr>
        <p:grpSpPr>
          <a:xfrm>
            <a:off x="12289643" y="8082693"/>
            <a:ext cx="2860344" cy="1411746"/>
            <a:chOff x="0" y="-96441"/>
            <a:chExt cx="3813792" cy="1882329"/>
          </a:xfrm>
        </p:grpSpPr>
        <p:grpSp>
          <p:nvGrpSpPr>
            <p:cNvPr id="438" name="Google Shape;438;p3"/>
            <p:cNvGrpSpPr/>
            <p:nvPr/>
          </p:nvGrpSpPr>
          <p:grpSpPr>
            <a:xfrm>
              <a:off x="0" y="-96441"/>
              <a:ext cx="3723933" cy="1882329"/>
              <a:chOff x="0" y="-19050"/>
              <a:chExt cx="735592" cy="371818"/>
            </a:xfrm>
          </p:grpSpPr>
          <p:sp>
            <p:nvSpPr>
              <p:cNvPr id="439" name="Google Shape;439;p3"/>
              <p:cNvSpPr/>
              <p:nvPr/>
            </p:nvSpPr>
            <p:spPr>
              <a:xfrm>
                <a:off x="0" y="0"/>
                <a:ext cx="735592" cy="352768"/>
              </a:xfrm>
              <a:custGeom>
                <a:rect b="b" l="l" r="r" t="t"/>
                <a:pathLst>
                  <a:path extrusionOk="0"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noFill/>
              <a:ln cap="sq" cmpd="sng" w="28575">
                <a:solidFill>
                  <a:srgbClr val="0070C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0" name="Google Shape;440;p3"/>
              <p:cNvSpPr txBox="1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1" name="Google Shape;441;p3"/>
            <p:cNvSpPr txBox="1"/>
            <p:nvPr/>
          </p:nvSpPr>
          <p:spPr>
            <a:xfrm>
              <a:off x="1080342" y="98841"/>
              <a:ext cx="1243122" cy="2679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74" u="none" cap="none" strike="noStrike">
                  <a:solidFill>
                    <a:srgbClr val="004AAD"/>
                  </a:solidFill>
                  <a:latin typeface="Arial"/>
                  <a:ea typeface="Arial"/>
                  <a:cs typeface="Arial"/>
                  <a:sym typeface="Arial"/>
                </a:rPr>
                <a:t>Database</a:t>
              </a:r>
              <a:endParaRPr/>
            </a:p>
          </p:txBody>
        </p:sp>
        <p:sp>
          <p:nvSpPr>
            <p:cNvPr id="442" name="Google Shape;442;p3"/>
            <p:cNvSpPr txBox="1"/>
            <p:nvPr/>
          </p:nvSpPr>
          <p:spPr>
            <a:xfrm>
              <a:off x="21255" y="439552"/>
              <a:ext cx="3792537" cy="9096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PostgreSQL (time-series)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TimescaleDB (time-series)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Stores reads, vehicles, rolls, alerts</a:t>
              </a:r>
              <a:endParaRPr/>
            </a:p>
          </p:txBody>
        </p:sp>
      </p:grpSp>
      <p:grpSp>
        <p:nvGrpSpPr>
          <p:cNvPr id="443" name="Google Shape;443;p3"/>
          <p:cNvGrpSpPr/>
          <p:nvPr/>
        </p:nvGrpSpPr>
        <p:grpSpPr>
          <a:xfrm>
            <a:off x="15331501" y="8082693"/>
            <a:ext cx="2956499" cy="1411746"/>
            <a:chOff x="0" y="-96441"/>
            <a:chExt cx="3941998" cy="1882329"/>
          </a:xfrm>
        </p:grpSpPr>
        <p:grpSp>
          <p:nvGrpSpPr>
            <p:cNvPr id="444" name="Google Shape;444;p3"/>
            <p:cNvGrpSpPr/>
            <p:nvPr/>
          </p:nvGrpSpPr>
          <p:grpSpPr>
            <a:xfrm>
              <a:off x="0" y="-96441"/>
              <a:ext cx="3723933" cy="1882329"/>
              <a:chOff x="0" y="-19050"/>
              <a:chExt cx="735592" cy="371818"/>
            </a:xfrm>
          </p:grpSpPr>
          <p:sp>
            <p:nvSpPr>
              <p:cNvPr id="445" name="Google Shape;445;p3"/>
              <p:cNvSpPr/>
              <p:nvPr/>
            </p:nvSpPr>
            <p:spPr>
              <a:xfrm>
                <a:off x="0" y="0"/>
                <a:ext cx="735592" cy="352768"/>
              </a:xfrm>
              <a:custGeom>
                <a:rect b="b" l="l" r="r" t="t"/>
                <a:pathLst>
                  <a:path extrusionOk="0" h="352768" w="735592">
                    <a:moveTo>
                      <a:pt x="47123" y="0"/>
                    </a:moveTo>
                    <a:lnTo>
                      <a:pt x="688469" y="0"/>
                    </a:lnTo>
                    <a:cubicBezTo>
                      <a:pt x="700966" y="0"/>
                      <a:pt x="712952" y="4965"/>
                      <a:pt x="721790" y="13802"/>
                    </a:cubicBezTo>
                    <a:cubicBezTo>
                      <a:pt x="730627" y="22639"/>
                      <a:pt x="735592" y="34625"/>
                      <a:pt x="735592" y="47123"/>
                    </a:cubicBezTo>
                    <a:lnTo>
                      <a:pt x="735592" y="305645"/>
                    </a:lnTo>
                    <a:cubicBezTo>
                      <a:pt x="735592" y="331670"/>
                      <a:pt x="714494" y="352768"/>
                      <a:pt x="688469" y="352768"/>
                    </a:cubicBezTo>
                    <a:lnTo>
                      <a:pt x="47123" y="352768"/>
                    </a:lnTo>
                    <a:cubicBezTo>
                      <a:pt x="21098" y="352768"/>
                      <a:pt x="0" y="331670"/>
                      <a:pt x="0" y="305645"/>
                    </a:cubicBezTo>
                    <a:lnTo>
                      <a:pt x="0" y="47123"/>
                    </a:lnTo>
                    <a:cubicBezTo>
                      <a:pt x="0" y="21098"/>
                      <a:pt x="21098" y="0"/>
                      <a:pt x="47123" y="0"/>
                    </a:cubicBezTo>
                    <a:close/>
                  </a:path>
                </a:pathLst>
              </a:custGeom>
              <a:noFill/>
              <a:ln cap="sq" cmpd="sng" w="28575">
                <a:solidFill>
                  <a:srgbClr val="0070C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" name="Google Shape;446;p3"/>
              <p:cNvSpPr txBox="1"/>
              <p:nvPr/>
            </p:nvSpPr>
            <p:spPr>
              <a:xfrm>
                <a:off x="0" y="-19050"/>
                <a:ext cx="735592" cy="3718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7" name="Google Shape;447;p3"/>
            <p:cNvSpPr txBox="1"/>
            <p:nvPr/>
          </p:nvSpPr>
          <p:spPr>
            <a:xfrm>
              <a:off x="1146436" y="98841"/>
              <a:ext cx="1186616" cy="2679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74" u="none" cap="none" strike="noStrike">
                  <a:solidFill>
                    <a:srgbClr val="004AAD"/>
                  </a:solidFill>
                  <a:latin typeface="Arial"/>
                  <a:ea typeface="Arial"/>
                  <a:cs typeface="Arial"/>
                  <a:sym typeface="Arial"/>
                </a:rPr>
                <a:t>Frontend</a:t>
              </a:r>
              <a:endParaRPr/>
            </a:p>
          </p:txBody>
        </p:sp>
        <p:sp>
          <p:nvSpPr>
            <p:cNvPr id="448" name="Google Shape;448;p3"/>
            <p:cNvSpPr txBox="1"/>
            <p:nvPr/>
          </p:nvSpPr>
          <p:spPr>
            <a:xfrm>
              <a:off x="149461" y="439552"/>
              <a:ext cx="3792537" cy="12271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React (Vite)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MapLibre GL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Realtime updates WebSocket</a:t>
              </a:r>
              <a:endParaRPr/>
            </a:p>
            <a:p>
              <a:pPr indent="-116422" lvl="1" marL="232845" marR="0" rtl="0" algn="l">
                <a:lnSpc>
                  <a:spcPct val="1800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78"/>
                <a:buFont typeface="Arial"/>
                <a:buChar char="•"/>
              </a:pPr>
              <a:r>
                <a:rPr b="1" i="0" lang="en-US" sz="1078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Search, analytics, alerts UI</a:t>
              </a:r>
              <a:endParaRPr/>
            </a:p>
          </p:txBody>
        </p:sp>
      </p:grpSp>
      <p:sp>
        <p:nvSpPr>
          <p:cNvPr id="449" name="Google Shape;449;p3"/>
          <p:cNvSpPr txBox="1"/>
          <p:nvPr/>
        </p:nvSpPr>
        <p:spPr>
          <a:xfrm>
            <a:off x="126797" y="7782377"/>
            <a:ext cx="2196466" cy="364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2" u="none" cap="none" strike="noStrik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rPr>
              <a:t>TECH STACK</a:t>
            </a:r>
            <a:endParaRPr/>
          </a:p>
        </p:txBody>
      </p:sp>
      <p:grpSp>
        <p:nvGrpSpPr>
          <p:cNvPr id="450" name="Google Shape;450;p3"/>
          <p:cNvGrpSpPr/>
          <p:nvPr/>
        </p:nvGrpSpPr>
        <p:grpSpPr>
          <a:xfrm>
            <a:off x="2253327" y="3271897"/>
            <a:ext cx="368564" cy="368564"/>
            <a:chOff x="0" y="0"/>
            <a:chExt cx="812800" cy="812800"/>
          </a:xfrm>
        </p:grpSpPr>
        <p:sp>
          <p:nvSpPr>
            <p:cNvPr id="451" name="Google Shape;451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452" name="Google Shape;452;p3"/>
            <p:cNvSpPr txBox="1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" name="Google Shape;453;p3"/>
          <p:cNvGrpSpPr/>
          <p:nvPr/>
        </p:nvGrpSpPr>
        <p:grpSpPr>
          <a:xfrm>
            <a:off x="4344504" y="3271897"/>
            <a:ext cx="368524" cy="368524"/>
            <a:chOff x="0" y="0"/>
            <a:chExt cx="812800" cy="812800"/>
          </a:xfrm>
        </p:grpSpPr>
        <p:sp>
          <p:nvSpPr>
            <p:cNvPr id="454" name="Google Shape;454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455" name="Google Shape;455;p3"/>
            <p:cNvSpPr txBox="1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" name="Google Shape;456;p3"/>
          <p:cNvGrpSpPr/>
          <p:nvPr/>
        </p:nvGrpSpPr>
        <p:grpSpPr>
          <a:xfrm>
            <a:off x="6613069" y="3271897"/>
            <a:ext cx="368564" cy="368564"/>
            <a:chOff x="0" y="0"/>
            <a:chExt cx="812800" cy="812800"/>
          </a:xfrm>
        </p:grpSpPr>
        <p:sp>
          <p:nvSpPr>
            <p:cNvPr id="457" name="Google Shape;457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458" name="Google Shape;458;p3"/>
            <p:cNvSpPr txBox="1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" name="Google Shape;459;p3"/>
          <p:cNvGrpSpPr/>
          <p:nvPr/>
        </p:nvGrpSpPr>
        <p:grpSpPr>
          <a:xfrm>
            <a:off x="8753000" y="3271897"/>
            <a:ext cx="368564" cy="368564"/>
            <a:chOff x="0" y="0"/>
            <a:chExt cx="812800" cy="812800"/>
          </a:xfrm>
        </p:grpSpPr>
        <p:sp>
          <p:nvSpPr>
            <p:cNvPr id="460" name="Google Shape;460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461" name="Google Shape;461;p3"/>
            <p:cNvSpPr txBox="1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" name="Google Shape;462;p3"/>
          <p:cNvGrpSpPr/>
          <p:nvPr/>
        </p:nvGrpSpPr>
        <p:grpSpPr>
          <a:xfrm>
            <a:off x="12608037" y="3271897"/>
            <a:ext cx="368564" cy="368564"/>
            <a:chOff x="0" y="0"/>
            <a:chExt cx="812800" cy="812800"/>
          </a:xfrm>
        </p:grpSpPr>
        <p:sp>
          <p:nvSpPr>
            <p:cNvPr id="463" name="Google Shape;463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464" name="Google Shape;464;p3"/>
            <p:cNvSpPr txBox="1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5" name="Google Shape;465;p3"/>
          <p:cNvGrpSpPr/>
          <p:nvPr/>
        </p:nvGrpSpPr>
        <p:grpSpPr>
          <a:xfrm>
            <a:off x="14406551" y="3271897"/>
            <a:ext cx="368564" cy="368564"/>
            <a:chOff x="0" y="0"/>
            <a:chExt cx="812800" cy="812800"/>
          </a:xfrm>
        </p:grpSpPr>
        <p:sp>
          <p:nvSpPr>
            <p:cNvPr id="466" name="Google Shape;466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467" name="Google Shape;467;p3"/>
            <p:cNvSpPr txBox="1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8" name="Google Shape;468;p3"/>
          <p:cNvGrpSpPr/>
          <p:nvPr/>
        </p:nvGrpSpPr>
        <p:grpSpPr>
          <a:xfrm>
            <a:off x="16242954" y="3271897"/>
            <a:ext cx="368564" cy="368564"/>
            <a:chOff x="0" y="0"/>
            <a:chExt cx="812800" cy="812800"/>
          </a:xfrm>
        </p:grpSpPr>
        <p:sp>
          <p:nvSpPr>
            <p:cNvPr id="469" name="Google Shape;469;p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8B6FF"/>
            </a:solidFill>
            <a:ln>
              <a:noFill/>
            </a:ln>
          </p:spPr>
        </p:sp>
        <p:sp>
          <p:nvSpPr>
            <p:cNvPr id="470" name="Google Shape;470;p3"/>
            <p:cNvSpPr txBox="1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1" name="Google Shape;471;p3"/>
          <p:cNvSpPr txBox="1"/>
          <p:nvPr/>
        </p:nvSpPr>
        <p:spPr>
          <a:xfrm>
            <a:off x="28731" y="-34599"/>
            <a:ext cx="18259269" cy="673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72" u="none" cap="none" strike="noStrike">
                <a:solidFill>
                  <a:srgbClr val="000000"/>
                </a:solidFill>
                <a:latin typeface="Fraunces SemiBold"/>
                <a:ea typeface="Fraunces SemiBold"/>
                <a:cs typeface="Fraunces SemiBold"/>
                <a:sym typeface="Fraunces SemiBold"/>
              </a:rPr>
              <a:t>TECHNICAL APPROACH</a:t>
            </a:r>
            <a:endParaRPr/>
          </a:p>
        </p:txBody>
      </p:sp>
      <p:grpSp>
        <p:nvGrpSpPr>
          <p:cNvPr id="472" name="Google Shape;472;p3"/>
          <p:cNvGrpSpPr/>
          <p:nvPr/>
        </p:nvGrpSpPr>
        <p:grpSpPr>
          <a:xfrm>
            <a:off x="9016132" y="2616288"/>
            <a:ext cx="1180674" cy="1789330"/>
            <a:chOff x="0" y="-19050"/>
            <a:chExt cx="310959" cy="438854"/>
          </a:xfrm>
        </p:grpSpPr>
        <p:sp>
          <p:nvSpPr>
            <p:cNvPr id="473" name="Google Shape;473;p3"/>
            <p:cNvSpPr/>
            <p:nvPr/>
          </p:nvSpPr>
          <p:spPr>
            <a:xfrm>
              <a:off x="0" y="0"/>
              <a:ext cx="310959" cy="419804"/>
            </a:xfrm>
            <a:custGeom>
              <a:rect b="b" l="l" r="r" t="t"/>
              <a:pathLst>
                <a:path extrusionOk="0" h="419804" w="310959">
                  <a:moveTo>
                    <a:pt x="111472" y="0"/>
                  </a:moveTo>
                  <a:lnTo>
                    <a:pt x="199487" y="0"/>
                  </a:lnTo>
                  <a:cubicBezTo>
                    <a:pt x="229051" y="0"/>
                    <a:pt x="257405" y="11744"/>
                    <a:pt x="278310" y="32650"/>
                  </a:cubicBezTo>
                  <a:cubicBezTo>
                    <a:pt x="299215" y="53555"/>
                    <a:pt x="310959" y="81908"/>
                    <a:pt x="310959" y="111472"/>
                  </a:cubicBezTo>
                  <a:lnTo>
                    <a:pt x="310959" y="308332"/>
                  </a:lnTo>
                  <a:cubicBezTo>
                    <a:pt x="310959" y="337896"/>
                    <a:pt x="299215" y="366250"/>
                    <a:pt x="278310" y="387155"/>
                  </a:cubicBezTo>
                  <a:cubicBezTo>
                    <a:pt x="257405" y="408060"/>
                    <a:pt x="229051" y="419804"/>
                    <a:pt x="199487" y="419804"/>
                  </a:cubicBezTo>
                  <a:lnTo>
                    <a:pt x="111472" y="419804"/>
                  </a:lnTo>
                  <a:cubicBezTo>
                    <a:pt x="81908" y="419804"/>
                    <a:pt x="53555" y="408060"/>
                    <a:pt x="32650" y="387155"/>
                  </a:cubicBezTo>
                  <a:cubicBezTo>
                    <a:pt x="11744" y="366250"/>
                    <a:pt x="0" y="337896"/>
                    <a:pt x="0" y="308332"/>
                  </a:cubicBezTo>
                  <a:lnTo>
                    <a:pt x="0" y="111472"/>
                  </a:lnTo>
                  <a:cubicBezTo>
                    <a:pt x="0" y="81908"/>
                    <a:pt x="11744" y="53555"/>
                    <a:pt x="32650" y="32650"/>
                  </a:cubicBezTo>
                  <a:cubicBezTo>
                    <a:pt x="53555" y="11744"/>
                    <a:pt x="81908" y="0"/>
                    <a:pt x="111472" y="0"/>
                  </a:cubicBezTo>
                  <a:close/>
                </a:path>
              </a:pathLst>
            </a:custGeom>
            <a:noFill/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3"/>
            <p:cNvSpPr txBox="1"/>
            <p:nvPr/>
          </p:nvSpPr>
          <p:spPr>
            <a:xfrm>
              <a:off x="0" y="-19050"/>
              <a:ext cx="310959" cy="4388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5" name="Google Shape;475;p3"/>
          <p:cNvGrpSpPr/>
          <p:nvPr/>
        </p:nvGrpSpPr>
        <p:grpSpPr>
          <a:xfrm>
            <a:off x="10244940" y="2631154"/>
            <a:ext cx="1180680" cy="1774477"/>
            <a:chOff x="0" y="-19050"/>
            <a:chExt cx="310959" cy="467349"/>
          </a:xfrm>
        </p:grpSpPr>
        <p:sp>
          <p:nvSpPr>
            <p:cNvPr id="476" name="Google Shape;476;p3"/>
            <p:cNvSpPr/>
            <p:nvPr/>
          </p:nvSpPr>
          <p:spPr>
            <a:xfrm>
              <a:off x="0" y="0"/>
              <a:ext cx="310959" cy="448299"/>
            </a:xfrm>
            <a:custGeom>
              <a:rect b="b" l="l" r="r" t="t"/>
              <a:pathLst>
                <a:path extrusionOk="0" h="448299" w="310959">
                  <a:moveTo>
                    <a:pt x="111472" y="0"/>
                  </a:moveTo>
                  <a:lnTo>
                    <a:pt x="199487" y="0"/>
                  </a:lnTo>
                  <a:cubicBezTo>
                    <a:pt x="229051" y="0"/>
                    <a:pt x="257405" y="11744"/>
                    <a:pt x="278310" y="32650"/>
                  </a:cubicBezTo>
                  <a:cubicBezTo>
                    <a:pt x="299215" y="53555"/>
                    <a:pt x="310959" y="81908"/>
                    <a:pt x="310959" y="111472"/>
                  </a:cubicBezTo>
                  <a:lnTo>
                    <a:pt x="310959" y="336826"/>
                  </a:lnTo>
                  <a:cubicBezTo>
                    <a:pt x="310959" y="366391"/>
                    <a:pt x="299215" y="394744"/>
                    <a:pt x="278310" y="415649"/>
                  </a:cubicBezTo>
                  <a:cubicBezTo>
                    <a:pt x="257405" y="436554"/>
                    <a:pt x="229051" y="448299"/>
                    <a:pt x="199487" y="448299"/>
                  </a:cubicBezTo>
                  <a:lnTo>
                    <a:pt x="111472" y="448299"/>
                  </a:lnTo>
                  <a:cubicBezTo>
                    <a:pt x="81908" y="448299"/>
                    <a:pt x="53555" y="436554"/>
                    <a:pt x="32650" y="415649"/>
                  </a:cubicBezTo>
                  <a:cubicBezTo>
                    <a:pt x="11744" y="394744"/>
                    <a:pt x="0" y="366391"/>
                    <a:pt x="0" y="336826"/>
                  </a:cubicBezTo>
                  <a:lnTo>
                    <a:pt x="0" y="111472"/>
                  </a:lnTo>
                  <a:cubicBezTo>
                    <a:pt x="0" y="81908"/>
                    <a:pt x="11744" y="53555"/>
                    <a:pt x="32650" y="32650"/>
                  </a:cubicBezTo>
                  <a:cubicBezTo>
                    <a:pt x="53555" y="11744"/>
                    <a:pt x="81908" y="0"/>
                    <a:pt x="111472" y="0"/>
                  </a:cubicBezTo>
                  <a:close/>
                </a:path>
              </a:pathLst>
            </a:custGeom>
            <a:noFill/>
            <a:ln cap="sq" cmpd="sng" w="28575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3"/>
            <p:cNvSpPr txBox="1"/>
            <p:nvPr/>
          </p:nvSpPr>
          <p:spPr>
            <a:xfrm>
              <a:off x="0" y="-19050"/>
              <a:ext cx="310959" cy="46734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8" name="Google Shape;478;p3"/>
          <p:cNvGrpSpPr/>
          <p:nvPr/>
        </p:nvGrpSpPr>
        <p:grpSpPr>
          <a:xfrm>
            <a:off x="11487820" y="2631155"/>
            <a:ext cx="1180674" cy="1774464"/>
            <a:chOff x="0" y="-19050"/>
            <a:chExt cx="310959" cy="467349"/>
          </a:xfrm>
        </p:grpSpPr>
        <p:sp>
          <p:nvSpPr>
            <p:cNvPr id="479" name="Google Shape;479;p3"/>
            <p:cNvSpPr/>
            <p:nvPr/>
          </p:nvSpPr>
          <p:spPr>
            <a:xfrm>
              <a:off x="0" y="0"/>
              <a:ext cx="310959" cy="448299"/>
            </a:xfrm>
            <a:custGeom>
              <a:rect b="b" l="l" r="r" t="t"/>
              <a:pathLst>
                <a:path extrusionOk="0" h="448299" w="310959">
                  <a:moveTo>
                    <a:pt x="111472" y="0"/>
                  </a:moveTo>
                  <a:lnTo>
                    <a:pt x="199487" y="0"/>
                  </a:lnTo>
                  <a:cubicBezTo>
                    <a:pt x="229051" y="0"/>
                    <a:pt x="257405" y="11744"/>
                    <a:pt x="278310" y="32650"/>
                  </a:cubicBezTo>
                  <a:cubicBezTo>
                    <a:pt x="299215" y="53555"/>
                    <a:pt x="310959" y="81908"/>
                    <a:pt x="310959" y="111472"/>
                  </a:cubicBezTo>
                  <a:lnTo>
                    <a:pt x="310959" y="336826"/>
                  </a:lnTo>
                  <a:cubicBezTo>
                    <a:pt x="310959" y="366391"/>
                    <a:pt x="299215" y="394744"/>
                    <a:pt x="278310" y="415649"/>
                  </a:cubicBezTo>
                  <a:cubicBezTo>
                    <a:pt x="257405" y="436554"/>
                    <a:pt x="229051" y="448299"/>
                    <a:pt x="199487" y="448299"/>
                  </a:cubicBezTo>
                  <a:lnTo>
                    <a:pt x="111472" y="448299"/>
                  </a:lnTo>
                  <a:cubicBezTo>
                    <a:pt x="81908" y="448299"/>
                    <a:pt x="53555" y="436554"/>
                    <a:pt x="32650" y="415649"/>
                  </a:cubicBezTo>
                  <a:cubicBezTo>
                    <a:pt x="11744" y="394744"/>
                    <a:pt x="0" y="366391"/>
                    <a:pt x="0" y="336826"/>
                  </a:cubicBezTo>
                  <a:lnTo>
                    <a:pt x="0" y="111472"/>
                  </a:lnTo>
                  <a:cubicBezTo>
                    <a:pt x="0" y="81908"/>
                    <a:pt x="11744" y="53555"/>
                    <a:pt x="32650" y="32650"/>
                  </a:cubicBezTo>
                  <a:cubicBezTo>
                    <a:pt x="53555" y="11744"/>
                    <a:pt x="81908" y="0"/>
                    <a:pt x="111472" y="0"/>
                  </a:cubicBezTo>
                  <a:close/>
                </a:path>
              </a:pathLst>
            </a:custGeom>
            <a:noFill/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3"/>
            <p:cNvSpPr txBox="1"/>
            <p:nvPr/>
          </p:nvSpPr>
          <p:spPr>
            <a:xfrm>
              <a:off x="0" y="-19050"/>
              <a:ext cx="310959" cy="46734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1" name="Google Shape;481;p3"/>
          <p:cNvGrpSpPr/>
          <p:nvPr/>
        </p:nvGrpSpPr>
        <p:grpSpPr>
          <a:xfrm>
            <a:off x="194938" y="67606"/>
            <a:ext cx="1667524" cy="1124491"/>
            <a:chOff x="0" y="-57150"/>
            <a:chExt cx="2554516" cy="1722631"/>
          </a:xfrm>
        </p:grpSpPr>
        <p:sp>
          <p:nvSpPr>
            <p:cNvPr descr="Your startup LOGO" id="482" name="Google Shape;482;p3"/>
            <p:cNvSpPr/>
            <p:nvPr/>
          </p:nvSpPr>
          <p:spPr>
            <a:xfrm>
              <a:off x="0" y="0"/>
              <a:ext cx="2554478" cy="1665481"/>
            </a:xfrm>
            <a:custGeom>
              <a:rect b="b" l="l" r="r" t="t"/>
              <a:pathLst>
                <a:path extrusionOk="0"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cap="sq" cmpd="sng" w="38100">
              <a:solidFill>
                <a:srgbClr val="8064A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3"/>
            <p:cNvSpPr txBox="1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7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Baazigars</a:t>
              </a:r>
              <a:endParaRPr/>
            </a:p>
          </p:txBody>
        </p:sp>
      </p:grpSp>
      <p:sp>
        <p:nvSpPr>
          <p:cNvPr id="484" name="Google Shape;484;p3"/>
          <p:cNvSpPr/>
          <p:nvPr/>
        </p:nvSpPr>
        <p:spPr>
          <a:xfrm>
            <a:off x="2770600" y="2946075"/>
            <a:ext cx="1350300" cy="4353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"/>
          <p:cNvSpPr txBox="1"/>
          <p:nvPr/>
        </p:nvSpPr>
        <p:spPr>
          <a:xfrm>
            <a:off x="3023150" y="2944938"/>
            <a:ext cx="9201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ABC123</a:t>
            </a:r>
            <a:endParaRPr b="1"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4"/>
          <p:cNvSpPr/>
          <p:nvPr/>
        </p:nvSpPr>
        <p:spPr>
          <a:xfrm>
            <a:off x="0" y="9532144"/>
            <a:ext cx="18288000" cy="754856"/>
          </a:xfrm>
          <a:custGeom>
            <a:rect b="b" l="l" r="r" t="t"/>
            <a:pathLst>
              <a:path extrusionOk="0" h="1006475" w="24384000">
                <a:moveTo>
                  <a:pt x="0" y="0"/>
                </a:moveTo>
                <a:lnTo>
                  <a:pt x="24384000" y="0"/>
                </a:lnTo>
                <a:lnTo>
                  <a:pt x="24384000" y="1006475"/>
                </a:lnTo>
                <a:lnTo>
                  <a:pt x="0" y="10064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495" name="Google Shape;495;p4"/>
          <p:cNvGrpSpPr/>
          <p:nvPr/>
        </p:nvGrpSpPr>
        <p:grpSpPr>
          <a:xfrm>
            <a:off x="914400" y="-343963"/>
            <a:ext cx="16459200" cy="1735931"/>
            <a:chOff x="0" y="-28575"/>
            <a:chExt cx="21945600" cy="2314575"/>
          </a:xfrm>
        </p:grpSpPr>
        <p:sp>
          <p:nvSpPr>
            <p:cNvPr id="496" name="Google Shape;496;p4"/>
            <p:cNvSpPr/>
            <p:nvPr/>
          </p:nvSpPr>
          <p:spPr>
            <a:xfrm>
              <a:off x="0" y="0"/>
              <a:ext cx="21945600" cy="2286000"/>
            </a:xfrm>
            <a:custGeom>
              <a:rect b="b" l="l" r="r" t="t"/>
              <a:pathLst>
                <a:path extrusionOk="0"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37056" l="0" r="0" t="-137056"/>
              </a:stretch>
            </a:blipFill>
            <a:ln>
              <a:noFill/>
            </a:ln>
          </p:spPr>
        </p:sp>
        <p:sp>
          <p:nvSpPr>
            <p:cNvPr id="497" name="Google Shape;497;p4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5400" u="none" cap="none" strike="noStrike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FEASIBILITY AND VIABILITY</a:t>
              </a:r>
              <a:endParaRPr/>
            </a:p>
          </p:txBody>
        </p:sp>
      </p:grpSp>
      <p:grpSp>
        <p:nvGrpSpPr>
          <p:cNvPr id="498" name="Google Shape;498;p4"/>
          <p:cNvGrpSpPr/>
          <p:nvPr/>
        </p:nvGrpSpPr>
        <p:grpSpPr>
          <a:xfrm>
            <a:off x="13320964" y="9532277"/>
            <a:ext cx="4267200" cy="561976"/>
            <a:chOff x="0" y="-19050"/>
            <a:chExt cx="5689600" cy="749300"/>
          </a:xfrm>
        </p:grpSpPr>
        <p:sp>
          <p:nvSpPr>
            <p:cNvPr id="499" name="Google Shape;499;p4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500" name="Google Shape;500;p4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4</a:t>
              </a:r>
              <a:endParaRPr/>
            </a:p>
          </p:txBody>
        </p:sp>
      </p:grpSp>
      <p:grpSp>
        <p:nvGrpSpPr>
          <p:cNvPr id="501" name="Google Shape;501;p4"/>
          <p:cNvGrpSpPr/>
          <p:nvPr/>
        </p:nvGrpSpPr>
        <p:grpSpPr>
          <a:xfrm>
            <a:off x="285405" y="42786"/>
            <a:ext cx="1915887" cy="1291973"/>
            <a:chOff x="0" y="-57150"/>
            <a:chExt cx="2554516" cy="1722631"/>
          </a:xfrm>
        </p:grpSpPr>
        <p:sp>
          <p:nvSpPr>
            <p:cNvPr descr="Your startup LOGO" id="502" name="Google Shape;502;p4"/>
            <p:cNvSpPr/>
            <p:nvPr/>
          </p:nvSpPr>
          <p:spPr>
            <a:xfrm>
              <a:off x="0" y="0"/>
              <a:ext cx="2554478" cy="1665481"/>
            </a:xfrm>
            <a:custGeom>
              <a:rect b="b" l="l" r="r" t="t"/>
              <a:pathLst>
                <a:path extrusionOk="0"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cap="sq" cmpd="sng" w="38100">
              <a:solidFill>
                <a:srgbClr val="8064A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4"/>
            <p:cNvSpPr txBox="1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7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Baazigars</a:t>
              </a:r>
              <a:endParaRPr/>
            </a:p>
          </p:txBody>
        </p:sp>
      </p:grpSp>
      <p:sp>
        <p:nvSpPr>
          <p:cNvPr descr="https://www.sih.gov.in/img1/SIH-Logo.png" id="504" name="Google Shape;504;p4"/>
          <p:cNvSpPr/>
          <p:nvPr/>
        </p:nvSpPr>
        <p:spPr>
          <a:xfrm>
            <a:off x="15505690" y="85649"/>
            <a:ext cx="2570014" cy="1306319"/>
          </a:xfrm>
          <a:custGeom>
            <a:rect b="b" l="l" r="r" t="t"/>
            <a:pathLst>
              <a:path extrusionOk="0" h="2245741" w="4418203">
                <a:moveTo>
                  <a:pt x="0" y="0"/>
                </a:moveTo>
                <a:lnTo>
                  <a:pt x="4418203" y="0"/>
                </a:lnTo>
                <a:lnTo>
                  <a:pt x="4418203" y="2245741"/>
                </a:lnTo>
                <a:lnTo>
                  <a:pt x="0" y="22457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505" name="Google Shape;505;p4"/>
          <p:cNvGrpSpPr/>
          <p:nvPr/>
        </p:nvGrpSpPr>
        <p:grpSpPr>
          <a:xfrm>
            <a:off x="348067" y="1767713"/>
            <a:ext cx="3706451" cy="3402505"/>
            <a:chOff x="0" y="0"/>
            <a:chExt cx="4941934" cy="4536673"/>
          </a:xfrm>
        </p:grpSpPr>
        <p:grpSp>
          <p:nvGrpSpPr>
            <p:cNvPr id="506" name="Google Shape;506;p4"/>
            <p:cNvGrpSpPr/>
            <p:nvPr/>
          </p:nvGrpSpPr>
          <p:grpSpPr>
            <a:xfrm>
              <a:off x="413567" y="289809"/>
              <a:ext cx="4114800" cy="4246864"/>
              <a:chOff x="0" y="-19050"/>
              <a:chExt cx="812800" cy="838887"/>
            </a:xfrm>
          </p:grpSpPr>
          <p:sp>
            <p:nvSpPr>
              <p:cNvPr id="507" name="Google Shape;507;p4"/>
              <p:cNvSpPr/>
              <p:nvPr/>
            </p:nvSpPr>
            <p:spPr>
              <a:xfrm>
                <a:off x="0" y="0"/>
                <a:ext cx="812800" cy="819837"/>
              </a:xfrm>
              <a:custGeom>
                <a:rect b="b" l="l" r="r" t="t"/>
                <a:pathLst>
                  <a:path extrusionOk="0" h="81983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91896"/>
                    </a:lnTo>
                    <a:cubicBezTo>
                      <a:pt x="812800" y="725828"/>
                      <a:pt x="799321" y="758370"/>
                      <a:pt x="775327" y="782364"/>
                    </a:cubicBezTo>
                    <a:cubicBezTo>
                      <a:pt x="751333" y="806357"/>
                      <a:pt x="718791" y="819837"/>
                      <a:pt x="684859" y="819837"/>
                    </a:cubicBezTo>
                    <a:lnTo>
                      <a:pt x="127941" y="819837"/>
                    </a:lnTo>
                    <a:cubicBezTo>
                      <a:pt x="94009" y="819837"/>
                      <a:pt x="61467" y="806357"/>
                      <a:pt x="37473" y="782364"/>
                    </a:cubicBezTo>
                    <a:cubicBezTo>
                      <a:pt x="13479" y="758370"/>
                      <a:pt x="0" y="725828"/>
                      <a:pt x="0" y="69189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8" name="Google Shape;508;p4"/>
              <p:cNvSpPr txBox="1"/>
              <p:nvPr/>
            </p:nvSpPr>
            <p:spPr>
              <a:xfrm>
                <a:off x="0" y="-19050"/>
                <a:ext cx="812800" cy="838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just">
                  <a:lnSpc>
                    <a:spcPct val="933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09" name="Google Shape;509;p4"/>
            <p:cNvSpPr/>
            <p:nvPr/>
          </p:nvSpPr>
          <p:spPr>
            <a:xfrm>
              <a:off x="0" y="0"/>
              <a:ext cx="4941934" cy="1210774"/>
            </a:xfrm>
            <a:custGeom>
              <a:rect b="b" l="l" r="r" t="t"/>
              <a:pathLst>
                <a:path extrusionOk="0"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510" name="Google Shape;510;p4"/>
            <p:cNvSpPr txBox="1"/>
            <p:nvPr/>
          </p:nvSpPr>
          <p:spPr>
            <a:xfrm>
              <a:off x="565795" y="11600"/>
              <a:ext cx="4114800" cy="730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REAL-TIME OPERATIONAL FEASIBILITY</a:t>
              </a:r>
              <a:endParaRPr/>
            </a:p>
          </p:txBody>
        </p:sp>
        <p:sp>
          <p:nvSpPr>
            <p:cNvPr id="511" name="Google Shape;511;p4"/>
            <p:cNvSpPr txBox="1"/>
            <p:nvPr/>
          </p:nvSpPr>
          <p:spPr>
            <a:xfrm>
              <a:off x="718195" y="1052024"/>
              <a:ext cx="3213259" cy="298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US" sz="14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Can it respond fast enough?</a:t>
              </a:r>
              <a:endParaRPr/>
            </a:p>
          </p:txBody>
        </p:sp>
      </p:grpSp>
      <p:grpSp>
        <p:nvGrpSpPr>
          <p:cNvPr id="512" name="Google Shape;512;p4"/>
          <p:cNvGrpSpPr/>
          <p:nvPr/>
        </p:nvGrpSpPr>
        <p:grpSpPr>
          <a:xfrm>
            <a:off x="4843965" y="1767713"/>
            <a:ext cx="3706451" cy="3375787"/>
            <a:chOff x="0" y="0"/>
            <a:chExt cx="4941934" cy="4501050"/>
          </a:xfrm>
        </p:grpSpPr>
        <p:grpSp>
          <p:nvGrpSpPr>
            <p:cNvPr id="513" name="Google Shape;513;p4"/>
            <p:cNvGrpSpPr/>
            <p:nvPr/>
          </p:nvGrpSpPr>
          <p:grpSpPr>
            <a:xfrm>
              <a:off x="413567" y="289809"/>
              <a:ext cx="4114800" cy="4211241"/>
              <a:chOff x="0" y="-19050"/>
              <a:chExt cx="812800" cy="831850"/>
            </a:xfrm>
          </p:grpSpPr>
          <p:sp>
            <p:nvSpPr>
              <p:cNvPr id="514" name="Google Shape;514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84859"/>
                    </a:lnTo>
                    <a:cubicBezTo>
                      <a:pt x="812800" y="718791"/>
                      <a:pt x="799321" y="751333"/>
                      <a:pt x="775327" y="775327"/>
                    </a:cubicBezTo>
                    <a:cubicBezTo>
                      <a:pt x="751333" y="799321"/>
                      <a:pt x="718791" y="812800"/>
                      <a:pt x="684859" y="812800"/>
                    </a:cubicBezTo>
                    <a:lnTo>
                      <a:pt x="127941" y="812800"/>
                    </a:lnTo>
                    <a:cubicBezTo>
                      <a:pt x="94009" y="812800"/>
                      <a:pt x="61467" y="799321"/>
                      <a:pt x="37473" y="775327"/>
                    </a:cubicBezTo>
                    <a:cubicBezTo>
                      <a:pt x="13479" y="751333"/>
                      <a:pt x="0" y="718791"/>
                      <a:pt x="0" y="684859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5" name="Google Shape;515;p4"/>
              <p:cNvSpPr txBox="1"/>
              <p:nvPr/>
            </p:nvSpPr>
            <p:spPr>
              <a:xfrm>
                <a:off x="0" y="-19050"/>
                <a:ext cx="812800" cy="831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16" name="Google Shape;516;p4"/>
            <p:cNvSpPr/>
            <p:nvPr/>
          </p:nvSpPr>
          <p:spPr>
            <a:xfrm>
              <a:off x="0" y="0"/>
              <a:ext cx="4941934" cy="1210774"/>
            </a:xfrm>
            <a:custGeom>
              <a:rect b="b" l="l" r="r" t="t"/>
              <a:pathLst>
                <a:path extrusionOk="0"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517" name="Google Shape;517;p4"/>
            <p:cNvSpPr txBox="1"/>
            <p:nvPr/>
          </p:nvSpPr>
          <p:spPr>
            <a:xfrm>
              <a:off x="565795" y="11600"/>
              <a:ext cx="4114800" cy="730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SCALABILITY &amp; DEPLOYMENT FEASIBILITY</a:t>
              </a:r>
              <a:endParaRPr/>
            </a:p>
          </p:txBody>
        </p:sp>
        <p:sp>
          <p:nvSpPr>
            <p:cNvPr id="518" name="Google Shape;518;p4"/>
            <p:cNvSpPr txBox="1"/>
            <p:nvPr/>
          </p:nvSpPr>
          <p:spPr>
            <a:xfrm>
              <a:off x="718195" y="1052024"/>
              <a:ext cx="3213259" cy="2984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US" sz="14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Can it grow city-wide?</a:t>
              </a:r>
              <a:endParaRPr/>
            </a:p>
          </p:txBody>
        </p:sp>
      </p:grpSp>
      <p:grpSp>
        <p:nvGrpSpPr>
          <p:cNvPr id="519" name="Google Shape;519;p4"/>
          <p:cNvGrpSpPr/>
          <p:nvPr/>
        </p:nvGrpSpPr>
        <p:grpSpPr>
          <a:xfrm>
            <a:off x="9375300" y="1767713"/>
            <a:ext cx="3706451" cy="3375787"/>
            <a:chOff x="0" y="0"/>
            <a:chExt cx="4941934" cy="4501050"/>
          </a:xfrm>
        </p:grpSpPr>
        <p:grpSp>
          <p:nvGrpSpPr>
            <p:cNvPr id="520" name="Google Shape;520;p4"/>
            <p:cNvGrpSpPr/>
            <p:nvPr/>
          </p:nvGrpSpPr>
          <p:grpSpPr>
            <a:xfrm>
              <a:off x="413567" y="289809"/>
              <a:ext cx="4114800" cy="4211241"/>
              <a:chOff x="0" y="-19050"/>
              <a:chExt cx="812800" cy="831850"/>
            </a:xfrm>
          </p:grpSpPr>
          <p:sp>
            <p:nvSpPr>
              <p:cNvPr id="521" name="Google Shape;521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84859"/>
                    </a:lnTo>
                    <a:cubicBezTo>
                      <a:pt x="812800" y="718791"/>
                      <a:pt x="799321" y="751333"/>
                      <a:pt x="775327" y="775327"/>
                    </a:cubicBezTo>
                    <a:cubicBezTo>
                      <a:pt x="751333" y="799321"/>
                      <a:pt x="718791" y="812800"/>
                      <a:pt x="684859" y="812800"/>
                    </a:cubicBezTo>
                    <a:lnTo>
                      <a:pt x="127941" y="812800"/>
                    </a:lnTo>
                    <a:cubicBezTo>
                      <a:pt x="94009" y="812800"/>
                      <a:pt x="61467" y="799321"/>
                      <a:pt x="37473" y="775327"/>
                    </a:cubicBezTo>
                    <a:cubicBezTo>
                      <a:pt x="13479" y="751333"/>
                      <a:pt x="0" y="718791"/>
                      <a:pt x="0" y="684859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" name="Google Shape;522;p4"/>
              <p:cNvSpPr txBox="1"/>
              <p:nvPr/>
            </p:nvSpPr>
            <p:spPr>
              <a:xfrm>
                <a:off x="0" y="-19050"/>
                <a:ext cx="812800" cy="831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23" name="Google Shape;523;p4"/>
            <p:cNvSpPr/>
            <p:nvPr/>
          </p:nvSpPr>
          <p:spPr>
            <a:xfrm>
              <a:off x="0" y="0"/>
              <a:ext cx="4941934" cy="1210774"/>
            </a:xfrm>
            <a:custGeom>
              <a:rect b="b" l="l" r="r" t="t"/>
              <a:pathLst>
                <a:path extrusionOk="0"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524" name="Google Shape;524;p4"/>
            <p:cNvSpPr txBox="1"/>
            <p:nvPr/>
          </p:nvSpPr>
          <p:spPr>
            <a:xfrm>
              <a:off x="565795" y="11600"/>
              <a:ext cx="4114800" cy="730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REAL-WORLD VALIDATION FEASIBILITY</a:t>
              </a:r>
              <a:endParaRPr/>
            </a:p>
          </p:txBody>
        </p:sp>
        <p:sp>
          <p:nvSpPr>
            <p:cNvPr id="525" name="Google Shape;525;p4"/>
            <p:cNvSpPr txBox="1"/>
            <p:nvPr/>
          </p:nvSpPr>
          <p:spPr>
            <a:xfrm>
              <a:off x="718195" y="1052024"/>
              <a:ext cx="3213259" cy="5778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US" sz="14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Has it been tested against realistic conditions?</a:t>
              </a:r>
              <a:endParaRPr/>
            </a:p>
          </p:txBody>
        </p:sp>
      </p:grpSp>
      <p:grpSp>
        <p:nvGrpSpPr>
          <p:cNvPr id="526" name="Google Shape;526;p4"/>
          <p:cNvGrpSpPr/>
          <p:nvPr/>
        </p:nvGrpSpPr>
        <p:grpSpPr>
          <a:xfrm>
            <a:off x="13881713" y="1767713"/>
            <a:ext cx="3706451" cy="3375787"/>
            <a:chOff x="0" y="0"/>
            <a:chExt cx="4941934" cy="4501050"/>
          </a:xfrm>
        </p:grpSpPr>
        <p:grpSp>
          <p:nvGrpSpPr>
            <p:cNvPr id="527" name="Google Shape;527;p4"/>
            <p:cNvGrpSpPr/>
            <p:nvPr/>
          </p:nvGrpSpPr>
          <p:grpSpPr>
            <a:xfrm>
              <a:off x="413567" y="289809"/>
              <a:ext cx="4114800" cy="4211241"/>
              <a:chOff x="0" y="-19050"/>
              <a:chExt cx="812800" cy="831850"/>
            </a:xfrm>
          </p:grpSpPr>
          <p:sp>
            <p:nvSpPr>
              <p:cNvPr id="528" name="Google Shape;528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684859"/>
                    </a:lnTo>
                    <a:cubicBezTo>
                      <a:pt x="812800" y="718791"/>
                      <a:pt x="799321" y="751333"/>
                      <a:pt x="775327" y="775327"/>
                    </a:cubicBezTo>
                    <a:cubicBezTo>
                      <a:pt x="751333" y="799321"/>
                      <a:pt x="718791" y="812800"/>
                      <a:pt x="684859" y="812800"/>
                    </a:cubicBezTo>
                    <a:lnTo>
                      <a:pt x="127941" y="812800"/>
                    </a:lnTo>
                    <a:cubicBezTo>
                      <a:pt x="94009" y="812800"/>
                      <a:pt x="61467" y="799321"/>
                      <a:pt x="37473" y="775327"/>
                    </a:cubicBezTo>
                    <a:cubicBezTo>
                      <a:pt x="13479" y="751333"/>
                      <a:pt x="0" y="718791"/>
                      <a:pt x="0" y="684859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9" name="Google Shape;529;p4"/>
              <p:cNvSpPr txBox="1"/>
              <p:nvPr/>
            </p:nvSpPr>
            <p:spPr>
              <a:xfrm>
                <a:off x="0" y="-19050"/>
                <a:ext cx="812800" cy="831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30" name="Google Shape;530;p4"/>
            <p:cNvSpPr/>
            <p:nvPr/>
          </p:nvSpPr>
          <p:spPr>
            <a:xfrm>
              <a:off x="0" y="0"/>
              <a:ext cx="4941934" cy="1210774"/>
            </a:xfrm>
            <a:custGeom>
              <a:rect b="b" l="l" r="r" t="t"/>
              <a:pathLst>
                <a:path extrusionOk="0" h="1210774" w="4941934">
                  <a:moveTo>
                    <a:pt x="0" y="0"/>
                  </a:moveTo>
                  <a:lnTo>
                    <a:pt x="4941934" y="0"/>
                  </a:lnTo>
                  <a:lnTo>
                    <a:pt x="4941934" y="1210774"/>
                  </a:lnTo>
                  <a:lnTo>
                    <a:pt x="0" y="121077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531" name="Google Shape;531;p4"/>
            <p:cNvSpPr txBox="1"/>
            <p:nvPr/>
          </p:nvSpPr>
          <p:spPr>
            <a:xfrm>
              <a:off x="565795" y="11600"/>
              <a:ext cx="4114800" cy="730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 RISK-RESILIENT SYSTEM DESIGN</a:t>
              </a:r>
              <a:endParaRPr/>
            </a:p>
          </p:txBody>
        </p:sp>
        <p:sp>
          <p:nvSpPr>
            <p:cNvPr id="532" name="Google Shape;532;p4"/>
            <p:cNvSpPr txBox="1"/>
            <p:nvPr/>
          </p:nvSpPr>
          <p:spPr>
            <a:xfrm>
              <a:off x="718195" y="1052024"/>
              <a:ext cx="3213259" cy="5778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US" sz="1400" u="none" cap="none" strike="noStrike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Can it handle imperfect conditions?</a:t>
              </a:r>
              <a:endParaRPr/>
            </a:p>
          </p:txBody>
        </p:sp>
      </p:grpSp>
      <p:sp>
        <p:nvSpPr>
          <p:cNvPr id="533" name="Google Shape;533;p4"/>
          <p:cNvSpPr/>
          <p:nvPr/>
        </p:nvSpPr>
        <p:spPr>
          <a:xfrm>
            <a:off x="3476841" y="5296136"/>
            <a:ext cx="1609041" cy="1609041"/>
          </a:xfrm>
          <a:custGeom>
            <a:rect b="b" l="l" r="r" t="t"/>
            <a:pathLst>
              <a:path extrusionOk="0" h="812800" w="812800">
                <a:moveTo>
                  <a:pt x="0" y="0"/>
                </a:moveTo>
                <a:lnTo>
                  <a:pt x="812800" y="0"/>
                </a:lnTo>
                <a:lnTo>
                  <a:pt x="812800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123595" r="-2670" t="0"/>
            </a:stretch>
          </a:blipFill>
          <a:ln cap="sq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34" name="Google Shape;534;p4"/>
          <p:cNvSpPr/>
          <p:nvPr/>
        </p:nvSpPr>
        <p:spPr>
          <a:xfrm>
            <a:off x="2992842" y="6046971"/>
            <a:ext cx="497143" cy="139200"/>
          </a:xfrm>
          <a:custGeom>
            <a:rect b="b" l="l" r="r" t="t"/>
            <a:pathLst>
              <a:path extrusionOk="0" h="139200" w="497143">
                <a:moveTo>
                  <a:pt x="0" y="0"/>
                </a:moveTo>
                <a:lnTo>
                  <a:pt x="497143" y="0"/>
                </a:lnTo>
                <a:lnTo>
                  <a:pt x="497143" y="139200"/>
                </a:lnTo>
                <a:lnTo>
                  <a:pt x="0" y="139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5" name="Google Shape;535;p4"/>
          <p:cNvSpPr/>
          <p:nvPr/>
        </p:nvSpPr>
        <p:spPr>
          <a:xfrm>
            <a:off x="7075121" y="6072410"/>
            <a:ext cx="430339" cy="120495"/>
          </a:xfrm>
          <a:custGeom>
            <a:rect b="b" l="l" r="r" t="t"/>
            <a:pathLst>
              <a:path extrusionOk="0" h="120495" w="430339">
                <a:moveTo>
                  <a:pt x="0" y="0"/>
                </a:moveTo>
                <a:lnTo>
                  <a:pt x="430339" y="0"/>
                </a:lnTo>
                <a:lnTo>
                  <a:pt x="430339" y="120495"/>
                </a:lnTo>
                <a:lnTo>
                  <a:pt x="0" y="1204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536" name="Google Shape;536;p4"/>
          <p:cNvGrpSpPr/>
          <p:nvPr/>
        </p:nvGrpSpPr>
        <p:grpSpPr>
          <a:xfrm>
            <a:off x="5333531" y="5476900"/>
            <a:ext cx="1967795" cy="1244660"/>
            <a:chOff x="0" y="-19050"/>
            <a:chExt cx="582488" cy="368433"/>
          </a:xfrm>
        </p:grpSpPr>
        <p:sp>
          <p:nvSpPr>
            <p:cNvPr id="537" name="Google Shape;537;p4"/>
            <p:cNvSpPr/>
            <p:nvPr/>
          </p:nvSpPr>
          <p:spPr>
            <a:xfrm>
              <a:off x="0" y="0"/>
              <a:ext cx="582488" cy="349383"/>
            </a:xfrm>
            <a:custGeom>
              <a:rect b="b" l="l" r="r" t="t"/>
              <a:pathLst>
                <a:path extrusionOk="0" h="349383" w="582488">
                  <a:moveTo>
                    <a:pt x="76842" y="0"/>
                  </a:moveTo>
                  <a:lnTo>
                    <a:pt x="505646" y="0"/>
                  </a:lnTo>
                  <a:cubicBezTo>
                    <a:pt x="526026" y="0"/>
                    <a:pt x="545571" y="8096"/>
                    <a:pt x="559982" y="22507"/>
                  </a:cubicBezTo>
                  <a:cubicBezTo>
                    <a:pt x="574392" y="36917"/>
                    <a:pt x="582488" y="56462"/>
                    <a:pt x="582488" y="76842"/>
                  </a:cubicBezTo>
                  <a:lnTo>
                    <a:pt x="582488" y="272541"/>
                  </a:lnTo>
                  <a:cubicBezTo>
                    <a:pt x="582488" y="292920"/>
                    <a:pt x="574392" y="312465"/>
                    <a:pt x="559982" y="326876"/>
                  </a:cubicBezTo>
                  <a:cubicBezTo>
                    <a:pt x="545571" y="341287"/>
                    <a:pt x="526026" y="349383"/>
                    <a:pt x="505646" y="349383"/>
                  </a:cubicBezTo>
                  <a:lnTo>
                    <a:pt x="76842" y="349383"/>
                  </a:lnTo>
                  <a:cubicBezTo>
                    <a:pt x="56462" y="349383"/>
                    <a:pt x="36917" y="341287"/>
                    <a:pt x="22507" y="326876"/>
                  </a:cubicBezTo>
                  <a:cubicBezTo>
                    <a:pt x="8096" y="312465"/>
                    <a:pt x="0" y="292920"/>
                    <a:pt x="0" y="272541"/>
                  </a:cubicBezTo>
                  <a:lnTo>
                    <a:pt x="0" y="76842"/>
                  </a:lnTo>
                  <a:cubicBezTo>
                    <a:pt x="0" y="56462"/>
                    <a:pt x="8096" y="36917"/>
                    <a:pt x="22507" y="22507"/>
                  </a:cubicBezTo>
                  <a:cubicBezTo>
                    <a:pt x="36917" y="8096"/>
                    <a:pt x="56462" y="0"/>
                    <a:pt x="76842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38100">
              <a:solidFill>
                <a:srgbClr val="D0E2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4"/>
            <p:cNvSpPr txBox="1"/>
            <p:nvPr/>
          </p:nvSpPr>
          <p:spPr>
            <a:xfrm>
              <a:off x="0" y="-19050"/>
              <a:ext cx="582488" cy="3684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9" name="Google Shape;539;p4"/>
          <p:cNvSpPr/>
          <p:nvPr/>
        </p:nvSpPr>
        <p:spPr>
          <a:xfrm>
            <a:off x="5010671" y="6079977"/>
            <a:ext cx="322860" cy="90401"/>
          </a:xfrm>
          <a:custGeom>
            <a:rect b="b" l="l" r="r" t="t"/>
            <a:pathLst>
              <a:path extrusionOk="0" h="90401" w="322860">
                <a:moveTo>
                  <a:pt x="0" y="0"/>
                </a:moveTo>
                <a:lnTo>
                  <a:pt x="322860" y="0"/>
                </a:lnTo>
                <a:lnTo>
                  <a:pt x="322860" y="90401"/>
                </a:lnTo>
                <a:lnTo>
                  <a:pt x="0" y="904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540" name="Google Shape;540;p4"/>
          <p:cNvGrpSpPr/>
          <p:nvPr/>
        </p:nvGrpSpPr>
        <p:grpSpPr>
          <a:xfrm>
            <a:off x="6634118" y="7830543"/>
            <a:ext cx="3289255" cy="655507"/>
            <a:chOff x="0" y="-19050"/>
            <a:chExt cx="744715" cy="148412"/>
          </a:xfrm>
        </p:grpSpPr>
        <p:sp>
          <p:nvSpPr>
            <p:cNvPr id="541" name="Google Shape;541;p4"/>
            <p:cNvSpPr/>
            <p:nvPr/>
          </p:nvSpPr>
          <p:spPr>
            <a:xfrm>
              <a:off x="0" y="0"/>
              <a:ext cx="744715" cy="129362"/>
            </a:xfrm>
            <a:custGeom>
              <a:rect b="b" l="l" r="r" t="t"/>
              <a:pathLst>
                <a:path extrusionOk="0" h="129362" w="744715">
                  <a:moveTo>
                    <a:pt x="45971" y="0"/>
                  </a:moveTo>
                  <a:lnTo>
                    <a:pt x="698745" y="0"/>
                  </a:lnTo>
                  <a:cubicBezTo>
                    <a:pt x="710937" y="0"/>
                    <a:pt x="722630" y="4843"/>
                    <a:pt x="731251" y="13465"/>
                  </a:cubicBezTo>
                  <a:cubicBezTo>
                    <a:pt x="739872" y="22086"/>
                    <a:pt x="744715" y="33779"/>
                    <a:pt x="744715" y="45971"/>
                  </a:cubicBezTo>
                  <a:lnTo>
                    <a:pt x="744715" y="83392"/>
                  </a:lnTo>
                  <a:cubicBezTo>
                    <a:pt x="744715" y="108780"/>
                    <a:pt x="724133" y="129362"/>
                    <a:pt x="698745" y="129362"/>
                  </a:cubicBezTo>
                  <a:lnTo>
                    <a:pt x="45971" y="129362"/>
                  </a:lnTo>
                  <a:cubicBezTo>
                    <a:pt x="33779" y="129362"/>
                    <a:pt x="22086" y="124519"/>
                    <a:pt x="13465" y="115898"/>
                  </a:cubicBezTo>
                  <a:cubicBezTo>
                    <a:pt x="4843" y="107277"/>
                    <a:pt x="0" y="95584"/>
                    <a:pt x="0" y="83392"/>
                  </a:cubicBezTo>
                  <a:lnTo>
                    <a:pt x="0" y="45971"/>
                  </a:lnTo>
                  <a:cubicBezTo>
                    <a:pt x="0" y="33779"/>
                    <a:pt x="4843" y="22086"/>
                    <a:pt x="13465" y="13465"/>
                  </a:cubicBezTo>
                  <a:cubicBezTo>
                    <a:pt x="22086" y="4843"/>
                    <a:pt x="33779" y="0"/>
                    <a:pt x="45971" y="0"/>
                  </a:cubicBezTo>
                  <a:close/>
                </a:path>
              </a:pathLst>
            </a:custGeom>
            <a:solidFill>
              <a:srgbClr val="E4E7D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4"/>
            <p:cNvSpPr txBox="1"/>
            <p:nvPr/>
          </p:nvSpPr>
          <p:spPr>
            <a:xfrm>
              <a:off x="0" y="-19050"/>
              <a:ext cx="744715" cy="1484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3" name="Google Shape;543;p4"/>
          <p:cNvSpPr/>
          <p:nvPr/>
        </p:nvSpPr>
        <p:spPr>
          <a:xfrm>
            <a:off x="9435454" y="7587866"/>
            <a:ext cx="1032055" cy="326818"/>
          </a:xfrm>
          <a:custGeom>
            <a:rect b="b" l="l" r="r" t="t"/>
            <a:pathLst>
              <a:path extrusionOk="0" h="326818" w="1032055">
                <a:moveTo>
                  <a:pt x="0" y="326818"/>
                </a:moveTo>
                <a:lnTo>
                  <a:pt x="0" y="163409"/>
                </a:lnTo>
                <a:cubicBezTo>
                  <a:pt x="0" y="73160"/>
                  <a:pt x="73161" y="0"/>
                  <a:pt x="163410" y="0"/>
                </a:cubicBezTo>
                <a:lnTo>
                  <a:pt x="1010973" y="0"/>
                </a:lnTo>
                <a:cubicBezTo>
                  <a:pt x="1022616" y="0"/>
                  <a:pt x="1032055" y="9438"/>
                  <a:pt x="1032055" y="21082"/>
                </a:cubicBezTo>
                <a:lnTo>
                  <a:pt x="1032055" y="42164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4"/>
          <p:cNvSpPr/>
          <p:nvPr/>
        </p:nvSpPr>
        <p:spPr>
          <a:xfrm>
            <a:off x="9435454" y="8486050"/>
            <a:ext cx="1032055" cy="318958"/>
          </a:xfrm>
          <a:custGeom>
            <a:rect b="b" l="l" r="r" t="t"/>
            <a:pathLst>
              <a:path extrusionOk="0" h="318958" w="1032055">
                <a:moveTo>
                  <a:pt x="0" y="0"/>
                </a:moveTo>
                <a:lnTo>
                  <a:pt x="0" y="159480"/>
                </a:lnTo>
                <a:cubicBezTo>
                  <a:pt x="0" y="201776"/>
                  <a:pt x="16802" y="242340"/>
                  <a:pt x="46711" y="272248"/>
                </a:cubicBezTo>
                <a:cubicBezTo>
                  <a:pt x="76619" y="302156"/>
                  <a:pt x="117183" y="318958"/>
                  <a:pt x="159480" y="318958"/>
                </a:cubicBezTo>
                <a:lnTo>
                  <a:pt x="1032055" y="318958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4"/>
          <p:cNvSpPr/>
          <p:nvPr/>
        </p:nvSpPr>
        <p:spPr>
          <a:xfrm>
            <a:off x="5969653" y="8486050"/>
            <a:ext cx="907612" cy="318958"/>
          </a:xfrm>
          <a:custGeom>
            <a:rect b="b" l="l" r="r" t="t"/>
            <a:pathLst>
              <a:path extrusionOk="0" h="318958" w="907612">
                <a:moveTo>
                  <a:pt x="907612" y="0"/>
                </a:moveTo>
                <a:lnTo>
                  <a:pt x="907612" y="159480"/>
                </a:lnTo>
                <a:cubicBezTo>
                  <a:pt x="907612" y="201776"/>
                  <a:pt x="890810" y="242340"/>
                  <a:pt x="860902" y="272248"/>
                </a:cubicBezTo>
                <a:cubicBezTo>
                  <a:pt x="830994" y="302156"/>
                  <a:pt x="790430" y="318958"/>
                  <a:pt x="748134" y="318958"/>
                </a:cubicBezTo>
                <a:lnTo>
                  <a:pt x="0" y="318958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4"/>
          <p:cNvSpPr/>
          <p:nvPr/>
        </p:nvSpPr>
        <p:spPr>
          <a:xfrm>
            <a:off x="5917668" y="7724660"/>
            <a:ext cx="959598" cy="190024"/>
          </a:xfrm>
          <a:custGeom>
            <a:rect b="b" l="l" r="r" t="t"/>
            <a:pathLst>
              <a:path extrusionOk="0" h="190024" w="959598">
                <a:moveTo>
                  <a:pt x="959597" y="190024"/>
                </a:moveTo>
                <a:lnTo>
                  <a:pt x="959597" y="120658"/>
                </a:lnTo>
                <a:cubicBezTo>
                  <a:pt x="959597" y="102261"/>
                  <a:pt x="952289" y="84617"/>
                  <a:pt x="939281" y="71608"/>
                </a:cubicBezTo>
                <a:cubicBezTo>
                  <a:pt x="926272" y="58600"/>
                  <a:pt x="908629" y="51292"/>
                  <a:pt x="890232" y="51292"/>
                </a:cubicBezTo>
                <a:lnTo>
                  <a:pt x="25646" y="51292"/>
                </a:lnTo>
                <a:cubicBezTo>
                  <a:pt x="18844" y="51292"/>
                  <a:pt x="12321" y="48590"/>
                  <a:pt x="7511" y="43780"/>
                </a:cubicBezTo>
                <a:cubicBezTo>
                  <a:pt x="2702" y="38971"/>
                  <a:pt x="0" y="32447"/>
                  <a:pt x="0" y="25646"/>
                </a:cubicBez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47" name="Google Shape;547;p4"/>
          <p:cNvGrpSpPr/>
          <p:nvPr/>
        </p:nvGrpSpPr>
        <p:grpSpPr>
          <a:xfrm>
            <a:off x="10008591" y="7061643"/>
            <a:ext cx="3524525" cy="1138723"/>
            <a:chOff x="0" y="-19050"/>
            <a:chExt cx="702004" cy="226807"/>
          </a:xfrm>
        </p:grpSpPr>
        <p:sp>
          <p:nvSpPr>
            <p:cNvPr id="548" name="Google Shape;548;p4"/>
            <p:cNvSpPr/>
            <p:nvPr/>
          </p:nvSpPr>
          <p:spPr>
            <a:xfrm>
              <a:off x="0" y="0"/>
              <a:ext cx="702004" cy="207757"/>
            </a:xfrm>
            <a:custGeom>
              <a:rect b="b" l="l" r="r" t="t"/>
              <a:pathLst>
                <a:path extrusionOk="0" h="207757" w="702004">
                  <a:moveTo>
                    <a:pt x="42902" y="0"/>
                  </a:moveTo>
                  <a:lnTo>
                    <a:pt x="659102" y="0"/>
                  </a:lnTo>
                  <a:cubicBezTo>
                    <a:pt x="682796" y="0"/>
                    <a:pt x="702004" y="19208"/>
                    <a:pt x="702004" y="42902"/>
                  </a:cubicBezTo>
                  <a:lnTo>
                    <a:pt x="702004" y="164855"/>
                  </a:lnTo>
                  <a:cubicBezTo>
                    <a:pt x="702004" y="188549"/>
                    <a:pt x="682796" y="207757"/>
                    <a:pt x="659102" y="207757"/>
                  </a:cubicBezTo>
                  <a:lnTo>
                    <a:pt x="42902" y="207757"/>
                  </a:lnTo>
                  <a:cubicBezTo>
                    <a:pt x="19208" y="207757"/>
                    <a:pt x="0" y="188549"/>
                    <a:pt x="0" y="164855"/>
                  </a:cubicBezTo>
                  <a:lnTo>
                    <a:pt x="0" y="42902"/>
                  </a:lnTo>
                  <a:cubicBezTo>
                    <a:pt x="0" y="19208"/>
                    <a:pt x="19208" y="0"/>
                    <a:pt x="42902" y="0"/>
                  </a:cubicBezTo>
                  <a:close/>
                </a:path>
              </a:pathLst>
            </a:custGeom>
            <a:solidFill>
              <a:srgbClr val="D0E2F7"/>
            </a:solidFill>
            <a:ln cap="rnd" cmpd="sng" w="38100">
              <a:solidFill>
                <a:srgbClr val="AFD8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9" name="Google Shape;549;p4"/>
            <p:cNvSpPr txBox="1"/>
            <p:nvPr/>
          </p:nvSpPr>
          <p:spPr>
            <a:xfrm>
              <a:off x="0" y="-19050"/>
              <a:ext cx="702004" cy="2268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0" name="Google Shape;550;p4"/>
          <p:cNvGrpSpPr/>
          <p:nvPr/>
        </p:nvGrpSpPr>
        <p:grpSpPr>
          <a:xfrm>
            <a:off x="2122309" y="7058016"/>
            <a:ext cx="3795359" cy="1219426"/>
            <a:chOff x="0" y="-19050"/>
            <a:chExt cx="635000" cy="204022"/>
          </a:xfrm>
        </p:grpSpPr>
        <p:sp>
          <p:nvSpPr>
            <p:cNvPr id="551" name="Google Shape;551;p4"/>
            <p:cNvSpPr/>
            <p:nvPr/>
          </p:nvSpPr>
          <p:spPr>
            <a:xfrm>
              <a:off x="0" y="0"/>
              <a:ext cx="635000" cy="184972"/>
            </a:xfrm>
            <a:custGeom>
              <a:rect b="b" l="l" r="r" t="t"/>
              <a:pathLst>
                <a:path extrusionOk="0" h="184972" w="635000">
                  <a:moveTo>
                    <a:pt x="39841" y="0"/>
                  </a:moveTo>
                  <a:lnTo>
                    <a:pt x="595159" y="0"/>
                  </a:lnTo>
                  <a:cubicBezTo>
                    <a:pt x="605726" y="0"/>
                    <a:pt x="615859" y="4197"/>
                    <a:pt x="623331" y="11669"/>
                  </a:cubicBezTo>
                  <a:cubicBezTo>
                    <a:pt x="630803" y="19141"/>
                    <a:pt x="635000" y="29274"/>
                    <a:pt x="635000" y="39841"/>
                  </a:cubicBezTo>
                  <a:lnTo>
                    <a:pt x="635000" y="145131"/>
                  </a:lnTo>
                  <a:cubicBezTo>
                    <a:pt x="635000" y="167134"/>
                    <a:pt x="617163" y="184972"/>
                    <a:pt x="595159" y="184972"/>
                  </a:cubicBezTo>
                  <a:lnTo>
                    <a:pt x="39841" y="184972"/>
                  </a:lnTo>
                  <a:cubicBezTo>
                    <a:pt x="29274" y="184972"/>
                    <a:pt x="19141" y="180774"/>
                    <a:pt x="11669" y="173303"/>
                  </a:cubicBezTo>
                  <a:cubicBezTo>
                    <a:pt x="4197" y="165831"/>
                    <a:pt x="0" y="155697"/>
                    <a:pt x="0" y="145131"/>
                  </a:cubicBezTo>
                  <a:lnTo>
                    <a:pt x="0" y="39841"/>
                  </a:lnTo>
                  <a:cubicBezTo>
                    <a:pt x="0" y="29274"/>
                    <a:pt x="4197" y="19141"/>
                    <a:pt x="11669" y="11669"/>
                  </a:cubicBezTo>
                  <a:cubicBezTo>
                    <a:pt x="19141" y="4197"/>
                    <a:pt x="29274" y="0"/>
                    <a:pt x="39841" y="0"/>
                  </a:cubicBezTo>
                  <a:close/>
                </a:path>
              </a:pathLst>
            </a:custGeom>
            <a:solidFill>
              <a:srgbClr val="D0E2F7"/>
            </a:solidFill>
            <a:ln cap="rnd" cmpd="sng" w="38100">
              <a:solidFill>
                <a:srgbClr val="AFD8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2" name="Google Shape;552;p4"/>
            <p:cNvSpPr txBox="1"/>
            <p:nvPr/>
          </p:nvSpPr>
          <p:spPr>
            <a:xfrm>
              <a:off x="0" y="-19050"/>
              <a:ext cx="635000" cy="2040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3" name="Google Shape;553;p4"/>
          <p:cNvGrpSpPr/>
          <p:nvPr/>
        </p:nvGrpSpPr>
        <p:grpSpPr>
          <a:xfrm>
            <a:off x="2102542" y="8319301"/>
            <a:ext cx="3867111" cy="1065339"/>
            <a:chOff x="0" y="-19050"/>
            <a:chExt cx="898764" cy="247598"/>
          </a:xfrm>
        </p:grpSpPr>
        <p:sp>
          <p:nvSpPr>
            <p:cNvPr id="554" name="Google Shape;554;p4"/>
            <p:cNvSpPr/>
            <p:nvPr/>
          </p:nvSpPr>
          <p:spPr>
            <a:xfrm>
              <a:off x="0" y="0"/>
              <a:ext cx="898764" cy="228548"/>
            </a:xfrm>
            <a:custGeom>
              <a:rect b="b" l="l" r="r" t="t"/>
              <a:pathLst>
                <a:path extrusionOk="0" h="228548" w="898764">
                  <a:moveTo>
                    <a:pt x="39101" y="0"/>
                  </a:moveTo>
                  <a:lnTo>
                    <a:pt x="859663" y="0"/>
                  </a:lnTo>
                  <a:cubicBezTo>
                    <a:pt x="881258" y="0"/>
                    <a:pt x="898764" y="17506"/>
                    <a:pt x="898764" y="39101"/>
                  </a:cubicBezTo>
                  <a:lnTo>
                    <a:pt x="898764" y="189447"/>
                  </a:lnTo>
                  <a:cubicBezTo>
                    <a:pt x="898764" y="199817"/>
                    <a:pt x="894645" y="209763"/>
                    <a:pt x="887312" y="217096"/>
                  </a:cubicBezTo>
                  <a:cubicBezTo>
                    <a:pt x="879979" y="224429"/>
                    <a:pt x="870033" y="228548"/>
                    <a:pt x="859663" y="228548"/>
                  </a:cubicBezTo>
                  <a:lnTo>
                    <a:pt x="39101" y="228548"/>
                  </a:lnTo>
                  <a:cubicBezTo>
                    <a:pt x="28731" y="228548"/>
                    <a:pt x="18785" y="224429"/>
                    <a:pt x="11453" y="217096"/>
                  </a:cubicBezTo>
                  <a:cubicBezTo>
                    <a:pt x="4120" y="209763"/>
                    <a:pt x="0" y="199817"/>
                    <a:pt x="0" y="189447"/>
                  </a:cubicBezTo>
                  <a:lnTo>
                    <a:pt x="0" y="39101"/>
                  </a:lnTo>
                  <a:cubicBezTo>
                    <a:pt x="0" y="28731"/>
                    <a:pt x="4120" y="18785"/>
                    <a:pt x="11453" y="11453"/>
                  </a:cubicBezTo>
                  <a:cubicBezTo>
                    <a:pt x="18785" y="4120"/>
                    <a:pt x="28731" y="0"/>
                    <a:pt x="39101" y="0"/>
                  </a:cubicBezTo>
                  <a:close/>
                </a:path>
              </a:pathLst>
            </a:custGeom>
            <a:solidFill>
              <a:srgbClr val="D0E2F7"/>
            </a:solidFill>
            <a:ln cap="rnd" cmpd="sng" w="38100">
              <a:solidFill>
                <a:srgbClr val="AFD8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4"/>
            <p:cNvSpPr txBox="1"/>
            <p:nvPr/>
          </p:nvSpPr>
          <p:spPr>
            <a:xfrm>
              <a:off x="0" y="-19050"/>
              <a:ext cx="898764" cy="24759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6" name="Google Shape;556;p4"/>
          <p:cNvGrpSpPr/>
          <p:nvPr/>
        </p:nvGrpSpPr>
        <p:grpSpPr>
          <a:xfrm>
            <a:off x="10075773" y="8220950"/>
            <a:ext cx="3360473" cy="1162750"/>
            <a:chOff x="0" y="-19050"/>
            <a:chExt cx="683087" cy="236354"/>
          </a:xfrm>
        </p:grpSpPr>
        <p:sp>
          <p:nvSpPr>
            <p:cNvPr id="557" name="Google Shape;557;p4"/>
            <p:cNvSpPr/>
            <p:nvPr/>
          </p:nvSpPr>
          <p:spPr>
            <a:xfrm>
              <a:off x="0" y="0"/>
              <a:ext cx="683087" cy="217304"/>
            </a:xfrm>
            <a:custGeom>
              <a:rect b="b" l="l" r="r" t="t"/>
              <a:pathLst>
                <a:path extrusionOk="0" h="217304" w="683087">
                  <a:moveTo>
                    <a:pt x="44997" y="0"/>
                  </a:moveTo>
                  <a:lnTo>
                    <a:pt x="638090" y="0"/>
                  </a:lnTo>
                  <a:cubicBezTo>
                    <a:pt x="650024" y="0"/>
                    <a:pt x="661469" y="4741"/>
                    <a:pt x="669907" y="13179"/>
                  </a:cubicBezTo>
                  <a:cubicBezTo>
                    <a:pt x="678346" y="21618"/>
                    <a:pt x="683087" y="33063"/>
                    <a:pt x="683087" y="44997"/>
                  </a:cubicBezTo>
                  <a:lnTo>
                    <a:pt x="683087" y="172307"/>
                  </a:lnTo>
                  <a:cubicBezTo>
                    <a:pt x="683087" y="197158"/>
                    <a:pt x="662941" y="217304"/>
                    <a:pt x="638090" y="217304"/>
                  </a:cubicBezTo>
                  <a:lnTo>
                    <a:pt x="44997" y="217304"/>
                  </a:lnTo>
                  <a:cubicBezTo>
                    <a:pt x="20146" y="217304"/>
                    <a:pt x="0" y="197158"/>
                    <a:pt x="0" y="172307"/>
                  </a:cubicBezTo>
                  <a:lnTo>
                    <a:pt x="0" y="44997"/>
                  </a:lnTo>
                  <a:cubicBezTo>
                    <a:pt x="0" y="20146"/>
                    <a:pt x="20146" y="0"/>
                    <a:pt x="44997" y="0"/>
                  </a:cubicBezTo>
                  <a:close/>
                </a:path>
              </a:pathLst>
            </a:custGeom>
            <a:solidFill>
              <a:srgbClr val="D0E2F7"/>
            </a:solidFill>
            <a:ln cap="rnd" cmpd="sng" w="38100">
              <a:solidFill>
                <a:srgbClr val="AFD8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4"/>
            <p:cNvSpPr txBox="1"/>
            <p:nvPr/>
          </p:nvSpPr>
          <p:spPr>
            <a:xfrm>
              <a:off x="0" y="-19050"/>
              <a:ext cx="683086" cy="2363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9" name="Google Shape;559;p4"/>
          <p:cNvSpPr/>
          <p:nvPr/>
        </p:nvSpPr>
        <p:spPr>
          <a:xfrm>
            <a:off x="13436250" y="8728425"/>
            <a:ext cx="966568" cy="375727"/>
          </a:xfrm>
          <a:custGeom>
            <a:rect b="b" l="l" r="r" t="t"/>
            <a:pathLst>
              <a:path extrusionOk="0" h="375727" w="824365">
                <a:moveTo>
                  <a:pt x="0" y="0"/>
                </a:moveTo>
                <a:lnTo>
                  <a:pt x="194668" y="0"/>
                </a:lnTo>
                <a:cubicBezTo>
                  <a:pt x="244491" y="0"/>
                  <a:pt x="292276" y="19793"/>
                  <a:pt x="327506" y="55024"/>
                </a:cubicBezTo>
                <a:cubicBezTo>
                  <a:pt x="362738" y="90255"/>
                  <a:pt x="382531" y="138039"/>
                  <a:pt x="382531" y="187864"/>
                </a:cubicBezTo>
                <a:lnTo>
                  <a:pt x="382531" y="187864"/>
                </a:lnTo>
                <a:cubicBezTo>
                  <a:pt x="382531" y="237689"/>
                  <a:pt x="402323" y="285473"/>
                  <a:pt x="437555" y="320704"/>
                </a:cubicBezTo>
                <a:cubicBezTo>
                  <a:pt x="472786" y="355935"/>
                  <a:pt x="520570" y="375728"/>
                  <a:pt x="570395" y="375728"/>
                </a:cubicBezTo>
                <a:lnTo>
                  <a:pt x="824366" y="375728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60" name="Google Shape;560;p4"/>
          <p:cNvGrpSpPr/>
          <p:nvPr/>
        </p:nvGrpSpPr>
        <p:grpSpPr>
          <a:xfrm>
            <a:off x="14403577" y="7221094"/>
            <a:ext cx="2623680" cy="2186035"/>
            <a:chOff x="0" y="-19050"/>
            <a:chExt cx="594023" cy="494937"/>
          </a:xfrm>
        </p:grpSpPr>
        <p:sp>
          <p:nvSpPr>
            <p:cNvPr id="561" name="Google Shape;561;p4"/>
            <p:cNvSpPr/>
            <p:nvPr/>
          </p:nvSpPr>
          <p:spPr>
            <a:xfrm>
              <a:off x="0" y="0"/>
              <a:ext cx="594023" cy="475887"/>
            </a:xfrm>
            <a:custGeom>
              <a:rect b="b" l="l" r="r" t="t"/>
              <a:pathLst>
                <a:path extrusionOk="0" h="475887" w="594023">
                  <a:moveTo>
                    <a:pt x="57633" y="0"/>
                  </a:moveTo>
                  <a:lnTo>
                    <a:pt x="536391" y="0"/>
                  </a:lnTo>
                  <a:cubicBezTo>
                    <a:pt x="551676" y="0"/>
                    <a:pt x="566335" y="6072"/>
                    <a:pt x="577143" y="16880"/>
                  </a:cubicBezTo>
                  <a:cubicBezTo>
                    <a:pt x="587951" y="27688"/>
                    <a:pt x="594023" y="42347"/>
                    <a:pt x="594023" y="57633"/>
                  </a:cubicBezTo>
                  <a:lnTo>
                    <a:pt x="594023" y="418254"/>
                  </a:lnTo>
                  <a:cubicBezTo>
                    <a:pt x="594023" y="433539"/>
                    <a:pt x="587951" y="448199"/>
                    <a:pt x="577143" y="459007"/>
                  </a:cubicBezTo>
                  <a:cubicBezTo>
                    <a:pt x="566335" y="469815"/>
                    <a:pt x="551676" y="475887"/>
                    <a:pt x="536391" y="475887"/>
                  </a:cubicBezTo>
                  <a:lnTo>
                    <a:pt x="57633" y="475887"/>
                  </a:lnTo>
                  <a:cubicBezTo>
                    <a:pt x="42347" y="475887"/>
                    <a:pt x="27688" y="469815"/>
                    <a:pt x="16880" y="459007"/>
                  </a:cubicBezTo>
                  <a:cubicBezTo>
                    <a:pt x="6072" y="448199"/>
                    <a:pt x="0" y="433539"/>
                    <a:pt x="0" y="418254"/>
                  </a:cubicBezTo>
                  <a:lnTo>
                    <a:pt x="0" y="57633"/>
                  </a:lnTo>
                  <a:cubicBezTo>
                    <a:pt x="0" y="42347"/>
                    <a:pt x="6072" y="27688"/>
                    <a:pt x="16880" y="16880"/>
                  </a:cubicBezTo>
                  <a:cubicBezTo>
                    <a:pt x="27688" y="6072"/>
                    <a:pt x="42347" y="0"/>
                    <a:pt x="57633" y="0"/>
                  </a:cubicBezTo>
                  <a:close/>
                </a:path>
              </a:pathLst>
            </a:custGeom>
            <a:solidFill>
              <a:srgbClr val="D0E2F7"/>
            </a:solidFill>
            <a:ln cap="rnd" cmpd="sng" w="38100">
              <a:solidFill>
                <a:srgbClr val="0070C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4"/>
            <p:cNvSpPr txBox="1"/>
            <p:nvPr/>
          </p:nvSpPr>
          <p:spPr>
            <a:xfrm>
              <a:off x="0" y="-19050"/>
              <a:ext cx="594023" cy="494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63" name="Google Shape;563;p4"/>
          <p:cNvGrpSpPr/>
          <p:nvPr/>
        </p:nvGrpSpPr>
        <p:grpSpPr>
          <a:xfrm>
            <a:off x="6824067" y="9606479"/>
            <a:ext cx="4806001" cy="561976"/>
            <a:chOff x="0" y="-19050"/>
            <a:chExt cx="6408001" cy="749300"/>
          </a:xfrm>
        </p:grpSpPr>
        <p:sp>
          <p:nvSpPr>
            <p:cNvPr id="564" name="Google Shape;564;p4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565" name="Google Shape;565;p4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  <a:endParaRPr/>
            </a:p>
          </p:txBody>
        </p:sp>
      </p:grpSp>
      <p:sp>
        <p:nvSpPr>
          <p:cNvPr id="566" name="Google Shape;566;p4"/>
          <p:cNvSpPr/>
          <p:nvPr/>
        </p:nvSpPr>
        <p:spPr>
          <a:xfrm>
            <a:off x="100611" y="5314501"/>
            <a:ext cx="3061904" cy="1530952"/>
          </a:xfrm>
          <a:custGeom>
            <a:rect b="b" l="l" r="r" t="t"/>
            <a:pathLst>
              <a:path extrusionOk="0" h="1530952" w="3061904">
                <a:moveTo>
                  <a:pt x="0" y="0"/>
                </a:moveTo>
                <a:lnTo>
                  <a:pt x="3061905" y="0"/>
                </a:lnTo>
                <a:lnTo>
                  <a:pt x="3061905" y="1530952"/>
                </a:lnTo>
                <a:lnTo>
                  <a:pt x="0" y="15309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 cap="sq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67" name="Google Shape;567;p4"/>
          <p:cNvSpPr/>
          <p:nvPr/>
        </p:nvSpPr>
        <p:spPr>
          <a:xfrm>
            <a:off x="10804249" y="6068575"/>
            <a:ext cx="424277" cy="118797"/>
          </a:xfrm>
          <a:custGeom>
            <a:rect b="b" l="l" r="r" t="t"/>
            <a:pathLst>
              <a:path extrusionOk="0" h="118797" w="424277">
                <a:moveTo>
                  <a:pt x="0" y="0"/>
                </a:moveTo>
                <a:lnTo>
                  <a:pt x="424277" y="0"/>
                </a:lnTo>
                <a:lnTo>
                  <a:pt x="424277" y="118797"/>
                </a:lnTo>
                <a:lnTo>
                  <a:pt x="0" y="11879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68" name="Google Shape;568;p4"/>
          <p:cNvSpPr/>
          <p:nvPr/>
        </p:nvSpPr>
        <p:spPr>
          <a:xfrm>
            <a:off x="7463252" y="5256167"/>
            <a:ext cx="3573640" cy="1786820"/>
          </a:xfrm>
          <a:custGeom>
            <a:rect b="b" l="l" r="r" t="t"/>
            <a:pathLst>
              <a:path extrusionOk="0" h="1786820" w="3573640">
                <a:moveTo>
                  <a:pt x="0" y="0"/>
                </a:moveTo>
                <a:lnTo>
                  <a:pt x="3573640" y="0"/>
                </a:lnTo>
                <a:lnTo>
                  <a:pt x="3573640" y="1786820"/>
                </a:lnTo>
                <a:lnTo>
                  <a:pt x="0" y="17868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 cap="sq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69" name="Google Shape;569;p4"/>
          <p:cNvSpPr/>
          <p:nvPr/>
        </p:nvSpPr>
        <p:spPr>
          <a:xfrm>
            <a:off x="14367626" y="6020579"/>
            <a:ext cx="342829" cy="95992"/>
          </a:xfrm>
          <a:custGeom>
            <a:rect b="b" l="l" r="r" t="t"/>
            <a:pathLst>
              <a:path extrusionOk="0" h="95992" w="342829">
                <a:moveTo>
                  <a:pt x="0" y="0"/>
                </a:moveTo>
                <a:lnTo>
                  <a:pt x="342829" y="0"/>
                </a:lnTo>
                <a:lnTo>
                  <a:pt x="342829" y="95992"/>
                </a:lnTo>
                <a:lnTo>
                  <a:pt x="0" y="959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70" name="Google Shape;570;p4"/>
          <p:cNvSpPr/>
          <p:nvPr/>
        </p:nvSpPr>
        <p:spPr>
          <a:xfrm>
            <a:off x="11173171" y="5268198"/>
            <a:ext cx="3365870" cy="1682935"/>
          </a:xfrm>
          <a:custGeom>
            <a:rect b="b" l="l" r="r" t="t"/>
            <a:pathLst>
              <a:path extrusionOk="0" h="1682935" w="3365870">
                <a:moveTo>
                  <a:pt x="0" y="0"/>
                </a:moveTo>
                <a:lnTo>
                  <a:pt x="3365870" y="0"/>
                </a:lnTo>
                <a:lnTo>
                  <a:pt x="3365870" y="1682935"/>
                </a:lnTo>
                <a:lnTo>
                  <a:pt x="0" y="168293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 cap="sq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71" name="Google Shape;571;p4"/>
          <p:cNvSpPr/>
          <p:nvPr/>
        </p:nvSpPr>
        <p:spPr>
          <a:xfrm>
            <a:off x="14703979" y="5296136"/>
            <a:ext cx="3496968" cy="1748484"/>
          </a:xfrm>
          <a:custGeom>
            <a:rect b="b" l="l" r="r" t="t"/>
            <a:pathLst>
              <a:path extrusionOk="0" h="1748484" w="3496968">
                <a:moveTo>
                  <a:pt x="0" y="0"/>
                </a:moveTo>
                <a:lnTo>
                  <a:pt x="3496968" y="0"/>
                </a:lnTo>
                <a:lnTo>
                  <a:pt x="3496968" y="1748484"/>
                </a:lnTo>
                <a:lnTo>
                  <a:pt x="0" y="17484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 cap="sq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72" name="Google Shape;572;p4"/>
          <p:cNvSpPr txBox="1"/>
          <p:nvPr/>
        </p:nvSpPr>
        <p:spPr>
          <a:xfrm>
            <a:off x="1879965" y="1239568"/>
            <a:ext cx="139105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Built as a modular event-driven system, validated on a realistic Delhi traffic simulation and designed for real camera integration.</a:t>
            </a:r>
            <a:endParaRPr/>
          </a:p>
        </p:txBody>
      </p:sp>
      <p:sp>
        <p:nvSpPr>
          <p:cNvPr id="573" name="Google Shape;573;p4"/>
          <p:cNvSpPr txBox="1"/>
          <p:nvPr/>
        </p:nvSpPr>
        <p:spPr>
          <a:xfrm>
            <a:off x="800334" y="2981097"/>
            <a:ext cx="2801916" cy="923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29542" lvl="1" marL="2590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Trinetra processes lightweight vehicle events instead of streaming full video, enabling fast alert generation as vehicles are detected</a:t>
            </a:r>
            <a:endParaRPr/>
          </a:p>
        </p:txBody>
      </p:sp>
      <p:sp>
        <p:nvSpPr>
          <p:cNvPr id="574" name="Google Shape;574;p4"/>
          <p:cNvSpPr txBox="1"/>
          <p:nvPr/>
        </p:nvSpPr>
        <p:spPr>
          <a:xfrm>
            <a:off x="800334" y="4152451"/>
            <a:ext cx="26439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29542" lvl="1" marL="2590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8 Redis shards distribute incoming events across processing workers, targeting &lt;2 sec alert visibility</a:t>
            </a:r>
            <a:endParaRPr/>
          </a:p>
        </p:txBody>
      </p:sp>
      <p:sp>
        <p:nvSpPr>
          <p:cNvPr id="575" name="Google Shape;575;p4"/>
          <p:cNvSpPr txBox="1"/>
          <p:nvPr/>
        </p:nvSpPr>
        <p:spPr>
          <a:xfrm>
            <a:off x="5300867" y="2951117"/>
            <a:ext cx="2792647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29542" lvl="1" marL="25908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Designed so additional cameras and processing capacity can be added without redesigning the full application.</a:t>
            </a:r>
            <a:endParaRPr/>
          </a:p>
        </p:txBody>
      </p:sp>
      <p:sp>
        <p:nvSpPr>
          <p:cNvPr id="576" name="Google Shape;576;p4"/>
          <p:cNvSpPr txBox="1"/>
          <p:nvPr/>
        </p:nvSpPr>
        <p:spPr>
          <a:xfrm>
            <a:off x="5300867" y="3932192"/>
            <a:ext cx="280593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29542" lvl="1" marL="2590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Architecture targets 1000+ cameras and 10K+ events/sec, with processing workers that scale horizontally</a:t>
            </a:r>
            <a:endParaRPr/>
          </a:p>
        </p:txBody>
      </p:sp>
      <p:sp>
        <p:nvSpPr>
          <p:cNvPr id="577" name="Google Shape;577;p4"/>
          <p:cNvSpPr txBox="1"/>
          <p:nvPr/>
        </p:nvSpPr>
        <p:spPr>
          <a:xfrm>
            <a:off x="9914751" y="3045102"/>
            <a:ext cx="272285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18747" lvl="1" marL="237494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Char char="•"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Tested on a realistic Delhi road network with simulated traffic and virtual ANPR checkpoints, instead of a small artificial map</a:t>
            </a:r>
            <a:endParaRPr/>
          </a:p>
        </p:txBody>
      </p:sp>
      <p:sp>
        <p:nvSpPr>
          <p:cNvPr id="578" name="Google Shape;578;p4"/>
          <p:cNvSpPr txBox="1"/>
          <p:nvPr/>
        </p:nvSpPr>
        <p:spPr>
          <a:xfrm>
            <a:off x="9914751" y="3875042"/>
            <a:ext cx="282989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29542" lvl="1" marL="2590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~13×12 km network: 11,955 nodes </a:t>
            </a:r>
            <a:endParaRPr/>
          </a:p>
          <a:p>
            <a:pPr indent="-129542" lvl="1" marL="2590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30,510 road edges </a:t>
            </a:r>
            <a:endParaRPr/>
          </a:p>
          <a:p>
            <a:pPr indent="-129542" lvl="1" marL="2590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75 signals</a:t>
            </a:r>
            <a:endParaRPr/>
          </a:p>
          <a:p>
            <a:pPr indent="-129542" lvl="1" marL="2590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~60 virtual ANPR gates</a:t>
            </a:r>
            <a:endParaRPr/>
          </a:p>
        </p:txBody>
      </p:sp>
      <p:sp>
        <p:nvSpPr>
          <p:cNvPr id="579" name="Google Shape;579;p4"/>
          <p:cNvSpPr txBox="1"/>
          <p:nvPr/>
        </p:nvSpPr>
        <p:spPr>
          <a:xfrm>
            <a:off x="14367626" y="3045102"/>
            <a:ext cx="284577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18747" lvl="1" marL="237494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Char char="•"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Built to keep producing reliable intelligence even with incomplete camera data or imperfect ANPR recognition</a:t>
            </a:r>
            <a:endParaRPr/>
          </a:p>
        </p:txBody>
      </p:sp>
      <p:sp>
        <p:nvSpPr>
          <p:cNvPr id="580" name="Google Shape;580;p4"/>
          <p:cNvSpPr txBox="1"/>
          <p:nvPr/>
        </p:nvSpPr>
        <p:spPr>
          <a:xfrm>
            <a:off x="14303389" y="3766125"/>
            <a:ext cx="2863099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05791" lvl="1" marL="2115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80"/>
              <a:buFont typeface="Arial"/>
              <a:buChar char="•"/>
            </a:pPr>
            <a:r>
              <a:rPr b="1" i="0" lang="en-US" sz="98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ANPR Errors → Confidence + fuzzy matching</a:t>
            </a:r>
            <a:endParaRPr/>
          </a:p>
          <a:p>
            <a:pPr indent="-105791" lvl="1" marL="2115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80"/>
              <a:buFont typeface="Arial"/>
              <a:buChar char="•"/>
            </a:pPr>
            <a:r>
              <a:rPr b="1" i="0" lang="en-US" sz="98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Camera Failure → Health monitoring + alerts</a:t>
            </a:r>
            <a:endParaRPr/>
          </a:p>
          <a:p>
            <a:pPr indent="-105791" lvl="1" marL="2115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80"/>
              <a:buFont typeface="Arial"/>
              <a:buChar char="•"/>
            </a:pPr>
            <a:r>
              <a:rPr b="1" i="0" lang="en-US" sz="98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High Event Load → Sharding + scalable workers</a:t>
            </a:r>
            <a:endParaRPr/>
          </a:p>
          <a:p>
            <a:pPr indent="-105791" lvl="1" marL="2115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80"/>
              <a:buFont typeface="Arial"/>
              <a:buChar char="•"/>
            </a:pPr>
            <a:r>
              <a:rPr b="1" i="0" lang="en-US" sz="98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False Clone Flag → Physics-based validation</a:t>
            </a:r>
            <a:endParaRPr/>
          </a:p>
          <a:p>
            <a:pPr indent="-105791" lvl="1" marL="211583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80"/>
              <a:buFont typeface="Arial"/>
              <a:buChar char="•"/>
            </a:pPr>
            <a:r>
              <a:rPr b="1" i="0" lang="en-US" sz="98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Real Deployment → Common camera contract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80">
              <a:solidFill>
                <a:srgbClr val="FFFFFF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581" name="Google Shape;581;p4"/>
          <p:cNvSpPr txBox="1"/>
          <p:nvPr/>
        </p:nvSpPr>
        <p:spPr>
          <a:xfrm>
            <a:off x="5459352" y="5563296"/>
            <a:ext cx="1364715" cy="11266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{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"camera_id": "CAM_017",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"ts": "2026-08-26T09:14:32+05:30",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28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"plate_raw": "DL 8C AB 1234",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"canonical": "DL8CAB1234",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"confidence": 0.93,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28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"vehicle_class": "private",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"crop_b64": "...",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"ground_truth": "DL8CAB1234"</a:t>
            </a:r>
            <a:endParaRPr/>
          </a:p>
          <a:p>
            <a:pPr indent="0" lvl="0" marL="0" marR="0" rtl="0" algn="l">
              <a:lnSpc>
                <a:spcPct val="11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28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}</a:t>
            </a:r>
            <a:endParaRPr/>
          </a:p>
        </p:txBody>
      </p:sp>
      <p:sp>
        <p:nvSpPr>
          <p:cNvPr id="582" name="Google Shape;582;p4"/>
          <p:cNvSpPr txBox="1"/>
          <p:nvPr/>
        </p:nvSpPr>
        <p:spPr>
          <a:xfrm rot="-5400000">
            <a:off x="6472300" y="6066818"/>
            <a:ext cx="1394703" cy="1462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34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 event for a vehicle</a:t>
            </a:r>
            <a:endParaRPr/>
          </a:p>
        </p:txBody>
      </p:sp>
      <p:sp>
        <p:nvSpPr>
          <p:cNvPr id="583" name="Google Shape;583;p4"/>
          <p:cNvSpPr txBox="1"/>
          <p:nvPr/>
        </p:nvSpPr>
        <p:spPr>
          <a:xfrm>
            <a:off x="6423459" y="8024733"/>
            <a:ext cx="3662255" cy="2945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Why TRINETRA is practical ?</a:t>
            </a:r>
            <a:endParaRPr/>
          </a:p>
        </p:txBody>
      </p:sp>
      <p:sp>
        <p:nvSpPr>
          <p:cNvPr id="584" name="Google Shape;584;p4"/>
          <p:cNvSpPr txBox="1"/>
          <p:nvPr/>
        </p:nvSpPr>
        <p:spPr>
          <a:xfrm>
            <a:off x="10550245" y="8293930"/>
            <a:ext cx="2201780" cy="251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6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35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↓ DATA BURDEN</a:t>
            </a:r>
            <a:endParaRPr/>
          </a:p>
        </p:txBody>
      </p:sp>
      <p:sp>
        <p:nvSpPr>
          <p:cNvPr id="585" name="Google Shape;585;p4"/>
          <p:cNvSpPr txBox="1"/>
          <p:nvPr/>
        </p:nvSpPr>
        <p:spPr>
          <a:xfrm>
            <a:off x="2549848" y="8486050"/>
            <a:ext cx="3086430" cy="242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6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35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↓ INFRASTRUCTURE CHANGE</a:t>
            </a:r>
            <a:endParaRPr/>
          </a:p>
        </p:txBody>
      </p:sp>
      <p:sp>
        <p:nvSpPr>
          <p:cNvPr id="586" name="Google Shape;586;p4"/>
          <p:cNvSpPr txBox="1"/>
          <p:nvPr/>
        </p:nvSpPr>
        <p:spPr>
          <a:xfrm>
            <a:off x="10891191" y="7266000"/>
            <a:ext cx="1514974" cy="251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6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35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↑RELIABILITY</a:t>
            </a:r>
            <a:endParaRPr/>
          </a:p>
        </p:txBody>
      </p:sp>
      <p:sp>
        <p:nvSpPr>
          <p:cNvPr id="587" name="Google Shape;587;p4"/>
          <p:cNvSpPr txBox="1"/>
          <p:nvPr/>
        </p:nvSpPr>
        <p:spPr>
          <a:xfrm>
            <a:off x="2700662" y="7295484"/>
            <a:ext cx="2707712" cy="251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6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35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↑ SAFE DEPLOYMENT</a:t>
            </a:r>
            <a:endParaRPr/>
          </a:p>
        </p:txBody>
      </p:sp>
      <p:sp>
        <p:nvSpPr>
          <p:cNvPr id="588" name="Google Shape;588;p4"/>
          <p:cNvSpPr txBox="1"/>
          <p:nvPr/>
        </p:nvSpPr>
        <p:spPr>
          <a:xfrm>
            <a:off x="10253165" y="8597714"/>
            <a:ext cx="3035377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33858" lvl="1" marL="267715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39"/>
              <a:buFont typeface="Arial"/>
              <a:buChar char="•"/>
            </a:pPr>
            <a:r>
              <a:rPr b="0" i="0" lang="en-US" sz="1239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Sends only lightweight text events (plate, time, location) instead of streaming raw video, keeping bandwidth and storage needs minimal</a:t>
            </a:r>
            <a:endParaRPr/>
          </a:p>
        </p:txBody>
      </p:sp>
      <p:sp>
        <p:nvSpPr>
          <p:cNvPr id="589" name="Google Shape;589;p4"/>
          <p:cNvSpPr txBox="1"/>
          <p:nvPr/>
        </p:nvSpPr>
        <p:spPr>
          <a:xfrm>
            <a:off x="2435944" y="8757003"/>
            <a:ext cx="3381309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37349" lvl="1" marL="274698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Char char="•"/>
            </a:pPr>
            <a:r>
              <a:rPr b="0" i="0" lang="en-US" sz="1272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Works with existing ANPR/CCTV cameras;</a:t>
            </a:r>
            <a:endParaRPr/>
          </a:p>
          <a:p>
            <a:pPr indent="-137349" lvl="1" marL="274698" marR="0" rtl="0" algn="l">
              <a:lnSpc>
                <a:spcPct val="11996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Char char="•"/>
            </a:pPr>
            <a:r>
              <a:rPr b="0" i="0" lang="en-US" sz="1272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no need to replace hardware, just plug into the common event-ingestion layer.</a:t>
            </a:r>
            <a:endParaRPr/>
          </a:p>
        </p:txBody>
      </p:sp>
      <p:sp>
        <p:nvSpPr>
          <p:cNvPr id="590" name="Google Shape;590;p4"/>
          <p:cNvSpPr txBox="1"/>
          <p:nvPr/>
        </p:nvSpPr>
        <p:spPr>
          <a:xfrm>
            <a:off x="10281139" y="7517223"/>
            <a:ext cx="297942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46533" lvl="1" marL="293066" marR="0" rtl="0" algn="l">
              <a:lnSpc>
                <a:spcPct val="11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7"/>
              <a:buFont typeface="Arial"/>
              <a:buChar char="•"/>
            </a:pPr>
            <a:r>
              <a:rPr b="0" i="0" lang="en-US" sz="1357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One event → multiple intelligence</a:t>
            </a:r>
            <a:endParaRPr/>
          </a:p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3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The same recorded detection powers trajectory, traffic analytics and alerts.</a:t>
            </a:r>
            <a:endParaRPr/>
          </a:p>
        </p:txBody>
      </p:sp>
      <p:sp>
        <p:nvSpPr>
          <p:cNvPr id="591" name="Google Shape;591;p4"/>
          <p:cNvSpPr txBox="1"/>
          <p:nvPr/>
        </p:nvSpPr>
        <p:spPr>
          <a:xfrm>
            <a:off x="2399882" y="7657846"/>
            <a:ext cx="3279199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22950" lvl="1" marL="245901" marR="0" rtl="0" algn="l">
              <a:lnSpc>
                <a:spcPct val="12003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•"/>
            </a:pPr>
            <a:r>
              <a:rPr b="0" i="0" lang="en-US" sz="1138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Digital-city validation</a:t>
            </a:r>
            <a:endParaRPr/>
          </a:p>
          <a:p>
            <a:pPr indent="-122950" lvl="1" marL="245901" marR="0" rtl="0" algn="l">
              <a:lnSpc>
                <a:spcPct val="12003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•"/>
            </a:pPr>
            <a:r>
              <a:rPr b="0" i="0" lang="en-US" sz="1138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Real Delhi road geometry enables repeatable testing before real deployment.</a:t>
            </a:r>
            <a:endParaRPr/>
          </a:p>
        </p:txBody>
      </p:sp>
      <p:sp>
        <p:nvSpPr>
          <p:cNvPr id="592" name="Google Shape;592;p4"/>
          <p:cNvSpPr txBox="1"/>
          <p:nvPr/>
        </p:nvSpPr>
        <p:spPr>
          <a:xfrm>
            <a:off x="14518808" y="7391612"/>
            <a:ext cx="2393217" cy="7020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1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TRADITIONAL APPROACH </a:t>
            </a:r>
            <a:endParaRPr/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1000 Cameras </a:t>
            </a:r>
            <a:endParaRPr/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▼ ~3 Gbps VIDEO </a:t>
            </a:r>
            <a:endParaRPr/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▼ CENTRAL SYSTEM</a:t>
            </a:r>
            <a:endParaRPr/>
          </a:p>
        </p:txBody>
      </p:sp>
      <p:sp>
        <p:nvSpPr>
          <p:cNvPr id="593" name="Google Shape;593;p4"/>
          <p:cNvSpPr txBox="1"/>
          <p:nvPr/>
        </p:nvSpPr>
        <p:spPr>
          <a:xfrm>
            <a:off x="14380175" y="8231280"/>
            <a:ext cx="2670600" cy="11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78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1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TRINETRA APPROACH</a:t>
            </a:r>
            <a:endParaRPr sz="1300"/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0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1000 Cameras </a:t>
            </a:r>
            <a:endParaRPr sz="1300"/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▼ ~2 MB/s</a:t>
            </a:r>
            <a:endParaRPr sz="1300"/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EVENTS plate • time • camera </a:t>
            </a:r>
            <a:endParaRPr sz="1300"/>
          </a:p>
          <a:p>
            <a:pPr indent="0" lvl="0" marL="0" marR="0" rtl="0" algn="ctr">
              <a:lnSpc>
                <a:spcPct val="11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▼ CENTRAL SYSTEM</a:t>
            </a:r>
            <a:endParaRPr sz="1300"/>
          </a:p>
        </p:txBody>
      </p:sp>
      <p:sp>
        <p:nvSpPr>
          <p:cNvPr id="594" name="Google Shape;594;p4"/>
          <p:cNvSpPr/>
          <p:nvPr/>
        </p:nvSpPr>
        <p:spPr>
          <a:xfrm>
            <a:off x="15581405" y="104891"/>
            <a:ext cx="2494300" cy="1267835"/>
          </a:xfrm>
          <a:custGeom>
            <a:rect b="b" l="l" r="r" t="t"/>
            <a:pathLst>
              <a:path extrusionOk="0" h="2245741" w="4418203">
                <a:moveTo>
                  <a:pt x="0" y="0"/>
                </a:moveTo>
                <a:lnTo>
                  <a:pt x="4418203" y="0"/>
                </a:lnTo>
                <a:lnTo>
                  <a:pt x="4418203" y="2245741"/>
                </a:lnTo>
                <a:lnTo>
                  <a:pt x="0" y="22457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-270" r="-27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"/>
          <p:cNvSpPr/>
          <p:nvPr/>
        </p:nvSpPr>
        <p:spPr>
          <a:xfrm>
            <a:off x="0" y="9532144"/>
            <a:ext cx="18288000" cy="754856"/>
          </a:xfrm>
          <a:custGeom>
            <a:rect b="b" l="l" r="r" t="t"/>
            <a:pathLst>
              <a:path extrusionOk="0" h="1006475" w="24384000">
                <a:moveTo>
                  <a:pt x="0" y="0"/>
                </a:moveTo>
                <a:lnTo>
                  <a:pt x="24384000" y="0"/>
                </a:lnTo>
                <a:lnTo>
                  <a:pt x="24384000" y="1006475"/>
                </a:lnTo>
                <a:lnTo>
                  <a:pt x="0" y="10064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604" name="Google Shape;604;p5"/>
          <p:cNvGrpSpPr/>
          <p:nvPr/>
        </p:nvGrpSpPr>
        <p:grpSpPr>
          <a:xfrm>
            <a:off x="13106400" y="9520237"/>
            <a:ext cx="4267200" cy="561976"/>
            <a:chOff x="0" y="-19050"/>
            <a:chExt cx="5689600" cy="749300"/>
          </a:xfrm>
        </p:grpSpPr>
        <p:sp>
          <p:nvSpPr>
            <p:cNvPr id="605" name="Google Shape;605;p5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606" name="Google Shape;606;p5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5</a:t>
              </a:r>
              <a:endParaRPr/>
            </a:p>
          </p:txBody>
        </p:sp>
      </p:grpSp>
      <p:grpSp>
        <p:nvGrpSpPr>
          <p:cNvPr id="607" name="Google Shape;607;p5"/>
          <p:cNvGrpSpPr/>
          <p:nvPr/>
        </p:nvGrpSpPr>
        <p:grpSpPr>
          <a:xfrm>
            <a:off x="6972300" y="9520237"/>
            <a:ext cx="4806001" cy="561976"/>
            <a:chOff x="0" y="-19050"/>
            <a:chExt cx="6408001" cy="749300"/>
          </a:xfrm>
        </p:grpSpPr>
        <p:sp>
          <p:nvSpPr>
            <p:cNvPr id="608" name="Google Shape;608;p5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609" name="Google Shape;609;p5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  <a:endParaRPr/>
            </a:p>
          </p:txBody>
        </p:sp>
      </p:grpSp>
      <p:sp>
        <p:nvSpPr>
          <p:cNvPr id="610" name="Google Shape;610;p5"/>
          <p:cNvSpPr/>
          <p:nvPr/>
        </p:nvSpPr>
        <p:spPr>
          <a:xfrm>
            <a:off x="0" y="9704784"/>
            <a:ext cx="18288000" cy="754856"/>
          </a:xfrm>
          <a:custGeom>
            <a:rect b="b" l="l" r="r" t="t"/>
            <a:pathLst>
              <a:path extrusionOk="0" h="1006475" w="24384000">
                <a:moveTo>
                  <a:pt x="0" y="0"/>
                </a:moveTo>
                <a:lnTo>
                  <a:pt x="24384000" y="0"/>
                </a:lnTo>
                <a:lnTo>
                  <a:pt x="24384000" y="1006475"/>
                </a:lnTo>
                <a:lnTo>
                  <a:pt x="0" y="10064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611" name="Google Shape;611;p5"/>
          <p:cNvGrpSpPr/>
          <p:nvPr/>
        </p:nvGrpSpPr>
        <p:grpSpPr>
          <a:xfrm>
            <a:off x="7245042" y="9725024"/>
            <a:ext cx="4806001" cy="561976"/>
            <a:chOff x="0" y="-19050"/>
            <a:chExt cx="6408001" cy="749300"/>
          </a:xfrm>
        </p:grpSpPr>
        <p:sp>
          <p:nvSpPr>
            <p:cNvPr id="612" name="Google Shape;612;p5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613" name="Google Shape;613;p5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    SIH26127</a:t>
              </a:r>
              <a:endParaRPr/>
            </a:p>
          </p:txBody>
        </p:sp>
      </p:grpSp>
      <p:grpSp>
        <p:nvGrpSpPr>
          <p:cNvPr id="614" name="Google Shape;614;p5"/>
          <p:cNvGrpSpPr/>
          <p:nvPr/>
        </p:nvGrpSpPr>
        <p:grpSpPr>
          <a:xfrm>
            <a:off x="13565776" y="9725024"/>
            <a:ext cx="4267200" cy="561976"/>
            <a:chOff x="0" y="-19050"/>
            <a:chExt cx="5689600" cy="749300"/>
          </a:xfrm>
        </p:grpSpPr>
        <p:sp>
          <p:nvSpPr>
            <p:cNvPr id="615" name="Google Shape;615;p5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616" name="Google Shape;616;p5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5</a:t>
              </a:r>
              <a:endParaRPr/>
            </a:p>
          </p:txBody>
        </p:sp>
      </p:grpSp>
      <p:sp>
        <p:nvSpPr>
          <p:cNvPr id="617" name="Google Shape;617;p5"/>
          <p:cNvSpPr/>
          <p:nvPr/>
        </p:nvSpPr>
        <p:spPr>
          <a:xfrm>
            <a:off x="-109764" y="9739312"/>
            <a:ext cx="18463988" cy="754856"/>
          </a:xfrm>
          <a:custGeom>
            <a:rect b="b" l="l" r="r" t="t"/>
            <a:pathLst>
              <a:path extrusionOk="0" h="1006475" w="24618651">
                <a:moveTo>
                  <a:pt x="0" y="0"/>
                </a:moveTo>
                <a:lnTo>
                  <a:pt x="24618651" y="0"/>
                </a:lnTo>
                <a:lnTo>
                  <a:pt x="24618651" y="1006475"/>
                </a:lnTo>
                <a:lnTo>
                  <a:pt x="0" y="10064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618" name="Google Shape;618;p5"/>
          <p:cNvGrpSpPr/>
          <p:nvPr/>
        </p:nvGrpSpPr>
        <p:grpSpPr>
          <a:xfrm>
            <a:off x="6920113" y="9622937"/>
            <a:ext cx="4806001" cy="561976"/>
            <a:chOff x="0" y="-19050"/>
            <a:chExt cx="6408001" cy="749300"/>
          </a:xfrm>
        </p:grpSpPr>
        <p:sp>
          <p:nvSpPr>
            <p:cNvPr id="619" name="Google Shape;619;p5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620" name="Google Shape;620;p5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  <a:endParaRPr/>
            </a:p>
          </p:txBody>
        </p:sp>
      </p:grpSp>
      <p:grpSp>
        <p:nvGrpSpPr>
          <p:cNvPr id="621" name="Google Shape;621;p5"/>
          <p:cNvGrpSpPr/>
          <p:nvPr/>
        </p:nvGrpSpPr>
        <p:grpSpPr>
          <a:xfrm>
            <a:off x="13265848" y="9565787"/>
            <a:ext cx="4267200" cy="561976"/>
            <a:chOff x="0" y="-19050"/>
            <a:chExt cx="5689600" cy="749300"/>
          </a:xfrm>
        </p:grpSpPr>
        <p:sp>
          <p:nvSpPr>
            <p:cNvPr id="622" name="Google Shape;622;p5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623" name="Google Shape;623;p5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5</a:t>
              </a:r>
              <a:endParaRPr/>
            </a:p>
          </p:txBody>
        </p:sp>
      </p:grpSp>
      <p:grpSp>
        <p:nvGrpSpPr>
          <p:cNvPr id="624" name="Google Shape;624;p5"/>
          <p:cNvGrpSpPr/>
          <p:nvPr/>
        </p:nvGrpSpPr>
        <p:grpSpPr>
          <a:xfrm>
            <a:off x="800100" y="-262022"/>
            <a:ext cx="16459200" cy="1735931"/>
            <a:chOff x="0" y="-28575"/>
            <a:chExt cx="21945600" cy="2314575"/>
          </a:xfrm>
        </p:grpSpPr>
        <p:sp>
          <p:nvSpPr>
            <p:cNvPr id="625" name="Google Shape;625;p5"/>
            <p:cNvSpPr/>
            <p:nvPr/>
          </p:nvSpPr>
          <p:spPr>
            <a:xfrm>
              <a:off x="0" y="0"/>
              <a:ext cx="21945600" cy="2286000"/>
            </a:xfrm>
            <a:custGeom>
              <a:rect b="b" l="l" r="r" t="t"/>
              <a:pathLst>
                <a:path extrusionOk="0"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37056" l="0" r="0" t="-137056"/>
              </a:stretch>
            </a:blipFill>
            <a:ln>
              <a:noFill/>
            </a:ln>
          </p:spPr>
        </p:sp>
        <p:sp>
          <p:nvSpPr>
            <p:cNvPr id="626" name="Google Shape;626;p5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400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IMPACT AND BENEFITS</a:t>
              </a:r>
              <a:endParaRPr/>
            </a:p>
          </p:txBody>
        </p:sp>
      </p:grpSp>
      <p:grpSp>
        <p:nvGrpSpPr>
          <p:cNvPr id="627" name="Google Shape;627;p5"/>
          <p:cNvGrpSpPr/>
          <p:nvPr/>
        </p:nvGrpSpPr>
        <p:grpSpPr>
          <a:xfrm>
            <a:off x="296887" y="181946"/>
            <a:ext cx="1915887" cy="1291973"/>
            <a:chOff x="0" y="-57150"/>
            <a:chExt cx="2554516" cy="1722631"/>
          </a:xfrm>
        </p:grpSpPr>
        <p:sp>
          <p:nvSpPr>
            <p:cNvPr descr="Your startup LOGO" id="628" name="Google Shape;628;p5"/>
            <p:cNvSpPr/>
            <p:nvPr/>
          </p:nvSpPr>
          <p:spPr>
            <a:xfrm>
              <a:off x="0" y="0"/>
              <a:ext cx="2554478" cy="1665481"/>
            </a:xfrm>
            <a:custGeom>
              <a:rect b="b" l="l" r="r" t="t"/>
              <a:pathLst>
                <a:path extrusionOk="0"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cap="sq" cmpd="sng" w="38100">
              <a:solidFill>
                <a:srgbClr val="8064A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5"/>
            <p:cNvSpPr txBox="1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Baazigars</a:t>
              </a:r>
              <a:endParaRPr/>
            </a:p>
          </p:txBody>
        </p:sp>
      </p:grpSp>
      <p:sp>
        <p:nvSpPr>
          <p:cNvPr id="630" name="Google Shape;630;p5"/>
          <p:cNvSpPr/>
          <p:nvPr/>
        </p:nvSpPr>
        <p:spPr>
          <a:xfrm>
            <a:off x="15526196" y="9246"/>
            <a:ext cx="2494300" cy="1267835"/>
          </a:xfrm>
          <a:custGeom>
            <a:rect b="b" l="l" r="r" t="t"/>
            <a:pathLst>
              <a:path extrusionOk="0" h="2245741" w="4418203">
                <a:moveTo>
                  <a:pt x="0" y="0"/>
                </a:moveTo>
                <a:lnTo>
                  <a:pt x="4418203" y="0"/>
                </a:lnTo>
                <a:lnTo>
                  <a:pt x="4418203" y="2245741"/>
                </a:lnTo>
                <a:lnTo>
                  <a:pt x="0" y="22457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70" r="-270" t="0"/>
            </a:stretch>
          </a:blipFill>
          <a:ln>
            <a:noFill/>
          </a:ln>
        </p:spPr>
      </p:sp>
      <p:grpSp>
        <p:nvGrpSpPr>
          <p:cNvPr id="631" name="Google Shape;631;p5"/>
          <p:cNvGrpSpPr/>
          <p:nvPr/>
        </p:nvGrpSpPr>
        <p:grpSpPr>
          <a:xfrm>
            <a:off x="296887" y="2576421"/>
            <a:ext cx="4219173" cy="2282014"/>
            <a:chOff x="0" y="-19050"/>
            <a:chExt cx="802910" cy="434268"/>
          </a:xfrm>
        </p:grpSpPr>
        <p:sp>
          <p:nvSpPr>
            <p:cNvPr id="632" name="Google Shape;632;p5"/>
            <p:cNvSpPr/>
            <p:nvPr/>
          </p:nvSpPr>
          <p:spPr>
            <a:xfrm>
              <a:off x="0" y="0"/>
              <a:ext cx="802910" cy="415218"/>
            </a:xfrm>
            <a:custGeom>
              <a:rect b="b" l="l" r="r" t="t"/>
              <a:pathLst>
                <a:path extrusionOk="0"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5"/>
            <p:cNvSpPr txBox="1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4" name="Google Shape;634;p5"/>
          <p:cNvGrpSpPr/>
          <p:nvPr/>
        </p:nvGrpSpPr>
        <p:grpSpPr>
          <a:xfrm>
            <a:off x="2659952" y="936117"/>
            <a:ext cx="12739496" cy="998918"/>
            <a:chOff x="0" y="-123444"/>
            <a:chExt cx="16985995" cy="1331890"/>
          </a:xfrm>
        </p:grpSpPr>
        <p:grpSp>
          <p:nvGrpSpPr>
            <p:cNvPr id="635" name="Google Shape;635;p5"/>
            <p:cNvGrpSpPr/>
            <p:nvPr/>
          </p:nvGrpSpPr>
          <p:grpSpPr>
            <a:xfrm>
              <a:off x="418345" y="-123444"/>
              <a:ext cx="16009424" cy="1331890"/>
              <a:chOff x="0" y="-19050"/>
              <a:chExt cx="2470590" cy="205539"/>
            </a:xfrm>
          </p:grpSpPr>
          <p:sp>
            <p:nvSpPr>
              <p:cNvPr id="636" name="Google Shape;636;p5"/>
              <p:cNvSpPr/>
              <p:nvPr/>
            </p:nvSpPr>
            <p:spPr>
              <a:xfrm>
                <a:off x="0" y="0"/>
                <a:ext cx="2470590" cy="186489"/>
              </a:xfrm>
              <a:custGeom>
                <a:rect b="b" l="l" r="r" t="t"/>
                <a:pathLst>
                  <a:path extrusionOk="0" h="186489" w="2470590">
                    <a:moveTo>
                      <a:pt x="12593" y="0"/>
                    </a:moveTo>
                    <a:lnTo>
                      <a:pt x="2457997" y="0"/>
                    </a:lnTo>
                    <a:cubicBezTo>
                      <a:pt x="2461337" y="0"/>
                      <a:pt x="2464540" y="1327"/>
                      <a:pt x="2466902" y="3689"/>
                    </a:cubicBezTo>
                    <a:cubicBezTo>
                      <a:pt x="2469263" y="6050"/>
                      <a:pt x="2470590" y="9253"/>
                      <a:pt x="2470590" y="12593"/>
                    </a:cubicBezTo>
                    <a:lnTo>
                      <a:pt x="2470590" y="173895"/>
                    </a:lnTo>
                    <a:cubicBezTo>
                      <a:pt x="2470590" y="177235"/>
                      <a:pt x="2469263" y="180438"/>
                      <a:pt x="2466902" y="182800"/>
                    </a:cubicBezTo>
                    <a:cubicBezTo>
                      <a:pt x="2464540" y="185162"/>
                      <a:pt x="2461337" y="186489"/>
                      <a:pt x="2457997" y="186489"/>
                    </a:cubicBezTo>
                    <a:lnTo>
                      <a:pt x="12593" y="186489"/>
                    </a:lnTo>
                    <a:cubicBezTo>
                      <a:pt x="9253" y="186489"/>
                      <a:pt x="6050" y="185162"/>
                      <a:pt x="3689" y="182800"/>
                    </a:cubicBezTo>
                    <a:cubicBezTo>
                      <a:pt x="1327" y="180438"/>
                      <a:pt x="0" y="177235"/>
                      <a:pt x="0" y="173895"/>
                    </a:cubicBezTo>
                    <a:lnTo>
                      <a:pt x="0" y="12593"/>
                    </a:lnTo>
                    <a:cubicBezTo>
                      <a:pt x="0" y="9253"/>
                      <a:pt x="1327" y="6050"/>
                      <a:pt x="3689" y="3689"/>
                    </a:cubicBezTo>
                    <a:cubicBezTo>
                      <a:pt x="6050" y="1327"/>
                      <a:pt x="9253" y="0"/>
                      <a:pt x="12593" y="0"/>
                    </a:cubicBezTo>
                    <a:close/>
                  </a:path>
                </a:pathLst>
              </a:custGeom>
              <a:solidFill>
                <a:srgbClr val="D0E2F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7" name="Google Shape;637;p5"/>
              <p:cNvSpPr txBox="1"/>
              <p:nvPr/>
            </p:nvSpPr>
            <p:spPr>
              <a:xfrm>
                <a:off x="0" y="-19050"/>
                <a:ext cx="2470590" cy="2055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638" name="Google Shape;638;p5"/>
            <p:cNvSpPr txBox="1"/>
            <p:nvPr/>
          </p:nvSpPr>
          <p:spPr>
            <a:xfrm>
              <a:off x="0" y="210523"/>
              <a:ext cx="16985995" cy="7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TRINETRA CRAETES VALUE FOR AUTHORITIES , CITIZENS AND THE CITY BY TURNING INTO ACTIONABLE INTELLIGENCE - FASTER, SMARTER AND AT SCALE</a:t>
              </a:r>
              <a:endParaRPr/>
            </a:p>
          </p:txBody>
        </p:sp>
      </p:grpSp>
      <p:grpSp>
        <p:nvGrpSpPr>
          <p:cNvPr id="639" name="Google Shape;639;p5"/>
          <p:cNvGrpSpPr/>
          <p:nvPr/>
        </p:nvGrpSpPr>
        <p:grpSpPr>
          <a:xfrm>
            <a:off x="4810527" y="2576421"/>
            <a:ext cx="4219173" cy="2282014"/>
            <a:chOff x="0" y="-19050"/>
            <a:chExt cx="802910" cy="434268"/>
          </a:xfrm>
        </p:grpSpPr>
        <p:sp>
          <p:nvSpPr>
            <p:cNvPr id="640" name="Google Shape;640;p5"/>
            <p:cNvSpPr/>
            <p:nvPr/>
          </p:nvSpPr>
          <p:spPr>
            <a:xfrm>
              <a:off x="0" y="0"/>
              <a:ext cx="802910" cy="415218"/>
            </a:xfrm>
            <a:custGeom>
              <a:rect b="b" l="l" r="r" t="t"/>
              <a:pathLst>
                <a:path extrusionOk="0"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5"/>
            <p:cNvSpPr txBox="1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42" name="Google Shape;642;p5"/>
          <p:cNvGrpSpPr/>
          <p:nvPr/>
        </p:nvGrpSpPr>
        <p:grpSpPr>
          <a:xfrm>
            <a:off x="9392525" y="2576421"/>
            <a:ext cx="4219173" cy="2282014"/>
            <a:chOff x="0" y="-19050"/>
            <a:chExt cx="802910" cy="434268"/>
          </a:xfrm>
        </p:grpSpPr>
        <p:sp>
          <p:nvSpPr>
            <p:cNvPr id="643" name="Google Shape;643;p5"/>
            <p:cNvSpPr/>
            <p:nvPr/>
          </p:nvSpPr>
          <p:spPr>
            <a:xfrm>
              <a:off x="0" y="0"/>
              <a:ext cx="802910" cy="415218"/>
            </a:xfrm>
            <a:custGeom>
              <a:rect b="b" l="l" r="r" t="t"/>
              <a:pathLst>
                <a:path extrusionOk="0"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5"/>
            <p:cNvSpPr txBox="1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45" name="Google Shape;645;p5"/>
          <p:cNvGrpSpPr/>
          <p:nvPr/>
        </p:nvGrpSpPr>
        <p:grpSpPr>
          <a:xfrm>
            <a:off x="13801343" y="2563240"/>
            <a:ext cx="4219212" cy="2226181"/>
            <a:chOff x="0" y="-19050"/>
            <a:chExt cx="802910" cy="423639"/>
          </a:xfrm>
        </p:grpSpPr>
        <p:sp>
          <p:nvSpPr>
            <p:cNvPr id="646" name="Google Shape;646;p5"/>
            <p:cNvSpPr/>
            <p:nvPr/>
          </p:nvSpPr>
          <p:spPr>
            <a:xfrm>
              <a:off x="0" y="0"/>
              <a:ext cx="802910" cy="404589"/>
            </a:xfrm>
            <a:custGeom>
              <a:rect b="b" l="l" r="r" t="t"/>
              <a:pathLst>
                <a:path extrusionOk="0" h="404589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68750"/>
                  </a:lnTo>
                  <a:cubicBezTo>
                    <a:pt x="802910" y="388543"/>
                    <a:pt x="786864" y="404589"/>
                    <a:pt x="767071" y="404589"/>
                  </a:cubicBezTo>
                  <a:lnTo>
                    <a:pt x="35839" y="404589"/>
                  </a:lnTo>
                  <a:cubicBezTo>
                    <a:pt x="16045" y="404589"/>
                    <a:pt x="0" y="388543"/>
                    <a:pt x="0" y="368750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5"/>
            <p:cNvSpPr txBox="1"/>
            <p:nvPr/>
          </p:nvSpPr>
          <p:spPr>
            <a:xfrm>
              <a:off x="0" y="-19050"/>
              <a:ext cx="802910" cy="4236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648" name="Google Shape;648;p5"/>
          <p:cNvCxnSpPr/>
          <p:nvPr/>
        </p:nvCxnSpPr>
        <p:spPr>
          <a:xfrm>
            <a:off x="-575375" y="2291550"/>
            <a:ext cx="19129500" cy="14100"/>
          </a:xfrm>
          <a:prstGeom prst="straightConnector1">
            <a:avLst/>
          </a:pr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5"/>
          <p:cNvCxnSpPr/>
          <p:nvPr/>
        </p:nvCxnSpPr>
        <p:spPr>
          <a:xfrm>
            <a:off x="2679002" y="2305780"/>
            <a:ext cx="0" cy="291653"/>
          </a:xfrm>
          <a:prstGeom prst="straightConnector1">
            <a:avLst/>
          </a:pr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5"/>
          <p:cNvCxnSpPr/>
          <p:nvPr/>
        </p:nvCxnSpPr>
        <p:spPr>
          <a:xfrm>
            <a:off x="6972300" y="2305780"/>
            <a:ext cx="0" cy="291653"/>
          </a:xfrm>
          <a:prstGeom prst="straightConnector1">
            <a:avLst/>
          </a:pr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5"/>
          <p:cNvCxnSpPr/>
          <p:nvPr/>
        </p:nvCxnSpPr>
        <p:spPr>
          <a:xfrm>
            <a:off x="11265598" y="2305780"/>
            <a:ext cx="0" cy="291653"/>
          </a:xfrm>
          <a:prstGeom prst="straightConnector1">
            <a:avLst/>
          </a:pr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2" name="Google Shape;652;p5"/>
          <p:cNvCxnSpPr/>
          <p:nvPr/>
        </p:nvCxnSpPr>
        <p:spPr>
          <a:xfrm>
            <a:off x="16306922" y="2305780"/>
            <a:ext cx="0" cy="291653"/>
          </a:xfrm>
          <a:prstGeom prst="straightConnector1">
            <a:avLst/>
          </a:pr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3" name="Google Shape;653;p5"/>
          <p:cNvSpPr/>
          <p:nvPr/>
        </p:nvSpPr>
        <p:spPr>
          <a:xfrm>
            <a:off x="604481" y="2748775"/>
            <a:ext cx="462721" cy="701092"/>
          </a:xfrm>
          <a:custGeom>
            <a:rect b="b" l="l" r="r" t="t"/>
            <a:pathLst>
              <a:path extrusionOk="0" h="701092" w="462721">
                <a:moveTo>
                  <a:pt x="0" y="0"/>
                </a:moveTo>
                <a:lnTo>
                  <a:pt x="462721" y="0"/>
                </a:lnTo>
                <a:lnTo>
                  <a:pt x="462721" y="701092"/>
                </a:lnTo>
                <a:lnTo>
                  <a:pt x="0" y="7010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54" name="Google Shape;654;p5"/>
          <p:cNvSpPr/>
          <p:nvPr/>
        </p:nvSpPr>
        <p:spPr>
          <a:xfrm>
            <a:off x="5188341" y="2769958"/>
            <a:ext cx="407945" cy="679909"/>
          </a:xfrm>
          <a:custGeom>
            <a:rect b="b" l="l" r="r" t="t"/>
            <a:pathLst>
              <a:path extrusionOk="0" h="679909" w="407945">
                <a:moveTo>
                  <a:pt x="0" y="0"/>
                </a:moveTo>
                <a:lnTo>
                  <a:pt x="407946" y="0"/>
                </a:lnTo>
                <a:lnTo>
                  <a:pt x="407946" y="679909"/>
                </a:lnTo>
                <a:lnTo>
                  <a:pt x="0" y="6799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55" name="Google Shape;655;p5"/>
          <p:cNvSpPr/>
          <p:nvPr/>
        </p:nvSpPr>
        <p:spPr>
          <a:xfrm>
            <a:off x="9583025" y="2795588"/>
            <a:ext cx="646554" cy="695219"/>
          </a:xfrm>
          <a:custGeom>
            <a:rect b="b" l="l" r="r" t="t"/>
            <a:pathLst>
              <a:path extrusionOk="0" h="695219" w="646554">
                <a:moveTo>
                  <a:pt x="0" y="0"/>
                </a:moveTo>
                <a:lnTo>
                  <a:pt x="646554" y="0"/>
                </a:lnTo>
                <a:lnTo>
                  <a:pt x="646554" y="695219"/>
                </a:lnTo>
                <a:lnTo>
                  <a:pt x="0" y="6952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56" name="Google Shape;656;p5"/>
          <p:cNvSpPr/>
          <p:nvPr/>
        </p:nvSpPr>
        <p:spPr>
          <a:xfrm>
            <a:off x="13990968" y="2834515"/>
            <a:ext cx="692304" cy="571151"/>
          </a:xfrm>
          <a:custGeom>
            <a:rect b="b" l="l" r="r" t="t"/>
            <a:pathLst>
              <a:path extrusionOk="0" h="571151" w="692304">
                <a:moveTo>
                  <a:pt x="0" y="0"/>
                </a:moveTo>
                <a:lnTo>
                  <a:pt x="692304" y="0"/>
                </a:lnTo>
                <a:lnTo>
                  <a:pt x="692304" y="571151"/>
                </a:lnTo>
                <a:lnTo>
                  <a:pt x="0" y="5711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657" name="Google Shape;657;p5"/>
          <p:cNvGrpSpPr/>
          <p:nvPr/>
        </p:nvGrpSpPr>
        <p:grpSpPr>
          <a:xfrm>
            <a:off x="256747" y="4873360"/>
            <a:ext cx="4219173" cy="2282014"/>
            <a:chOff x="0" y="-19050"/>
            <a:chExt cx="802910" cy="434268"/>
          </a:xfrm>
        </p:grpSpPr>
        <p:sp>
          <p:nvSpPr>
            <p:cNvPr id="658" name="Google Shape;658;p5"/>
            <p:cNvSpPr/>
            <p:nvPr/>
          </p:nvSpPr>
          <p:spPr>
            <a:xfrm>
              <a:off x="0" y="0"/>
              <a:ext cx="802910" cy="415218"/>
            </a:xfrm>
            <a:custGeom>
              <a:rect b="b" l="l" r="r" t="t"/>
              <a:pathLst>
                <a:path extrusionOk="0"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5"/>
            <p:cNvSpPr txBox="1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0" name="Google Shape;660;p5"/>
          <p:cNvSpPr/>
          <p:nvPr/>
        </p:nvSpPr>
        <p:spPr>
          <a:xfrm>
            <a:off x="370657" y="5086725"/>
            <a:ext cx="436634" cy="698614"/>
          </a:xfrm>
          <a:custGeom>
            <a:rect b="b" l="l" r="r" t="t"/>
            <a:pathLst>
              <a:path extrusionOk="0" h="698614" w="436634">
                <a:moveTo>
                  <a:pt x="0" y="0"/>
                </a:moveTo>
                <a:lnTo>
                  <a:pt x="436634" y="0"/>
                </a:lnTo>
                <a:lnTo>
                  <a:pt x="436634" y="698615"/>
                </a:lnTo>
                <a:lnTo>
                  <a:pt x="0" y="6986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61" name="Google Shape;661;p5"/>
          <p:cNvSpPr txBox="1"/>
          <p:nvPr/>
        </p:nvSpPr>
        <p:spPr>
          <a:xfrm>
            <a:off x="1028700" y="2776538"/>
            <a:ext cx="3419877" cy="6423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FASTER LAW ENFORCEMENT</a:t>
            </a:r>
            <a:endParaRPr/>
          </a:p>
        </p:txBody>
      </p:sp>
      <p:sp>
        <p:nvSpPr>
          <p:cNvPr id="662" name="Google Shape;662;p5"/>
          <p:cNvSpPr txBox="1"/>
          <p:nvPr/>
        </p:nvSpPr>
        <p:spPr>
          <a:xfrm>
            <a:off x="228500" y="3480538"/>
            <a:ext cx="4219200" cy="15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144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Search a vehicle and reconstruct its city-wide movement history.</a:t>
            </a:r>
            <a:endParaRPr sz="15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4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Receive alerts for blacklisted vehicles and suspicious travel patterns.</a:t>
            </a:r>
            <a:endParaRPr sz="15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4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Reduce time spent manually correlating multiple camera records.</a:t>
            </a:r>
            <a:endParaRPr sz="15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5"/>
          <p:cNvSpPr txBox="1"/>
          <p:nvPr/>
        </p:nvSpPr>
        <p:spPr>
          <a:xfrm>
            <a:off x="412491" y="5067675"/>
            <a:ext cx="4312311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REAL-TIME SITUATIONAL AWARENESS</a:t>
            </a:r>
            <a:endParaRPr/>
          </a:p>
        </p:txBody>
      </p:sp>
      <p:sp>
        <p:nvSpPr>
          <p:cNvPr id="664" name="Google Shape;664;p5"/>
          <p:cNvSpPr txBox="1"/>
          <p:nvPr/>
        </p:nvSpPr>
        <p:spPr>
          <a:xfrm>
            <a:off x="459049" y="5733500"/>
            <a:ext cx="4219200" cy="15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04876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50"/>
              <a:buFont typeface="Arial"/>
              <a:buChar char="•"/>
            </a:pPr>
            <a:r>
              <a:rPr b="0" i="0" lang="en-US" sz="9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Live map combines vehicles, cameras, congestion and alerts in one operational view.</a:t>
            </a:r>
            <a:endParaRPr sz="95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4876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50"/>
              <a:buFont typeface="Arial"/>
              <a:buChar char="•"/>
            </a:pPr>
            <a:r>
              <a:rPr b="0" i="0" lang="en-US" sz="9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Alerts are designed to reach the authority dashboard within a &lt;2 sec p99 target. </a:t>
            </a:r>
            <a:endParaRPr sz="95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4876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50"/>
              <a:buFont typeface="Arial"/>
              <a:buChar char="•"/>
            </a:pPr>
            <a:r>
              <a:rPr b="0" i="0" lang="en-US" sz="9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Authorities can move from detection → investigation → action from the same platform.</a:t>
            </a:r>
            <a:endParaRPr sz="95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5"/>
          <p:cNvSpPr/>
          <p:nvPr/>
        </p:nvSpPr>
        <p:spPr>
          <a:xfrm>
            <a:off x="1254830" y="8660324"/>
            <a:ext cx="15975028" cy="776876"/>
          </a:xfrm>
          <a:custGeom>
            <a:rect b="b" l="l" r="r" t="t"/>
            <a:pathLst>
              <a:path extrusionOk="0" h="776876" w="15975028">
                <a:moveTo>
                  <a:pt x="0" y="0"/>
                </a:moveTo>
                <a:lnTo>
                  <a:pt x="15975029" y="0"/>
                </a:lnTo>
                <a:lnTo>
                  <a:pt x="15975029" y="776876"/>
                </a:lnTo>
                <a:lnTo>
                  <a:pt x="0" y="7768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-11046" l="0" r="0" t="-11046"/>
            </a:stretch>
          </a:blipFill>
          <a:ln>
            <a:noFill/>
          </a:ln>
        </p:spPr>
      </p:sp>
      <p:grpSp>
        <p:nvGrpSpPr>
          <p:cNvPr id="666" name="Google Shape;666;p5"/>
          <p:cNvGrpSpPr/>
          <p:nvPr/>
        </p:nvGrpSpPr>
        <p:grpSpPr>
          <a:xfrm>
            <a:off x="13767164" y="4851221"/>
            <a:ext cx="4219173" cy="2282014"/>
            <a:chOff x="0" y="-19050"/>
            <a:chExt cx="802910" cy="434268"/>
          </a:xfrm>
        </p:grpSpPr>
        <p:sp>
          <p:nvSpPr>
            <p:cNvPr id="667" name="Google Shape;667;p5"/>
            <p:cNvSpPr/>
            <p:nvPr/>
          </p:nvSpPr>
          <p:spPr>
            <a:xfrm>
              <a:off x="0" y="0"/>
              <a:ext cx="802910" cy="415218"/>
            </a:xfrm>
            <a:custGeom>
              <a:rect b="b" l="l" r="r" t="t"/>
              <a:pathLst>
                <a:path extrusionOk="0" h="415218" w="802910">
                  <a:moveTo>
                    <a:pt x="35839" y="0"/>
                  </a:moveTo>
                  <a:lnTo>
                    <a:pt x="767071" y="0"/>
                  </a:lnTo>
                  <a:cubicBezTo>
                    <a:pt x="776576" y="0"/>
                    <a:pt x="785692" y="3776"/>
                    <a:pt x="792413" y="10497"/>
                  </a:cubicBezTo>
                  <a:cubicBezTo>
                    <a:pt x="799134" y="17218"/>
                    <a:pt x="802910" y="26334"/>
                    <a:pt x="802910" y="35839"/>
                  </a:cubicBezTo>
                  <a:lnTo>
                    <a:pt x="802910" y="379379"/>
                  </a:lnTo>
                  <a:cubicBezTo>
                    <a:pt x="802910" y="399172"/>
                    <a:pt x="786864" y="415218"/>
                    <a:pt x="767071" y="415218"/>
                  </a:cubicBezTo>
                  <a:lnTo>
                    <a:pt x="35839" y="415218"/>
                  </a:lnTo>
                  <a:cubicBezTo>
                    <a:pt x="16045" y="415218"/>
                    <a:pt x="0" y="399172"/>
                    <a:pt x="0" y="379379"/>
                  </a:cubicBezTo>
                  <a:lnTo>
                    <a:pt x="0" y="35839"/>
                  </a:lnTo>
                  <a:cubicBezTo>
                    <a:pt x="0" y="16045"/>
                    <a:pt x="16045" y="0"/>
                    <a:pt x="35839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5"/>
            <p:cNvSpPr txBox="1"/>
            <p:nvPr/>
          </p:nvSpPr>
          <p:spPr>
            <a:xfrm>
              <a:off x="0" y="-19050"/>
              <a:ext cx="802910" cy="4342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9" name="Google Shape;669;p5"/>
          <p:cNvSpPr txBox="1"/>
          <p:nvPr/>
        </p:nvSpPr>
        <p:spPr>
          <a:xfrm>
            <a:off x="14513094" y="5070371"/>
            <a:ext cx="3348564" cy="3306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 ECONOMIC BENEFITS</a:t>
            </a:r>
            <a:endParaRPr/>
          </a:p>
        </p:txBody>
      </p:sp>
      <p:sp>
        <p:nvSpPr>
          <p:cNvPr id="670" name="Google Shape;670;p5"/>
          <p:cNvSpPr/>
          <p:nvPr/>
        </p:nvSpPr>
        <p:spPr>
          <a:xfrm flipH="1">
            <a:off x="-575547" y="2291550"/>
            <a:ext cx="804947" cy="3773865"/>
          </a:xfrm>
          <a:custGeom>
            <a:rect b="b" l="l" r="r" t="t"/>
            <a:pathLst>
              <a:path extrusionOk="0" h="3736500" w="184939">
                <a:moveTo>
                  <a:pt x="184939" y="0"/>
                </a:moveTo>
                <a:lnTo>
                  <a:pt x="184939" y="3644031"/>
                </a:lnTo>
                <a:cubicBezTo>
                  <a:pt x="184939" y="3668556"/>
                  <a:pt x="175197" y="3692076"/>
                  <a:pt x="157855" y="3709417"/>
                </a:cubicBezTo>
                <a:cubicBezTo>
                  <a:pt x="140514" y="3726758"/>
                  <a:pt x="116994" y="3736501"/>
                  <a:pt x="92470" y="3736501"/>
                </a:cubicBezTo>
                <a:lnTo>
                  <a:pt x="0" y="3736501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"/>
          <p:cNvSpPr/>
          <p:nvPr/>
        </p:nvSpPr>
        <p:spPr>
          <a:xfrm>
            <a:off x="14075305" y="5022085"/>
            <a:ext cx="523630" cy="551189"/>
          </a:xfrm>
          <a:custGeom>
            <a:rect b="b" l="l" r="r" t="t"/>
            <a:pathLst>
              <a:path extrusionOk="0" h="551189" w="523630">
                <a:moveTo>
                  <a:pt x="0" y="0"/>
                </a:moveTo>
                <a:lnTo>
                  <a:pt x="523630" y="0"/>
                </a:lnTo>
                <a:lnTo>
                  <a:pt x="523630" y="551189"/>
                </a:lnTo>
                <a:lnTo>
                  <a:pt x="0" y="5511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672" name="Google Shape;672;p5"/>
          <p:cNvSpPr txBox="1"/>
          <p:nvPr/>
        </p:nvSpPr>
        <p:spPr>
          <a:xfrm>
            <a:off x="5017000" y="3481277"/>
            <a:ext cx="3842100" cy="20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05260" lvl="1" marL="21814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50"/>
              <a:buFont typeface="Arial"/>
              <a:buChar char="•"/>
            </a:pPr>
            <a:r>
              <a:rPr b="0" i="0" lang="en-US" sz="9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Identify congested corridors and traffic hotspots in real time.</a:t>
            </a:r>
            <a:endParaRPr sz="9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5260" lvl="1" marL="21814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50"/>
              <a:buFont typeface="Arial"/>
              <a:buChar char="•"/>
            </a:pPr>
            <a:r>
              <a:rPr b="0" i="0" lang="en-US" sz="9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Analyse origin–destination patterns to understand how traffic moves across the city.</a:t>
            </a:r>
            <a:endParaRPr sz="9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5260" lvl="1" marL="21814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50"/>
              <a:buFont typeface="Arial"/>
              <a:buChar char="•"/>
            </a:pPr>
            <a:r>
              <a:rPr b="0" i="0" lang="en-US" sz="95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Support better decisions on traffic diversion, infrastructure and peak-hour management.</a:t>
            </a:r>
            <a:endParaRPr sz="9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F497D"/>
                </a:solidFill>
              </a:rPr>
              <a:t>Less time in traffic → Faster mobility → Better city-wide traffic flow</a:t>
            </a:r>
            <a:endParaRPr b="1" sz="95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5"/>
          <p:cNvSpPr/>
          <p:nvPr/>
        </p:nvSpPr>
        <p:spPr>
          <a:xfrm>
            <a:off x="6308507" y="4973465"/>
            <a:ext cx="5626069" cy="2159771"/>
          </a:xfrm>
          <a:custGeom>
            <a:rect b="b" l="l" r="r" t="t"/>
            <a:pathLst>
              <a:path extrusionOk="0" h="2159771" w="5626069">
                <a:moveTo>
                  <a:pt x="0" y="0"/>
                </a:moveTo>
                <a:lnTo>
                  <a:pt x="5626070" y="0"/>
                </a:lnTo>
                <a:lnTo>
                  <a:pt x="5626070" y="2159770"/>
                </a:lnTo>
                <a:lnTo>
                  <a:pt x="0" y="21597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-28029" l="-3975" r="-175933" t="-282110"/>
            </a:stretch>
          </a:blipFill>
          <a:ln>
            <a:noFill/>
          </a:ln>
        </p:spPr>
      </p:sp>
      <p:grpSp>
        <p:nvGrpSpPr>
          <p:cNvPr id="674" name="Google Shape;674;p5"/>
          <p:cNvGrpSpPr/>
          <p:nvPr/>
        </p:nvGrpSpPr>
        <p:grpSpPr>
          <a:xfrm>
            <a:off x="296887" y="7302919"/>
            <a:ext cx="5554580" cy="974195"/>
            <a:chOff x="0" y="-19050"/>
            <a:chExt cx="1057038" cy="185390"/>
          </a:xfrm>
        </p:grpSpPr>
        <p:sp>
          <p:nvSpPr>
            <p:cNvPr id="675" name="Google Shape;675;p5"/>
            <p:cNvSpPr/>
            <p:nvPr/>
          </p:nvSpPr>
          <p:spPr>
            <a:xfrm>
              <a:off x="0" y="0"/>
              <a:ext cx="1057038" cy="166340"/>
            </a:xfrm>
            <a:custGeom>
              <a:rect b="b" l="l" r="r" t="t"/>
              <a:pathLst>
                <a:path extrusionOk="0" h="166340" w="1057038">
                  <a:moveTo>
                    <a:pt x="27222" y="0"/>
                  </a:moveTo>
                  <a:lnTo>
                    <a:pt x="1029816" y="0"/>
                  </a:lnTo>
                  <a:cubicBezTo>
                    <a:pt x="1037035" y="0"/>
                    <a:pt x="1043960" y="2868"/>
                    <a:pt x="1049065" y="7973"/>
                  </a:cubicBezTo>
                  <a:cubicBezTo>
                    <a:pt x="1054170" y="13078"/>
                    <a:pt x="1057038" y="20003"/>
                    <a:pt x="1057038" y="27222"/>
                  </a:cubicBezTo>
                  <a:lnTo>
                    <a:pt x="1057038" y="139117"/>
                  </a:lnTo>
                  <a:cubicBezTo>
                    <a:pt x="1057038" y="146337"/>
                    <a:pt x="1054170" y="153261"/>
                    <a:pt x="1049065" y="158366"/>
                  </a:cubicBezTo>
                  <a:cubicBezTo>
                    <a:pt x="1043960" y="163471"/>
                    <a:pt x="1037035" y="166340"/>
                    <a:pt x="1029816" y="166340"/>
                  </a:cubicBezTo>
                  <a:lnTo>
                    <a:pt x="27222" y="166340"/>
                  </a:lnTo>
                  <a:cubicBezTo>
                    <a:pt x="20003" y="166340"/>
                    <a:pt x="13078" y="163471"/>
                    <a:pt x="7973" y="158366"/>
                  </a:cubicBezTo>
                  <a:cubicBezTo>
                    <a:pt x="2868" y="153261"/>
                    <a:pt x="0" y="146337"/>
                    <a:pt x="0" y="139117"/>
                  </a:cubicBezTo>
                  <a:lnTo>
                    <a:pt x="0" y="27222"/>
                  </a:lnTo>
                  <a:cubicBezTo>
                    <a:pt x="0" y="20003"/>
                    <a:pt x="2868" y="13078"/>
                    <a:pt x="7973" y="7973"/>
                  </a:cubicBezTo>
                  <a:cubicBezTo>
                    <a:pt x="13078" y="2868"/>
                    <a:pt x="20003" y="0"/>
                    <a:pt x="27222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5"/>
            <p:cNvSpPr txBox="1"/>
            <p:nvPr/>
          </p:nvSpPr>
          <p:spPr>
            <a:xfrm>
              <a:off x="0" y="-19050"/>
              <a:ext cx="1057038" cy="1853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77" name="Google Shape;677;p5"/>
          <p:cNvSpPr/>
          <p:nvPr/>
        </p:nvSpPr>
        <p:spPr>
          <a:xfrm>
            <a:off x="209205" y="7337411"/>
            <a:ext cx="1045625" cy="1045625"/>
          </a:xfrm>
          <a:custGeom>
            <a:rect b="b" l="l" r="r" t="t"/>
            <a:pathLst>
              <a:path extrusionOk="0" h="812800" w="812800">
                <a:moveTo>
                  <a:pt x="170294" y="0"/>
                </a:moveTo>
                <a:lnTo>
                  <a:pt x="642506" y="0"/>
                </a:lnTo>
                <a:cubicBezTo>
                  <a:pt x="736557" y="0"/>
                  <a:pt x="812800" y="76243"/>
                  <a:pt x="812800" y="170294"/>
                </a:cubicBezTo>
                <a:lnTo>
                  <a:pt x="812800" y="642506"/>
                </a:lnTo>
                <a:cubicBezTo>
                  <a:pt x="812800" y="736557"/>
                  <a:pt x="736557" y="812800"/>
                  <a:pt x="642506" y="812800"/>
                </a:cubicBezTo>
                <a:lnTo>
                  <a:pt x="170294" y="812800"/>
                </a:lnTo>
                <a:cubicBezTo>
                  <a:pt x="76243" y="812800"/>
                  <a:pt x="0" y="736557"/>
                  <a:pt x="0" y="642506"/>
                </a:cubicBezTo>
                <a:lnTo>
                  <a:pt x="0" y="170294"/>
                </a:lnTo>
                <a:cubicBezTo>
                  <a:pt x="0" y="76243"/>
                  <a:pt x="76243" y="0"/>
                  <a:pt x="170294" y="0"/>
                </a:cubicBez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-42305" r="-42305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78" name="Google Shape;678;p5"/>
          <p:cNvGrpSpPr/>
          <p:nvPr/>
        </p:nvGrpSpPr>
        <p:grpSpPr>
          <a:xfrm>
            <a:off x="12731076" y="7242680"/>
            <a:ext cx="5101900" cy="974195"/>
            <a:chOff x="0" y="-19050"/>
            <a:chExt cx="970893" cy="185390"/>
          </a:xfrm>
        </p:grpSpPr>
        <p:sp>
          <p:nvSpPr>
            <p:cNvPr id="679" name="Google Shape;679;p5"/>
            <p:cNvSpPr/>
            <p:nvPr/>
          </p:nvSpPr>
          <p:spPr>
            <a:xfrm>
              <a:off x="0" y="0"/>
              <a:ext cx="970893" cy="166340"/>
            </a:xfrm>
            <a:custGeom>
              <a:rect b="b" l="l" r="r" t="t"/>
              <a:pathLst>
                <a:path extrusionOk="0" h="166340" w="970893">
                  <a:moveTo>
                    <a:pt x="29638" y="0"/>
                  </a:moveTo>
                  <a:lnTo>
                    <a:pt x="941255" y="0"/>
                  </a:lnTo>
                  <a:cubicBezTo>
                    <a:pt x="949115" y="0"/>
                    <a:pt x="956654" y="3123"/>
                    <a:pt x="962212" y="8681"/>
                  </a:cubicBezTo>
                  <a:cubicBezTo>
                    <a:pt x="967770" y="14239"/>
                    <a:pt x="970893" y="21777"/>
                    <a:pt x="970893" y="29638"/>
                  </a:cubicBezTo>
                  <a:lnTo>
                    <a:pt x="970893" y="136702"/>
                  </a:lnTo>
                  <a:cubicBezTo>
                    <a:pt x="970893" y="144562"/>
                    <a:pt x="967770" y="152101"/>
                    <a:pt x="962212" y="157659"/>
                  </a:cubicBezTo>
                  <a:cubicBezTo>
                    <a:pt x="956654" y="163217"/>
                    <a:pt x="949115" y="166340"/>
                    <a:pt x="941255" y="166340"/>
                  </a:cubicBezTo>
                  <a:lnTo>
                    <a:pt x="29638" y="166340"/>
                  </a:lnTo>
                  <a:cubicBezTo>
                    <a:pt x="21777" y="166340"/>
                    <a:pt x="14239" y="163217"/>
                    <a:pt x="8681" y="157659"/>
                  </a:cubicBezTo>
                  <a:cubicBezTo>
                    <a:pt x="3123" y="152101"/>
                    <a:pt x="0" y="144562"/>
                    <a:pt x="0" y="136702"/>
                  </a:cubicBezTo>
                  <a:lnTo>
                    <a:pt x="0" y="29638"/>
                  </a:lnTo>
                  <a:cubicBezTo>
                    <a:pt x="0" y="21777"/>
                    <a:pt x="3123" y="14239"/>
                    <a:pt x="8681" y="8681"/>
                  </a:cubicBezTo>
                  <a:cubicBezTo>
                    <a:pt x="14239" y="3123"/>
                    <a:pt x="21777" y="0"/>
                    <a:pt x="29638" y="0"/>
                  </a:cubicBezTo>
                  <a:close/>
                </a:path>
              </a:pathLst>
            </a:custGeom>
            <a:solidFill>
              <a:srgbClr val="EBF4FF"/>
            </a:solidFill>
            <a:ln cap="rnd" cmpd="sng" w="38100">
              <a:solidFill>
                <a:srgbClr val="4A7EB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5"/>
            <p:cNvSpPr txBox="1"/>
            <p:nvPr/>
          </p:nvSpPr>
          <p:spPr>
            <a:xfrm>
              <a:off x="0" y="-19050"/>
              <a:ext cx="970893" cy="1853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81" name="Google Shape;681;p5"/>
          <p:cNvSpPr/>
          <p:nvPr/>
        </p:nvSpPr>
        <p:spPr>
          <a:xfrm>
            <a:off x="12583587" y="7257017"/>
            <a:ext cx="1098506" cy="1098506"/>
          </a:xfrm>
          <a:custGeom>
            <a:rect b="b" l="l" r="r" t="t"/>
            <a:pathLst>
              <a:path extrusionOk="0" h="812800" w="812800">
                <a:moveTo>
                  <a:pt x="162097" y="0"/>
                </a:moveTo>
                <a:lnTo>
                  <a:pt x="650703" y="0"/>
                </a:lnTo>
                <a:cubicBezTo>
                  <a:pt x="740227" y="0"/>
                  <a:pt x="812800" y="72573"/>
                  <a:pt x="812800" y="162097"/>
                </a:cubicBezTo>
                <a:lnTo>
                  <a:pt x="812800" y="650703"/>
                </a:lnTo>
                <a:cubicBezTo>
                  <a:pt x="812800" y="740227"/>
                  <a:pt x="740227" y="812800"/>
                  <a:pt x="650703" y="812800"/>
                </a:cubicBezTo>
                <a:lnTo>
                  <a:pt x="162097" y="812800"/>
                </a:lnTo>
                <a:cubicBezTo>
                  <a:pt x="72573" y="812800"/>
                  <a:pt x="0" y="740227"/>
                  <a:pt x="0" y="650703"/>
                </a:cubicBezTo>
                <a:lnTo>
                  <a:pt x="0" y="162097"/>
                </a:lnTo>
                <a:cubicBezTo>
                  <a:pt x="0" y="72573"/>
                  <a:pt x="72573" y="0"/>
                  <a:pt x="162097" y="0"/>
                </a:cubicBez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 cap="rnd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"/>
          <p:cNvSpPr txBox="1"/>
          <p:nvPr/>
        </p:nvSpPr>
        <p:spPr>
          <a:xfrm>
            <a:off x="5682012" y="2776538"/>
            <a:ext cx="3348564" cy="6423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SMARTER TRAFFIC MANAGEMENT</a:t>
            </a:r>
            <a:endParaRPr/>
          </a:p>
        </p:txBody>
      </p:sp>
      <p:sp>
        <p:nvSpPr>
          <p:cNvPr id="683" name="Google Shape;683;p5"/>
          <p:cNvSpPr txBox="1"/>
          <p:nvPr/>
        </p:nvSpPr>
        <p:spPr>
          <a:xfrm>
            <a:off x="10401029" y="2828646"/>
            <a:ext cx="3092700" cy="3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ANOMOLY</a:t>
            </a:r>
            <a:r>
              <a:rPr b="1" lang="en-US" sz="20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 DETECTION</a:t>
            </a:r>
            <a:endParaRPr/>
          </a:p>
        </p:txBody>
      </p:sp>
      <p:sp>
        <p:nvSpPr>
          <p:cNvPr id="684" name="Google Shape;684;p5"/>
          <p:cNvSpPr txBox="1"/>
          <p:nvPr/>
        </p:nvSpPr>
        <p:spPr>
          <a:xfrm>
            <a:off x="9459250" y="3429300"/>
            <a:ext cx="4119000" cy="16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0805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Detect blacklisted/wanted vehicles as they appear at monitored locations.</a:t>
            </a:r>
            <a:endParaRPr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805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Flag impossible travel / potential cloned plates when the same identity appears at physically incompatible locations.</a:t>
            </a:r>
            <a:endParaRPr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805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Detect unusual traffic or camera behaviour through continuous monitoring.</a:t>
            </a:r>
            <a:endParaRPr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5"/>
          <p:cNvSpPr txBox="1"/>
          <p:nvPr/>
        </p:nvSpPr>
        <p:spPr>
          <a:xfrm>
            <a:off x="14768997" y="2763357"/>
            <a:ext cx="309266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BETTER CAMERA UTILISATION</a:t>
            </a:r>
            <a:endParaRPr/>
          </a:p>
        </p:txBody>
      </p:sp>
      <p:sp>
        <p:nvSpPr>
          <p:cNvPr id="686" name="Google Shape;686;p5"/>
          <p:cNvSpPr txBox="1"/>
          <p:nvPr/>
        </p:nvSpPr>
        <p:spPr>
          <a:xfrm>
            <a:off x="14007828" y="3593437"/>
            <a:ext cx="3806204" cy="1047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0805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Convert individual camera detections into city-wide intelligence.</a:t>
            </a:r>
            <a:endParaRPr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805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Monitor camera health, data freshness and inactive nodes.</a:t>
            </a:r>
            <a:endParaRPr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805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Existing cameras can feed the platform through a common event interface instead of requiring a completely new system.</a:t>
            </a:r>
            <a:endParaRPr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5"/>
          <p:cNvSpPr txBox="1"/>
          <p:nvPr/>
        </p:nvSpPr>
        <p:spPr>
          <a:xfrm>
            <a:off x="13990968" y="5640662"/>
            <a:ext cx="3806100" cy="163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017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Reduced manual investigation effort → less time and manpower spent correlating CCTV/ANPR records.</a:t>
            </a:r>
            <a:endParaRPr sz="9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7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Better use of existing infrastructure → extracts more intelligence from deployed cameras without requiring an entirely new surveillance network.</a:t>
            </a:r>
            <a:endParaRPr sz="9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701" lvl="1" marL="216101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Lower operational costs → event-based processing reduces the need to centrally move and store continuous video.</a:t>
            </a:r>
            <a:endParaRPr sz="900"/>
          </a:p>
          <a:p>
            <a:pPr indent="0" lvl="0" marL="0" marR="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F497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5"/>
          <p:cNvSpPr txBox="1"/>
          <p:nvPr/>
        </p:nvSpPr>
        <p:spPr>
          <a:xfrm>
            <a:off x="7181522" y="8233190"/>
            <a:ext cx="4422007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9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MEASURABLE IMPACTS</a:t>
            </a:r>
            <a:endParaRPr/>
          </a:p>
        </p:txBody>
      </p:sp>
      <p:sp>
        <p:nvSpPr>
          <p:cNvPr id="689" name="Google Shape;689;p5"/>
          <p:cNvSpPr txBox="1"/>
          <p:nvPr/>
        </p:nvSpPr>
        <p:spPr>
          <a:xfrm>
            <a:off x="1351363" y="7526849"/>
            <a:ext cx="4500103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90" u="sng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  <a:hlinkClick r:id="rId1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Ministry of Road Transport and Highways</a:t>
            </a:r>
            <a:endParaRPr/>
          </a:p>
        </p:txBody>
      </p:sp>
      <p:sp>
        <p:nvSpPr>
          <p:cNvPr id="690" name="Google Shape;690;p5"/>
          <p:cNvSpPr txBox="1"/>
          <p:nvPr/>
        </p:nvSpPr>
        <p:spPr>
          <a:xfrm>
            <a:off x="14152970" y="7495185"/>
            <a:ext cx="4040727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76" u="sng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  <a:hlinkClick r:id="rId1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Delhi Traffic Police</a:t>
            </a:r>
            <a:endParaRPr/>
          </a:p>
        </p:txBody>
      </p:sp>
      <p:sp>
        <p:nvSpPr>
          <p:cNvPr id="691" name="Google Shape;691;p5"/>
          <p:cNvSpPr/>
          <p:nvPr/>
        </p:nvSpPr>
        <p:spPr>
          <a:xfrm>
            <a:off x="18183653" y="2458180"/>
            <a:ext cx="322971" cy="3675915"/>
          </a:xfrm>
          <a:custGeom>
            <a:rect b="b" l="l" r="r" t="t"/>
            <a:pathLst>
              <a:path extrusionOk="0" h="3736500" w="184939">
                <a:moveTo>
                  <a:pt x="184939" y="0"/>
                </a:moveTo>
                <a:lnTo>
                  <a:pt x="184939" y="3644031"/>
                </a:lnTo>
                <a:cubicBezTo>
                  <a:pt x="184939" y="3668556"/>
                  <a:pt x="175197" y="3692076"/>
                  <a:pt x="157855" y="3709417"/>
                </a:cubicBezTo>
                <a:cubicBezTo>
                  <a:pt x="140514" y="3726758"/>
                  <a:pt x="116994" y="3736501"/>
                  <a:pt x="92470" y="3736501"/>
                </a:cubicBezTo>
                <a:lnTo>
                  <a:pt x="0" y="3736501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5"/>
          <p:cNvSpPr/>
          <p:nvPr/>
        </p:nvSpPr>
        <p:spPr>
          <a:xfrm>
            <a:off x="18031253" y="2317688"/>
            <a:ext cx="522751" cy="3850933"/>
          </a:xfrm>
          <a:custGeom>
            <a:rect b="b" l="l" r="r" t="t"/>
            <a:pathLst>
              <a:path extrusionOk="0" h="3736500" w="184939">
                <a:moveTo>
                  <a:pt x="184939" y="0"/>
                </a:moveTo>
                <a:lnTo>
                  <a:pt x="184939" y="3644031"/>
                </a:lnTo>
                <a:cubicBezTo>
                  <a:pt x="184939" y="3668556"/>
                  <a:pt x="175197" y="3692076"/>
                  <a:pt x="157855" y="3709417"/>
                </a:cubicBezTo>
                <a:cubicBezTo>
                  <a:pt x="140514" y="3726758"/>
                  <a:pt x="116994" y="3736501"/>
                  <a:pt x="92470" y="3736501"/>
                </a:cubicBezTo>
                <a:lnTo>
                  <a:pt x="0" y="3736501"/>
                </a:lnTo>
              </a:path>
            </a:pathLst>
          </a:custGeom>
          <a:noFill/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"/>
          <p:cNvSpPr/>
          <p:nvPr/>
        </p:nvSpPr>
        <p:spPr>
          <a:xfrm>
            <a:off x="0" y="9532144"/>
            <a:ext cx="18288000" cy="754856"/>
          </a:xfrm>
          <a:custGeom>
            <a:rect b="b" l="l" r="r" t="t"/>
            <a:pathLst>
              <a:path extrusionOk="0" h="1006475" w="24384000">
                <a:moveTo>
                  <a:pt x="0" y="0"/>
                </a:moveTo>
                <a:lnTo>
                  <a:pt x="24384000" y="0"/>
                </a:lnTo>
                <a:lnTo>
                  <a:pt x="24384000" y="1006475"/>
                </a:lnTo>
                <a:lnTo>
                  <a:pt x="0" y="10064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</p:sp>
      <p:grpSp>
        <p:nvGrpSpPr>
          <p:cNvPr id="702" name="Google Shape;702;p6"/>
          <p:cNvGrpSpPr/>
          <p:nvPr/>
        </p:nvGrpSpPr>
        <p:grpSpPr>
          <a:xfrm>
            <a:off x="914400" y="-299266"/>
            <a:ext cx="16459200" cy="1735931"/>
            <a:chOff x="0" y="-28575"/>
            <a:chExt cx="21945600" cy="2314575"/>
          </a:xfrm>
        </p:grpSpPr>
        <p:sp>
          <p:nvSpPr>
            <p:cNvPr id="703" name="Google Shape;703;p6"/>
            <p:cNvSpPr/>
            <p:nvPr/>
          </p:nvSpPr>
          <p:spPr>
            <a:xfrm>
              <a:off x="0" y="0"/>
              <a:ext cx="21945600" cy="2286000"/>
            </a:xfrm>
            <a:custGeom>
              <a:rect b="b" l="l" r="r" t="t"/>
              <a:pathLst>
                <a:path extrusionOk="0"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37056" l="0" r="0" t="-137056"/>
              </a:stretch>
            </a:blipFill>
            <a:ln>
              <a:noFill/>
            </a:ln>
          </p:spPr>
        </p:sp>
        <p:sp>
          <p:nvSpPr>
            <p:cNvPr id="704" name="Google Shape;704;p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400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RESEARCH  AND REFERENCES</a:t>
              </a:r>
              <a:endParaRPr/>
            </a:p>
          </p:txBody>
        </p:sp>
      </p:grpSp>
      <p:grpSp>
        <p:nvGrpSpPr>
          <p:cNvPr id="705" name="Google Shape;705;p6"/>
          <p:cNvGrpSpPr/>
          <p:nvPr/>
        </p:nvGrpSpPr>
        <p:grpSpPr>
          <a:xfrm>
            <a:off x="13106400" y="9520237"/>
            <a:ext cx="4267200" cy="561976"/>
            <a:chOff x="0" y="-19050"/>
            <a:chExt cx="5689600" cy="749300"/>
          </a:xfrm>
        </p:grpSpPr>
        <p:sp>
          <p:nvSpPr>
            <p:cNvPr id="706" name="Google Shape;706;p6"/>
            <p:cNvSpPr/>
            <p:nvPr/>
          </p:nvSpPr>
          <p:spPr>
            <a:xfrm>
              <a:off x="0" y="0"/>
              <a:ext cx="5689600" cy="730250"/>
            </a:xfrm>
            <a:custGeom>
              <a:rect b="b" l="l" r="r" t="t"/>
              <a:pathLst>
                <a:path extrusionOk="0"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01810" l="0" r="0" t="-101810"/>
              </a:stretch>
            </a:blipFill>
            <a:ln>
              <a:noFill/>
            </a:ln>
          </p:spPr>
        </p:sp>
        <p:sp>
          <p:nvSpPr>
            <p:cNvPr id="707" name="Google Shape;707;p6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6</a:t>
              </a:r>
              <a:endParaRPr/>
            </a:p>
          </p:txBody>
        </p:sp>
      </p:grpSp>
      <p:grpSp>
        <p:nvGrpSpPr>
          <p:cNvPr id="708" name="Google Shape;708;p6"/>
          <p:cNvGrpSpPr/>
          <p:nvPr/>
        </p:nvGrpSpPr>
        <p:grpSpPr>
          <a:xfrm>
            <a:off x="427170" y="93743"/>
            <a:ext cx="1915887" cy="1291973"/>
            <a:chOff x="0" y="-57150"/>
            <a:chExt cx="2554516" cy="1722631"/>
          </a:xfrm>
        </p:grpSpPr>
        <p:sp>
          <p:nvSpPr>
            <p:cNvPr descr="Your startup LOGO" id="709" name="Google Shape;709;p6"/>
            <p:cNvSpPr/>
            <p:nvPr/>
          </p:nvSpPr>
          <p:spPr>
            <a:xfrm>
              <a:off x="0" y="0"/>
              <a:ext cx="2554478" cy="1665481"/>
            </a:xfrm>
            <a:custGeom>
              <a:rect b="b" l="l" r="r" t="t"/>
              <a:pathLst>
                <a:path extrusionOk="0" h="1665481" w="2554478">
                  <a:moveTo>
                    <a:pt x="0" y="832740"/>
                  </a:moveTo>
                  <a:cubicBezTo>
                    <a:pt x="0" y="372873"/>
                    <a:pt x="571881" y="0"/>
                    <a:pt x="1277239" y="0"/>
                  </a:cubicBezTo>
                  <a:cubicBezTo>
                    <a:pt x="1982597" y="0"/>
                    <a:pt x="2554478" y="372873"/>
                    <a:pt x="2554478" y="832740"/>
                  </a:cubicBezTo>
                  <a:cubicBezTo>
                    <a:pt x="2554478" y="1292608"/>
                    <a:pt x="1982597" y="1665481"/>
                    <a:pt x="1277239" y="1665481"/>
                  </a:cubicBezTo>
                  <a:cubicBezTo>
                    <a:pt x="571881" y="1665481"/>
                    <a:pt x="0" y="1292608"/>
                    <a:pt x="0" y="832740"/>
                  </a:cubicBezTo>
                  <a:close/>
                </a:path>
              </a:pathLst>
            </a:custGeom>
            <a:solidFill>
              <a:srgbClr val="FFFFFF"/>
            </a:solidFill>
            <a:ln cap="sq" cmpd="sng" w="38100">
              <a:solidFill>
                <a:srgbClr val="8064A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6"/>
            <p:cNvSpPr txBox="1"/>
            <p:nvPr/>
          </p:nvSpPr>
          <p:spPr>
            <a:xfrm>
              <a:off x="0" y="-57150"/>
              <a:ext cx="2554516" cy="172261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Baazigars</a:t>
              </a:r>
              <a:endParaRPr/>
            </a:p>
          </p:txBody>
        </p:sp>
      </p:grpSp>
      <p:sp>
        <p:nvSpPr>
          <p:cNvPr descr="https://www.sih.gov.in/img1/SIH-Logo.png" id="711" name="Google Shape;711;p6"/>
          <p:cNvSpPr/>
          <p:nvPr/>
        </p:nvSpPr>
        <p:spPr>
          <a:xfrm>
            <a:off x="15518008" y="85649"/>
            <a:ext cx="2557696" cy="1300059"/>
          </a:xfrm>
          <a:custGeom>
            <a:rect b="b" l="l" r="r" t="t"/>
            <a:pathLst>
              <a:path extrusionOk="0" h="2245741" w="4418203">
                <a:moveTo>
                  <a:pt x="0" y="0"/>
                </a:moveTo>
                <a:lnTo>
                  <a:pt x="4418203" y="0"/>
                </a:lnTo>
                <a:lnTo>
                  <a:pt x="4418203" y="2245741"/>
                </a:lnTo>
                <a:lnTo>
                  <a:pt x="0" y="22457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712" name="Google Shape;712;p6"/>
          <p:cNvGrpSpPr/>
          <p:nvPr/>
        </p:nvGrpSpPr>
        <p:grpSpPr>
          <a:xfrm>
            <a:off x="6741000" y="9621440"/>
            <a:ext cx="4806001" cy="561976"/>
            <a:chOff x="0" y="-19050"/>
            <a:chExt cx="6408001" cy="749300"/>
          </a:xfrm>
        </p:grpSpPr>
        <p:sp>
          <p:nvSpPr>
            <p:cNvPr id="713" name="Google Shape;713;p6"/>
            <p:cNvSpPr/>
            <p:nvPr/>
          </p:nvSpPr>
          <p:spPr>
            <a:xfrm>
              <a:off x="0" y="0"/>
              <a:ext cx="6408000" cy="730250"/>
            </a:xfrm>
            <a:custGeom>
              <a:rect b="b" l="l" r="r" t="t"/>
              <a:pathLst>
                <a:path extrusionOk="0"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 rotWithShape="1">
              <a:blip r:embed="rId3">
                <a:alphaModFix amt="0"/>
              </a:blip>
              <a:stretch>
                <a:fillRect b="-120987" l="0" r="0" t="-120987"/>
              </a:stretch>
            </a:blipFill>
            <a:ln>
              <a:noFill/>
            </a:ln>
          </p:spPr>
        </p:sp>
        <p:sp>
          <p:nvSpPr>
            <p:cNvPr id="714" name="Google Shape;714;p6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Team: Baazigars | SIH26127</a:t>
              </a:r>
              <a:endParaRPr/>
            </a:p>
          </p:txBody>
        </p:sp>
      </p:grpSp>
      <p:sp>
        <p:nvSpPr>
          <p:cNvPr id="715" name="Google Shape;715;p6"/>
          <p:cNvSpPr/>
          <p:nvPr/>
        </p:nvSpPr>
        <p:spPr>
          <a:xfrm>
            <a:off x="1150448" y="2233580"/>
            <a:ext cx="15987105" cy="2777759"/>
          </a:xfrm>
          <a:custGeom>
            <a:rect b="b" l="l" r="r" t="t"/>
            <a:pathLst>
              <a:path extrusionOk="0" h="2777759" w="15987105">
                <a:moveTo>
                  <a:pt x="0" y="0"/>
                </a:moveTo>
                <a:lnTo>
                  <a:pt x="15987104" y="0"/>
                </a:lnTo>
                <a:lnTo>
                  <a:pt x="15987104" y="2777759"/>
                </a:lnTo>
                <a:lnTo>
                  <a:pt x="0" y="27777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716" name="Google Shape;716;p6"/>
          <p:cNvGrpSpPr/>
          <p:nvPr/>
        </p:nvGrpSpPr>
        <p:grpSpPr>
          <a:xfrm>
            <a:off x="2040780" y="1277012"/>
            <a:ext cx="14206441" cy="883502"/>
            <a:chOff x="0" y="-19050"/>
            <a:chExt cx="2923136" cy="181791"/>
          </a:xfrm>
        </p:grpSpPr>
        <p:sp>
          <p:nvSpPr>
            <p:cNvPr id="717" name="Google Shape;717;p6"/>
            <p:cNvSpPr/>
            <p:nvPr/>
          </p:nvSpPr>
          <p:spPr>
            <a:xfrm>
              <a:off x="0" y="0"/>
              <a:ext cx="2923136" cy="162741"/>
            </a:xfrm>
            <a:custGeom>
              <a:rect b="b" l="l" r="r" t="t"/>
              <a:pathLst>
                <a:path extrusionOk="0" h="162741" w="2923136">
                  <a:moveTo>
                    <a:pt x="10644" y="0"/>
                  </a:moveTo>
                  <a:lnTo>
                    <a:pt x="2912492" y="0"/>
                  </a:lnTo>
                  <a:cubicBezTo>
                    <a:pt x="2918371" y="0"/>
                    <a:pt x="2923136" y="4765"/>
                    <a:pt x="2923136" y="10644"/>
                  </a:cubicBezTo>
                  <a:lnTo>
                    <a:pt x="2923136" y="152097"/>
                  </a:lnTo>
                  <a:cubicBezTo>
                    <a:pt x="2923136" y="154920"/>
                    <a:pt x="2922014" y="157627"/>
                    <a:pt x="2920018" y="159623"/>
                  </a:cubicBezTo>
                  <a:cubicBezTo>
                    <a:pt x="2918022" y="161619"/>
                    <a:pt x="2915315" y="162741"/>
                    <a:pt x="2912492" y="162741"/>
                  </a:cubicBezTo>
                  <a:lnTo>
                    <a:pt x="10644" y="162741"/>
                  </a:lnTo>
                  <a:cubicBezTo>
                    <a:pt x="4765" y="162741"/>
                    <a:pt x="0" y="157975"/>
                    <a:pt x="0" y="152097"/>
                  </a:cubicBezTo>
                  <a:lnTo>
                    <a:pt x="0" y="10644"/>
                  </a:lnTo>
                  <a:cubicBezTo>
                    <a:pt x="0" y="7821"/>
                    <a:pt x="1121" y="5114"/>
                    <a:pt x="3117" y="3117"/>
                  </a:cubicBezTo>
                  <a:cubicBezTo>
                    <a:pt x="5114" y="1121"/>
                    <a:pt x="7821" y="0"/>
                    <a:pt x="10644" y="0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6"/>
            <p:cNvSpPr txBox="1"/>
            <p:nvPr/>
          </p:nvSpPr>
          <p:spPr>
            <a:xfrm>
              <a:off x="0" y="-19050"/>
              <a:ext cx="2923136" cy="18179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TriNetra combines established research in ANPR, OCR, vehicle re-identification and traffic simulation with scalable event-driven systems to build a unified city-wide intelligence platform</a:t>
              </a:r>
              <a:endParaRPr/>
            </a:p>
          </p:txBody>
        </p:sp>
      </p:grpSp>
      <p:sp>
        <p:nvSpPr>
          <p:cNvPr id="719" name="Google Shape;719;p6"/>
          <p:cNvSpPr/>
          <p:nvPr/>
        </p:nvSpPr>
        <p:spPr>
          <a:xfrm>
            <a:off x="821847" y="5641727"/>
            <a:ext cx="413705" cy="413705"/>
          </a:xfrm>
          <a:custGeom>
            <a:rect b="b" l="l" r="r" t="t"/>
            <a:pathLst>
              <a:path extrusionOk="0" h="413705" w="413705">
                <a:moveTo>
                  <a:pt x="0" y="0"/>
                </a:moveTo>
                <a:lnTo>
                  <a:pt x="413706" y="0"/>
                </a:lnTo>
                <a:lnTo>
                  <a:pt x="413706" y="413706"/>
                </a:lnTo>
                <a:lnTo>
                  <a:pt x="0" y="4137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20" name="Google Shape;720;p6"/>
          <p:cNvSpPr txBox="1"/>
          <p:nvPr/>
        </p:nvSpPr>
        <p:spPr>
          <a:xfrm>
            <a:off x="1150450" y="5151025"/>
            <a:ext cx="12483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SIH26127 — City-Wide AI Engine for Multi-Camera ANPR Trajectory Tracking and Urban Traffic Analytics</a:t>
            </a:r>
            <a:endParaRPr/>
          </a:p>
        </p:txBody>
      </p:sp>
      <p:sp>
        <p:nvSpPr>
          <p:cNvPr id="721" name="Google Shape;721;p6"/>
          <p:cNvSpPr/>
          <p:nvPr/>
        </p:nvSpPr>
        <p:spPr>
          <a:xfrm>
            <a:off x="8154387" y="5641727"/>
            <a:ext cx="413705" cy="413705"/>
          </a:xfrm>
          <a:custGeom>
            <a:rect b="b" l="l" r="r" t="t"/>
            <a:pathLst>
              <a:path extrusionOk="0" h="413705" w="413705">
                <a:moveTo>
                  <a:pt x="0" y="0"/>
                </a:moveTo>
                <a:lnTo>
                  <a:pt x="413706" y="0"/>
                </a:lnTo>
                <a:lnTo>
                  <a:pt x="413706" y="413706"/>
                </a:lnTo>
                <a:lnTo>
                  <a:pt x="0" y="4137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22" name="Google Shape;722;p6"/>
          <p:cNvSpPr txBox="1"/>
          <p:nvPr/>
        </p:nvSpPr>
        <p:spPr>
          <a:xfrm>
            <a:off x="11213938" y="5474408"/>
            <a:ext cx="6252839" cy="890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https://www.cv-foundation.org/openaccess/content_cvpr_2016/papers/Redmon_You_Only_Look_CVPR_2016_paper.pdf</a:t>
            </a:r>
            <a:endParaRPr/>
          </a:p>
        </p:txBody>
      </p:sp>
      <p:sp>
        <p:nvSpPr>
          <p:cNvPr id="723" name="Google Shape;723;p6"/>
          <p:cNvSpPr/>
          <p:nvPr/>
        </p:nvSpPr>
        <p:spPr>
          <a:xfrm>
            <a:off x="736742" y="6782030"/>
            <a:ext cx="413705" cy="413705"/>
          </a:xfrm>
          <a:custGeom>
            <a:rect b="b" l="l" r="r" t="t"/>
            <a:pathLst>
              <a:path extrusionOk="0" h="413705" w="413705">
                <a:moveTo>
                  <a:pt x="0" y="0"/>
                </a:moveTo>
                <a:lnTo>
                  <a:pt x="413706" y="0"/>
                </a:lnTo>
                <a:lnTo>
                  <a:pt x="413706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24" name="Google Shape;724;p6"/>
          <p:cNvSpPr/>
          <p:nvPr/>
        </p:nvSpPr>
        <p:spPr>
          <a:xfrm>
            <a:off x="8154387" y="6782030"/>
            <a:ext cx="413705" cy="413705"/>
          </a:xfrm>
          <a:custGeom>
            <a:rect b="b" l="l" r="r" t="t"/>
            <a:pathLst>
              <a:path extrusionOk="0" h="413705" w="413705">
                <a:moveTo>
                  <a:pt x="0" y="0"/>
                </a:moveTo>
                <a:lnTo>
                  <a:pt x="413706" y="0"/>
                </a:lnTo>
                <a:lnTo>
                  <a:pt x="413706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25" name="Google Shape;725;p6"/>
          <p:cNvSpPr txBox="1"/>
          <p:nvPr/>
        </p:nvSpPr>
        <p:spPr>
          <a:xfrm>
            <a:off x="10750622" y="6836483"/>
            <a:ext cx="4419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https://share.google/FnpUiPvKHbfVt4ulp</a:t>
            </a:r>
            <a:endParaRPr/>
          </a:p>
        </p:txBody>
      </p:sp>
      <p:sp>
        <p:nvSpPr>
          <p:cNvPr id="726" name="Google Shape;726;p6"/>
          <p:cNvSpPr/>
          <p:nvPr/>
        </p:nvSpPr>
        <p:spPr>
          <a:xfrm>
            <a:off x="8154387" y="7808033"/>
            <a:ext cx="413705" cy="413705"/>
          </a:xfrm>
          <a:custGeom>
            <a:rect b="b" l="l" r="r" t="t"/>
            <a:pathLst>
              <a:path extrusionOk="0" h="413705" w="413705">
                <a:moveTo>
                  <a:pt x="0" y="0"/>
                </a:moveTo>
                <a:lnTo>
                  <a:pt x="413706" y="0"/>
                </a:lnTo>
                <a:lnTo>
                  <a:pt x="413706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27" name="Google Shape;727;p6"/>
          <p:cNvSpPr/>
          <p:nvPr/>
        </p:nvSpPr>
        <p:spPr>
          <a:xfrm>
            <a:off x="15581405" y="101761"/>
            <a:ext cx="2494300" cy="1267835"/>
          </a:xfrm>
          <a:custGeom>
            <a:rect b="b" l="l" r="r" t="t"/>
            <a:pathLst>
              <a:path extrusionOk="0" h="2245741" w="4418203">
                <a:moveTo>
                  <a:pt x="0" y="0"/>
                </a:moveTo>
                <a:lnTo>
                  <a:pt x="4418203" y="0"/>
                </a:lnTo>
                <a:lnTo>
                  <a:pt x="4418203" y="2245741"/>
                </a:lnTo>
                <a:lnTo>
                  <a:pt x="0" y="22457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-270" r="-270" t="0"/>
            </a:stretch>
          </a:blipFill>
          <a:ln>
            <a:noFill/>
          </a:ln>
        </p:spPr>
      </p:sp>
      <p:sp>
        <p:nvSpPr>
          <p:cNvPr id="728" name="Google Shape;728;p6"/>
          <p:cNvSpPr/>
          <p:nvPr/>
        </p:nvSpPr>
        <p:spPr>
          <a:xfrm>
            <a:off x="736742" y="7954917"/>
            <a:ext cx="413705" cy="413705"/>
          </a:xfrm>
          <a:custGeom>
            <a:rect b="b" l="l" r="r" t="t"/>
            <a:pathLst>
              <a:path extrusionOk="0" h="413705" w="413705">
                <a:moveTo>
                  <a:pt x="0" y="0"/>
                </a:moveTo>
                <a:lnTo>
                  <a:pt x="413706" y="0"/>
                </a:lnTo>
                <a:lnTo>
                  <a:pt x="413706" y="413705"/>
                </a:lnTo>
                <a:lnTo>
                  <a:pt x="0" y="4137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729" name="Google Shape;729;p6"/>
          <p:cNvSpPr txBox="1"/>
          <p:nvPr/>
        </p:nvSpPr>
        <p:spPr>
          <a:xfrm>
            <a:off x="11754664" y="7836016"/>
            <a:ext cx="4674543" cy="3257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https://pubmed.ncbi.nlm.nih.gov/41846120/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1362174" y="5762379"/>
            <a:ext cx="279507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Adaptive Traffic Signals :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4283866" y="5502983"/>
            <a:ext cx="3613200" cy="10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1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https://www.researchgate.net/publication/377677383_Traffic_Management_System_Using_YOLO_Algorithm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1385114" y="6909985"/>
            <a:ext cx="242677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Indian Traffic Dataset: 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3504831" y="7816172"/>
            <a:ext cx="3613346" cy="1085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1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https://www.researchgate.net/publication/224793504_SUMO_Simulation_of_Urban_MObility_An_open-source_traffic_simulation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1362174" y="7852960"/>
            <a:ext cx="2142657" cy="806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6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5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Traffic Simulation :</a:t>
            </a:r>
            <a:endParaRPr/>
          </a:p>
          <a:p>
            <a:pPr indent="0" lvl="0" marL="0" marR="0" rtl="0" algn="ctr">
              <a:lnSpc>
                <a:spcPct val="11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51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735" name="Google Shape;735;p6"/>
          <p:cNvSpPr txBox="1"/>
          <p:nvPr/>
        </p:nvSpPr>
        <p:spPr>
          <a:xfrm>
            <a:off x="4050009" y="6909985"/>
            <a:ext cx="3613346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1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https://arxiv.org/html/2507.19912v1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8720493" y="5696180"/>
            <a:ext cx="238867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Real-Time Detection :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8662601" y="6836483"/>
            <a:ext cx="199277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ANPR for Trucks :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8625243" y="7862485"/>
            <a:ext cx="307227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License Plate Recognition :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INTEL</dc:creator>
</cp:coreProperties>
</file>