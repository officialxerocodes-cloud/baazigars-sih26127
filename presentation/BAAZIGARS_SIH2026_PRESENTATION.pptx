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regular r:id="rId9"/>
      <p:bold r:id="rId10"/>
    </p:embeddedFont>
    <p:embeddedFont>
      <p:font typeface="Arimo" panose="020B0604020202020204" charset="0"/>
      <p:regular r:id="rId11"/>
    </p:embeddedFont>
    <p:embeddedFont>
      <p:font typeface="Arimo Bold" panose="020B0604020202020204" charset="0"/>
      <p:regular r:id="rId12"/>
    </p:embeddedFont>
    <p:embeddedFont>
      <p:font typeface="Arimo Bold Italics" panose="020B0604020202020204" charset="0"/>
      <p:regular r:id="rId13"/>
    </p:embeddedFont>
    <p:embeddedFont>
      <p:font typeface="Calibri (MS)" panose="020B0604020202020204" charset="0"/>
      <p:regular r:id="rId14"/>
    </p:embeddedFont>
    <p:embeddedFont>
      <p:font typeface="Calibri (MS) Bold" panose="020B0604020202020204" charset="0"/>
      <p:regular r:id="rId15"/>
    </p:embeddedFont>
    <p:embeddedFont>
      <p:font typeface="Canva Sans Bold" panose="020B0604020202020204" charset="0"/>
      <p:regular r:id="rId16"/>
    </p:embeddedFont>
    <p:embeddedFont>
      <p:font typeface="Fraunces Semi-Bold" panose="020B0604020202020204" charset="0"/>
      <p:regular r:id="rId17"/>
    </p:embeddedFont>
    <p:embeddedFont>
      <p:font typeface="Garamond Bold" panose="02020804030307010803" pitchFamily="18" charset="0"/>
      <p:regular r:id="rId18"/>
      <p:bold r:id="rId19"/>
    </p:embeddedFont>
    <p:embeddedFont>
      <p:font typeface="Open Sauce Bold" panose="020B0604020202020204" charset="0"/>
      <p:regular r:id="rId20"/>
    </p:embeddedFont>
    <p:embeddedFont>
      <p:font typeface="Open Sauce Heavy" panose="020B0604020202020204" charset="0"/>
      <p:regular r:id="rId21"/>
    </p:embeddedFont>
    <p:embeddedFont>
      <p:font typeface="Times New Roman Bold" panose="02020803070505020304" pitchFamily="18" charset="0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jpeg"/><Relationship Id="rId21" Type="http://schemas.openxmlformats.org/officeDocument/2006/relationships/image" Target="../media/image22.png"/><Relationship Id="rId7" Type="http://schemas.openxmlformats.org/officeDocument/2006/relationships/image" Target="../media/image5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7.svg"/><Relationship Id="rId20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12.sv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23" Type="http://schemas.openxmlformats.org/officeDocument/2006/relationships/image" Target="../media/image24.sv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6.png"/><Relationship Id="rId9" Type="http://schemas.openxmlformats.org/officeDocument/2006/relationships/image" Target="../media/image10.svg"/><Relationship Id="rId14" Type="http://schemas.openxmlformats.org/officeDocument/2006/relationships/image" Target="../media/image15.svg"/><Relationship Id="rId22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4.jpe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svg"/><Relationship Id="rId4" Type="http://schemas.openxmlformats.org/officeDocument/2006/relationships/image" Target="../media/image5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4.jpe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sv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svg"/><Relationship Id="rId1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13" Type="http://schemas.openxmlformats.org/officeDocument/2006/relationships/image" Target="../media/image55.png"/><Relationship Id="rId18" Type="http://schemas.openxmlformats.org/officeDocument/2006/relationships/image" Target="../media/image60.png"/><Relationship Id="rId3" Type="http://schemas.openxmlformats.org/officeDocument/2006/relationships/image" Target="../media/image4.jpeg"/><Relationship Id="rId21" Type="http://schemas.openxmlformats.org/officeDocument/2006/relationships/hyperlink" Target="https://morth.gov.in" TargetMode="External"/><Relationship Id="rId7" Type="http://schemas.openxmlformats.org/officeDocument/2006/relationships/image" Target="../media/image51.png"/><Relationship Id="rId12" Type="http://schemas.openxmlformats.org/officeDocument/2006/relationships/image" Target="../media/image10.svg"/><Relationship Id="rId17" Type="http://schemas.openxmlformats.org/officeDocument/2006/relationships/image" Target="../media/image59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8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svg"/><Relationship Id="rId11" Type="http://schemas.openxmlformats.org/officeDocument/2006/relationships/image" Target="../media/image9.png"/><Relationship Id="rId5" Type="http://schemas.openxmlformats.org/officeDocument/2006/relationships/image" Target="../media/image49.png"/><Relationship Id="rId15" Type="http://schemas.openxmlformats.org/officeDocument/2006/relationships/image" Target="../media/image57.png"/><Relationship Id="rId10" Type="http://schemas.openxmlformats.org/officeDocument/2006/relationships/image" Target="../media/image54.svg"/><Relationship Id="rId19" Type="http://schemas.openxmlformats.org/officeDocument/2006/relationships/image" Target="../media/image61.png"/><Relationship Id="rId4" Type="http://schemas.openxmlformats.org/officeDocument/2006/relationships/image" Target="../media/image5.png"/><Relationship Id="rId9" Type="http://schemas.openxmlformats.org/officeDocument/2006/relationships/image" Target="../media/image53.png"/><Relationship Id="rId14" Type="http://schemas.openxmlformats.org/officeDocument/2006/relationships/image" Target="../media/image56.svg"/><Relationship Id="rId22" Type="http://schemas.openxmlformats.org/officeDocument/2006/relationships/hyperlink" Target="https://traffic.delhipolice.gov.in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v-foundation.org/openaccess/content_cvpr_2016/papers/Redmon_You_Only_Look_CVPR_2016_paper.pdf" TargetMode="External"/><Relationship Id="rId13" Type="http://schemas.openxmlformats.org/officeDocument/2006/relationships/hyperlink" Target="https://www.researchgate.net/publication/224793504_SUMO_Simulation_of_Urban_MObility_An_open-source_traffic_simulation" TargetMode="External"/><Relationship Id="rId3" Type="http://schemas.openxmlformats.org/officeDocument/2006/relationships/image" Target="../media/image4.jpeg"/><Relationship Id="rId7" Type="http://schemas.openxmlformats.org/officeDocument/2006/relationships/image" Target="../media/image65.svg"/><Relationship Id="rId12" Type="http://schemas.openxmlformats.org/officeDocument/2006/relationships/hyperlink" Target="https://www.researchgate.net/publication/377677383_Traffic_Management_System_Using_YOLO_Algorith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11" Type="http://schemas.openxmlformats.org/officeDocument/2006/relationships/hyperlink" Target="https://pubmed.ncbi.nlm.nih.gov/41846120/" TargetMode="External"/><Relationship Id="rId5" Type="http://schemas.openxmlformats.org/officeDocument/2006/relationships/image" Target="../media/image63.png"/><Relationship Id="rId10" Type="http://schemas.openxmlformats.org/officeDocument/2006/relationships/image" Target="../media/image5.png"/><Relationship Id="rId4" Type="http://schemas.openxmlformats.org/officeDocument/2006/relationships/image" Target="../media/image39.png"/><Relationship Id="rId9" Type="http://schemas.openxmlformats.org/officeDocument/2006/relationships/hyperlink" Target="https://share.google/FnpUiPvKHbfVt4ulp" TargetMode="External"/><Relationship Id="rId14" Type="http://schemas.openxmlformats.org/officeDocument/2006/relationships/hyperlink" Target="https://arxiv.org/html/2507.19912v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65" y="1277283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2333" y="2573817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9000"/>
              </a:blip>
              <a:stretch>
                <a:fillRect r="-149475" b="-1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874085" y="-705736"/>
            <a:ext cx="15544800" cy="3114675"/>
            <a:chOff x="0" y="0"/>
            <a:chExt cx="20726400" cy="41529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0726400" cy="41624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080"/>
                </a:lnSpc>
              </a:pPr>
              <a:r>
                <a:rPr lang="en-US" sz="59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31185" y="3288192"/>
            <a:ext cx="16230600" cy="6442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0"/>
              </a:lnSpc>
            </a:pPr>
            <a:endParaRPr/>
          </a:p>
          <a:p>
            <a:pPr marL="564186" lvl="1" indent="-282093" algn="just">
              <a:lnSpc>
                <a:spcPts val="7481"/>
              </a:lnSpc>
              <a:buFont typeface="Arial"/>
              <a:buChar char="•"/>
            </a:pPr>
            <a:r>
              <a:rPr lang="en-US" sz="3117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</a:t>
            </a:r>
            <a:r>
              <a:rPr lang="en-US" sz="31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26127</a:t>
            </a:r>
          </a:p>
          <a:p>
            <a:pPr marL="564186" lvl="1" indent="-282093" algn="just">
              <a:lnSpc>
                <a:spcPts val="5798"/>
              </a:lnSpc>
              <a:buFont typeface="Arial"/>
              <a:buChar char="•"/>
            </a:pPr>
            <a:r>
              <a:rPr lang="en-US" sz="3117" b="1" spc="-4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sz="3117" spc="-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City-Wide AI Engine for Multi-Camera ANPR Trajectory Tracking and Urban Traffic Analytics</a:t>
            </a:r>
          </a:p>
          <a:p>
            <a:pPr marL="564186" lvl="1" indent="-282093" algn="just">
              <a:lnSpc>
                <a:spcPts val="7481"/>
              </a:lnSpc>
              <a:buFont typeface="Arial"/>
              <a:buChar char="•"/>
            </a:pPr>
            <a:r>
              <a:rPr lang="en-US" sz="3117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sz="31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 Automation</a:t>
            </a:r>
          </a:p>
          <a:p>
            <a:pPr marL="564186" lvl="1" indent="-282093" algn="just">
              <a:lnSpc>
                <a:spcPts val="7481"/>
              </a:lnSpc>
              <a:buFont typeface="Arial"/>
              <a:buChar char="•"/>
            </a:pPr>
            <a:r>
              <a:rPr lang="en-US" sz="3117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sz="31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</a:p>
          <a:p>
            <a:pPr marL="564186" lvl="1" indent="-282093" algn="just">
              <a:lnSpc>
                <a:spcPts val="7481"/>
              </a:lnSpc>
              <a:buFont typeface="Arial"/>
              <a:buChar char="•"/>
            </a:pPr>
            <a:r>
              <a:rPr lang="en-US" sz="3117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</a:p>
          <a:p>
            <a:pPr marL="564186" lvl="1" indent="-282093" algn="just">
              <a:lnSpc>
                <a:spcPts val="7481"/>
              </a:lnSpc>
              <a:buFont typeface="Arial"/>
              <a:buChar char="•"/>
            </a:pPr>
            <a:r>
              <a:rPr lang="en-US" sz="3117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</a:t>
            </a:r>
            <a:r>
              <a:rPr lang="en-US" sz="31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Baazigars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5581405" y="9449"/>
            <a:ext cx="2494321" cy="1267835"/>
            <a:chOff x="0" y="0"/>
            <a:chExt cx="4418241" cy="22457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70" r="-270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6233845" y="1600600"/>
            <a:ext cx="5263625" cy="808340"/>
            <a:chOff x="0" y="0"/>
            <a:chExt cx="1083050" cy="1663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83050" cy="166325"/>
            </a:xfrm>
            <a:custGeom>
              <a:avLst/>
              <a:gdLst/>
              <a:ahLst/>
              <a:cxnLst/>
              <a:rect l="l" t="t" r="r" b="b"/>
              <a:pathLst>
                <a:path w="1083050" h="166325">
                  <a:moveTo>
                    <a:pt x="28727" y="0"/>
                  </a:moveTo>
                  <a:lnTo>
                    <a:pt x="1054323" y="0"/>
                  </a:lnTo>
                  <a:cubicBezTo>
                    <a:pt x="1070189" y="0"/>
                    <a:pt x="1083050" y="12862"/>
                    <a:pt x="1083050" y="28727"/>
                  </a:cubicBezTo>
                  <a:lnTo>
                    <a:pt x="1083050" y="137598"/>
                  </a:lnTo>
                  <a:cubicBezTo>
                    <a:pt x="1083050" y="145217"/>
                    <a:pt x="1080024" y="152524"/>
                    <a:pt x="1074636" y="157911"/>
                  </a:cubicBezTo>
                  <a:cubicBezTo>
                    <a:pt x="1069249" y="163298"/>
                    <a:pt x="1061942" y="166325"/>
                    <a:pt x="1054323" y="166325"/>
                  </a:cubicBezTo>
                  <a:lnTo>
                    <a:pt x="28727" y="166325"/>
                  </a:lnTo>
                  <a:cubicBezTo>
                    <a:pt x="21108" y="166325"/>
                    <a:pt x="13801" y="163298"/>
                    <a:pt x="8414" y="157911"/>
                  </a:cubicBezTo>
                  <a:cubicBezTo>
                    <a:pt x="3027" y="152524"/>
                    <a:pt x="0" y="145217"/>
                    <a:pt x="0" y="137598"/>
                  </a:cubicBezTo>
                  <a:lnTo>
                    <a:pt x="0" y="28727"/>
                  </a:lnTo>
                  <a:cubicBezTo>
                    <a:pt x="0" y="21108"/>
                    <a:pt x="3027" y="13801"/>
                    <a:pt x="8414" y="8414"/>
                  </a:cubicBezTo>
                  <a:cubicBezTo>
                    <a:pt x="13801" y="3027"/>
                    <a:pt x="21108" y="0"/>
                    <a:pt x="28727" y="0"/>
                  </a:cubicBezTo>
                  <a:close/>
                </a:path>
              </a:pathLst>
            </a:custGeom>
            <a:solidFill>
              <a:srgbClr val="EBF4FF"/>
            </a:solidFill>
            <a:ln w="38100" cap="rnd">
              <a:solidFill>
                <a:srgbClr val="0070C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083050" cy="185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59"/>
                </a:lnSpc>
              </a:pPr>
              <a:r>
                <a:rPr lang="en-US" sz="32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TRINETRA OS - DELHI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234484" y="2554767"/>
            <a:ext cx="9262348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“City-Wide Traffic Intelligence &amp; Vehicle Trajectory Platform”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460" y="9506777"/>
            <a:ext cx="18288000" cy="761173"/>
            <a:chOff x="0" y="0"/>
            <a:chExt cx="24384000" cy="10148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14898"/>
            </a:xfrm>
            <a:custGeom>
              <a:avLst/>
              <a:gdLst/>
              <a:ahLst/>
              <a:cxnLst/>
              <a:rect l="l" t="t" r="r" b="b"/>
              <a:pathLst>
                <a:path w="24384000" h="1014898">
                  <a:moveTo>
                    <a:pt x="0" y="0"/>
                  </a:moveTo>
                  <a:lnTo>
                    <a:pt x="24384000" y="0"/>
                  </a:lnTo>
                  <a:lnTo>
                    <a:pt x="24384000" y="1014898"/>
                  </a:lnTo>
                  <a:lnTo>
                    <a:pt x="0" y="1014898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37411" y="-950584"/>
            <a:ext cx="16459200" cy="1901168"/>
            <a:chOff x="0" y="0"/>
            <a:chExt cx="21945600" cy="2534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534890"/>
            </a:xfrm>
            <a:custGeom>
              <a:avLst/>
              <a:gdLst/>
              <a:ahLst/>
              <a:cxnLst/>
              <a:rect l="l" t="t" r="r" b="b"/>
              <a:pathLst>
                <a:path w="21945600" h="2534890">
                  <a:moveTo>
                    <a:pt x="0" y="0"/>
                  </a:moveTo>
                  <a:lnTo>
                    <a:pt x="21945600" y="0"/>
                  </a:lnTo>
                  <a:lnTo>
                    <a:pt x="21945600" y="2534890"/>
                  </a:lnTo>
                  <a:lnTo>
                    <a:pt x="0" y="253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3599" b="-11378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56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endParaRPr/>
            </a:p>
            <a:p>
              <a:pPr algn="ctr">
                <a:lnSpc>
                  <a:spcPts val="5040"/>
                </a:lnSpc>
              </a:pPr>
              <a:r>
                <a:rPr lang="en-US" sz="42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TRINETRA OS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44460" y="9599572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Team: Baazigars | SIH26127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94938" y="66038"/>
            <a:ext cx="1667524" cy="1087176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Baazigars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18199" y="855810"/>
            <a:ext cx="9211491" cy="790919"/>
            <a:chOff x="0" y="0"/>
            <a:chExt cx="1895368" cy="16274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895368" cy="162741"/>
            </a:xfrm>
            <a:custGeom>
              <a:avLst/>
              <a:gdLst/>
              <a:ahLst/>
              <a:cxnLst/>
              <a:rect l="l" t="t" r="r" b="b"/>
              <a:pathLst>
                <a:path w="1895368" h="162741">
                  <a:moveTo>
                    <a:pt x="16415" y="0"/>
                  </a:moveTo>
                  <a:lnTo>
                    <a:pt x="1878953" y="0"/>
                  </a:lnTo>
                  <a:cubicBezTo>
                    <a:pt x="1883307" y="0"/>
                    <a:pt x="1887482" y="1729"/>
                    <a:pt x="1890561" y="4808"/>
                  </a:cubicBezTo>
                  <a:cubicBezTo>
                    <a:pt x="1893639" y="7886"/>
                    <a:pt x="1895368" y="12062"/>
                    <a:pt x="1895368" y="16415"/>
                  </a:cubicBezTo>
                  <a:lnTo>
                    <a:pt x="1895368" y="146325"/>
                  </a:lnTo>
                  <a:cubicBezTo>
                    <a:pt x="1895368" y="150679"/>
                    <a:pt x="1893639" y="154854"/>
                    <a:pt x="1890561" y="157933"/>
                  </a:cubicBezTo>
                  <a:cubicBezTo>
                    <a:pt x="1887482" y="161011"/>
                    <a:pt x="1883307" y="162741"/>
                    <a:pt x="1878953" y="162741"/>
                  </a:cubicBezTo>
                  <a:lnTo>
                    <a:pt x="16415" y="162741"/>
                  </a:lnTo>
                  <a:cubicBezTo>
                    <a:pt x="12062" y="162741"/>
                    <a:pt x="7886" y="161011"/>
                    <a:pt x="4808" y="157933"/>
                  </a:cubicBezTo>
                  <a:cubicBezTo>
                    <a:pt x="1729" y="154854"/>
                    <a:pt x="0" y="150679"/>
                    <a:pt x="0" y="146325"/>
                  </a:cubicBezTo>
                  <a:lnTo>
                    <a:pt x="0" y="16415"/>
                  </a:lnTo>
                  <a:cubicBezTo>
                    <a:pt x="0" y="12062"/>
                    <a:pt x="1729" y="7886"/>
                    <a:pt x="4808" y="4808"/>
                  </a:cubicBezTo>
                  <a:cubicBezTo>
                    <a:pt x="7886" y="1729"/>
                    <a:pt x="12062" y="0"/>
                    <a:pt x="16415" y="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1895368" cy="1817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one event driven platform turning city ANPR cameras into live vehicle tracking, traffic analytics &amp; instant alerts.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8242199" y="5568536"/>
            <a:ext cx="2910835" cy="956590"/>
          </a:xfrm>
          <a:custGeom>
            <a:avLst/>
            <a:gdLst/>
            <a:ahLst/>
            <a:cxnLst/>
            <a:rect l="l" t="t" r="r" b="b"/>
            <a:pathLst>
              <a:path w="2910835" h="956590">
                <a:moveTo>
                  <a:pt x="0" y="0"/>
                </a:moveTo>
                <a:lnTo>
                  <a:pt x="2910835" y="0"/>
                </a:lnTo>
                <a:lnTo>
                  <a:pt x="2910835" y="956589"/>
                </a:lnTo>
                <a:lnTo>
                  <a:pt x="0" y="9565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14" r="-1614"/>
            </a:stretch>
          </a:blipFill>
        </p:spPr>
      </p:sp>
      <p:sp>
        <p:nvSpPr>
          <p:cNvPr id="20" name="Freeform 20"/>
          <p:cNvSpPr/>
          <p:nvPr/>
        </p:nvSpPr>
        <p:spPr>
          <a:xfrm rot="5400000">
            <a:off x="9558234" y="6610204"/>
            <a:ext cx="260382" cy="313713"/>
          </a:xfrm>
          <a:custGeom>
            <a:avLst/>
            <a:gdLst/>
            <a:ahLst/>
            <a:cxnLst/>
            <a:rect l="l" t="t" r="r" b="b"/>
            <a:pathLst>
              <a:path w="260382" h="313713">
                <a:moveTo>
                  <a:pt x="0" y="0"/>
                </a:moveTo>
                <a:lnTo>
                  <a:pt x="260382" y="0"/>
                </a:lnTo>
                <a:lnTo>
                  <a:pt x="260382" y="313714"/>
                </a:lnTo>
                <a:lnTo>
                  <a:pt x="0" y="3137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15655779" y="-24291"/>
            <a:ext cx="2494321" cy="1267835"/>
            <a:chOff x="0" y="0"/>
            <a:chExt cx="4418241" cy="224574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70" r="-270"/>
              </a:stretch>
            </a:blipFill>
          </p:spPr>
        </p:sp>
      </p:grpSp>
      <p:sp>
        <p:nvSpPr>
          <p:cNvPr id="23" name="Freeform 23"/>
          <p:cNvSpPr/>
          <p:nvPr/>
        </p:nvSpPr>
        <p:spPr>
          <a:xfrm>
            <a:off x="2646763" y="3055086"/>
            <a:ext cx="390740" cy="470771"/>
          </a:xfrm>
          <a:custGeom>
            <a:avLst/>
            <a:gdLst/>
            <a:ahLst/>
            <a:cxnLst/>
            <a:rect l="l" t="t" r="r" b="b"/>
            <a:pathLst>
              <a:path w="390740" h="470771">
                <a:moveTo>
                  <a:pt x="0" y="0"/>
                </a:moveTo>
                <a:lnTo>
                  <a:pt x="390740" y="0"/>
                </a:lnTo>
                <a:lnTo>
                  <a:pt x="390740" y="470771"/>
                </a:lnTo>
                <a:lnTo>
                  <a:pt x="0" y="4707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5758872" y="3055086"/>
            <a:ext cx="390740" cy="470771"/>
          </a:xfrm>
          <a:custGeom>
            <a:avLst/>
            <a:gdLst/>
            <a:ahLst/>
            <a:cxnLst/>
            <a:rect l="l" t="t" r="r" b="b"/>
            <a:pathLst>
              <a:path w="390740" h="470771">
                <a:moveTo>
                  <a:pt x="0" y="0"/>
                </a:moveTo>
                <a:lnTo>
                  <a:pt x="390740" y="0"/>
                </a:lnTo>
                <a:lnTo>
                  <a:pt x="390740" y="470771"/>
                </a:lnTo>
                <a:lnTo>
                  <a:pt x="0" y="4707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8960911" y="3055086"/>
            <a:ext cx="390740" cy="470771"/>
          </a:xfrm>
          <a:custGeom>
            <a:avLst/>
            <a:gdLst/>
            <a:ahLst/>
            <a:cxnLst/>
            <a:rect l="l" t="t" r="r" b="b"/>
            <a:pathLst>
              <a:path w="390740" h="470771">
                <a:moveTo>
                  <a:pt x="0" y="0"/>
                </a:moveTo>
                <a:lnTo>
                  <a:pt x="390740" y="0"/>
                </a:lnTo>
                <a:lnTo>
                  <a:pt x="390740" y="470771"/>
                </a:lnTo>
                <a:lnTo>
                  <a:pt x="0" y="4707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2172890" y="3055086"/>
            <a:ext cx="390740" cy="470771"/>
          </a:xfrm>
          <a:custGeom>
            <a:avLst/>
            <a:gdLst/>
            <a:ahLst/>
            <a:cxnLst/>
            <a:rect l="l" t="t" r="r" b="b"/>
            <a:pathLst>
              <a:path w="390740" h="470771">
                <a:moveTo>
                  <a:pt x="0" y="0"/>
                </a:moveTo>
                <a:lnTo>
                  <a:pt x="390740" y="0"/>
                </a:lnTo>
                <a:lnTo>
                  <a:pt x="390740" y="470771"/>
                </a:lnTo>
                <a:lnTo>
                  <a:pt x="0" y="4707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5309964" y="3055086"/>
            <a:ext cx="390740" cy="470771"/>
          </a:xfrm>
          <a:custGeom>
            <a:avLst/>
            <a:gdLst/>
            <a:ahLst/>
            <a:cxnLst/>
            <a:rect l="l" t="t" r="r" b="b"/>
            <a:pathLst>
              <a:path w="390740" h="470771">
                <a:moveTo>
                  <a:pt x="0" y="0"/>
                </a:moveTo>
                <a:lnTo>
                  <a:pt x="390740" y="0"/>
                </a:lnTo>
                <a:lnTo>
                  <a:pt x="390740" y="470771"/>
                </a:lnTo>
                <a:lnTo>
                  <a:pt x="0" y="4707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63061" y="1753289"/>
            <a:ext cx="2587650" cy="3653669"/>
            <a:chOff x="0" y="0"/>
            <a:chExt cx="635000" cy="89659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35000" cy="896597"/>
            </a:xfrm>
            <a:custGeom>
              <a:avLst/>
              <a:gdLst/>
              <a:ahLst/>
              <a:cxnLst/>
              <a:rect l="l" t="t" r="r" b="b"/>
              <a:pathLst>
                <a:path w="635000" h="896597">
                  <a:moveTo>
                    <a:pt x="58435" y="0"/>
                  </a:moveTo>
                  <a:lnTo>
                    <a:pt x="576565" y="0"/>
                  </a:lnTo>
                  <a:cubicBezTo>
                    <a:pt x="608838" y="0"/>
                    <a:pt x="635000" y="26162"/>
                    <a:pt x="635000" y="58435"/>
                  </a:cubicBezTo>
                  <a:lnTo>
                    <a:pt x="635000" y="838162"/>
                  </a:lnTo>
                  <a:cubicBezTo>
                    <a:pt x="635000" y="853660"/>
                    <a:pt x="628843" y="868523"/>
                    <a:pt x="617885" y="879482"/>
                  </a:cubicBezTo>
                  <a:cubicBezTo>
                    <a:pt x="606926" y="890441"/>
                    <a:pt x="592063" y="896597"/>
                    <a:pt x="576565" y="896597"/>
                  </a:cubicBezTo>
                  <a:lnTo>
                    <a:pt x="58435" y="896597"/>
                  </a:lnTo>
                  <a:cubicBezTo>
                    <a:pt x="26162" y="896597"/>
                    <a:pt x="0" y="870435"/>
                    <a:pt x="0" y="838162"/>
                  </a:cubicBezTo>
                  <a:lnTo>
                    <a:pt x="0" y="58435"/>
                  </a:lnTo>
                  <a:cubicBezTo>
                    <a:pt x="0" y="26162"/>
                    <a:pt x="26162" y="0"/>
                    <a:pt x="58435" y="0"/>
                  </a:cubicBezTo>
                  <a:close/>
                </a:path>
              </a:pathLst>
            </a:custGeom>
            <a:solidFill>
              <a:srgbClr val="EBF4FF"/>
            </a:solidFill>
            <a:ln w="38100" cap="rnd">
              <a:solidFill>
                <a:srgbClr val="D0E2F7"/>
              </a:solidFill>
              <a:prstDash val="solid"/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635000" cy="915647"/>
            </a:xfrm>
            <a:prstGeom prst="rect">
              <a:avLst/>
            </a:prstGeom>
          </p:spPr>
          <p:txBody>
            <a:bodyPr lIns="53013" tIns="53013" rIns="53013" bIns="53013" rtlCol="0" anchor="ctr"/>
            <a:lstStyle/>
            <a:p>
              <a:pPr algn="ctr">
                <a:lnSpc>
                  <a:spcPts val="2159"/>
                </a:lnSpc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1013858" y="1990109"/>
            <a:ext cx="560476" cy="462393"/>
          </a:xfrm>
          <a:custGeom>
            <a:avLst/>
            <a:gdLst/>
            <a:ahLst/>
            <a:cxnLst/>
            <a:rect l="l" t="t" r="r" b="b"/>
            <a:pathLst>
              <a:path w="560476" h="462393">
                <a:moveTo>
                  <a:pt x="0" y="0"/>
                </a:moveTo>
                <a:lnTo>
                  <a:pt x="560476" y="0"/>
                </a:lnTo>
                <a:lnTo>
                  <a:pt x="560476" y="462393"/>
                </a:lnTo>
                <a:lnTo>
                  <a:pt x="0" y="4623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32" name="Group 32"/>
          <p:cNvGrpSpPr/>
          <p:nvPr/>
        </p:nvGrpSpPr>
        <p:grpSpPr>
          <a:xfrm>
            <a:off x="3127825" y="1856279"/>
            <a:ext cx="2462069" cy="3447689"/>
            <a:chOff x="0" y="0"/>
            <a:chExt cx="635000" cy="88920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35000" cy="889204"/>
            </a:xfrm>
            <a:custGeom>
              <a:avLst/>
              <a:gdLst/>
              <a:ahLst/>
              <a:cxnLst/>
              <a:rect l="l" t="t" r="r" b="b"/>
              <a:pathLst>
                <a:path w="635000" h="889204">
                  <a:moveTo>
                    <a:pt x="61416" y="0"/>
                  </a:moveTo>
                  <a:lnTo>
                    <a:pt x="573584" y="0"/>
                  </a:lnTo>
                  <a:cubicBezTo>
                    <a:pt x="607503" y="0"/>
                    <a:pt x="635000" y="27497"/>
                    <a:pt x="635000" y="61416"/>
                  </a:cubicBezTo>
                  <a:lnTo>
                    <a:pt x="635000" y="827789"/>
                  </a:lnTo>
                  <a:cubicBezTo>
                    <a:pt x="635000" y="861707"/>
                    <a:pt x="607503" y="889204"/>
                    <a:pt x="573584" y="889204"/>
                  </a:cubicBezTo>
                  <a:lnTo>
                    <a:pt x="61416" y="889204"/>
                  </a:lnTo>
                  <a:cubicBezTo>
                    <a:pt x="27497" y="889204"/>
                    <a:pt x="0" y="861707"/>
                    <a:pt x="0" y="827789"/>
                  </a:cubicBezTo>
                  <a:lnTo>
                    <a:pt x="0" y="61416"/>
                  </a:lnTo>
                  <a:cubicBezTo>
                    <a:pt x="0" y="27497"/>
                    <a:pt x="27497" y="0"/>
                    <a:pt x="61416" y="0"/>
                  </a:cubicBezTo>
                  <a:close/>
                </a:path>
              </a:pathLst>
            </a:custGeom>
            <a:solidFill>
              <a:srgbClr val="EBF4FF"/>
            </a:solidFill>
            <a:ln w="38100" cap="rnd">
              <a:solidFill>
                <a:srgbClr val="D0E2F7"/>
              </a:solidFill>
              <a:prstDash val="solid"/>
              <a:round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635000" cy="908254"/>
            </a:xfrm>
            <a:prstGeom prst="rect">
              <a:avLst/>
            </a:prstGeom>
          </p:spPr>
          <p:txBody>
            <a:bodyPr lIns="53013" tIns="53013" rIns="53013" bIns="53013" rtlCol="0" anchor="ctr"/>
            <a:lstStyle/>
            <a:p>
              <a:pPr algn="ctr">
                <a:lnSpc>
                  <a:spcPts val="2159"/>
                </a:lnSpc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4163926" y="1937890"/>
            <a:ext cx="453768" cy="424273"/>
          </a:xfrm>
          <a:custGeom>
            <a:avLst/>
            <a:gdLst/>
            <a:ahLst/>
            <a:cxnLst/>
            <a:rect l="l" t="t" r="r" b="b"/>
            <a:pathLst>
              <a:path w="453768" h="424273">
                <a:moveTo>
                  <a:pt x="0" y="0"/>
                </a:moveTo>
                <a:lnTo>
                  <a:pt x="453768" y="0"/>
                </a:lnTo>
                <a:lnTo>
                  <a:pt x="453768" y="424273"/>
                </a:lnTo>
                <a:lnTo>
                  <a:pt x="0" y="4242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36" name="Group 36"/>
          <p:cNvGrpSpPr/>
          <p:nvPr/>
        </p:nvGrpSpPr>
        <p:grpSpPr>
          <a:xfrm>
            <a:off x="6318590" y="1856279"/>
            <a:ext cx="2462069" cy="3447689"/>
            <a:chOff x="0" y="0"/>
            <a:chExt cx="635000" cy="88920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35000" cy="889204"/>
            </a:xfrm>
            <a:custGeom>
              <a:avLst/>
              <a:gdLst/>
              <a:ahLst/>
              <a:cxnLst/>
              <a:rect l="l" t="t" r="r" b="b"/>
              <a:pathLst>
                <a:path w="635000" h="889204">
                  <a:moveTo>
                    <a:pt x="61416" y="0"/>
                  </a:moveTo>
                  <a:lnTo>
                    <a:pt x="573584" y="0"/>
                  </a:lnTo>
                  <a:cubicBezTo>
                    <a:pt x="607503" y="0"/>
                    <a:pt x="635000" y="27497"/>
                    <a:pt x="635000" y="61416"/>
                  </a:cubicBezTo>
                  <a:lnTo>
                    <a:pt x="635000" y="827789"/>
                  </a:lnTo>
                  <a:cubicBezTo>
                    <a:pt x="635000" y="861707"/>
                    <a:pt x="607503" y="889204"/>
                    <a:pt x="573584" y="889204"/>
                  </a:cubicBezTo>
                  <a:lnTo>
                    <a:pt x="61416" y="889204"/>
                  </a:lnTo>
                  <a:cubicBezTo>
                    <a:pt x="27497" y="889204"/>
                    <a:pt x="0" y="861707"/>
                    <a:pt x="0" y="827789"/>
                  </a:cubicBezTo>
                  <a:lnTo>
                    <a:pt x="0" y="61416"/>
                  </a:lnTo>
                  <a:cubicBezTo>
                    <a:pt x="0" y="27497"/>
                    <a:pt x="27497" y="0"/>
                    <a:pt x="61416" y="0"/>
                  </a:cubicBezTo>
                  <a:close/>
                </a:path>
              </a:pathLst>
            </a:custGeom>
            <a:solidFill>
              <a:srgbClr val="EBF4FF"/>
            </a:solidFill>
            <a:ln w="38100" cap="rnd">
              <a:solidFill>
                <a:srgbClr val="D0E2F7"/>
              </a:solidFill>
              <a:prstDash val="solid"/>
              <a:round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-19050"/>
              <a:ext cx="635000" cy="908254"/>
            </a:xfrm>
            <a:prstGeom prst="rect">
              <a:avLst/>
            </a:prstGeom>
          </p:spPr>
          <p:txBody>
            <a:bodyPr lIns="53013" tIns="53013" rIns="53013" bIns="53013" rtlCol="0" anchor="ctr"/>
            <a:lstStyle/>
            <a:p>
              <a:pPr algn="ctr">
                <a:lnSpc>
                  <a:spcPts val="2159"/>
                </a:lnSpc>
              </a:pPr>
              <a:endParaRPr/>
            </a:p>
          </p:txBody>
        </p:sp>
      </p:grpSp>
      <p:sp>
        <p:nvSpPr>
          <p:cNvPr id="39" name="Freeform 39"/>
          <p:cNvSpPr/>
          <p:nvPr/>
        </p:nvSpPr>
        <p:spPr>
          <a:xfrm>
            <a:off x="7074086" y="1937890"/>
            <a:ext cx="1056310" cy="433087"/>
          </a:xfrm>
          <a:custGeom>
            <a:avLst/>
            <a:gdLst/>
            <a:ahLst/>
            <a:cxnLst/>
            <a:rect l="l" t="t" r="r" b="b"/>
            <a:pathLst>
              <a:path w="1056310" h="433087">
                <a:moveTo>
                  <a:pt x="0" y="0"/>
                </a:moveTo>
                <a:lnTo>
                  <a:pt x="1056310" y="0"/>
                </a:lnTo>
                <a:lnTo>
                  <a:pt x="1056310" y="433087"/>
                </a:lnTo>
                <a:lnTo>
                  <a:pt x="0" y="4330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grpSp>
        <p:nvGrpSpPr>
          <p:cNvPr id="40" name="Group 40"/>
          <p:cNvGrpSpPr/>
          <p:nvPr/>
        </p:nvGrpSpPr>
        <p:grpSpPr>
          <a:xfrm>
            <a:off x="9531903" y="1856279"/>
            <a:ext cx="2462069" cy="3432190"/>
            <a:chOff x="0" y="0"/>
            <a:chExt cx="635000" cy="885207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35000" cy="885207"/>
            </a:xfrm>
            <a:custGeom>
              <a:avLst/>
              <a:gdLst/>
              <a:ahLst/>
              <a:cxnLst/>
              <a:rect l="l" t="t" r="r" b="b"/>
              <a:pathLst>
                <a:path w="635000" h="885207">
                  <a:moveTo>
                    <a:pt x="61416" y="0"/>
                  </a:moveTo>
                  <a:lnTo>
                    <a:pt x="573584" y="0"/>
                  </a:lnTo>
                  <a:cubicBezTo>
                    <a:pt x="607503" y="0"/>
                    <a:pt x="635000" y="27497"/>
                    <a:pt x="635000" y="61416"/>
                  </a:cubicBezTo>
                  <a:lnTo>
                    <a:pt x="635000" y="823791"/>
                  </a:lnTo>
                  <a:cubicBezTo>
                    <a:pt x="635000" y="857710"/>
                    <a:pt x="607503" y="885207"/>
                    <a:pt x="573584" y="885207"/>
                  </a:cubicBezTo>
                  <a:lnTo>
                    <a:pt x="61416" y="885207"/>
                  </a:lnTo>
                  <a:cubicBezTo>
                    <a:pt x="45127" y="885207"/>
                    <a:pt x="29506" y="878736"/>
                    <a:pt x="17988" y="867219"/>
                  </a:cubicBezTo>
                  <a:cubicBezTo>
                    <a:pt x="6471" y="855701"/>
                    <a:pt x="0" y="840080"/>
                    <a:pt x="0" y="823791"/>
                  </a:cubicBezTo>
                  <a:lnTo>
                    <a:pt x="0" y="61416"/>
                  </a:lnTo>
                  <a:cubicBezTo>
                    <a:pt x="0" y="27497"/>
                    <a:pt x="27497" y="0"/>
                    <a:pt x="61416" y="0"/>
                  </a:cubicBezTo>
                  <a:close/>
                </a:path>
              </a:pathLst>
            </a:custGeom>
            <a:solidFill>
              <a:srgbClr val="EBF4FF"/>
            </a:solidFill>
            <a:ln w="38100" cap="rnd">
              <a:solidFill>
                <a:srgbClr val="D0E2F7"/>
              </a:solidFill>
              <a:prstDash val="solid"/>
              <a:round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635000" cy="904257"/>
            </a:xfrm>
            <a:prstGeom prst="rect">
              <a:avLst/>
            </a:prstGeom>
          </p:spPr>
          <p:txBody>
            <a:bodyPr lIns="53013" tIns="53013" rIns="53013" bIns="53013" rtlCol="0" anchor="ctr"/>
            <a:lstStyle/>
            <a:p>
              <a:pPr algn="ctr">
                <a:lnSpc>
                  <a:spcPts val="2159"/>
                </a:lnSpc>
              </a:pPr>
              <a:endParaRPr/>
            </a:p>
          </p:txBody>
        </p:sp>
      </p:grpSp>
      <p:sp>
        <p:nvSpPr>
          <p:cNvPr id="43" name="Freeform 43"/>
          <p:cNvSpPr/>
          <p:nvPr/>
        </p:nvSpPr>
        <p:spPr>
          <a:xfrm>
            <a:off x="10392671" y="1918906"/>
            <a:ext cx="670038" cy="418774"/>
          </a:xfrm>
          <a:custGeom>
            <a:avLst/>
            <a:gdLst/>
            <a:ahLst/>
            <a:cxnLst/>
            <a:rect l="l" t="t" r="r" b="b"/>
            <a:pathLst>
              <a:path w="670038" h="418774">
                <a:moveTo>
                  <a:pt x="0" y="0"/>
                </a:moveTo>
                <a:lnTo>
                  <a:pt x="670038" y="0"/>
                </a:lnTo>
                <a:lnTo>
                  <a:pt x="670038" y="418774"/>
                </a:lnTo>
                <a:lnTo>
                  <a:pt x="0" y="41877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12722668" y="1856279"/>
            <a:ext cx="2462069" cy="3447689"/>
            <a:chOff x="0" y="0"/>
            <a:chExt cx="635000" cy="88920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35000" cy="889204"/>
            </a:xfrm>
            <a:custGeom>
              <a:avLst/>
              <a:gdLst/>
              <a:ahLst/>
              <a:cxnLst/>
              <a:rect l="l" t="t" r="r" b="b"/>
              <a:pathLst>
                <a:path w="635000" h="889204">
                  <a:moveTo>
                    <a:pt x="61416" y="0"/>
                  </a:moveTo>
                  <a:lnTo>
                    <a:pt x="573584" y="0"/>
                  </a:lnTo>
                  <a:cubicBezTo>
                    <a:pt x="607503" y="0"/>
                    <a:pt x="635000" y="27497"/>
                    <a:pt x="635000" y="61416"/>
                  </a:cubicBezTo>
                  <a:lnTo>
                    <a:pt x="635000" y="827789"/>
                  </a:lnTo>
                  <a:cubicBezTo>
                    <a:pt x="635000" y="861707"/>
                    <a:pt x="607503" y="889204"/>
                    <a:pt x="573584" y="889204"/>
                  </a:cubicBezTo>
                  <a:lnTo>
                    <a:pt x="61416" y="889204"/>
                  </a:lnTo>
                  <a:cubicBezTo>
                    <a:pt x="27497" y="889204"/>
                    <a:pt x="0" y="861707"/>
                    <a:pt x="0" y="827789"/>
                  </a:cubicBezTo>
                  <a:lnTo>
                    <a:pt x="0" y="61416"/>
                  </a:lnTo>
                  <a:cubicBezTo>
                    <a:pt x="0" y="27497"/>
                    <a:pt x="27497" y="0"/>
                    <a:pt x="61416" y="0"/>
                  </a:cubicBezTo>
                  <a:close/>
                </a:path>
              </a:pathLst>
            </a:custGeom>
            <a:solidFill>
              <a:srgbClr val="EBF4FF"/>
            </a:solidFill>
            <a:ln w="38100" cap="rnd">
              <a:solidFill>
                <a:srgbClr val="D0E2F7"/>
              </a:solidFill>
              <a:prstDash val="solid"/>
              <a:round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635000" cy="908254"/>
            </a:xfrm>
            <a:prstGeom prst="rect">
              <a:avLst/>
            </a:prstGeom>
          </p:spPr>
          <p:txBody>
            <a:bodyPr lIns="53013" tIns="53013" rIns="53013" bIns="53013" rtlCol="0" anchor="ctr"/>
            <a:lstStyle/>
            <a:p>
              <a:pPr algn="ctr">
                <a:lnSpc>
                  <a:spcPts val="2159"/>
                </a:lnSpc>
              </a:pPr>
              <a:endParaRPr/>
            </a:p>
          </p:txBody>
        </p:sp>
      </p:grpSp>
      <p:sp>
        <p:nvSpPr>
          <p:cNvPr id="47" name="Freeform 47"/>
          <p:cNvSpPr/>
          <p:nvPr/>
        </p:nvSpPr>
        <p:spPr>
          <a:xfrm>
            <a:off x="13748710" y="1959838"/>
            <a:ext cx="436510" cy="432145"/>
          </a:xfrm>
          <a:custGeom>
            <a:avLst/>
            <a:gdLst/>
            <a:ahLst/>
            <a:cxnLst/>
            <a:rect l="l" t="t" r="r" b="b"/>
            <a:pathLst>
              <a:path w="436510" h="432145">
                <a:moveTo>
                  <a:pt x="0" y="0"/>
                </a:moveTo>
                <a:lnTo>
                  <a:pt x="436510" y="0"/>
                </a:lnTo>
                <a:lnTo>
                  <a:pt x="436510" y="432145"/>
                </a:lnTo>
                <a:lnTo>
                  <a:pt x="0" y="43214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grpSp>
        <p:nvGrpSpPr>
          <p:cNvPr id="48" name="Group 48"/>
          <p:cNvGrpSpPr/>
          <p:nvPr/>
        </p:nvGrpSpPr>
        <p:grpSpPr>
          <a:xfrm>
            <a:off x="15825931" y="1814885"/>
            <a:ext cx="2462069" cy="3473584"/>
            <a:chOff x="0" y="0"/>
            <a:chExt cx="635000" cy="895883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35000" cy="895883"/>
            </a:xfrm>
            <a:custGeom>
              <a:avLst/>
              <a:gdLst/>
              <a:ahLst/>
              <a:cxnLst/>
              <a:rect l="l" t="t" r="r" b="b"/>
              <a:pathLst>
                <a:path w="635000" h="895883">
                  <a:moveTo>
                    <a:pt x="61416" y="0"/>
                  </a:moveTo>
                  <a:lnTo>
                    <a:pt x="573584" y="0"/>
                  </a:lnTo>
                  <a:cubicBezTo>
                    <a:pt x="607503" y="0"/>
                    <a:pt x="635000" y="27497"/>
                    <a:pt x="635000" y="61416"/>
                  </a:cubicBezTo>
                  <a:lnTo>
                    <a:pt x="635000" y="834467"/>
                  </a:lnTo>
                  <a:cubicBezTo>
                    <a:pt x="635000" y="868386"/>
                    <a:pt x="607503" y="895883"/>
                    <a:pt x="573584" y="895883"/>
                  </a:cubicBezTo>
                  <a:lnTo>
                    <a:pt x="61416" y="895883"/>
                  </a:lnTo>
                  <a:cubicBezTo>
                    <a:pt x="27497" y="895883"/>
                    <a:pt x="0" y="868386"/>
                    <a:pt x="0" y="834467"/>
                  </a:cubicBezTo>
                  <a:lnTo>
                    <a:pt x="0" y="61416"/>
                  </a:lnTo>
                  <a:cubicBezTo>
                    <a:pt x="0" y="27497"/>
                    <a:pt x="27497" y="0"/>
                    <a:pt x="61416" y="0"/>
                  </a:cubicBezTo>
                  <a:close/>
                </a:path>
              </a:pathLst>
            </a:custGeom>
            <a:solidFill>
              <a:srgbClr val="EBF4FF"/>
            </a:solidFill>
            <a:ln w="38100" cap="rnd">
              <a:solidFill>
                <a:srgbClr val="D0E2F7"/>
              </a:solidFill>
              <a:prstDash val="solid"/>
              <a:round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0" y="-19050"/>
              <a:ext cx="635000" cy="914933"/>
            </a:xfrm>
            <a:prstGeom prst="rect">
              <a:avLst/>
            </a:prstGeom>
          </p:spPr>
          <p:txBody>
            <a:bodyPr lIns="53013" tIns="53013" rIns="53013" bIns="53013" rtlCol="0" anchor="ctr"/>
            <a:lstStyle/>
            <a:p>
              <a:pPr algn="ctr">
                <a:lnSpc>
                  <a:spcPts val="2159"/>
                </a:lnSpc>
              </a:pPr>
              <a:endParaRPr/>
            </a:p>
          </p:txBody>
        </p:sp>
      </p:grpSp>
      <p:sp>
        <p:nvSpPr>
          <p:cNvPr id="51" name="Freeform 51"/>
          <p:cNvSpPr/>
          <p:nvPr/>
        </p:nvSpPr>
        <p:spPr>
          <a:xfrm>
            <a:off x="16848582" y="1918906"/>
            <a:ext cx="416766" cy="496862"/>
          </a:xfrm>
          <a:custGeom>
            <a:avLst/>
            <a:gdLst/>
            <a:ahLst/>
            <a:cxnLst/>
            <a:rect l="l" t="t" r="r" b="b"/>
            <a:pathLst>
              <a:path w="416766" h="496862">
                <a:moveTo>
                  <a:pt x="0" y="0"/>
                </a:moveTo>
                <a:lnTo>
                  <a:pt x="416766" y="0"/>
                </a:lnTo>
                <a:lnTo>
                  <a:pt x="416766" y="496862"/>
                </a:lnTo>
                <a:lnTo>
                  <a:pt x="0" y="49686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r="-2976" b="-32886"/>
            </a:stretch>
          </a:blipFill>
        </p:spPr>
      </p:sp>
      <p:grpSp>
        <p:nvGrpSpPr>
          <p:cNvPr id="52" name="Group 52"/>
          <p:cNvGrpSpPr/>
          <p:nvPr/>
        </p:nvGrpSpPr>
        <p:grpSpPr>
          <a:xfrm>
            <a:off x="475612" y="5361118"/>
            <a:ext cx="7195087" cy="4007301"/>
            <a:chOff x="0" y="0"/>
            <a:chExt cx="1374361" cy="76545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374361" cy="765450"/>
            </a:xfrm>
            <a:custGeom>
              <a:avLst/>
              <a:gdLst/>
              <a:ahLst/>
              <a:cxnLst/>
              <a:rect l="l" t="t" r="r" b="b"/>
              <a:pathLst>
                <a:path w="1374361" h="765450">
                  <a:moveTo>
                    <a:pt x="21016" y="0"/>
                  </a:moveTo>
                  <a:lnTo>
                    <a:pt x="1353345" y="0"/>
                  </a:lnTo>
                  <a:cubicBezTo>
                    <a:pt x="1358919" y="0"/>
                    <a:pt x="1364264" y="2214"/>
                    <a:pt x="1368205" y="6155"/>
                  </a:cubicBezTo>
                  <a:cubicBezTo>
                    <a:pt x="1372147" y="10097"/>
                    <a:pt x="1374361" y="15442"/>
                    <a:pt x="1374361" y="21016"/>
                  </a:cubicBezTo>
                  <a:lnTo>
                    <a:pt x="1374361" y="744434"/>
                  </a:lnTo>
                  <a:cubicBezTo>
                    <a:pt x="1374361" y="756041"/>
                    <a:pt x="1364952" y="765450"/>
                    <a:pt x="1353345" y="765450"/>
                  </a:cubicBezTo>
                  <a:lnTo>
                    <a:pt x="21016" y="765450"/>
                  </a:lnTo>
                  <a:cubicBezTo>
                    <a:pt x="9409" y="765450"/>
                    <a:pt x="0" y="756041"/>
                    <a:pt x="0" y="744434"/>
                  </a:cubicBezTo>
                  <a:lnTo>
                    <a:pt x="0" y="21016"/>
                  </a:lnTo>
                  <a:cubicBezTo>
                    <a:pt x="0" y="9409"/>
                    <a:pt x="9409" y="0"/>
                    <a:pt x="21016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DCE6F2"/>
              </a:solidFill>
              <a:prstDash val="solid"/>
              <a:round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1374361" cy="784500"/>
            </a:xfrm>
            <a:prstGeom prst="rect">
              <a:avLst/>
            </a:prstGeom>
          </p:spPr>
          <p:txBody>
            <a:bodyPr lIns="45559" tIns="45559" rIns="45559" bIns="45559" rtlCol="0" anchor="ctr"/>
            <a:lstStyle/>
            <a:p>
              <a:pPr algn="ctr">
                <a:lnSpc>
                  <a:spcPts val="2159"/>
                </a:lnSpc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 rot="-5400000">
            <a:off x="2170940" y="6862158"/>
            <a:ext cx="2557586" cy="688758"/>
            <a:chOff x="0" y="0"/>
            <a:chExt cx="760745" cy="204869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760745" cy="204869"/>
            </a:xfrm>
            <a:custGeom>
              <a:avLst/>
              <a:gdLst/>
              <a:ahLst/>
              <a:cxnLst/>
              <a:rect l="l" t="t" r="r" b="b"/>
              <a:pathLst>
                <a:path w="760745" h="204869">
                  <a:moveTo>
                    <a:pt x="59122" y="0"/>
                  </a:moveTo>
                  <a:lnTo>
                    <a:pt x="701623" y="0"/>
                  </a:lnTo>
                  <a:cubicBezTo>
                    <a:pt x="734275" y="0"/>
                    <a:pt x="760745" y="26470"/>
                    <a:pt x="760745" y="59122"/>
                  </a:cubicBezTo>
                  <a:lnTo>
                    <a:pt x="760745" y="145747"/>
                  </a:lnTo>
                  <a:cubicBezTo>
                    <a:pt x="760745" y="178399"/>
                    <a:pt x="734275" y="204869"/>
                    <a:pt x="701623" y="204869"/>
                  </a:cubicBezTo>
                  <a:lnTo>
                    <a:pt x="59122" y="204869"/>
                  </a:lnTo>
                  <a:cubicBezTo>
                    <a:pt x="26470" y="204869"/>
                    <a:pt x="0" y="178399"/>
                    <a:pt x="0" y="145747"/>
                  </a:cubicBezTo>
                  <a:lnTo>
                    <a:pt x="0" y="59122"/>
                  </a:lnTo>
                  <a:cubicBezTo>
                    <a:pt x="0" y="26470"/>
                    <a:pt x="26470" y="0"/>
                    <a:pt x="59122" y="0"/>
                  </a:cubicBezTo>
                  <a:close/>
                </a:path>
              </a:pathLst>
            </a:custGeom>
            <a:solidFill>
              <a:srgbClr val="E28787">
                <a:alpha val="59216"/>
              </a:srgbClr>
            </a:solidFill>
          </p:spPr>
        </p:sp>
        <p:sp>
          <p:nvSpPr>
            <p:cNvPr id="57" name="TextBox 57"/>
            <p:cNvSpPr txBox="1"/>
            <p:nvPr/>
          </p:nvSpPr>
          <p:spPr>
            <a:xfrm>
              <a:off x="0" y="-19050"/>
              <a:ext cx="760745" cy="2239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58" name="Group 58"/>
          <p:cNvGrpSpPr/>
          <p:nvPr/>
        </p:nvGrpSpPr>
        <p:grpSpPr>
          <a:xfrm rot="-5400000">
            <a:off x="2911699" y="6873558"/>
            <a:ext cx="2531316" cy="681684"/>
            <a:chOff x="0" y="0"/>
            <a:chExt cx="760745" cy="204869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760745" cy="204869"/>
            </a:xfrm>
            <a:custGeom>
              <a:avLst/>
              <a:gdLst/>
              <a:ahLst/>
              <a:cxnLst/>
              <a:rect l="l" t="t" r="r" b="b"/>
              <a:pathLst>
                <a:path w="760745" h="204869">
                  <a:moveTo>
                    <a:pt x="59735" y="0"/>
                  </a:moveTo>
                  <a:lnTo>
                    <a:pt x="701009" y="0"/>
                  </a:lnTo>
                  <a:cubicBezTo>
                    <a:pt x="734000" y="0"/>
                    <a:pt x="760745" y="26744"/>
                    <a:pt x="760745" y="59735"/>
                  </a:cubicBezTo>
                  <a:lnTo>
                    <a:pt x="760745" y="145133"/>
                  </a:lnTo>
                  <a:cubicBezTo>
                    <a:pt x="760745" y="178124"/>
                    <a:pt x="734000" y="204869"/>
                    <a:pt x="701009" y="204869"/>
                  </a:cubicBezTo>
                  <a:lnTo>
                    <a:pt x="59735" y="204869"/>
                  </a:lnTo>
                  <a:cubicBezTo>
                    <a:pt x="26744" y="204869"/>
                    <a:pt x="0" y="178124"/>
                    <a:pt x="0" y="145133"/>
                  </a:cubicBezTo>
                  <a:lnTo>
                    <a:pt x="0" y="59735"/>
                  </a:lnTo>
                  <a:cubicBezTo>
                    <a:pt x="0" y="26744"/>
                    <a:pt x="26744" y="0"/>
                    <a:pt x="59735" y="0"/>
                  </a:cubicBezTo>
                  <a:close/>
                </a:path>
              </a:pathLst>
            </a:custGeom>
            <a:solidFill>
              <a:srgbClr val="8DCFA1">
                <a:alpha val="61569"/>
              </a:srgbClr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0" y="-19050"/>
              <a:ext cx="760745" cy="2239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82506" y="5556578"/>
            <a:ext cx="1992928" cy="804270"/>
            <a:chOff x="0" y="0"/>
            <a:chExt cx="603319" cy="243477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603319" cy="243477"/>
            </a:xfrm>
            <a:custGeom>
              <a:avLst/>
              <a:gdLst/>
              <a:ahLst/>
              <a:cxnLst/>
              <a:rect l="l" t="t" r="r" b="b"/>
              <a:pathLst>
                <a:path w="603319" h="243477">
                  <a:moveTo>
                    <a:pt x="75873" y="0"/>
                  </a:moveTo>
                  <a:lnTo>
                    <a:pt x="527446" y="0"/>
                  </a:lnTo>
                  <a:cubicBezTo>
                    <a:pt x="547569" y="0"/>
                    <a:pt x="566868" y="7994"/>
                    <a:pt x="581097" y="22223"/>
                  </a:cubicBezTo>
                  <a:cubicBezTo>
                    <a:pt x="595326" y="36452"/>
                    <a:pt x="603319" y="55750"/>
                    <a:pt x="603319" y="75873"/>
                  </a:cubicBezTo>
                  <a:lnTo>
                    <a:pt x="603319" y="167604"/>
                  </a:lnTo>
                  <a:cubicBezTo>
                    <a:pt x="603319" y="209507"/>
                    <a:pt x="569350" y="243477"/>
                    <a:pt x="527446" y="243477"/>
                  </a:cubicBezTo>
                  <a:lnTo>
                    <a:pt x="75873" y="243477"/>
                  </a:lnTo>
                  <a:cubicBezTo>
                    <a:pt x="33969" y="243477"/>
                    <a:pt x="0" y="209507"/>
                    <a:pt x="0" y="167604"/>
                  </a:cubicBezTo>
                  <a:lnTo>
                    <a:pt x="0" y="75873"/>
                  </a:lnTo>
                  <a:cubicBezTo>
                    <a:pt x="0" y="33969"/>
                    <a:pt x="33969" y="0"/>
                    <a:pt x="75873" y="0"/>
                  </a:cubicBezTo>
                  <a:close/>
                </a:path>
              </a:pathLst>
            </a:custGeom>
            <a:solidFill>
              <a:srgbClr val="DCE6F2"/>
            </a:solidFill>
            <a:ln w="19050" cap="rnd">
              <a:solidFill>
                <a:srgbClr val="FF4444"/>
              </a:solidFill>
              <a:prstDash val="solid"/>
              <a:round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0" y="-19050"/>
              <a:ext cx="603319" cy="262527"/>
            </a:xfrm>
            <a:prstGeom prst="rect">
              <a:avLst/>
            </a:prstGeom>
          </p:spPr>
          <p:txBody>
            <a:bodyPr lIns="45559" tIns="45559" rIns="45559" bIns="45559" rtlCol="0" anchor="ctr"/>
            <a:lstStyle/>
            <a:p>
              <a:pPr algn="l">
                <a:lnSpc>
                  <a:spcPts val="2159"/>
                </a:lnSpc>
              </a:pPr>
              <a:endParaRPr/>
            </a:p>
          </p:txBody>
        </p:sp>
      </p:grpSp>
      <p:sp>
        <p:nvSpPr>
          <p:cNvPr id="64" name="Freeform 64"/>
          <p:cNvSpPr/>
          <p:nvPr/>
        </p:nvSpPr>
        <p:spPr>
          <a:xfrm>
            <a:off x="768370" y="5750119"/>
            <a:ext cx="120584" cy="103100"/>
          </a:xfrm>
          <a:custGeom>
            <a:avLst/>
            <a:gdLst/>
            <a:ahLst/>
            <a:cxnLst/>
            <a:rect l="l" t="t" r="r" b="b"/>
            <a:pathLst>
              <a:path w="120584" h="103100">
                <a:moveTo>
                  <a:pt x="0" y="0"/>
                </a:moveTo>
                <a:lnTo>
                  <a:pt x="120584" y="0"/>
                </a:lnTo>
                <a:lnTo>
                  <a:pt x="120584" y="103100"/>
                </a:lnTo>
                <a:lnTo>
                  <a:pt x="0" y="1031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65" name="Freeform 65"/>
          <p:cNvSpPr/>
          <p:nvPr/>
        </p:nvSpPr>
        <p:spPr>
          <a:xfrm>
            <a:off x="768370" y="6086552"/>
            <a:ext cx="120584" cy="103100"/>
          </a:xfrm>
          <a:custGeom>
            <a:avLst/>
            <a:gdLst/>
            <a:ahLst/>
            <a:cxnLst/>
            <a:rect l="l" t="t" r="r" b="b"/>
            <a:pathLst>
              <a:path w="120584" h="103100">
                <a:moveTo>
                  <a:pt x="0" y="0"/>
                </a:moveTo>
                <a:lnTo>
                  <a:pt x="120584" y="0"/>
                </a:lnTo>
                <a:lnTo>
                  <a:pt x="120584" y="103100"/>
                </a:lnTo>
                <a:lnTo>
                  <a:pt x="0" y="1031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grpSp>
        <p:nvGrpSpPr>
          <p:cNvPr id="66" name="Group 66"/>
          <p:cNvGrpSpPr/>
          <p:nvPr/>
        </p:nvGrpSpPr>
        <p:grpSpPr>
          <a:xfrm>
            <a:off x="731575" y="7422017"/>
            <a:ext cx="1964200" cy="872689"/>
            <a:chOff x="0" y="0"/>
            <a:chExt cx="594622" cy="264189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594622" cy="264189"/>
            </a:xfrm>
            <a:custGeom>
              <a:avLst/>
              <a:gdLst/>
              <a:ahLst/>
              <a:cxnLst/>
              <a:rect l="l" t="t" r="r" b="b"/>
              <a:pathLst>
                <a:path w="594622" h="264189">
                  <a:moveTo>
                    <a:pt x="76983" y="0"/>
                  </a:moveTo>
                  <a:lnTo>
                    <a:pt x="517640" y="0"/>
                  </a:lnTo>
                  <a:cubicBezTo>
                    <a:pt x="538057" y="0"/>
                    <a:pt x="557638" y="8111"/>
                    <a:pt x="572075" y="22548"/>
                  </a:cubicBezTo>
                  <a:cubicBezTo>
                    <a:pt x="586512" y="36985"/>
                    <a:pt x="594622" y="56566"/>
                    <a:pt x="594622" y="76983"/>
                  </a:cubicBezTo>
                  <a:lnTo>
                    <a:pt x="594622" y="187206"/>
                  </a:lnTo>
                  <a:cubicBezTo>
                    <a:pt x="594622" y="229723"/>
                    <a:pt x="560156" y="264189"/>
                    <a:pt x="517640" y="264189"/>
                  </a:cubicBezTo>
                  <a:lnTo>
                    <a:pt x="76983" y="264189"/>
                  </a:lnTo>
                  <a:cubicBezTo>
                    <a:pt x="56566" y="264189"/>
                    <a:pt x="36985" y="256079"/>
                    <a:pt x="22548" y="241641"/>
                  </a:cubicBezTo>
                  <a:cubicBezTo>
                    <a:pt x="8111" y="227204"/>
                    <a:pt x="0" y="207624"/>
                    <a:pt x="0" y="187206"/>
                  </a:cubicBezTo>
                  <a:lnTo>
                    <a:pt x="0" y="76983"/>
                  </a:lnTo>
                  <a:cubicBezTo>
                    <a:pt x="0" y="56566"/>
                    <a:pt x="8111" y="36985"/>
                    <a:pt x="22548" y="22548"/>
                  </a:cubicBezTo>
                  <a:cubicBezTo>
                    <a:pt x="36985" y="8111"/>
                    <a:pt x="56566" y="0"/>
                    <a:pt x="76983" y="0"/>
                  </a:cubicBezTo>
                  <a:close/>
                </a:path>
              </a:pathLst>
            </a:custGeom>
            <a:solidFill>
              <a:srgbClr val="DCE6F2"/>
            </a:solidFill>
            <a:ln w="19050" cap="rnd">
              <a:solidFill>
                <a:srgbClr val="FF4444"/>
              </a:solidFill>
              <a:prstDash val="solid"/>
              <a:round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0" y="-19050"/>
              <a:ext cx="594622" cy="283239"/>
            </a:xfrm>
            <a:prstGeom prst="rect">
              <a:avLst/>
            </a:prstGeom>
          </p:spPr>
          <p:txBody>
            <a:bodyPr lIns="45559" tIns="45559" rIns="45559" bIns="45559" rtlCol="0" anchor="ctr"/>
            <a:lstStyle/>
            <a:p>
              <a:pPr algn="l">
                <a:lnSpc>
                  <a:spcPts val="2159"/>
                </a:lnSpc>
              </a:pPr>
              <a:endParaRPr/>
            </a:p>
          </p:txBody>
        </p:sp>
      </p:grpSp>
      <p:sp>
        <p:nvSpPr>
          <p:cNvPr id="69" name="Freeform 69"/>
          <p:cNvSpPr/>
          <p:nvPr/>
        </p:nvSpPr>
        <p:spPr>
          <a:xfrm>
            <a:off x="780643" y="7743094"/>
            <a:ext cx="120584" cy="103100"/>
          </a:xfrm>
          <a:custGeom>
            <a:avLst/>
            <a:gdLst/>
            <a:ahLst/>
            <a:cxnLst/>
            <a:rect l="l" t="t" r="r" b="b"/>
            <a:pathLst>
              <a:path w="120584" h="103100">
                <a:moveTo>
                  <a:pt x="0" y="0"/>
                </a:moveTo>
                <a:lnTo>
                  <a:pt x="120585" y="0"/>
                </a:lnTo>
                <a:lnTo>
                  <a:pt x="120585" y="103099"/>
                </a:lnTo>
                <a:lnTo>
                  <a:pt x="0" y="10309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70" name="Freeform 70"/>
          <p:cNvSpPr/>
          <p:nvPr/>
        </p:nvSpPr>
        <p:spPr>
          <a:xfrm>
            <a:off x="780643" y="8004368"/>
            <a:ext cx="120584" cy="103100"/>
          </a:xfrm>
          <a:custGeom>
            <a:avLst/>
            <a:gdLst/>
            <a:ahLst/>
            <a:cxnLst/>
            <a:rect l="l" t="t" r="r" b="b"/>
            <a:pathLst>
              <a:path w="120584" h="103100">
                <a:moveTo>
                  <a:pt x="0" y="0"/>
                </a:moveTo>
                <a:lnTo>
                  <a:pt x="120585" y="0"/>
                </a:lnTo>
                <a:lnTo>
                  <a:pt x="120585" y="103099"/>
                </a:lnTo>
                <a:lnTo>
                  <a:pt x="0" y="10309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grpSp>
        <p:nvGrpSpPr>
          <p:cNvPr id="71" name="Group 71"/>
          <p:cNvGrpSpPr/>
          <p:nvPr/>
        </p:nvGrpSpPr>
        <p:grpSpPr>
          <a:xfrm>
            <a:off x="711234" y="6513502"/>
            <a:ext cx="1964200" cy="779687"/>
            <a:chOff x="0" y="0"/>
            <a:chExt cx="594622" cy="236035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594622" cy="236035"/>
            </a:xfrm>
            <a:custGeom>
              <a:avLst/>
              <a:gdLst/>
              <a:ahLst/>
              <a:cxnLst/>
              <a:rect l="l" t="t" r="r" b="b"/>
              <a:pathLst>
                <a:path w="594622" h="236035">
                  <a:moveTo>
                    <a:pt x="76983" y="0"/>
                  </a:moveTo>
                  <a:lnTo>
                    <a:pt x="517640" y="0"/>
                  </a:lnTo>
                  <a:cubicBezTo>
                    <a:pt x="538057" y="0"/>
                    <a:pt x="557638" y="8111"/>
                    <a:pt x="572075" y="22548"/>
                  </a:cubicBezTo>
                  <a:cubicBezTo>
                    <a:pt x="586512" y="36985"/>
                    <a:pt x="594622" y="56566"/>
                    <a:pt x="594622" y="76983"/>
                  </a:cubicBezTo>
                  <a:lnTo>
                    <a:pt x="594622" y="159052"/>
                  </a:lnTo>
                  <a:cubicBezTo>
                    <a:pt x="594622" y="179469"/>
                    <a:pt x="586512" y="199050"/>
                    <a:pt x="572075" y="213487"/>
                  </a:cubicBezTo>
                  <a:cubicBezTo>
                    <a:pt x="557638" y="227924"/>
                    <a:pt x="538057" y="236035"/>
                    <a:pt x="517640" y="236035"/>
                  </a:cubicBezTo>
                  <a:lnTo>
                    <a:pt x="76983" y="236035"/>
                  </a:lnTo>
                  <a:cubicBezTo>
                    <a:pt x="34466" y="236035"/>
                    <a:pt x="0" y="201568"/>
                    <a:pt x="0" y="159052"/>
                  </a:cubicBezTo>
                  <a:lnTo>
                    <a:pt x="0" y="76983"/>
                  </a:lnTo>
                  <a:cubicBezTo>
                    <a:pt x="0" y="56566"/>
                    <a:pt x="8111" y="36985"/>
                    <a:pt x="22548" y="22548"/>
                  </a:cubicBezTo>
                  <a:cubicBezTo>
                    <a:pt x="36985" y="8111"/>
                    <a:pt x="56566" y="0"/>
                    <a:pt x="76983" y="0"/>
                  </a:cubicBezTo>
                  <a:close/>
                </a:path>
              </a:pathLst>
            </a:custGeom>
            <a:solidFill>
              <a:srgbClr val="DCE6F2"/>
            </a:solidFill>
            <a:ln w="19050" cap="rnd">
              <a:solidFill>
                <a:srgbClr val="FF4444"/>
              </a:solidFill>
              <a:prstDash val="solid"/>
              <a:round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0" y="-19050"/>
              <a:ext cx="594622" cy="255085"/>
            </a:xfrm>
            <a:prstGeom prst="rect">
              <a:avLst/>
            </a:prstGeom>
          </p:spPr>
          <p:txBody>
            <a:bodyPr lIns="45559" tIns="45559" rIns="45559" bIns="45559" rtlCol="0" anchor="ctr"/>
            <a:lstStyle/>
            <a:p>
              <a:pPr algn="l">
                <a:lnSpc>
                  <a:spcPts val="2159"/>
                </a:lnSpc>
              </a:pPr>
              <a:endParaRPr/>
            </a:p>
          </p:txBody>
        </p:sp>
      </p:grpSp>
      <p:sp>
        <p:nvSpPr>
          <p:cNvPr id="74" name="Freeform 74"/>
          <p:cNvSpPr/>
          <p:nvPr/>
        </p:nvSpPr>
        <p:spPr>
          <a:xfrm>
            <a:off x="777119" y="6774987"/>
            <a:ext cx="120584" cy="103100"/>
          </a:xfrm>
          <a:custGeom>
            <a:avLst/>
            <a:gdLst/>
            <a:ahLst/>
            <a:cxnLst/>
            <a:rect l="l" t="t" r="r" b="b"/>
            <a:pathLst>
              <a:path w="120584" h="103100">
                <a:moveTo>
                  <a:pt x="0" y="0"/>
                </a:moveTo>
                <a:lnTo>
                  <a:pt x="120584" y="0"/>
                </a:lnTo>
                <a:lnTo>
                  <a:pt x="120584" y="103099"/>
                </a:lnTo>
                <a:lnTo>
                  <a:pt x="0" y="10309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75" name="Freeform 75"/>
          <p:cNvSpPr/>
          <p:nvPr/>
        </p:nvSpPr>
        <p:spPr>
          <a:xfrm>
            <a:off x="764461" y="7042692"/>
            <a:ext cx="120584" cy="103100"/>
          </a:xfrm>
          <a:custGeom>
            <a:avLst/>
            <a:gdLst/>
            <a:ahLst/>
            <a:cxnLst/>
            <a:rect l="l" t="t" r="r" b="b"/>
            <a:pathLst>
              <a:path w="120584" h="103100">
                <a:moveTo>
                  <a:pt x="0" y="0"/>
                </a:moveTo>
                <a:lnTo>
                  <a:pt x="120584" y="0"/>
                </a:lnTo>
                <a:lnTo>
                  <a:pt x="120584" y="103100"/>
                </a:lnTo>
                <a:lnTo>
                  <a:pt x="0" y="1031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grpSp>
        <p:nvGrpSpPr>
          <p:cNvPr id="76" name="Group 76"/>
          <p:cNvGrpSpPr/>
          <p:nvPr/>
        </p:nvGrpSpPr>
        <p:grpSpPr>
          <a:xfrm>
            <a:off x="4817752" y="5406958"/>
            <a:ext cx="2731872" cy="981846"/>
            <a:chOff x="0" y="0"/>
            <a:chExt cx="756080" cy="271738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756080" cy="271738"/>
            </a:xfrm>
            <a:custGeom>
              <a:avLst/>
              <a:gdLst/>
              <a:ahLst/>
              <a:cxnLst/>
              <a:rect l="l" t="t" r="r" b="b"/>
              <a:pathLst>
                <a:path w="756080" h="271738">
                  <a:moveTo>
                    <a:pt x="55350" y="0"/>
                  </a:moveTo>
                  <a:lnTo>
                    <a:pt x="700730" y="0"/>
                  </a:lnTo>
                  <a:cubicBezTo>
                    <a:pt x="715410" y="0"/>
                    <a:pt x="729489" y="5832"/>
                    <a:pt x="739869" y="16212"/>
                  </a:cubicBezTo>
                  <a:cubicBezTo>
                    <a:pt x="750249" y="26592"/>
                    <a:pt x="756080" y="40670"/>
                    <a:pt x="756080" y="55350"/>
                  </a:cubicBezTo>
                  <a:lnTo>
                    <a:pt x="756080" y="216388"/>
                  </a:lnTo>
                  <a:cubicBezTo>
                    <a:pt x="756080" y="231068"/>
                    <a:pt x="750249" y="245146"/>
                    <a:pt x="739869" y="255527"/>
                  </a:cubicBezTo>
                  <a:cubicBezTo>
                    <a:pt x="729489" y="265907"/>
                    <a:pt x="715410" y="271738"/>
                    <a:pt x="700730" y="271738"/>
                  </a:cubicBezTo>
                  <a:lnTo>
                    <a:pt x="55350" y="271738"/>
                  </a:lnTo>
                  <a:cubicBezTo>
                    <a:pt x="40670" y="271738"/>
                    <a:pt x="26592" y="265907"/>
                    <a:pt x="16212" y="255527"/>
                  </a:cubicBezTo>
                  <a:cubicBezTo>
                    <a:pt x="5832" y="245146"/>
                    <a:pt x="0" y="231068"/>
                    <a:pt x="0" y="216388"/>
                  </a:cubicBezTo>
                  <a:lnTo>
                    <a:pt x="0" y="55350"/>
                  </a:lnTo>
                  <a:cubicBezTo>
                    <a:pt x="0" y="40670"/>
                    <a:pt x="5832" y="26592"/>
                    <a:pt x="16212" y="16212"/>
                  </a:cubicBezTo>
                  <a:cubicBezTo>
                    <a:pt x="26592" y="5832"/>
                    <a:pt x="40670" y="0"/>
                    <a:pt x="55350" y="0"/>
                  </a:cubicBezTo>
                  <a:close/>
                </a:path>
              </a:pathLst>
            </a:custGeom>
            <a:solidFill>
              <a:srgbClr val="DCE6F2"/>
            </a:solidFill>
            <a:ln w="19050" cap="rnd">
              <a:solidFill>
                <a:srgbClr val="2A8D49"/>
              </a:solidFill>
              <a:prstDash val="solid"/>
              <a:round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0" y="-19050"/>
              <a:ext cx="756080" cy="290788"/>
            </a:xfrm>
            <a:prstGeom prst="rect">
              <a:avLst/>
            </a:prstGeom>
          </p:spPr>
          <p:txBody>
            <a:bodyPr lIns="45559" tIns="45559" rIns="45559" bIns="45559" rtlCol="0" anchor="ctr"/>
            <a:lstStyle/>
            <a:p>
              <a:pPr algn="l">
                <a:lnSpc>
                  <a:spcPts val="2159"/>
                </a:lnSpc>
              </a:pPr>
              <a:endParaRPr/>
            </a:p>
          </p:txBody>
        </p:sp>
      </p:grpSp>
      <p:sp>
        <p:nvSpPr>
          <p:cNvPr id="79" name="Freeform 79"/>
          <p:cNvSpPr/>
          <p:nvPr/>
        </p:nvSpPr>
        <p:spPr>
          <a:xfrm>
            <a:off x="4832319" y="5620845"/>
            <a:ext cx="120584" cy="103100"/>
          </a:xfrm>
          <a:custGeom>
            <a:avLst/>
            <a:gdLst/>
            <a:ahLst/>
            <a:cxnLst/>
            <a:rect l="l" t="t" r="r" b="b"/>
            <a:pathLst>
              <a:path w="120584" h="103100">
                <a:moveTo>
                  <a:pt x="0" y="0"/>
                </a:moveTo>
                <a:lnTo>
                  <a:pt x="120584" y="0"/>
                </a:lnTo>
                <a:lnTo>
                  <a:pt x="120584" y="103100"/>
                </a:lnTo>
                <a:lnTo>
                  <a:pt x="0" y="1031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80" name="Freeform 80"/>
          <p:cNvSpPr/>
          <p:nvPr/>
        </p:nvSpPr>
        <p:spPr>
          <a:xfrm>
            <a:off x="4817752" y="5940594"/>
            <a:ext cx="120584" cy="103100"/>
          </a:xfrm>
          <a:custGeom>
            <a:avLst/>
            <a:gdLst/>
            <a:ahLst/>
            <a:cxnLst/>
            <a:rect l="l" t="t" r="r" b="b"/>
            <a:pathLst>
              <a:path w="120584" h="103100">
                <a:moveTo>
                  <a:pt x="0" y="0"/>
                </a:moveTo>
                <a:lnTo>
                  <a:pt x="120585" y="0"/>
                </a:lnTo>
                <a:lnTo>
                  <a:pt x="120585" y="103100"/>
                </a:lnTo>
                <a:lnTo>
                  <a:pt x="0" y="1031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81" name="Freeform 81"/>
          <p:cNvSpPr/>
          <p:nvPr/>
        </p:nvSpPr>
        <p:spPr>
          <a:xfrm>
            <a:off x="4838953" y="6173478"/>
            <a:ext cx="120584" cy="103100"/>
          </a:xfrm>
          <a:custGeom>
            <a:avLst/>
            <a:gdLst/>
            <a:ahLst/>
            <a:cxnLst/>
            <a:rect l="l" t="t" r="r" b="b"/>
            <a:pathLst>
              <a:path w="120584" h="103100">
                <a:moveTo>
                  <a:pt x="0" y="0"/>
                </a:moveTo>
                <a:lnTo>
                  <a:pt x="120585" y="0"/>
                </a:lnTo>
                <a:lnTo>
                  <a:pt x="120585" y="103100"/>
                </a:lnTo>
                <a:lnTo>
                  <a:pt x="0" y="1031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grpSp>
        <p:nvGrpSpPr>
          <p:cNvPr id="82" name="Group 82"/>
          <p:cNvGrpSpPr/>
          <p:nvPr/>
        </p:nvGrpSpPr>
        <p:grpSpPr>
          <a:xfrm>
            <a:off x="4790217" y="7391980"/>
            <a:ext cx="2669467" cy="985910"/>
            <a:chOff x="0" y="0"/>
            <a:chExt cx="808128" cy="298465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808128" cy="298465"/>
            </a:xfrm>
            <a:custGeom>
              <a:avLst/>
              <a:gdLst/>
              <a:ahLst/>
              <a:cxnLst/>
              <a:rect l="l" t="t" r="r" b="b"/>
              <a:pathLst>
                <a:path w="808128" h="298465">
                  <a:moveTo>
                    <a:pt x="56644" y="0"/>
                  </a:moveTo>
                  <a:lnTo>
                    <a:pt x="751484" y="0"/>
                  </a:lnTo>
                  <a:cubicBezTo>
                    <a:pt x="782767" y="0"/>
                    <a:pt x="808128" y="25360"/>
                    <a:pt x="808128" y="56644"/>
                  </a:cubicBezTo>
                  <a:lnTo>
                    <a:pt x="808128" y="241821"/>
                  </a:lnTo>
                  <a:cubicBezTo>
                    <a:pt x="808128" y="273104"/>
                    <a:pt x="782767" y="298465"/>
                    <a:pt x="751484" y="298465"/>
                  </a:cubicBezTo>
                  <a:lnTo>
                    <a:pt x="56644" y="298465"/>
                  </a:lnTo>
                  <a:cubicBezTo>
                    <a:pt x="25360" y="298465"/>
                    <a:pt x="0" y="273104"/>
                    <a:pt x="0" y="241821"/>
                  </a:cubicBezTo>
                  <a:lnTo>
                    <a:pt x="0" y="56644"/>
                  </a:lnTo>
                  <a:cubicBezTo>
                    <a:pt x="0" y="25360"/>
                    <a:pt x="25360" y="0"/>
                    <a:pt x="56644" y="0"/>
                  </a:cubicBezTo>
                  <a:close/>
                </a:path>
              </a:pathLst>
            </a:custGeom>
            <a:solidFill>
              <a:srgbClr val="DCE6F2"/>
            </a:solidFill>
            <a:ln w="19050" cap="rnd">
              <a:solidFill>
                <a:srgbClr val="2A8D49"/>
              </a:solidFill>
              <a:prstDash val="solid"/>
              <a:round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0" y="-19050"/>
              <a:ext cx="808128" cy="317515"/>
            </a:xfrm>
            <a:prstGeom prst="rect">
              <a:avLst/>
            </a:prstGeom>
          </p:spPr>
          <p:txBody>
            <a:bodyPr lIns="45559" tIns="45559" rIns="45559" bIns="45559" rtlCol="0" anchor="ctr"/>
            <a:lstStyle/>
            <a:p>
              <a:pPr algn="l">
                <a:lnSpc>
                  <a:spcPts val="2159"/>
                </a:lnSpc>
              </a:pPr>
              <a:endParaRPr/>
            </a:p>
          </p:txBody>
        </p:sp>
      </p:grpSp>
      <p:sp>
        <p:nvSpPr>
          <p:cNvPr id="85" name="Freeform 85"/>
          <p:cNvSpPr/>
          <p:nvPr/>
        </p:nvSpPr>
        <p:spPr>
          <a:xfrm>
            <a:off x="4832319" y="7629714"/>
            <a:ext cx="120584" cy="103100"/>
          </a:xfrm>
          <a:custGeom>
            <a:avLst/>
            <a:gdLst/>
            <a:ahLst/>
            <a:cxnLst/>
            <a:rect l="l" t="t" r="r" b="b"/>
            <a:pathLst>
              <a:path w="120584" h="103100">
                <a:moveTo>
                  <a:pt x="0" y="0"/>
                </a:moveTo>
                <a:lnTo>
                  <a:pt x="120584" y="0"/>
                </a:lnTo>
                <a:lnTo>
                  <a:pt x="120584" y="103100"/>
                </a:lnTo>
                <a:lnTo>
                  <a:pt x="0" y="1031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86" name="Freeform 86"/>
          <p:cNvSpPr/>
          <p:nvPr/>
        </p:nvSpPr>
        <p:spPr>
          <a:xfrm>
            <a:off x="4832319" y="7884935"/>
            <a:ext cx="120584" cy="103100"/>
          </a:xfrm>
          <a:custGeom>
            <a:avLst/>
            <a:gdLst/>
            <a:ahLst/>
            <a:cxnLst/>
            <a:rect l="l" t="t" r="r" b="b"/>
            <a:pathLst>
              <a:path w="120584" h="103100">
                <a:moveTo>
                  <a:pt x="0" y="0"/>
                </a:moveTo>
                <a:lnTo>
                  <a:pt x="120584" y="0"/>
                </a:lnTo>
                <a:lnTo>
                  <a:pt x="120584" y="103100"/>
                </a:lnTo>
                <a:lnTo>
                  <a:pt x="0" y="1031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87" name="Freeform 87"/>
          <p:cNvSpPr/>
          <p:nvPr/>
        </p:nvSpPr>
        <p:spPr>
          <a:xfrm>
            <a:off x="4848132" y="8149960"/>
            <a:ext cx="120584" cy="103100"/>
          </a:xfrm>
          <a:custGeom>
            <a:avLst/>
            <a:gdLst/>
            <a:ahLst/>
            <a:cxnLst/>
            <a:rect l="l" t="t" r="r" b="b"/>
            <a:pathLst>
              <a:path w="120584" h="103100">
                <a:moveTo>
                  <a:pt x="0" y="0"/>
                </a:moveTo>
                <a:lnTo>
                  <a:pt x="120585" y="0"/>
                </a:lnTo>
                <a:lnTo>
                  <a:pt x="120585" y="103099"/>
                </a:lnTo>
                <a:lnTo>
                  <a:pt x="0" y="10309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grpSp>
        <p:nvGrpSpPr>
          <p:cNvPr id="88" name="Group 88"/>
          <p:cNvGrpSpPr/>
          <p:nvPr/>
        </p:nvGrpSpPr>
        <p:grpSpPr>
          <a:xfrm>
            <a:off x="4790217" y="6412307"/>
            <a:ext cx="2683222" cy="920308"/>
            <a:chOff x="0" y="0"/>
            <a:chExt cx="812292" cy="278605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812292" cy="278605"/>
            </a:xfrm>
            <a:custGeom>
              <a:avLst/>
              <a:gdLst/>
              <a:ahLst/>
              <a:cxnLst/>
              <a:rect l="l" t="t" r="r" b="b"/>
              <a:pathLst>
                <a:path w="812292" h="278605">
                  <a:moveTo>
                    <a:pt x="56354" y="0"/>
                  </a:moveTo>
                  <a:lnTo>
                    <a:pt x="755938" y="0"/>
                  </a:lnTo>
                  <a:cubicBezTo>
                    <a:pt x="770884" y="0"/>
                    <a:pt x="785218" y="5937"/>
                    <a:pt x="795786" y="16506"/>
                  </a:cubicBezTo>
                  <a:cubicBezTo>
                    <a:pt x="806355" y="27074"/>
                    <a:pt x="812292" y="41408"/>
                    <a:pt x="812292" y="56354"/>
                  </a:cubicBezTo>
                  <a:lnTo>
                    <a:pt x="812292" y="222251"/>
                  </a:lnTo>
                  <a:cubicBezTo>
                    <a:pt x="812292" y="237197"/>
                    <a:pt x="806355" y="251531"/>
                    <a:pt x="795786" y="262099"/>
                  </a:cubicBezTo>
                  <a:cubicBezTo>
                    <a:pt x="785218" y="272668"/>
                    <a:pt x="770884" y="278605"/>
                    <a:pt x="755938" y="278605"/>
                  </a:cubicBezTo>
                  <a:lnTo>
                    <a:pt x="56354" y="278605"/>
                  </a:lnTo>
                  <a:cubicBezTo>
                    <a:pt x="41408" y="278605"/>
                    <a:pt x="27074" y="272668"/>
                    <a:pt x="16506" y="262099"/>
                  </a:cubicBezTo>
                  <a:cubicBezTo>
                    <a:pt x="5937" y="251531"/>
                    <a:pt x="0" y="237197"/>
                    <a:pt x="0" y="222251"/>
                  </a:cubicBezTo>
                  <a:lnTo>
                    <a:pt x="0" y="56354"/>
                  </a:lnTo>
                  <a:cubicBezTo>
                    <a:pt x="0" y="41408"/>
                    <a:pt x="5937" y="27074"/>
                    <a:pt x="16506" y="16506"/>
                  </a:cubicBezTo>
                  <a:cubicBezTo>
                    <a:pt x="27074" y="5937"/>
                    <a:pt x="41408" y="0"/>
                    <a:pt x="56354" y="0"/>
                  </a:cubicBezTo>
                  <a:close/>
                </a:path>
              </a:pathLst>
            </a:custGeom>
            <a:solidFill>
              <a:srgbClr val="DCE6F2"/>
            </a:solidFill>
            <a:ln w="19050" cap="rnd">
              <a:solidFill>
                <a:srgbClr val="2A8D49"/>
              </a:solidFill>
              <a:prstDash val="solid"/>
              <a:round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0" y="-19050"/>
              <a:ext cx="812292" cy="297655"/>
            </a:xfrm>
            <a:prstGeom prst="rect">
              <a:avLst/>
            </a:prstGeom>
          </p:spPr>
          <p:txBody>
            <a:bodyPr lIns="45559" tIns="45559" rIns="45559" bIns="45559" rtlCol="0" anchor="ctr"/>
            <a:lstStyle/>
            <a:p>
              <a:pPr algn="l">
                <a:lnSpc>
                  <a:spcPts val="2159"/>
                </a:lnSpc>
              </a:pPr>
              <a:endParaRPr/>
            </a:p>
          </p:txBody>
        </p:sp>
      </p:grpSp>
      <p:sp>
        <p:nvSpPr>
          <p:cNvPr id="91" name="Freeform 91"/>
          <p:cNvSpPr/>
          <p:nvPr/>
        </p:nvSpPr>
        <p:spPr>
          <a:xfrm>
            <a:off x="4848132" y="6637487"/>
            <a:ext cx="120584" cy="103100"/>
          </a:xfrm>
          <a:custGeom>
            <a:avLst/>
            <a:gdLst/>
            <a:ahLst/>
            <a:cxnLst/>
            <a:rect l="l" t="t" r="r" b="b"/>
            <a:pathLst>
              <a:path w="120584" h="103100">
                <a:moveTo>
                  <a:pt x="0" y="0"/>
                </a:moveTo>
                <a:lnTo>
                  <a:pt x="120585" y="0"/>
                </a:lnTo>
                <a:lnTo>
                  <a:pt x="120585" y="103100"/>
                </a:lnTo>
                <a:lnTo>
                  <a:pt x="0" y="1031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92" name="Freeform 92"/>
          <p:cNvSpPr/>
          <p:nvPr/>
        </p:nvSpPr>
        <p:spPr>
          <a:xfrm>
            <a:off x="4838067" y="6866899"/>
            <a:ext cx="120584" cy="103100"/>
          </a:xfrm>
          <a:custGeom>
            <a:avLst/>
            <a:gdLst/>
            <a:ahLst/>
            <a:cxnLst/>
            <a:rect l="l" t="t" r="r" b="b"/>
            <a:pathLst>
              <a:path w="120584" h="103100">
                <a:moveTo>
                  <a:pt x="0" y="0"/>
                </a:moveTo>
                <a:lnTo>
                  <a:pt x="120584" y="0"/>
                </a:lnTo>
                <a:lnTo>
                  <a:pt x="120584" y="103100"/>
                </a:lnTo>
                <a:lnTo>
                  <a:pt x="0" y="1031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93" name="Freeform 93"/>
          <p:cNvSpPr/>
          <p:nvPr/>
        </p:nvSpPr>
        <p:spPr>
          <a:xfrm>
            <a:off x="4848132" y="7084299"/>
            <a:ext cx="120584" cy="103100"/>
          </a:xfrm>
          <a:custGeom>
            <a:avLst/>
            <a:gdLst/>
            <a:ahLst/>
            <a:cxnLst/>
            <a:rect l="l" t="t" r="r" b="b"/>
            <a:pathLst>
              <a:path w="120584" h="103100">
                <a:moveTo>
                  <a:pt x="0" y="0"/>
                </a:moveTo>
                <a:lnTo>
                  <a:pt x="120585" y="0"/>
                </a:lnTo>
                <a:lnTo>
                  <a:pt x="120585" y="103100"/>
                </a:lnTo>
                <a:lnTo>
                  <a:pt x="0" y="1031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grpSp>
        <p:nvGrpSpPr>
          <p:cNvPr id="94" name="Group 94"/>
          <p:cNvGrpSpPr/>
          <p:nvPr/>
        </p:nvGrpSpPr>
        <p:grpSpPr>
          <a:xfrm>
            <a:off x="4728059" y="8394523"/>
            <a:ext cx="2737947" cy="966176"/>
            <a:chOff x="0" y="0"/>
            <a:chExt cx="833023" cy="293960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833023" cy="293960"/>
            </a:xfrm>
            <a:custGeom>
              <a:avLst/>
              <a:gdLst/>
              <a:ahLst/>
              <a:cxnLst/>
              <a:rect l="l" t="t" r="r" b="b"/>
              <a:pathLst>
                <a:path w="833023" h="293960">
                  <a:moveTo>
                    <a:pt x="55227" y="0"/>
                  </a:moveTo>
                  <a:lnTo>
                    <a:pt x="777796" y="0"/>
                  </a:lnTo>
                  <a:cubicBezTo>
                    <a:pt x="792443" y="0"/>
                    <a:pt x="806490" y="5819"/>
                    <a:pt x="816847" y="16176"/>
                  </a:cubicBezTo>
                  <a:cubicBezTo>
                    <a:pt x="827204" y="26533"/>
                    <a:pt x="833023" y="40580"/>
                    <a:pt x="833023" y="55227"/>
                  </a:cubicBezTo>
                  <a:lnTo>
                    <a:pt x="833023" y="238733"/>
                  </a:lnTo>
                  <a:cubicBezTo>
                    <a:pt x="833023" y="253380"/>
                    <a:pt x="827204" y="267427"/>
                    <a:pt x="816847" y="277784"/>
                  </a:cubicBezTo>
                  <a:cubicBezTo>
                    <a:pt x="806490" y="288141"/>
                    <a:pt x="792443" y="293960"/>
                    <a:pt x="777796" y="293960"/>
                  </a:cubicBezTo>
                  <a:lnTo>
                    <a:pt x="55227" y="293960"/>
                  </a:lnTo>
                  <a:cubicBezTo>
                    <a:pt x="40580" y="293960"/>
                    <a:pt x="26533" y="288141"/>
                    <a:pt x="16176" y="277784"/>
                  </a:cubicBezTo>
                  <a:cubicBezTo>
                    <a:pt x="5819" y="267427"/>
                    <a:pt x="0" y="253380"/>
                    <a:pt x="0" y="238733"/>
                  </a:cubicBezTo>
                  <a:lnTo>
                    <a:pt x="0" y="55227"/>
                  </a:lnTo>
                  <a:cubicBezTo>
                    <a:pt x="0" y="40580"/>
                    <a:pt x="5819" y="26533"/>
                    <a:pt x="16176" y="16176"/>
                  </a:cubicBezTo>
                  <a:cubicBezTo>
                    <a:pt x="26533" y="5819"/>
                    <a:pt x="40580" y="0"/>
                    <a:pt x="55227" y="0"/>
                  </a:cubicBezTo>
                  <a:close/>
                </a:path>
              </a:pathLst>
            </a:custGeom>
            <a:solidFill>
              <a:srgbClr val="DCE6F2"/>
            </a:solidFill>
            <a:ln w="19050" cap="rnd">
              <a:solidFill>
                <a:srgbClr val="2A8D49"/>
              </a:solidFill>
              <a:prstDash val="solid"/>
              <a:round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0" y="-19050"/>
              <a:ext cx="833023" cy="313010"/>
            </a:xfrm>
            <a:prstGeom prst="rect">
              <a:avLst/>
            </a:prstGeom>
          </p:spPr>
          <p:txBody>
            <a:bodyPr lIns="45559" tIns="45559" rIns="45559" bIns="45559" rtlCol="0" anchor="ctr"/>
            <a:lstStyle/>
            <a:p>
              <a:pPr algn="l">
                <a:lnSpc>
                  <a:spcPts val="2159"/>
                </a:lnSpc>
              </a:pPr>
              <a:endParaRPr/>
            </a:p>
          </p:txBody>
        </p:sp>
      </p:grpSp>
      <p:sp>
        <p:nvSpPr>
          <p:cNvPr id="97" name="Freeform 97"/>
          <p:cNvSpPr/>
          <p:nvPr/>
        </p:nvSpPr>
        <p:spPr>
          <a:xfrm>
            <a:off x="4772026" y="8606744"/>
            <a:ext cx="120584" cy="103100"/>
          </a:xfrm>
          <a:custGeom>
            <a:avLst/>
            <a:gdLst/>
            <a:ahLst/>
            <a:cxnLst/>
            <a:rect l="l" t="t" r="r" b="b"/>
            <a:pathLst>
              <a:path w="120584" h="103100">
                <a:moveTo>
                  <a:pt x="0" y="0"/>
                </a:moveTo>
                <a:lnTo>
                  <a:pt x="120585" y="0"/>
                </a:lnTo>
                <a:lnTo>
                  <a:pt x="120585" y="103100"/>
                </a:lnTo>
                <a:lnTo>
                  <a:pt x="0" y="1031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98" name="Freeform 98"/>
          <p:cNvSpPr/>
          <p:nvPr/>
        </p:nvSpPr>
        <p:spPr>
          <a:xfrm>
            <a:off x="4778661" y="8826061"/>
            <a:ext cx="120584" cy="103100"/>
          </a:xfrm>
          <a:custGeom>
            <a:avLst/>
            <a:gdLst/>
            <a:ahLst/>
            <a:cxnLst/>
            <a:rect l="l" t="t" r="r" b="b"/>
            <a:pathLst>
              <a:path w="120584" h="103100">
                <a:moveTo>
                  <a:pt x="0" y="0"/>
                </a:moveTo>
                <a:lnTo>
                  <a:pt x="120585" y="0"/>
                </a:lnTo>
                <a:lnTo>
                  <a:pt x="120585" y="103100"/>
                </a:lnTo>
                <a:lnTo>
                  <a:pt x="0" y="1031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99" name="Freeform 99"/>
          <p:cNvSpPr/>
          <p:nvPr/>
        </p:nvSpPr>
        <p:spPr>
          <a:xfrm>
            <a:off x="4804967" y="9029330"/>
            <a:ext cx="120584" cy="103100"/>
          </a:xfrm>
          <a:custGeom>
            <a:avLst/>
            <a:gdLst/>
            <a:ahLst/>
            <a:cxnLst/>
            <a:rect l="l" t="t" r="r" b="b"/>
            <a:pathLst>
              <a:path w="120584" h="103100">
                <a:moveTo>
                  <a:pt x="0" y="0"/>
                </a:moveTo>
                <a:lnTo>
                  <a:pt x="120585" y="0"/>
                </a:lnTo>
                <a:lnTo>
                  <a:pt x="120585" y="103100"/>
                </a:lnTo>
                <a:lnTo>
                  <a:pt x="0" y="1031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100" name="TextBox 100"/>
          <p:cNvSpPr txBox="1"/>
          <p:nvPr/>
        </p:nvSpPr>
        <p:spPr>
          <a:xfrm rot="-5400000">
            <a:off x="1944514" y="6994869"/>
            <a:ext cx="2961071" cy="416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spcBef>
                <a:spcPct val="0"/>
              </a:spcBef>
            </a:pPr>
            <a:r>
              <a:rPr lang="en-US" sz="2614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problem</a:t>
            </a:r>
          </a:p>
        </p:txBody>
      </p:sp>
      <p:sp>
        <p:nvSpPr>
          <p:cNvPr id="101" name="TextBox 101"/>
          <p:cNvSpPr txBox="1"/>
          <p:nvPr/>
        </p:nvSpPr>
        <p:spPr>
          <a:xfrm rot="5400000">
            <a:off x="2919384" y="6937828"/>
            <a:ext cx="2599285" cy="44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4"/>
              </a:lnSpc>
              <a:spcBef>
                <a:spcPct val="0"/>
              </a:spcBef>
            </a:pPr>
            <a:r>
              <a:rPr lang="en-US" sz="2770" b="1">
                <a:solidFill>
                  <a:srgbClr val="2A8D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solution</a:t>
            </a:r>
          </a:p>
        </p:txBody>
      </p:sp>
      <p:grpSp>
        <p:nvGrpSpPr>
          <p:cNvPr id="102" name="Group 102"/>
          <p:cNvGrpSpPr/>
          <p:nvPr/>
        </p:nvGrpSpPr>
        <p:grpSpPr>
          <a:xfrm>
            <a:off x="610906" y="8480058"/>
            <a:ext cx="2064529" cy="634969"/>
            <a:chOff x="0" y="0"/>
            <a:chExt cx="623753" cy="191842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623753" cy="191842"/>
            </a:xfrm>
            <a:custGeom>
              <a:avLst/>
              <a:gdLst/>
              <a:ahLst/>
              <a:cxnLst/>
              <a:rect l="l" t="t" r="r" b="b"/>
              <a:pathLst>
                <a:path w="623753" h="191842">
                  <a:moveTo>
                    <a:pt x="73242" y="0"/>
                  </a:moveTo>
                  <a:lnTo>
                    <a:pt x="550511" y="0"/>
                  </a:lnTo>
                  <a:cubicBezTo>
                    <a:pt x="569936" y="0"/>
                    <a:pt x="588565" y="7717"/>
                    <a:pt x="602301" y="21452"/>
                  </a:cubicBezTo>
                  <a:cubicBezTo>
                    <a:pt x="616036" y="35187"/>
                    <a:pt x="623753" y="53817"/>
                    <a:pt x="623753" y="73242"/>
                  </a:cubicBezTo>
                  <a:lnTo>
                    <a:pt x="623753" y="118601"/>
                  </a:lnTo>
                  <a:cubicBezTo>
                    <a:pt x="623753" y="159051"/>
                    <a:pt x="590961" y="191842"/>
                    <a:pt x="550511" y="191842"/>
                  </a:cubicBezTo>
                  <a:lnTo>
                    <a:pt x="73242" y="191842"/>
                  </a:lnTo>
                  <a:cubicBezTo>
                    <a:pt x="53817" y="191842"/>
                    <a:pt x="35187" y="184126"/>
                    <a:pt x="21452" y="170390"/>
                  </a:cubicBezTo>
                  <a:cubicBezTo>
                    <a:pt x="7717" y="156655"/>
                    <a:pt x="0" y="138025"/>
                    <a:pt x="0" y="118601"/>
                  </a:cubicBezTo>
                  <a:lnTo>
                    <a:pt x="0" y="73242"/>
                  </a:lnTo>
                  <a:cubicBezTo>
                    <a:pt x="0" y="53817"/>
                    <a:pt x="7717" y="35187"/>
                    <a:pt x="21452" y="21452"/>
                  </a:cubicBezTo>
                  <a:cubicBezTo>
                    <a:pt x="35187" y="7717"/>
                    <a:pt x="53817" y="0"/>
                    <a:pt x="73242" y="0"/>
                  </a:cubicBezTo>
                  <a:close/>
                </a:path>
              </a:pathLst>
            </a:custGeom>
            <a:solidFill>
              <a:srgbClr val="DCE6F2"/>
            </a:solidFill>
            <a:ln w="19050" cap="rnd">
              <a:solidFill>
                <a:srgbClr val="FF4444"/>
              </a:solidFill>
              <a:prstDash val="solid"/>
              <a:round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0" y="-19050"/>
              <a:ext cx="623753" cy="210892"/>
            </a:xfrm>
            <a:prstGeom prst="rect">
              <a:avLst/>
            </a:prstGeom>
          </p:spPr>
          <p:txBody>
            <a:bodyPr lIns="44067" tIns="44067" rIns="44067" bIns="44067" rtlCol="0" anchor="ctr"/>
            <a:lstStyle/>
            <a:p>
              <a:pPr algn="l">
                <a:lnSpc>
                  <a:spcPts val="2159"/>
                </a:lnSpc>
              </a:pPr>
              <a:endParaRPr/>
            </a:p>
          </p:txBody>
        </p:sp>
      </p:grpSp>
      <p:sp>
        <p:nvSpPr>
          <p:cNvPr id="105" name="Freeform 105"/>
          <p:cNvSpPr/>
          <p:nvPr/>
        </p:nvSpPr>
        <p:spPr>
          <a:xfrm>
            <a:off x="731575" y="8786532"/>
            <a:ext cx="120584" cy="103100"/>
          </a:xfrm>
          <a:custGeom>
            <a:avLst/>
            <a:gdLst/>
            <a:ahLst/>
            <a:cxnLst/>
            <a:rect l="l" t="t" r="r" b="b"/>
            <a:pathLst>
              <a:path w="120584" h="103100">
                <a:moveTo>
                  <a:pt x="0" y="0"/>
                </a:moveTo>
                <a:lnTo>
                  <a:pt x="120584" y="0"/>
                </a:lnTo>
                <a:lnTo>
                  <a:pt x="120584" y="103099"/>
                </a:lnTo>
                <a:lnTo>
                  <a:pt x="0" y="10309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106" name="Freeform 106"/>
          <p:cNvSpPr/>
          <p:nvPr/>
        </p:nvSpPr>
        <p:spPr>
          <a:xfrm>
            <a:off x="4177357" y="5748210"/>
            <a:ext cx="640395" cy="200532"/>
          </a:xfrm>
          <a:custGeom>
            <a:avLst/>
            <a:gdLst/>
            <a:ahLst/>
            <a:cxnLst/>
            <a:rect l="l" t="t" r="r" b="b"/>
            <a:pathLst>
              <a:path w="640395" h="200532">
                <a:moveTo>
                  <a:pt x="0" y="200532"/>
                </a:moveTo>
                <a:lnTo>
                  <a:pt x="0" y="100266"/>
                </a:lnTo>
                <a:cubicBezTo>
                  <a:pt x="0" y="44890"/>
                  <a:pt x="44891" y="0"/>
                  <a:pt x="100266" y="0"/>
                </a:cubicBezTo>
                <a:lnTo>
                  <a:pt x="336960" y="0"/>
                </a:lnTo>
                <a:cubicBezTo>
                  <a:pt x="378291" y="0"/>
                  <a:pt x="411795" y="33505"/>
                  <a:pt x="411795" y="74835"/>
                </a:cubicBezTo>
                <a:lnTo>
                  <a:pt x="411795" y="74835"/>
                </a:lnTo>
                <a:cubicBezTo>
                  <a:pt x="411795" y="116166"/>
                  <a:pt x="445300" y="149671"/>
                  <a:pt x="486631" y="149671"/>
                </a:cubicBezTo>
                <a:lnTo>
                  <a:pt x="640395" y="149671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7" name="Freeform 107"/>
          <p:cNvSpPr/>
          <p:nvPr/>
        </p:nvSpPr>
        <p:spPr>
          <a:xfrm>
            <a:off x="4593223" y="6903345"/>
            <a:ext cx="128514" cy="94807"/>
          </a:xfrm>
          <a:custGeom>
            <a:avLst/>
            <a:gdLst/>
            <a:ahLst/>
            <a:cxnLst/>
            <a:rect l="l" t="t" r="r" b="b"/>
            <a:pathLst>
              <a:path w="128514" h="94807">
                <a:moveTo>
                  <a:pt x="0" y="94808"/>
                </a:moveTo>
                <a:lnTo>
                  <a:pt x="0" y="47404"/>
                </a:lnTo>
                <a:cubicBezTo>
                  <a:pt x="0" y="34832"/>
                  <a:pt x="4994" y="22774"/>
                  <a:pt x="13884" y="13885"/>
                </a:cubicBezTo>
                <a:cubicBezTo>
                  <a:pt x="22774" y="4995"/>
                  <a:pt x="34831" y="0"/>
                  <a:pt x="47403" y="0"/>
                </a:cubicBezTo>
                <a:lnTo>
                  <a:pt x="128514" y="0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8" name="Freeform 108"/>
          <p:cNvSpPr/>
          <p:nvPr/>
        </p:nvSpPr>
        <p:spPr>
          <a:xfrm>
            <a:off x="4537219" y="7732814"/>
            <a:ext cx="266753" cy="152121"/>
          </a:xfrm>
          <a:custGeom>
            <a:avLst/>
            <a:gdLst/>
            <a:ahLst/>
            <a:cxnLst/>
            <a:rect l="l" t="t" r="r" b="b"/>
            <a:pathLst>
              <a:path w="266753" h="152121">
                <a:moveTo>
                  <a:pt x="0" y="0"/>
                </a:moveTo>
                <a:lnTo>
                  <a:pt x="0" y="76061"/>
                </a:lnTo>
                <a:cubicBezTo>
                  <a:pt x="0" y="96233"/>
                  <a:pt x="8014" y="115579"/>
                  <a:pt x="22278" y="129843"/>
                </a:cubicBezTo>
                <a:cubicBezTo>
                  <a:pt x="36542" y="144108"/>
                  <a:pt x="55888" y="152121"/>
                  <a:pt x="76061" y="152121"/>
                </a:cubicBezTo>
                <a:lnTo>
                  <a:pt x="266753" y="152121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9" name="Freeform 109"/>
          <p:cNvSpPr/>
          <p:nvPr/>
        </p:nvSpPr>
        <p:spPr>
          <a:xfrm>
            <a:off x="4177357" y="8480058"/>
            <a:ext cx="550701" cy="397553"/>
          </a:xfrm>
          <a:custGeom>
            <a:avLst/>
            <a:gdLst/>
            <a:ahLst/>
            <a:cxnLst/>
            <a:rect l="l" t="t" r="r" b="b"/>
            <a:pathLst>
              <a:path w="550701" h="397553">
                <a:moveTo>
                  <a:pt x="0" y="0"/>
                </a:moveTo>
                <a:lnTo>
                  <a:pt x="137676" y="0"/>
                </a:lnTo>
                <a:cubicBezTo>
                  <a:pt x="174189" y="0"/>
                  <a:pt x="209208" y="14505"/>
                  <a:pt x="235027" y="40323"/>
                </a:cubicBezTo>
                <a:cubicBezTo>
                  <a:pt x="260846" y="66143"/>
                  <a:pt x="275351" y="101161"/>
                  <a:pt x="275351" y="137675"/>
                </a:cubicBezTo>
                <a:lnTo>
                  <a:pt x="275351" y="259878"/>
                </a:lnTo>
                <a:cubicBezTo>
                  <a:pt x="275351" y="296392"/>
                  <a:pt x="289856" y="331410"/>
                  <a:pt x="315675" y="357229"/>
                </a:cubicBezTo>
                <a:cubicBezTo>
                  <a:pt x="341494" y="383048"/>
                  <a:pt x="376513" y="397553"/>
                  <a:pt x="413026" y="397553"/>
                </a:cubicBezTo>
                <a:lnTo>
                  <a:pt x="550702" y="397553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0" name="Freeform 110"/>
          <p:cNvSpPr/>
          <p:nvPr/>
        </p:nvSpPr>
        <p:spPr>
          <a:xfrm>
            <a:off x="2650711" y="5743280"/>
            <a:ext cx="783864" cy="205462"/>
          </a:xfrm>
          <a:custGeom>
            <a:avLst/>
            <a:gdLst/>
            <a:ahLst/>
            <a:cxnLst/>
            <a:rect l="l" t="t" r="r" b="b"/>
            <a:pathLst>
              <a:path w="783864" h="205462">
                <a:moveTo>
                  <a:pt x="0" y="0"/>
                </a:moveTo>
                <a:lnTo>
                  <a:pt x="479458" y="0"/>
                </a:lnTo>
                <a:cubicBezTo>
                  <a:pt x="480820" y="0"/>
                  <a:pt x="481923" y="1103"/>
                  <a:pt x="481923" y="2465"/>
                </a:cubicBezTo>
                <a:lnTo>
                  <a:pt x="481923" y="2465"/>
                </a:lnTo>
                <a:cubicBezTo>
                  <a:pt x="481923" y="3826"/>
                  <a:pt x="483027" y="4930"/>
                  <a:pt x="484388" y="4930"/>
                </a:cubicBezTo>
                <a:lnTo>
                  <a:pt x="683597" y="4930"/>
                </a:lnTo>
                <a:cubicBezTo>
                  <a:pt x="710190" y="4930"/>
                  <a:pt x="735693" y="15493"/>
                  <a:pt x="754496" y="34297"/>
                </a:cubicBezTo>
                <a:cubicBezTo>
                  <a:pt x="773300" y="53100"/>
                  <a:pt x="783863" y="78603"/>
                  <a:pt x="783863" y="105196"/>
                </a:cubicBezTo>
                <a:lnTo>
                  <a:pt x="783863" y="205462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1" name="Freeform 111"/>
          <p:cNvSpPr/>
          <p:nvPr/>
        </p:nvSpPr>
        <p:spPr>
          <a:xfrm>
            <a:off x="2675434" y="8485331"/>
            <a:ext cx="774298" cy="312211"/>
          </a:xfrm>
          <a:custGeom>
            <a:avLst/>
            <a:gdLst/>
            <a:ahLst/>
            <a:cxnLst/>
            <a:rect l="l" t="t" r="r" b="b"/>
            <a:pathLst>
              <a:path w="774298" h="312211">
                <a:moveTo>
                  <a:pt x="0" y="312211"/>
                </a:moveTo>
                <a:lnTo>
                  <a:pt x="231044" y="312211"/>
                </a:lnTo>
                <a:cubicBezTo>
                  <a:pt x="272446" y="312211"/>
                  <a:pt x="312152" y="295764"/>
                  <a:pt x="341427" y="266489"/>
                </a:cubicBezTo>
                <a:cubicBezTo>
                  <a:pt x="370703" y="237213"/>
                  <a:pt x="387150" y="197507"/>
                  <a:pt x="387150" y="156106"/>
                </a:cubicBezTo>
                <a:lnTo>
                  <a:pt x="387150" y="156106"/>
                </a:lnTo>
                <a:cubicBezTo>
                  <a:pt x="387150" y="114704"/>
                  <a:pt x="403596" y="74998"/>
                  <a:pt x="432872" y="45722"/>
                </a:cubicBezTo>
                <a:cubicBezTo>
                  <a:pt x="462147" y="16447"/>
                  <a:pt x="501853" y="0"/>
                  <a:pt x="543255" y="0"/>
                </a:cubicBezTo>
                <a:lnTo>
                  <a:pt x="774299" y="0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2" name="Freeform 112"/>
          <p:cNvSpPr/>
          <p:nvPr/>
        </p:nvSpPr>
        <p:spPr>
          <a:xfrm>
            <a:off x="2788789" y="7877783"/>
            <a:ext cx="316565" cy="7152"/>
          </a:xfrm>
          <a:custGeom>
            <a:avLst/>
            <a:gdLst/>
            <a:ahLst/>
            <a:cxnLst/>
            <a:rect l="l" t="t" r="r" b="b"/>
            <a:pathLst>
              <a:path w="316565" h="7152">
                <a:moveTo>
                  <a:pt x="0" y="7152"/>
                </a:moveTo>
                <a:lnTo>
                  <a:pt x="312989" y="7152"/>
                </a:lnTo>
                <a:cubicBezTo>
                  <a:pt x="313937" y="7152"/>
                  <a:pt x="314847" y="6775"/>
                  <a:pt x="315517" y="6105"/>
                </a:cubicBezTo>
                <a:cubicBezTo>
                  <a:pt x="316188" y="5434"/>
                  <a:pt x="316565" y="4524"/>
                  <a:pt x="316565" y="3576"/>
                </a:cubicBezTo>
                <a:lnTo>
                  <a:pt x="316565" y="0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3" name="Freeform 113"/>
          <p:cNvSpPr/>
          <p:nvPr/>
        </p:nvSpPr>
        <p:spPr>
          <a:xfrm>
            <a:off x="2668866" y="6932416"/>
            <a:ext cx="436488" cy="65736"/>
          </a:xfrm>
          <a:custGeom>
            <a:avLst/>
            <a:gdLst/>
            <a:ahLst/>
            <a:cxnLst/>
            <a:rect l="l" t="t" r="r" b="b"/>
            <a:pathLst>
              <a:path w="436488" h="65736">
                <a:moveTo>
                  <a:pt x="0" y="0"/>
                </a:moveTo>
                <a:lnTo>
                  <a:pt x="403620" y="0"/>
                </a:lnTo>
                <a:cubicBezTo>
                  <a:pt x="412337" y="0"/>
                  <a:pt x="420697" y="3463"/>
                  <a:pt x="426861" y="9627"/>
                </a:cubicBezTo>
                <a:cubicBezTo>
                  <a:pt x="433025" y="15791"/>
                  <a:pt x="436488" y="24152"/>
                  <a:pt x="436488" y="32869"/>
                </a:cubicBezTo>
                <a:lnTo>
                  <a:pt x="436488" y="65737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4" name="Freeform 114"/>
          <p:cNvSpPr/>
          <p:nvPr/>
        </p:nvSpPr>
        <p:spPr>
          <a:xfrm>
            <a:off x="11591386" y="6207204"/>
            <a:ext cx="6558714" cy="3242423"/>
          </a:xfrm>
          <a:custGeom>
            <a:avLst/>
            <a:gdLst/>
            <a:ahLst/>
            <a:cxnLst/>
            <a:rect l="l" t="t" r="r" b="b"/>
            <a:pathLst>
              <a:path w="6558714" h="3242423">
                <a:moveTo>
                  <a:pt x="0" y="0"/>
                </a:moveTo>
                <a:lnTo>
                  <a:pt x="6558714" y="0"/>
                </a:lnTo>
                <a:lnTo>
                  <a:pt x="6558714" y="3242423"/>
                </a:lnTo>
                <a:lnTo>
                  <a:pt x="0" y="324242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b="-1139"/>
            </a:stretch>
          </a:blipFill>
        </p:spPr>
      </p:sp>
      <p:sp>
        <p:nvSpPr>
          <p:cNvPr id="115" name="TextBox 115"/>
          <p:cNvSpPr txBox="1"/>
          <p:nvPr/>
        </p:nvSpPr>
        <p:spPr>
          <a:xfrm>
            <a:off x="422921" y="2471880"/>
            <a:ext cx="1828696" cy="39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2"/>
              </a:lnSpc>
              <a:spcBef>
                <a:spcPct val="0"/>
              </a:spcBef>
            </a:pPr>
            <a:r>
              <a:rPr lang="en-US" sz="1252" b="1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CAPTURE → CONVERT TO EVENTS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28602" y="2899331"/>
            <a:ext cx="2530988" cy="2382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6101" lvl="1" indent="-108051" algn="l">
              <a:lnSpc>
                <a:spcPts val="1201"/>
              </a:lnSpc>
              <a:buFont typeface="Arial"/>
              <a:buChar char="•"/>
            </a:pPr>
            <a:r>
              <a:rPr lang="en-US" sz="100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Instead of sending continuous video to the central server, each camera generates a lightweight event containing plate, timestamp, camera ID, location and confidence.</a:t>
            </a:r>
          </a:p>
          <a:p>
            <a:pPr algn="l">
              <a:lnSpc>
                <a:spcPts val="1201"/>
              </a:lnSpc>
              <a:spcBef>
                <a:spcPct val="0"/>
              </a:spcBef>
            </a:pPr>
            <a:endParaRPr lang="en-US" sz="1000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101" lvl="1" indent="-108051" algn="l">
              <a:lnSpc>
                <a:spcPts val="1201"/>
              </a:lnSpc>
              <a:buFont typeface="Arial"/>
              <a:buChar char="•"/>
            </a:pPr>
            <a:r>
              <a:rPr lang="en-US" sz="100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Delhi uses ~60 virtual ANPR camera/gate locations on real junctions such as CP, India Gate, Lodi Road etc</a:t>
            </a:r>
          </a:p>
          <a:p>
            <a:pPr algn="l">
              <a:lnSpc>
                <a:spcPts val="1201"/>
              </a:lnSpc>
              <a:spcBef>
                <a:spcPct val="0"/>
              </a:spcBef>
            </a:pPr>
            <a:endParaRPr lang="en-US" sz="1000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101" lvl="1" indent="-108051" algn="l">
              <a:lnSpc>
                <a:spcPts val="1201"/>
              </a:lnSpc>
              <a:buFont typeface="Arial"/>
              <a:buChar char="•"/>
            </a:pPr>
            <a:r>
              <a:rPr lang="en-US" sz="100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Standardized ingestion: Every source follows the same POST /ingest/v1/events contract, so replacing simulated feeds with real camera feeds does not require redesigning the downstream system.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3507512" y="2372933"/>
            <a:ext cx="1828696" cy="39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2"/>
              </a:lnSpc>
              <a:spcBef>
                <a:spcPct val="0"/>
              </a:spcBef>
            </a:pPr>
            <a:r>
              <a:rPr lang="en-US" sz="1252" b="1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ONE VEHICLE, ONE IDENTITY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3265725" y="2889806"/>
            <a:ext cx="2186269" cy="239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2497" lvl="1" indent="-91248" algn="l">
              <a:lnSpc>
                <a:spcPts val="1014"/>
              </a:lnSpc>
              <a:buFont typeface="Arial"/>
              <a:buChar char="•"/>
            </a:pPr>
            <a:r>
              <a:rPr lang="en-US" sz="845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Raw plate readings are canonicalized into a consistent format before processing.</a:t>
            </a:r>
          </a:p>
          <a:p>
            <a:pPr algn="l">
              <a:lnSpc>
                <a:spcPts val="1014"/>
              </a:lnSpc>
            </a:pPr>
            <a:endParaRPr lang="en-US" sz="845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497" lvl="1" indent="-91248" algn="l">
              <a:lnSpc>
                <a:spcPts val="1014"/>
              </a:lnSpc>
              <a:buFont typeface="Arial"/>
              <a:buChar char="•"/>
            </a:pPr>
            <a:r>
              <a:rPr lang="en-US" sz="845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 The system compares OCR variants instead of blindly trusting every reading.</a:t>
            </a:r>
          </a:p>
          <a:p>
            <a:pPr algn="l">
              <a:lnSpc>
                <a:spcPts val="1014"/>
              </a:lnSpc>
            </a:pPr>
            <a:endParaRPr lang="en-US" sz="845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497" lvl="1" indent="-91248" algn="l">
              <a:lnSpc>
                <a:spcPts val="1014"/>
              </a:lnSpc>
              <a:buFont typeface="Arial"/>
              <a:buChar char="•"/>
            </a:pPr>
            <a:r>
              <a:rPr lang="en-US" sz="845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 Plates with up to one-character difference can be associated when they occur within a 10-minute temporal window.</a:t>
            </a:r>
          </a:p>
          <a:p>
            <a:pPr algn="l">
              <a:lnSpc>
                <a:spcPts val="1014"/>
              </a:lnSpc>
            </a:pPr>
            <a:endParaRPr lang="en-US" sz="845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497" lvl="1" indent="-91248" algn="l">
              <a:lnSpc>
                <a:spcPts val="1014"/>
              </a:lnSpc>
              <a:buFont typeface="Arial"/>
              <a:buChar char="•"/>
            </a:pPr>
            <a:r>
              <a:rPr lang="en-US" sz="845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DL51AB1234 → DL51AB123I → DL51AB1234 can still be treated as the same vehicle observation sequence.</a:t>
            </a:r>
          </a:p>
          <a:p>
            <a:pPr algn="l">
              <a:lnSpc>
                <a:spcPts val="1014"/>
              </a:lnSpc>
            </a:pPr>
            <a:endParaRPr lang="en-US" sz="845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497" lvl="1" indent="-91248" algn="l">
              <a:lnSpc>
                <a:spcPts val="1014"/>
              </a:lnSpc>
              <a:buFont typeface="Arial"/>
              <a:buChar char="•"/>
            </a:pPr>
            <a:r>
              <a:rPr lang="en-US" sz="845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Missed detections create gaps rather than automatically breaking the vehicle's identity, improving trajectory robustness under imperfect ANPR. 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6659520" y="2398617"/>
            <a:ext cx="1828696" cy="39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2"/>
              </a:lnSpc>
              <a:spcBef>
                <a:spcPct val="0"/>
              </a:spcBef>
            </a:pPr>
            <a:r>
              <a:rPr lang="en-US" sz="1252" b="1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FROM SIGHTINGS TO JOURNEY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6456490" y="2856759"/>
            <a:ext cx="2186269" cy="236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0243" lvl="1" indent="-90121" algn="l">
              <a:lnSpc>
                <a:spcPts val="1001"/>
              </a:lnSpc>
              <a:buFont typeface="Arial"/>
              <a:buChar char="•"/>
            </a:pPr>
            <a:r>
              <a:rPr lang="en-US" sz="834" b="1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Cross-camera trajectory reconstruction</a:t>
            </a:r>
            <a:r>
              <a:rPr lang="en-US" sz="834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: Connects detections of the same vehicle across multiple ANPR cameras</a:t>
            </a:r>
          </a:p>
          <a:p>
            <a:pPr algn="l">
              <a:lnSpc>
                <a:spcPts val="1001"/>
              </a:lnSpc>
            </a:pPr>
            <a:endParaRPr lang="en-US" sz="834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0243" lvl="1" indent="-90121" algn="l">
              <a:lnSpc>
                <a:spcPts val="1001"/>
              </a:lnSpc>
              <a:buFont typeface="Arial"/>
              <a:buChar char="•"/>
            </a:pPr>
            <a:r>
              <a:rPr lang="en-US" sz="834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Each detection contributes camera location + timestamp + confidence to the vehicle's journey.</a:t>
            </a:r>
          </a:p>
          <a:p>
            <a:pPr algn="l">
              <a:lnSpc>
                <a:spcPts val="1001"/>
              </a:lnSpc>
            </a:pPr>
            <a:endParaRPr lang="en-US" sz="834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0243" lvl="1" indent="-90121" algn="l">
              <a:lnSpc>
                <a:spcPts val="1001"/>
              </a:lnSpc>
              <a:buFont typeface="Arial"/>
              <a:buChar char="•"/>
            </a:pPr>
            <a:r>
              <a:rPr lang="en-US" sz="834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 The reconstructed route is drawn directly on the Delhi road network.</a:t>
            </a:r>
          </a:p>
          <a:p>
            <a:pPr algn="l">
              <a:lnSpc>
                <a:spcPts val="1001"/>
              </a:lnSpc>
            </a:pPr>
            <a:endParaRPr lang="en-US" sz="834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0243" lvl="1" indent="-90121" algn="l">
              <a:lnSpc>
                <a:spcPts val="1001"/>
              </a:lnSpc>
              <a:buFont typeface="Arial"/>
              <a:buChar char="•"/>
            </a:pPr>
            <a:r>
              <a:rPr lang="en-US" sz="834" b="1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Journey intelligence</a:t>
            </a:r>
            <a:r>
              <a:rPr lang="en-US" sz="834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: The system derives inter-camera travel information such as hop timing and speed where data supports it.</a:t>
            </a:r>
          </a:p>
          <a:p>
            <a:pPr algn="l">
              <a:lnSpc>
                <a:spcPts val="1001"/>
              </a:lnSpc>
            </a:pPr>
            <a:endParaRPr lang="en-US" sz="834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0243" lvl="1" indent="-90121" algn="l">
              <a:lnSpc>
                <a:spcPts val="1001"/>
              </a:lnSpc>
              <a:buFont typeface="Arial"/>
              <a:buChar char="•"/>
            </a:pPr>
            <a:r>
              <a:rPr lang="en-US" sz="834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Authorities can search a plate and view its route, detection sequence and timeline.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9722850" y="2398617"/>
            <a:ext cx="2057626" cy="39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2"/>
              </a:lnSpc>
              <a:spcBef>
                <a:spcPct val="0"/>
              </a:spcBef>
            </a:pPr>
            <a:r>
              <a:rPr lang="en-US" sz="1252" b="1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INDIVIDUAL VEHICLES → CITY-LEVEL INSIGHTS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9688425" y="2866284"/>
            <a:ext cx="2186269" cy="228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7989" lvl="1" indent="-88995" algn="l">
              <a:lnSpc>
                <a:spcPts val="915"/>
              </a:lnSpc>
              <a:buFont typeface="Arial"/>
              <a:buChar char="•"/>
            </a:pPr>
            <a:r>
              <a:rPr lang="en-US" sz="824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Real-time traffic density: Aggregates camera observations into traffic-volume rollups and map-based heatmaps.</a:t>
            </a:r>
          </a:p>
          <a:p>
            <a:pPr algn="l">
              <a:lnSpc>
                <a:spcPts val="915"/>
              </a:lnSpc>
            </a:pPr>
            <a:endParaRPr lang="en-US" sz="824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989" lvl="1" indent="-88995" algn="l">
              <a:lnSpc>
                <a:spcPts val="915"/>
              </a:lnSpc>
              <a:buFont typeface="Arial"/>
              <a:buChar char="•"/>
            </a:pPr>
            <a:r>
              <a:rPr lang="en-US" sz="824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Congestion detection: Compares observed travel time against a free-flow reference to identify heavy/congested corridors.</a:t>
            </a:r>
          </a:p>
          <a:p>
            <a:pPr algn="l">
              <a:lnSpc>
                <a:spcPts val="915"/>
              </a:lnSpc>
            </a:pPr>
            <a:endParaRPr lang="en-US" sz="824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989" lvl="1" indent="-88995" algn="l">
              <a:lnSpc>
                <a:spcPts val="915"/>
              </a:lnSpc>
              <a:buFont typeface="Arial"/>
              <a:buChar char="•"/>
            </a:pPr>
            <a:r>
              <a:rPr lang="en-US" sz="824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Origin–Destination analysis: Determines aggregated movement between camera regions — essentially “Where are vehicles coming from and where are they going?”</a:t>
            </a:r>
          </a:p>
          <a:p>
            <a:pPr algn="l">
              <a:lnSpc>
                <a:spcPts val="915"/>
              </a:lnSpc>
            </a:pPr>
            <a:endParaRPr lang="en-US" sz="824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989" lvl="1" indent="-88995" algn="l">
              <a:lnSpc>
                <a:spcPts val="915"/>
              </a:lnSpc>
              <a:buFont typeface="Arial"/>
              <a:buChar char="•"/>
            </a:pPr>
            <a:r>
              <a:rPr lang="en-US" sz="824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Peak-hour analysis: Tracks traffic trends across time windows to identify changing traffic patterns.</a:t>
            </a:r>
          </a:p>
          <a:p>
            <a:pPr algn="l">
              <a:lnSpc>
                <a:spcPts val="915"/>
              </a:lnSpc>
            </a:pPr>
            <a:endParaRPr lang="en-US" sz="824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989" lvl="1" indent="-88995" algn="l">
              <a:lnSpc>
                <a:spcPts val="915"/>
              </a:lnSpc>
              <a:buFont typeface="Arial"/>
              <a:buChar char="•"/>
            </a:pPr>
            <a:r>
              <a:rPr lang="en-US" sz="824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Camera health analytics: Monitors expected vs observed detections to identify healthy, degraded or down cameras.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13040744" y="2447057"/>
            <a:ext cx="1828696" cy="39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2"/>
              </a:lnSpc>
              <a:spcBef>
                <a:spcPct val="0"/>
              </a:spcBef>
            </a:pPr>
            <a:r>
              <a:rPr lang="en-US" sz="1252" b="1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DETECT → ALERT → INVESTIGATE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2858741" y="2887351"/>
            <a:ext cx="2186269" cy="2453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6670" lvl="1" indent="-93335" algn="l">
              <a:lnSpc>
                <a:spcPts val="1037"/>
              </a:lnSpc>
              <a:buFont typeface="Arial"/>
              <a:buChar char="•"/>
            </a:pPr>
            <a:r>
              <a:rPr lang="en-US" sz="864" b="1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Blacklisted vehicle</a:t>
            </a:r>
          </a:p>
          <a:p>
            <a:pPr algn="l">
              <a:lnSpc>
                <a:spcPts val="1037"/>
              </a:lnSpc>
            </a:pPr>
            <a:r>
              <a:rPr lang="en-US" sz="864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 Authority adds a vehicle plate to the blacklist.</a:t>
            </a:r>
          </a:p>
          <a:p>
            <a:pPr algn="l">
              <a:lnSpc>
                <a:spcPts val="1037"/>
              </a:lnSpc>
            </a:pPr>
            <a:r>
              <a:rPr lang="en-US" sz="864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A matching detection automatically generates a blacklist alert.</a:t>
            </a:r>
          </a:p>
          <a:p>
            <a:pPr algn="l">
              <a:lnSpc>
                <a:spcPts val="1037"/>
              </a:lnSpc>
            </a:pPr>
            <a:r>
              <a:rPr lang="en-US" sz="864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Alert is published to the dashboard for operator acknowledgement/investigation.</a:t>
            </a:r>
          </a:p>
          <a:p>
            <a:pPr algn="l">
              <a:lnSpc>
                <a:spcPts val="1037"/>
              </a:lnSpc>
            </a:pPr>
            <a:endParaRPr lang="en-US" sz="864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6670" lvl="1" indent="-93335" algn="l">
              <a:lnSpc>
                <a:spcPts val="1037"/>
              </a:lnSpc>
              <a:buFont typeface="Arial"/>
              <a:buChar char="•"/>
            </a:pPr>
            <a:r>
              <a:rPr lang="en-US" sz="864" b="1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Impossible travel</a:t>
            </a:r>
          </a:p>
          <a:p>
            <a:pPr algn="l">
              <a:lnSpc>
                <a:spcPts val="1037"/>
              </a:lnSpc>
            </a:pPr>
            <a:r>
              <a:rPr lang="en-US" sz="864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The system compares detections of the same plate across cameras.</a:t>
            </a:r>
          </a:p>
          <a:p>
            <a:pPr algn="l">
              <a:lnSpc>
                <a:spcPts val="1037"/>
              </a:lnSpc>
            </a:pPr>
            <a:r>
              <a:rPr lang="en-US" sz="864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If the vehicle appears at another location faster than physically possible, it generates an impossible-travel alert.</a:t>
            </a:r>
          </a:p>
          <a:p>
            <a:pPr algn="l">
              <a:lnSpc>
                <a:spcPts val="1037"/>
              </a:lnSpc>
            </a:pPr>
            <a:endParaRPr lang="en-US" sz="864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6670" lvl="1" indent="-93335" algn="l">
              <a:lnSpc>
                <a:spcPts val="1037"/>
              </a:lnSpc>
              <a:buFont typeface="Arial"/>
              <a:buChar char="•"/>
            </a:pPr>
            <a:r>
              <a:rPr lang="en-US" sz="864" b="1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Camera anomalies</a:t>
            </a:r>
          </a:p>
          <a:p>
            <a:pPr algn="l">
              <a:lnSpc>
                <a:spcPts val="1037"/>
              </a:lnSpc>
            </a:pPr>
            <a:r>
              <a:rPr lang="en-US" sz="864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Monitors camera observation patterns against expected activity.</a:t>
            </a:r>
          </a:p>
          <a:p>
            <a:pPr algn="l">
              <a:lnSpc>
                <a:spcPts val="1037"/>
              </a:lnSpc>
            </a:pPr>
            <a:endParaRPr lang="en-US" sz="864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TextBox 125"/>
          <p:cNvSpPr txBox="1"/>
          <p:nvPr/>
        </p:nvSpPr>
        <p:spPr>
          <a:xfrm>
            <a:off x="16120944" y="2479044"/>
            <a:ext cx="1828696" cy="39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2"/>
              </a:lnSpc>
              <a:spcBef>
                <a:spcPct val="0"/>
              </a:spcBef>
            </a:pPr>
            <a:r>
              <a:rPr lang="en-US" sz="1252" b="1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ONE OPERATIONAL VIEW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15963831" y="2896876"/>
            <a:ext cx="2186269" cy="2330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7990" lvl="1" indent="-88995" algn="l">
              <a:lnSpc>
                <a:spcPts val="989"/>
              </a:lnSpc>
              <a:buFont typeface="Arial"/>
              <a:buChar char="•"/>
            </a:pPr>
            <a:r>
              <a:rPr lang="en-US" sz="824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Centralized command interface: Combines the city map, vehicle trajectories, traffic analytics, camera health and alerts.</a:t>
            </a:r>
          </a:p>
          <a:p>
            <a:pPr algn="l">
              <a:lnSpc>
                <a:spcPts val="989"/>
              </a:lnSpc>
            </a:pPr>
            <a:endParaRPr lang="en-US" sz="824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990" lvl="1" indent="-88995" algn="l">
              <a:lnSpc>
                <a:spcPts val="989"/>
              </a:lnSpc>
              <a:buFont typeface="Arial"/>
              <a:buChar char="•"/>
            </a:pPr>
            <a:r>
              <a:rPr lang="en-US" sz="824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Live GIS map: Displays cameras, traffic heatmaps and active vehicle movement.</a:t>
            </a:r>
          </a:p>
          <a:p>
            <a:pPr algn="l">
              <a:lnSpc>
                <a:spcPts val="989"/>
              </a:lnSpc>
            </a:pPr>
            <a:endParaRPr lang="en-US" sz="824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990" lvl="1" indent="-88995" algn="l">
              <a:lnSpc>
                <a:spcPts val="989"/>
              </a:lnSpc>
              <a:buFont typeface="Arial"/>
              <a:buChar char="•"/>
            </a:pPr>
            <a:r>
              <a:rPr lang="en-US" sz="824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Alert management: View, acknowledge and investigate blacklist/impossible-travel/anomaly alerts.</a:t>
            </a:r>
          </a:p>
          <a:p>
            <a:pPr algn="l">
              <a:lnSpc>
                <a:spcPts val="989"/>
              </a:lnSpc>
            </a:pPr>
            <a:endParaRPr lang="en-US" sz="824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990" lvl="1" indent="-88995" algn="l">
              <a:lnSpc>
                <a:spcPts val="989"/>
              </a:lnSpc>
              <a:buFont typeface="Arial"/>
              <a:buChar char="•"/>
            </a:pPr>
            <a:r>
              <a:rPr lang="en-US" sz="824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Analytics view: Provides congestion, traffic volume, OD patterns and camera-health information.</a:t>
            </a:r>
          </a:p>
          <a:p>
            <a:pPr algn="l">
              <a:lnSpc>
                <a:spcPts val="989"/>
              </a:lnSpc>
            </a:pPr>
            <a:endParaRPr lang="en-US" sz="824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990" lvl="1" indent="-88995" algn="l">
              <a:lnSpc>
                <a:spcPts val="989"/>
              </a:lnSpc>
              <a:buFont typeface="Arial"/>
              <a:buChar char="•"/>
            </a:pPr>
            <a:r>
              <a:rPr lang="en-US" sz="824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Operator-focused design: Information is organized for quick investigation rather than requiring authorities to switch between multiple systems. 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12213353" y="5477701"/>
            <a:ext cx="6193223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2099" b="1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We don't just detect vehicles, we connect their movement to understand the city.</a:t>
            </a:r>
          </a:p>
          <a:p>
            <a:pPr algn="ctr">
              <a:lnSpc>
                <a:spcPts val="2519"/>
              </a:lnSpc>
              <a:spcBef>
                <a:spcPct val="0"/>
              </a:spcBef>
            </a:pPr>
            <a:endParaRPr lang="en-US" sz="2099" b="1">
              <a:solidFill>
                <a:srgbClr val="000000"/>
              </a:solidFill>
              <a:latin typeface="Garamond Bold"/>
              <a:ea typeface="Garamond Bold"/>
              <a:cs typeface="Garamond Bold"/>
              <a:sym typeface="Garamond Bold"/>
            </a:endParaRPr>
          </a:p>
        </p:txBody>
      </p:sp>
      <p:sp>
        <p:nvSpPr>
          <p:cNvPr id="128" name="TextBox 128"/>
          <p:cNvSpPr txBox="1"/>
          <p:nvPr/>
        </p:nvSpPr>
        <p:spPr>
          <a:xfrm>
            <a:off x="4992193" y="6627345"/>
            <a:ext cx="2467491" cy="113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"/>
              </a:lnSpc>
              <a:spcBef>
                <a:spcPct val="0"/>
              </a:spcBef>
            </a:pPr>
            <a:r>
              <a:rPr lang="en-US" sz="699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Congestion heatmaps, density/volume trends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4925552" y="8599070"/>
            <a:ext cx="2544408" cy="112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"/>
              </a:lnSpc>
              <a:spcBef>
                <a:spcPct val="0"/>
              </a:spcBef>
            </a:pPr>
            <a:r>
              <a:rPr lang="en-US" sz="696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Confidence-aware normalization handles OCR variations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5152910" y="5430292"/>
            <a:ext cx="1957837" cy="162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7"/>
              </a:lnSpc>
              <a:spcBef>
                <a:spcPct val="0"/>
              </a:spcBef>
            </a:pPr>
            <a:r>
              <a:rPr lang="en-US" sz="1014" b="1" spc="-18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Unified Event-Based Network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5111850" y="7436472"/>
            <a:ext cx="2192585" cy="134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"/>
              </a:lnSpc>
            </a:pPr>
            <a:r>
              <a:rPr lang="en-US" sz="1014" b="1" spc="-18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City-Wide Trajectory Reconstruction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768370" y="5564297"/>
            <a:ext cx="1845299" cy="19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6"/>
              </a:lnSpc>
              <a:spcBef>
                <a:spcPct val="0"/>
              </a:spcBef>
            </a:pPr>
            <a:r>
              <a:rPr lang="en-US" sz="1171" b="1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Isolated Data Silos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923271" y="5733755"/>
            <a:ext cx="1699702" cy="319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"/>
              </a:lnSpc>
              <a:spcBef>
                <a:spcPct val="0"/>
              </a:spcBef>
            </a:pPr>
            <a:r>
              <a:rPr lang="en-US" sz="696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CCTV/ANPR cameras operate independently, no inter-node communication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952597" y="6060787"/>
            <a:ext cx="1605190" cy="215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"/>
              </a:lnSpc>
              <a:spcBef>
                <a:spcPct val="0"/>
              </a:spcBef>
            </a:pPr>
            <a:r>
              <a:rPr lang="en-US" sz="696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Local data capture → no central visibility across sectors/jurisdictions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840936" y="7465055"/>
            <a:ext cx="1801778" cy="26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3"/>
              </a:lnSpc>
            </a:pPr>
            <a:r>
              <a:rPr lang="en-US" sz="1103" b="1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Inability to Track Vehicle Trajectories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938023" y="7723289"/>
            <a:ext cx="1704691" cy="215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"/>
              </a:lnSpc>
              <a:spcBef>
                <a:spcPct val="0"/>
              </a:spcBef>
            </a:pPr>
            <a:r>
              <a:rPr lang="en-US" sz="696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No spatial-temporal linking → can't trace continuous vehicle movement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917683" y="8003980"/>
            <a:ext cx="1689535" cy="215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"/>
              </a:lnSpc>
              <a:spcBef>
                <a:spcPct val="0"/>
              </a:spcBef>
            </a:pPr>
            <a:r>
              <a:rPr lang="en-US" sz="696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Hard to recreate routes of blacklisted/high-interest vehicles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797098" y="6554919"/>
            <a:ext cx="1790141" cy="241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3"/>
              </a:lnSpc>
            </a:pPr>
            <a:r>
              <a:rPr lang="en-US" sz="1014" b="1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Lack of Macro-Level Traffic Insights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917683" y="6755085"/>
            <a:ext cx="1704691" cy="215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"/>
              </a:lnSpc>
              <a:spcBef>
                <a:spcPct val="0"/>
              </a:spcBef>
            </a:pPr>
            <a:r>
              <a:rPr lang="en-US" sz="696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Only localized detection (e.g., single-lane checks)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923145" y="6996477"/>
            <a:ext cx="1664093" cy="215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"/>
              </a:lnSpc>
              <a:spcBef>
                <a:spcPct val="0"/>
              </a:spcBef>
            </a:pPr>
            <a:r>
              <a:rPr lang="en-US" sz="696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Can't extract city-wide trends: density, OD patterns, bottlenecks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4964075" y="5599039"/>
            <a:ext cx="2495609" cy="216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"/>
              </a:lnSpc>
              <a:spcBef>
                <a:spcPct val="0"/>
              </a:spcBef>
            </a:pPr>
            <a:r>
              <a:rPr lang="en-US" sz="699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Common event-ingestion layer standardizing plate, timestamp, camera ID/location, confidence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4968717" y="5877974"/>
            <a:ext cx="2490967" cy="215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"/>
              </a:lnSpc>
              <a:spcBef>
                <a:spcPct val="0"/>
              </a:spcBef>
            </a:pPr>
            <a:r>
              <a:rPr lang="en-US" sz="696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Redis real-time processing; central storage in PostgreSQL + PostGIS + TimescaleDB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4982365" y="6170260"/>
            <a:ext cx="2010226" cy="112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"/>
              </a:lnSpc>
              <a:spcBef>
                <a:spcPct val="0"/>
              </a:spcBef>
            </a:pPr>
            <a:r>
              <a:rPr lang="en-US" sz="696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Future-ready for RTSP/edge camera feeds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4985870" y="7599524"/>
            <a:ext cx="2480135" cy="215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"/>
              </a:lnSpc>
              <a:spcBef>
                <a:spcPct val="0"/>
              </a:spcBef>
            </a:pPr>
            <a:r>
              <a:rPr lang="en-US" sz="696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Links detections via plate normalization + fuzzy matching (tolerant to OCR errors)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4979548" y="7868258"/>
            <a:ext cx="2480135" cy="215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"/>
              </a:lnSpc>
              <a:spcBef>
                <a:spcPct val="0"/>
              </a:spcBef>
            </a:pPr>
            <a:r>
              <a:rPr lang="en-US" sz="696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Reconstructs movement using timestamp + location + confidence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4998861" y="8131740"/>
            <a:ext cx="2491074" cy="112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"/>
              </a:lnSpc>
              <a:spcBef>
                <a:spcPct val="0"/>
              </a:spcBef>
            </a:pPr>
            <a:r>
              <a:rPr lang="en-US" sz="696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GIS map visualization + plate-based trajectory search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5083382" y="6463315"/>
            <a:ext cx="2028412" cy="131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3"/>
              </a:lnSpc>
            </a:pPr>
            <a:r>
              <a:rPr lang="en-US" sz="1014" b="1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City-Wide Traffic Intelligence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4982365" y="6832558"/>
            <a:ext cx="2369743" cy="216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"/>
              </a:lnSpc>
              <a:spcBef>
                <a:spcPct val="0"/>
              </a:spcBef>
            </a:pPr>
            <a:r>
              <a:rPr lang="en-US" sz="699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Origin-Destination patterns, travel-time/congestion indicators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4992193" y="7103341"/>
            <a:ext cx="2393457" cy="112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"/>
              </a:lnSpc>
              <a:spcBef>
                <a:spcPct val="0"/>
              </a:spcBef>
            </a:pPr>
            <a:r>
              <a:rPr lang="en-US" sz="696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Camera health/coverage analytics for data reliability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5219126" y="8439344"/>
            <a:ext cx="1820893" cy="131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3"/>
              </a:lnSpc>
            </a:pPr>
            <a:r>
              <a:rPr lang="en-US" sz="1014" b="1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Robust ANPR Pipeline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4950811" y="8816536"/>
            <a:ext cx="2537611" cy="112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"/>
              </a:lnSpc>
              <a:spcBef>
                <a:spcPct val="0"/>
              </a:spcBef>
            </a:pPr>
            <a:r>
              <a:rPr lang="en-US" sz="696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Missed detections → gaps, not broken identity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4950255" y="9029771"/>
            <a:ext cx="2551366" cy="628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"/>
              </a:lnSpc>
              <a:spcBef>
                <a:spcPct val="0"/>
              </a:spcBef>
            </a:pPr>
            <a:r>
              <a:rPr lang="en-US" sz="696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Planned YOLO + PP-OCRv4 pipeline, targeting &gt;90% accuracy</a:t>
            </a:r>
          </a:p>
          <a:p>
            <a:pPr algn="l">
              <a:lnSpc>
                <a:spcPts val="835"/>
              </a:lnSpc>
              <a:spcBef>
                <a:spcPct val="0"/>
              </a:spcBef>
            </a:pPr>
            <a:endParaRPr lang="en-US" sz="696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835"/>
              </a:lnSpc>
              <a:spcBef>
                <a:spcPct val="0"/>
              </a:spcBef>
            </a:pPr>
            <a:endParaRPr lang="en-US" sz="696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835"/>
              </a:lnSpc>
              <a:spcBef>
                <a:spcPct val="0"/>
              </a:spcBef>
            </a:pPr>
            <a:endParaRPr lang="en-US" sz="696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835"/>
              </a:lnSpc>
              <a:spcBef>
                <a:spcPct val="0"/>
              </a:spcBef>
            </a:pPr>
            <a:endParaRPr lang="en-US" sz="696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835"/>
              </a:lnSpc>
              <a:spcBef>
                <a:spcPct val="0"/>
              </a:spcBef>
            </a:pPr>
            <a:endParaRPr lang="en-US" sz="696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TextBox 153"/>
          <p:cNvSpPr txBox="1"/>
          <p:nvPr/>
        </p:nvSpPr>
        <p:spPr>
          <a:xfrm>
            <a:off x="802185" y="8506443"/>
            <a:ext cx="1720596" cy="271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4"/>
              </a:lnSpc>
            </a:pPr>
            <a:r>
              <a:rPr lang="en-US" sz="1014" b="1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Environmental &amp; Real-World Accuracy Drop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868975" y="8777359"/>
            <a:ext cx="1724670" cy="319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"/>
              </a:lnSpc>
              <a:spcBef>
                <a:spcPct val="0"/>
              </a:spcBef>
            </a:pPr>
            <a:r>
              <a:rPr lang="en-US" sz="696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OCR degrades under motion blur, bad angles, weather, poor lighting, damaged plates</a:t>
            </a:r>
          </a:p>
        </p:txBody>
      </p:sp>
      <p:grpSp>
        <p:nvGrpSpPr>
          <p:cNvPr id="155" name="Group 155"/>
          <p:cNvGrpSpPr/>
          <p:nvPr/>
        </p:nvGrpSpPr>
        <p:grpSpPr>
          <a:xfrm>
            <a:off x="8855706" y="7011552"/>
            <a:ext cx="1734289" cy="2416569"/>
            <a:chOff x="0" y="0"/>
            <a:chExt cx="2312385" cy="3222093"/>
          </a:xfrm>
        </p:grpSpPr>
        <p:grpSp>
          <p:nvGrpSpPr>
            <p:cNvPr id="156" name="Group 156"/>
            <p:cNvGrpSpPr/>
            <p:nvPr/>
          </p:nvGrpSpPr>
          <p:grpSpPr>
            <a:xfrm>
              <a:off x="0" y="0"/>
              <a:ext cx="2312385" cy="3222093"/>
              <a:chOff x="0" y="0"/>
              <a:chExt cx="848766" cy="1182677"/>
            </a:xfrm>
          </p:grpSpPr>
          <p:sp>
            <p:nvSpPr>
              <p:cNvPr id="157" name="Freeform 157"/>
              <p:cNvSpPr/>
              <p:nvPr/>
            </p:nvSpPr>
            <p:spPr>
              <a:xfrm>
                <a:off x="0" y="0"/>
                <a:ext cx="848766" cy="1182677"/>
              </a:xfrm>
              <a:custGeom>
                <a:avLst/>
                <a:gdLst/>
                <a:ahLst/>
                <a:cxnLst/>
                <a:rect l="l" t="t" r="r" b="b"/>
                <a:pathLst>
                  <a:path w="848766" h="1182677">
                    <a:moveTo>
                      <a:pt x="19418" y="0"/>
                    </a:moveTo>
                    <a:lnTo>
                      <a:pt x="829348" y="0"/>
                    </a:lnTo>
                    <a:cubicBezTo>
                      <a:pt x="840073" y="0"/>
                      <a:pt x="848766" y="8694"/>
                      <a:pt x="848766" y="19418"/>
                    </a:cubicBezTo>
                    <a:lnTo>
                      <a:pt x="848766" y="1163259"/>
                    </a:lnTo>
                    <a:cubicBezTo>
                      <a:pt x="848766" y="1173983"/>
                      <a:pt x="840073" y="1182677"/>
                      <a:pt x="829348" y="1182677"/>
                    </a:cubicBezTo>
                    <a:lnTo>
                      <a:pt x="19418" y="1182677"/>
                    </a:lnTo>
                    <a:cubicBezTo>
                      <a:pt x="8694" y="1182677"/>
                      <a:pt x="0" y="1173983"/>
                      <a:pt x="0" y="1163259"/>
                    </a:cubicBezTo>
                    <a:lnTo>
                      <a:pt x="0" y="19418"/>
                    </a:lnTo>
                    <a:cubicBezTo>
                      <a:pt x="0" y="8694"/>
                      <a:pt x="8694" y="0"/>
                      <a:pt x="194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1F1F9"/>
                </a:solidFill>
                <a:prstDash val="solid"/>
                <a:miter/>
              </a:ln>
            </p:spPr>
          </p:sp>
          <p:sp>
            <p:nvSpPr>
              <p:cNvPr id="158" name="TextBox 158"/>
              <p:cNvSpPr txBox="1"/>
              <p:nvPr/>
            </p:nvSpPr>
            <p:spPr>
              <a:xfrm>
                <a:off x="0" y="-19050"/>
                <a:ext cx="848766" cy="1201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grpSp>
          <p:nvGrpSpPr>
            <p:cNvPr id="159" name="Group 159"/>
            <p:cNvGrpSpPr/>
            <p:nvPr/>
          </p:nvGrpSpPr>
          <p:grpSpPr>
            <a:xfrm>
              <a:off x="291193" y="202297"/>
              <a:ext cx="1729998" cy="332558"/>
              <a:chOff x="0" y="0"/>
              <a:chExt cx="635000" cy="122066"/>
            </a:xfrm>
          </p:grpSpPr>
          <p:sp>
            <p:nvSpPr>
              <p:cNvPr id="160" name="Freeform 160"/>
              <p:cNvSpPr/>
              <p:nvPr/>
            </p:nvSpPr>
            <p:spPr>
              <a:xfrm>
                <a:off x="0" y="0"/>
                <a:ext cx="635000" cy="122066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122066">
                    <a:moveTo>
                      <a:pt x="25955" y="0"/>
                    </a:moveTo>
                    <a:lnTo>
                      <a:pt x="609045" y="0"/>
                    </a:lnTo>
                    <a:cubicBezTo>
                      <a:pt x="615929" y="0"/>
                      <a:pt x="622531" y="2735"/>
                      <a:pt x="627398" y="7602"/>
                    </a:cubicBezTo>
                    <a:cubicBezTo>
                      <a:pt x="632265" y="12469"/>
                      <a:pt x="635000" y="19071"/>
                      <a:pt x="635000" y="25955"/>
                    </a:cubicBezTo>
                    <a:lnTo>
                      <a:pt x="635000" y="96111"/>
                    </a:lnTo>
                    <a:cubicBezTo>
                      <a:pt x="635000" y="110446"/>
                      <a:pt x="623380" y="122066"/>
                      <a:pt x="609045" y="122066"/>
                    </a:cubicBezTo>
                    <a:lnTo>
                      <a:pt x="25955" y="122066"/>
                    </a:lnTo>
                    <a:cubicBezTo>
                      <a:pt x="19071" y="122066"/>
                      <a:pt x="12469" y="119332"/>
                      <a:pt x="7602" y="114464"/>
                    </a:cubicBezTo>
                    <a:cubicBezTo>
                      <a:pt x="2735" y="109597"/>
                      <a:pt x="0" y="102995"/>
                      <a:pt x="0" y="96111"/>
                    </a:cubicBezTo>
                    <a:lnTo>
                      <a:pt x="0" y="25955"/>
                    </a:lnTo>
                    <a:cubicBezTo>
                      <a:pt x="0" y="19071"/>
                      <a:pt x="2735" y="12469"/>
                      <a:pt x="7602" y="7602"/>
                    </a:cubicBezTo>
                    <a:cubicBezTo>
                      <a:pt x="12469" y="2735"/>
                      <a:pt x="19071" y="0"/>
                      <a:pt x="259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1F1F9"/>
                </a:solidFill>
                <a:prstDash val="solid"/>
                <a:miter/>
              </a:ln>
            </p:spPr>
          </p:sp>
          <p:sp>
            <p:nvSpPr>
              <p:cNvPr id="161" name="TextBox 161"/>
              <p:cNvSpPr txBox="1"/>
              <p:nvPr/>
            </p:nvSpPr>
            <p:spPr>
              <a:xfrm>
                <a:off x="0" y="-19050"/>
                <a:ext cx="635000" cy="1411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62" name="TextBox 162"/>
            <p:cNvSpPr txBox="1"/>
            <p:nvPr/>
          </p:nvSpPr>
          <p:spPr>
            <a:xfrm>
              <a:off x="778917" y="247091"/>
              <a:ext cx="754551" cy="233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36"/>
                </a:lnSpc>
                <a:spcBef>
                  <a:spcPct val="0"/>
                </a:spcBef>
              </a:pPr>
              <a:r>
                <a:rPr lang="en-US" sz="1113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EVENTS</a:t>
              </a:r>
            </a:p>
          </p:txBody>
        </p:sp>
        <p:grpSp>
          <p:nvGrpSpPr>
            <p:cNvPr id="163" name="Group 163"/>
            <p:cNvGrpSpPr/>
            <p:nvPr/>
          </p:nvGrpSpPr>
          <p:grpSpPr>
            <a:xfrm>
              <a:off x="291193" y="823532"/>
              <a:ext cx="1729998" cy="332558"/>
              <a:chOff x="0" y="0"/>
              <a:chExt cx="635000" cy="122066"/>
            </a:xfrm>
          </p:grpSpPr>
          <p:sp>
            <p:nvSpPr>
              <p:cNvPr id="164" name="Freeform 164"/>
              <p:cNvSpPr/>
              <p:nvPr/>
            </p:nvSpPr>
            <p:spPr>
              <a:xfrm>
                <a:off x="0" y="0"/>
                <a:ext cx="635000" cy="122066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122066">
                    <a:moveTo>
                      <a:pt x="25955" y="0"/>
                    </a:moveTo>
                    <a:lnTo>
                      <a:pt x="609045" y="0"/>
                    </a:lnTo>
                    <a:cubicBezTo>
                      <a:pt x="615929" y="0"/>
                      <a:pt x="622531" y="2735"/>
                      <a:pt x="627398" y="7602"/>
                    </a:cubicBezTo>
                    <a:cubicBezTo>
                      <a:pt x="632265" y="12469"/>
                      <a:pt x="635000" y="19071"/>
                      <a:pt x="635000" y="25955"/>
                    </a:cubicBezTo>
                    <a:lnTo>
                      <a:pt x="635000" y="96111"/>
                    </a:lnTo>
                    <a:cubicBezTo>
                      <a:pt x="635000" y="110446"/>
                      <a:pt x="623380" y="122066"/>
                      <a:pt x="609045" y="122066"/>
                    </a:cubicBezTo>
                    <a:lnTo>
                      <a:pt x="25955" y="122066"/>
                    </a:lnTo>
                    <a:cubicBezTo>
                      <a:pt x="19071" y="122066"/>
                      <a:pt x="12469" y="119332"/>
                      <a:pt x="7602" y="114464"/>
                    </a:cubicBezTo>
                    <a:cubicBezTo>
                      <a:pt x="2735" y="109597"/>
                      <a:pt x="0" y="102995"/>
                      <a:pt x="0" y="96111"/>
                    </a:cubicBezTo>
                    <a:lnTo>
                      <a:pt x="0" y="25955"/>
                    </a:lnTo>
                    <a:cubicBezTo>
                      <a:pt x="0" y="19071"/>
                      <a:pt x="2735" y="12469"/>
                      <a:pt x="7602" y="7602"/>
                    </a:cubicBezTo>
                    <a:cubicBezTo>
                      <a:pt x="12469" y="2735"/>
                      <a:pt x="19071" y="0"/>
                      <a:pt x="259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1F1F9"/>
                </a:solidFill>
                <a:prstDash val="solid"/>
                <a:miter/>
              </a:ln>
            </p:spPr>
          </p:sp>
          <p:sp>
            <p:nvSpPr>
              <p:cNvPr id="165" name="TextBox 165"/>
              <p:cNvSpPr txBox="1"/>
              <p:nvPr/>
            </p:nvSpPr>
            <p:spPr>
              <a:xfrm>
                <a:off x="0" y="-19050"/>
                <a:ext cx="635000" cy="1411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66" name="TextBox 166"/>
            <p:cNvSpPr txBox="1"/>
            <p:nvPr/>
          </p:nvSpPr>
          <p:spPr>
            <a:xfrm>
              <a:off x="726620" y="868326"/>
              <a:ext cx="859145" cy="233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36"/>
                </a:lnSpc>
                <a:spcBef>
                  <a:spcPct val="0"/>
                </a:spcBef>
              </a:pPr>
              <a:r>
                <a:rPr lang="en-US" sz="1113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IDENTITY</a:t>
              </a:r>
            </a:p>
          </p:txBody>
        </p:sp>
        <p:grpSp>
          <p:nvGrpSpPr>
            <p:cNvPr id="167" name="Group 167"/>
            <p:cNvGrpSpPr/>
            <p:nvPr/>
          </p:nvGrpSpPr>
          <p:grpSpPr>
            <a:xfrm>
              <a:off x="291193" y="2675576"/>
              <a:ext cx="1729998" cy="332558"/>
              <a:chOff x="0" y="0"/>
              <a:chExt cx="635000" cy="122066"/>
            </a:xfrm>
          </p:grpSpPr>
          <p:sp>
            <p:nvSpPr>
              <p:cNvPr id="168" name="Freeform 168"/>
              <p:cNvSpPr/>
              <p:nvPr/>
            </p:nvSpPr>
            <p:spPr>
              <a:xfrm>
                <a:off x="0" y="0"/>
                <a:ext cx="635000" cy="122066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122066">
                    <a:moveTo>
                      <a:pt x="25955" y="0"/>
                    </a:moveTo>
                    <a:lnTo>
                      <a:pt x="609045" y="0"/>
                    </a:lnTo>
                    <a:cubicBezTo>
                      <a:pt x="615929" y="0"/>
                      <a:pt x="622531" y="2735"/>
                      <a:pt x="627398" y="7602"/>
                    </a:cubicBezTo>
                    <a:cubicBezTo>
                      <a:pt x="632265" y="12469"/>
                      <a:pt x="635000" y="19071"/>
                      <a:pt x="635000" y="25955"/>
                    </a:cubicBezTo>
                    <a:lnTo>
                      <a:pt x="635000" y="96111"/>
                    </a:lnTo>
                    <a:cubicBezTo>
                      <a:pt x="635000" y="110446"/>
                      <a:pt x="623380" y="122066"/>
                      <a:pt x="609045" y="122066"/>
                    </a:cubicBezTo>
                    <a:lnTo>
                      <a:pt x="25955" y="122066"/>
                    </a:lnTo>
                    <a:cubicBezTo>
                      <a:pt x="19071" y="122066"/>
                      <a:pt x="12469" y="119332"/>
                      <a:pt x="7602" y="114464"/>
                    </a:cubicBezTo>
                    <a:cubicBezTo>
                      <a:pt x="2735" y="109597"/>
                      <a:pt x="0" y="102995"/>
                      <a:pt x="0" y="96111"/>
                    </a:cubicBezTo>
                    <a:lnTo>
                      <a:pt x="0" y="25955"/>
                    </a:lnTo>
                    <a:cubicBezTo>
                      <a:pt x="0" y="19071"/>
                      <a:pt x="2735" y="12469"/>
                      <a:pt x="7602" y="7602"/>
                    </a:cubicBezTo>
                    <a:cubicBezTo>
                      <a:pt x="12469" y="2735"/>
                      <a:pt x="19071" y="0"/>
                      <a:pt x="259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1F1F9"/>
                </a:solidFill>
                <a:prstDash val="solid"/>
                <a:miter/>
              </a:ln>
            </p:spPr>
          </p:sp>
          <p:sp>
            <p:nvSpPr>
              <p:cNvPr id="169" name="TextBox 169"/>
              <p:cNvSpPr txBox="1"/>
              <p:nvPr/>
            </p:nvSpPr>
            <p:spPr>
              <a:xfrm>
                <a:off x="0" y="-19050"/>
                <a:ext cx="635000" cy="1411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70" name="TextBox 170"/>
            <p:cNvSpPr txBox="1"/>
            <p:nvPr/>
          </p:nvSpPr>
          <p:spPr>
            <a:xfrm>
              <a:off x="791071" y="2720370"/>
              <a:ext cx="730244" cy="233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36"/>
                </a:lnSpc>
                <a:spcBef>
                  <a:spcPct val="0"/>
                </a:spcBef>
              </a:pPr>
              <a:r>
                <a:rPr lang="en-US" sz="1113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ALERTS</a:t>
              </a:r>
            </a:p>
          </p:txBody>
        </p:sp>
        <p:grpSp>
          <p:nvGrpSpPr>
            <p:cNvPr id="171" name="Group 171"/>
            <p:cNvGrpSpPr/>
            <p:nvPr/>
          </p:nvGrpSpPr>
          <p:grpSpPr>
            <a:xfrm>
              <a:off x="291193" y="2060172"/>
              <a:ext cx="1729998" cy="332558"/>
              <a:chOff x="0" y="0"/>
              <a:chExt cx="635000" cy="122066"/>
            </a:xfrm>
          </p:grpSpPr>
          <p:sp>
            <p:nvSpPr>
              <p:cNvPr id="172" name="Freeform 172"/>
              <p:cNvSpPr/>
              <p:nvPr/>
            </p:nvSpPr>
            <p:spPr>
              <a:xfrm>
                <a:off x="0" y="0"/>
                <a:ext cx="635000" cy="122066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122066">
                    <a:moveTo>
                      <a:pt x="25955" y="0"/>
                    </a:moveTo>
                    <a:lnTo>
                      <a:pt x="609045" y="0"/>
                    </a:lnTo>
                    <a:cubicBezTo>
                      <a:pt x="615929" y="0"/>
                      <a:pt x="622531" y="2735"/>
                      <a:pt x="627398" y="7602"/>
                    </a:cubicBezTo>
                    <a:cubicBezTo>
                      <a:pt x="632265" y="12469"/>
                      <a:pt x="635000" y="19071"/>
                      <a:pt x="635000" y="25955"/>
                    </a:cubicBezTo>
                    <a:lnTo>
                      <a:pt x="635000" y="96111"/>
                    </a:lnTo>
                    <a:cubicBezTo>
                      <a:pt x="635000" y="110446"/>
                      <a:pt x="623380" y="122066"/>
                      <a:pt x="609045" y="122066"/>
                    </a:cubicBezTo>
                    <a:lnTo>
                      <a:pt x="25955" y="122066"/>
                    </a:lnTo>
                    <a:cubicBezTo>
                      <a:pt x="19071" y="122066"/>
                      <a:pt x="12469" y="119332"/>
                      <a:pt x="7602" y="114464"/>
                    </a:cubicBezTo>
                    <a:cubicBezTo>
                      <a:pt x="2735" y="109597"/>
                      <a:pt x="0" y="102995"/>
                      <a:pt x="0" y="96111"/>
                    </a:cubicBezTo>
                    <a:lnTo>
                      <a:pt x="0" y="25955"/>
                    </a:lnTo>
                    <a:cubicBezTo>
                      <a:pt x="0" y="19071"/>
                      <a:pt x="2735" y="12469"/>
                      <a:pt x="7602" y="7602"/>
                    </a:cubicBezTo>
                    <a:cubicBezTo>
                      <a:pt x="12469" y="2735"/>
                      <a:pt x="19071" y="0"/>
                      <a:pt x="259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1F1F9"/>
                </a:solidFill>
                <a:prstDash val="solid"/>
                <a:miter/>
              </a:ln>
            </p:spPr>
          </p:sp>
          <p:sp>
            <p:nvSpPr>
              <p:cNvPr id="173" name="TextBox 173"/>
              <p:cNvSpPr txBox="1"/>
              <p:nvPr/>
            </p:nvSpPr>
            <p:spPr>
              <a:xfrm>
                <a:off x="0" y="-19050"/>
                <a:ext cx="635000" cy="1411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74" name="TextBox 174"/>
            <p:cNvSpPr txBox="1"/>
            <p:nvPr/>
          </p:nvSpPr>
          <p:spPr>
            <a:xfrm>
              <a:off x="639188" y="2104966"/>
              <a:ext cx="1034009" cy="233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36"/>
                </a:lnSpc>
                <a:spcBef>
                  <a:spcPct val="0"/>
                </a:spcBef>
              </a:pPr>
              <a:r>
                <a:rPr lang="en-US" sz="1113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ANALYTICS</a:t>
              </a:r>
            </a:p>
          </p:txBody>
        </p:sp>
        <p:grpSp>
          <p:nvGrpSpPr>
            <p:cNvPr id="175" name="Group 175"/>
            <p:cNvGrpSpPr/>
            <p:nvPr/>
          </p:nvGrpSpPr>
          <p:grpSpPr>
            <a:xfrm>
              <a:off x="291193" y="1444767"/>
              <a:ext cx="1729998" cy="332558"/>
              <a:chOff x="0" y="0"/>
              <a:chExt cx="635000" cy="122066"/>
            </a:xfrm>
          </p:grpSpPr>
          <p:sp>
            <p:nvSpPr>
              <p:cNvPr id="176" name="Freeform 176"/>
              <p:cNvSpPr/>
              <p:nvPr/>
            </p:nvSpPr>
            <p:spPr>
              <a:xfrm>
                <a:off x="0" y="0"/>
                <a:ext cx="635000" cy="122066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122066">
                    <a:moveTo>
                      <a:pt x="25955" y="0"/>
                    </a:moveTo>
                    <a:lnTo>
                      <a:pt x="609045" y="0"/>
                    </a:lnTo>
                    <a:cubicBezTo>
                      <a:pt x="615929" y="0"/>
                      <a:pt x="622531" y="2735"/>
                      <a:pt x="627398" y="7602"/>
                    </a:cubicBezTo>
                    <a:cubicBezTo>
                      <a:pt x="632265" y="12469"/>
                      <a:pt x="635000" y="19071"/>
                      <a:pt x="635000" y="25955"/>
                    </a:cubicBezTo>
                    <a:lnTo>
                      <a:pt x="635000" y="96111"/>
                    </a:lnTo>
                    <a:cubicBezTo>
                      <a:pt x="635000" y="110446"/>
                      <a:pt x="623380" y="122066"/>
                      <a:pt x="609045" y="122066"/>
                    </a:cubicBezTo>
                    <a:lnTo>
                      <a:pt x="25955" y="122066"/>
                    </a:lnTo>
                    <a:cubicBezTo>
                      <a:pt x="19071" y="122066"/>
                      <a:pt x="12469" y="119332"/>
                      <a:pt x="7602" y="114464"/>
                    </a:cubicBezTo>
                    <a:cubicBezTo>
                      <a:pt x="2735" y="109597"/>
                      <a:pt x="0" y="102995"/>
                      <a:pt x="0" y="96111"/>
                    </a:cubicBezTo>
                    <a:lnTo>
                      <a:pt x="0" y="25955"/>
                    </a:lnTo>
                    <a:cubicBezTo>
                      <a:pt x="0" y="19071"/>
                      <a:pt x="2735" y="12469"/>
                      <a:pt x="7602" y="7602"/>
                    </a:cubicBezTo>
                    <a:cubicBezTo>
                      <a:pt x="12469" y="2735"/>
                      <a:pt x="19071" y="0"/>
                      <a:pt x="259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1F1F9"/>
                </a:solidFill>
                <a:prstDash val="solid"/>
                <a:miter/>
              </a:ln>
            </p:spPr>
          </p:sp>
          <p:sp>
            <p:nvSpPr>
              <p:cNvPr id="177" name="TextBox 177"/>
              <p:cNvSpPr txBox="1"/>
              <p:nvPr/>
            </p:nvSpPr>
            <p:spPr>
              <a:xfrm>
                <a:off x="0" y="-19050"/>
                <a:ext cx="635000" cy="1411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78" name="TextBox 178"/>
            <p:cNvSpPr txBox="1"/>
            <p:nvPr/>
          </p:nvSpPr>
          <p:spPr>
            <a:xfrm>
              <a:off x="530985" y="1489561"/>
              <a:ext cx="1250415" cy="233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36"/>
                </a:lnSpc>
                <a:spcBef>
                  <a:spcPct val="0"/>
                </a:spcBef>
              </a:pPr>
              <a:r>
                <a:rPr lang="en-US" sz="1113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TRAJECTORY</a:t>
              </a:r>
            </a:p>
          </p:txBody>
        </p:sp>
        <p:sp>
          <p:nvSpPr>
            <p:cNvPr id="179" name="Freeform 179"/>
            <p:cNvSpPr/>
            <p:nvPr/>
          </p:nvSpPr>
          <p:spPr>
            <a:xfrm rot="5400000">
              <a:off x="1072380" y="593232"/>
              <a:ext cx="167625" cy="171923"/>
            </a:xfrm>
            <a:custGeom>
              <a:avLst/>
              <a:gdLst/>
              <a:ahLst/>
              <a:cxnLst/>
              <a:rect l="l" t="t" r="r" b="b"/>
              <a:pathLst>
                <a:path w="167625" h="171923">
                  <a:moveTo>
                    <a:pt x="0" y="0"/>
                  </a:moveTo>
                  <a:lnTo>
                    <a:pt x="167625" y="0"/>
                  </a:lnTo>
                  <a:lnTo>
                    <a:pt x="167625" y="171923"/>
                  </a:lnTo>
                  <a:lnTo>
                    <a:pt x="0" y="171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0" name="Freeform 180"/>
            <p:cNvSpPr/>
            <p:nvPr/>
          </p:nvSpPr>
          <p:spPr>
            <a:xfrm rot="5400000">
              <a:off x="1072380" y="1212868"/>
              <a:ext cx="167625" cy="171923"/>
            </a:xfrm>
            <a:custGeom>
              <a:avLst/>
              <a:gdLst/>
              <a:ahLst/>
              <a:cxnLst/>
              <a:rect l="l" t="t" r="r" b="b"/>
              <a:pathLst>
                <a:path w="167625" h="171923">
                  <a:moveTo>
                    <a:pt x="0" y="0"/>
                  </a:moveTo>
                  <a:lnTo>
                    <a:pt x="167625" y="0"/>
                  </a:lnTo>
                  <a:lnTo>
                    <a:pt x="167625" y="171923"/>
                  </a:lnTo>
                  <a:lnTo>
                    <a:pt x="0" y="171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1" name="Freeform 181"/>
            <p:cNvSpPr/>
            <p:nvPr/>
          </p:nvSpPr>
          <p:spPr>
            <a:xfrm rot="5400000">
              <a:off x="1072380" y="1834103"/>
              <a:ext cx="167625" cy="171923"/>
            </a:xfrm>
            <a:custGeom>
              <a:avLst/>
              <a:gdLst/>
              <a:ahLst/>
              <a:cxnLst/>
              <a:rect l="l" t="t" r="r" b="b"/>
              <a:pathLst>
                <a:path w="167625" h="171923">
                  <a:moveTo>
                    <a:pt x="0" y="0"/>
                  </a:moveTo>
                  <a:lnTo>
                    <a:pt x="167625" y="0"/>
                  </a:lnTo>
                  <a:lnTo>
                    <a:pt x="167625" y="171923"/>
                  </a:lnTo>
                  <a:lnTo>
                    <a:pt x="0" y="171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2" name="Freeform 182"/>
            <p:cNvSpPr/>
            <p:nvPr/>
          </p:nvSpPr>
          <p:spPr>
            <a:xfrm rot="5400000">
              <a:off x="1072380" y="2455338"/>
              <a:ext cx="167625" cy="171923"/>
            </a:xfrm>
            <a:custGeom>
              <a:avLst/>
              <a:gdLst/>
              <a:ahLst/>
              <a:cxnLst/>
              <a:rect l="l" t="t" r="r" b="b"/>
              <a:pathLst>
                <a:path w="167625" h="171923">
                  <a:moveTo>
                    <a:pt x="0" y="0"/>
                  </a:moveTo>
                  <a:lnTo>
                    <a:pt x="167625" y="0"/>
                  </a:lnTo>
                  <a:lnTo>
                    <a:pt x="167625" y="171923"/>
                  </a:lnTo>
                  <a:lnTo>
                    <a:pt x="0" y="171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15679379" y="62223"/>
            <a:ext cx="2471349" cy="1302606"/>
          </a:xfrm>
          <a:custGeom>
            <a:avLst/>
            <a:gdLst/>
            <a:ahLst/>
            <a:cxnLst/>
            <a:rect l="l" t="t" r="r" b="b"/>
            <a:pathLst>
              <a:path w="2471349" h="1302606">
                <a:moveTo>
                  <a:pt x="0" y="0"/>
                </a:moveTo>
                <a:lnTo>
                  <a:pt x="2471349" y="0"/>
                </a:lnTo>
                <a:lnTo>
                  <a:pt x="2471349" y="1302606"/>
                </a:lnTo>
                <a:lnTo>
                  <a:pt x="0" y="13026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29" r="-2129"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0" y="9622076"/>
            <a:ext cx="18288000" cy="754856"/>
            <a:chOff x="0" y="0"/>
            <a:chExt cx="24384000" cy="10064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858858" y="9589689"/>
            <a:ext cx="4806001" cy="547688"/>
            <a:chOff x="0" y="0"/>
            <a:chExt cx="6408001" cy="7302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Team: Baazigars | SIH26127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275421" y="9534525"/>
            <a:ext cx="4267200" cy="547688"/>
            <a:chOff x="0" y="0"/>
            <a:chExt cx="5689600" cy="7302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443741" y="2442887"/>
            <a:ext cx="2000773" cy="2022083"/>
            <a:chOff x="0" y="0"/>
            <a:chExt cx="526953" cy="53256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26953" cy="532565"/>
            </a:xfrm>
            <a:custGeom>
              <a:avLst/>
              <a:gdLst/>
              <a:ahLst/>
              <a:cxnLst/>
              <a:rect l="l" t="t" r="r" b="b"/>
              <a:pathLst>
                <a:path w="526953" h="532565">
                  <a:moveTo>
                    <a:pt x="65781" y="0"/>
                  </a:moveTo>
                  <a:lnTo>
                    <a:pt x="461172" y="0"/>
                  </a:lnTo>
                  <a:cubicBezTo>
                    <a:pt x="497501" y="0"/>
                    <a:pt x="526953" y="29451"/>
                    <a:pt x="526953" y="65781"/>
                  </a:cubicBezTo>
                  <a:lnTo>
                    <a:pt x="526953" y="466784"/>
                  </a:lnTo>
                  <a:cubicBezTo>
                    <a:pt x="526953" y="503114"/>
                    <a:pt x="497501" y="532565"/>
                    <a:pt x="461172" y="532565"/>
                  </a:cubicBezTo>
                  <a:lnTo>
                    <a:pt x="65781" y="532565"/>
                  </a:lnTo>
                  <a:cubicBezTo>
                    <a:pt x="29451" y="532565"/>
                    <a:pt x="0" y="503114"/>
                    <a:pt x="0" y="466784"/>
                  </a:cubicBezTo>
                  <a:lnTo>
                    <a:pt x="0" y="65781"/>
                  </a:lnTo>
                  <a:cubicBezTo>
                    <a:pt x="0" y="29451"/>
                    <a:pt x="29451" y="0"/>
                    <a:pt x="65781" y="0"/>
                  </a:cubicBez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526953" cy="551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820311" y="2442887"/>
            <a:ext cx="2000773" cy="2022083"/>
            <a:chOff x="0" y="0"/>
            <a:chExt cx="526953" cy="53256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26953" cy="532565"/>
            </a:xfrm>
            <a:custGeom>
              <a:avLst/>
              <a:gdLst/>
              <a:ahLst/>
              <a:cxnLst/>
              <a:rect l="l" t="t" r="r" b="b"/>
              <a:pathLst>
                <a:path w="526953" h="532565">
                  <a:moveTo>
                    <a:pt x="65781" y="0"/>
                  </a:moveTo>
                  <a:lnTo>
                    <a:pt x="461172" y="0"/>
                  </a:lnTo>
                  <a:cubicBezTo>
                    <a:pt x="497501" y="0"/>
                    <a:pt x="526953" y="29451"/>
                    <a:pt x="526953" y="65781"/>
                  </a:cubicBezTo>
                  <a:lnTo>
                    <a:pt x="526953" y="466784"/>
                  </a:lnTo>
                  <a:cubicBezTo>
                    <a:pt x="526953" y="503114"/>
                    <a:pt x="497501" y="532565"/>
                    <a:pt x="461172" y="532565"/>
                  </a:cubicBezTo>
                  <a:lnTo>
                    <a:pt x="65781" y="532565"/>
                  </a:lnTo>
                  <a:cubicBezTo>
                    <a:pt x="29451" y="532565"/>
                    <a:pt x="0" y="503114"/>
                    <a:pt x="0" y="466784"/>
                  </a:cubicBezTo>
                  <a:lnTo>
                    <a:pt x="0" y="65781"/>
                  </a:lnTo>
                  <a:cubicBezTo>
                    <a:pt x="0" y="29451"/>
                    <a:pt x="29451" y="0"/>
                    <a:pt x="65781" y="0"/>
                  </a:cubicBez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526953" cy="551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5551" y="2442887"/>
            <a:ext cx="2197713" cy="2022083"/>
            <a:chOff x="0" y="0"/>
            <a:chExt cx="578821" cy="53256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78821" cy="532565"/>
            </a:xfrm>
            <a:custGeom>
              <a:avLst/>
              <a:gdLst/>
              <a:ahLst/>
              <a:cxnLst/>
              <a:rect l="l" t="t" r="r" b="b"/>
              <a:pathLst>
                <a:path w="578821" h="532565">
                  <a:moveTo>
                    <a:pt x="59886" y="0"/>
                  </a:moveTo>
                  <a:lnTo>
                    <a:pt x="518935" y="0"/>
                  </a:lnTo>
                  <a:cubicBezTo>
                    <a:pt x="552009" y="0"/>
                    <a:pt x="578821" y="26812"/>
                    <a:pt x="578821" y="59886"/>
                  </a:cubicBezTo>
                  <a:lnTo>
                    <a:pt x="578821" y="472679"/>
                  </a:lnTo>
                  <a:cubicBezTo>
                    <a:pt x="578821" y="488562"/>
                    <a:pt x="572512" y="503794"/>
                    <a:pt x="561281" y="515025"/>
                  </a:cubicBezTo>
                  <a:cubicBezTo>
                    <a:pt x="550050" y="526256"/>
                    <a:pt x="534818" y="532565"/>
                    <a:pt x="518935" y="532565"/>
                  </a:cubicBezTo>
                  <a:lnTo>
                    <a:pt x="59886" y="532565"/>
                  </a:lnTo>
                  <a:cubicBezTo>
                    <a:pt x="44003" y="532565"/>
                    <a:pt x="28771" y="526256"/>
                    <a:pt x="17540" y="515025"/>
                  </a:cubicBezTo>
                  <a:cubicBezTo>
                    <a:pt x="6309" y="503794"/>
                    <a:pt x="0" y="488562"/>
                    <a:pt x="0" y="472679"/>
                  </a:cubicBezTo>
                  <a:lnTo>
                    <a:pt x="0" y="59886"/>
                  </a:lnTo>
                  <a:cubicBezTo>
                    <a:pt x="0" y="44003"/>
                    <a:pt x="6309" y="28771"/>
                    <a:pt x="17540" y="17540"/>
                  </a:cubicBezTo>
                  <a:cubicBezTo>
                    <a:pt x="28771" y="6309"/>
                    <a:pt x="44003" y="0"/>
                    <a:pt x="59886" y="0"/>
                  </a:cubicBez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578821" cy="551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564991" y="2442887"/>
            <a:ext cx="2134843" cy="2022083"/>
            <a:chOff x="0" y="0"/>
            <a:chExt cx="562263" cy="53256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62263" cy="532565"/>
            </a:xfrm>
            <a:custGeom>
              <a:avLst/>
              <a:gdLst/>
              <a:ahLst/>
              <a:cxnLst/>
              <a:rect l="l" t="t" r="r" b="b"/>
              <a:pathLst>
                <a:path w="562263" h="532565">
                  <a:moveTo>
                    <a:pt x="61650" y="0"/>
                  </a:moveTo>
                  <a:lnTo>
                    <a:pt x="500613" y="0"/>
                  </a:lnTo>
                  <a:cubicBezTo>
                    <a:pt x="534662" y="0"/>
                    <a:pt x="562263" y="27602"/>
                    <a:pt x="562263" y="61650"/>
                  </a:cubicBezTo>
                  <a:lnTo>
                    <a:pt x="562263" y="470915"/>
                  </a:lnTo>
                  <a:cubicBezTo>
                    <a:pt x="562263" y="504964"/>
                    <a:pt x="534662" y="532565"/>
                    <a:pt x="500613" y="532565"/>
                  </a:cubicBezTo>
                  <a:lnTo>
                    <a:pt x="61650" y="532565"/>
                  </a:lnTo>
                  <a:cubicBezTo>
                    <a:pt x="27602" y="532565"/>
                    <a:pt x="0" y="504964"/>
                    <a:pt x="0" y="470915"/>
                  </a:cubicBezTo>
                  <a:lnTo>
                    <a:pt x="0" y="61650"/>
                  </a:lnTo>
                  <a:cubicBezTo>
                    <a:pt x="0" y="27602"/>
                    <a:pt x="27602" y="0"/>
                    <a:pt x="61650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562263" cy="551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792319" y="2442887"/>
            <a:ext cx="1705818" cy="2022083"/>
            <a:chOff x="0" y="0"/>
            <a:chExt cx="449269" cy="53256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49269" cy="532565"/>
            </a:xfrm>
            <a:custGeom>
              <a:avLst/>
              <a:gdLst/>
              <a:ahLst/>
              <a:cxnLst/>
              <a:rect l="l" t="t" r="r" b="b"/>
              <a:pathLst>
                <a:path w="449269" h="532565">
                  <a:moveTo>
                    <a:pt x="77155" y="0"/>
                  </a:moveTo>
                  <a:lnTo>
                    <a:pt x="372114" y="0"/>
                  </a:lnTo>
                  <a:cubicBezTo>
                    <a:pt x="392577" y="0"/>
                    <a:pt x="412201" y="8129"/>
                    <a:pt x="426671" y="22598"/>
                  </a:cubicBezTo>
                  <a:cubicBezTo>
                    <a:pt x="441140" y="37068"/>
                    <a:pt x="449269" y="56692"/>
                    <a:pt x="449269" y="77155"/>
                  </a:cubicBezTo>
                  <a:lnTo>
                    <a:pt x="449269" y="455410"/>
                  </a:lnTo>
                  <a:cubicBezTo>
                    <a:pt x="449269" y="475873"/>
                    <a:pt x="441140" y="495498"/>
                    <a:pt x="426671" y="509967"/>
                  </a:cubicBezTo>
                  <a:cubicBezTo>
                    <a:pt x="412201" y="524436"/>
                    <a:pt x="392577" y="532565"/>
                    <a:pt x="372114" y="532565"/>
                  </a:cubicBezTo>
                  <a:lnTo>
                    <a:pt x="77155" y="532565"/>
                  </a:lnTo>
                  <a:cubicBezTo>
                    <a:pt x="34544" y="532565"/>
                    <a:pt x="0" y="498022"/>
                    <a:pt x="0" y="455410"/>
                  </a:cubicBezTo>
                  <a:lnTo>
                    <a:pt x="0" y="77155"/>
                  </a:lnTo>
                  <a:cubicBezTo>
                    <a:pt x="0" y="34544"/>
                    <a:pt x="34544" y="0"/>
                    <a:pt x="77155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449269" cy="551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4618615" y="2442887"/>
            <a:ext cx="1705818" cy="2022083"/>
            <a:chOff x="0" y="0"/>
            <a:chExt cx="449269" cy="53256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49269" cy="532565"/>
            </a:xfrm>
            <a:custGeom>
              <a:avLst/>
              <a:gdLst/>
              <a:ahLst/>
              <a:cxnLst/>
              <a:rect l="l" t="t" r="r" b="b"/>
              <a:pathLst>
                <a:path w="449269" h="532565">
                  <a:moveTo>
                    <a:pt x="77155" y="0"/>
                  </a:moveTo>
                  <a:lnTo>
                    <a:pt x="372114" y="0"/>
                  </a:lnTo>
                  <a:cubicBezTo>
                    <a:pt x="392577" y="0"/>
                    <a:pt x="412201" y="8129"/>
                    <a:pt x="426671" y="22598"/>
                  </a:cubicBezTo>
                  <a:cubicBezTo>
                    <a:pt x="441140" y="37068"/>
                    <a:pt x="449269" y="56692"/>
                    <a:pt x="449269" y="77155"/>
                  </a:cubicBezTo>
                  <a:lnTo>
                    <a:pt x="449269" y="455410"/>
                  </a:lnTo>
                  <a:cubicBezTo>
                    <a:pt x="449269" y="475873"/>
                    <a:pt x="441140" y="495498"/>
                    <a:pt x="426671" y="509967"/>
                  </a:cubicBezTo>
                  <a:cubicBezTo>
                    <a:pt x="412201" y="524436"/>
                    <a:pt x="392577" y="532565"/>
                    <a:pt x="372114" y="532565"/>
                  </a:cubicBezTo>
                  <a:lnTo>
                    <a:pt x="77155" y="532565"/>
                  </a:lnTo>
                  <a:cubicBezTo>
                    <a:pt x="34544" y="532565"/>
                    <a:pt x="0" y="498022"/>
                    <a:pt x="0" y="455410"/>
                  </a:cubicBezTo>
                  <a:lnTo>
                    <a:pt x="0" y="77155"/>
                  </a:lnTo>
                  <a:cubicBezTo>
                    <a:pt x="0" y="34544"/>
                    <a:pt x="34544" y="0"/>
                    <a:pt x="77155" y="0"/>
                  </a:cubicBez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449269" cy="551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6444910" y="2442887"/>
            <a:ext cx="1705818" cy="2022083"/>
            <a:chOff x="0" y="0"/>
            <a:chExt cx="449269" cy="532565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49269" cy="532565"/>
            </a:xfrm>
            <a:custGeom>
              <a:avLst/>
              <a:gdLst/>
              <a:ahLst/>
              <a:cxnLst/>
              <a:rect l="l" t="t" r="r" b="b"/>
              <a:pathLst>
                <a:path w="449269" h="532565">
                  <a:moveTo>
                    <a:pt x="77155" y="0"/>
                  </a:moveTo>
                  <a:lnTo>
                    <a:pt x="372114" y="0"/>
                  </a:lnTo>
                  <a:cubicBezTo>
                    <a:pt x="392577" y="0"/>
                    <a:pt x="412201" y="8129"/>
                    <a:pt x="426671" y="22598"/>
                  </a:cubicBezTo>
                  <a:cubicBezTo>
                    <a:pt x="441140" y="37068"/>
                    <a:pt x="449269" y="56692"/>
                    <a:pt x="449269" y="77155"/>
                  </a:cubicBezTo>
                  <a:lnTo>
                    <a:pt x="449269" y="455410"/>
                  </a:lnTo>
                  <a:cubicBezTo>
                    <a:pt x="449269" y="475873"/>
                    <a:pt x="441140" y="495498"/>
                    <a:pt x="426671" y="509967"/>
                  </a:cubicBezTo>
                  <a:cubicBezTo>
                    <a:pt x="412201" y="524436"/>
                    <a:pt x="392577" y="532565"/>
                    <a:pt x="372114" y="532565"/>
                  </a:cubicBezTo>
                  <a:lnTo>
                    <a:pt x="77155" y="532565"/>
                  </a:lnTo>
                  <a:cubicBezTo>
                    <a:pt x="34544" y="532565"/>
                    <a:pt x="0" y="498022"/>
                    <a:pt x="0" y="455410"/>
                  </a:cubicBezTo>
                  <a:lnTo>
                    <a:pt x="0" y="77155"/>
                  </a:lnTo>
                  <a:cubicBezTo>
                    <a:pt x="0" y="34544"/>
                    <a:pt x="34544" y="0"/>
                    <a:pt x="77155" y="0"/>
                  </a:cubicBez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449269" cy="551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285603" y="5347900"/>
            <a:ext cx="1350313" cy="2319901"/>
            <a:chOff x="0" y="0"/>
            <a:chExt cx="291480" cy="56481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91480" cy="564814"/>
            </a:xfrm>
            <a:custGeom>
              <a:avLst/>
              <a:gdLst/>
              <a:ahLst/>
              <a:cxnLst/>
              <a:rect l="l" t="t" r="r" b="b"/>
              <a:pathLst>
                <a:path w="291480" h="564814">
                  <a:moveTo>
                    <a:pt x="97468" y="0"/>
                  </a:moveTo>
                  <a:lnTo>
                    <a:pt x="194012" y="0"/>
                  </a:lnTo>
                  <a:cubicBezTo>
                    <a:pt x="219862" y="0"/>
                    <a:pt x="244654" y="10269"/>
                    <a:pt x="262932" y="28548"/>
                  </a:cubicBezTo>
                  <a:cubicBezTo>
                    <a:pt x="281211" y="46827"/>
                    <a:pt x="291480" y="71618"/>
                    <a:pt x="291480" y="97468"/>
                  </a:cubicBezTo>
                  <a:lnTo>
                    <a:pt x="291480" y="467346"/>
                  </a:lnTo>
                  <a:cubicBezTo>
                    <a:pt x="291480" y="521176"/>
                    <a:pt x="247842" y="564814"/>
                    <a:pt x="194012" y="564814"/>
                  </a:cubicBezTo>
                  <a:lnTo>
                    <a:pt x="97468" y="564814"/>
                  </a:lnTo>
                  <a:cubicBezTo>
                    <a:pt x="71618" y="564814"/>
                    <a:pt x="46827" y="554545"/>
                    <a:pt x="28548" y="536266"/>
                  </a:cubicBezTo>
                  <a:cubicBezTo>
                    <a:pt x="10269" y="517988"/>
                    <a:pt x="0" y="493196"/>
                    <a:pt x="0" y="467346"/>
                  </a:cubicBezTo>
                  <a:lnTo>
                    <a:pt x="0" y="97468"/>
                  </a:lnTo>
                  <a:cubicBezTo>
                    <a:pt x="0" y="43638"/>
                    <a:pt x="43638" y="0"/>
                    <a:pt x="97468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291480" cy="583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60"/>
                </a:lnSpc>
              </a:pPr>
              <a:r>
                <a:rPr lang="en-US" sz="13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find the plate → straighten the photo → read characters → fix letter/digit mix-ups → confidence score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1716596" y="5310396"/>
            <a:ext cx="1350313" cy="2343990"/>
            <a:chOff x="0" y="0"/>
            <a:chExt cx="291480" cy="56481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91480" cy="564814"/>
            </a:xfrm>
            <a:custGeom>
              <a:avLst/>
              <a:gdLst/>
              <a:ahLst/>
              <a:cxnLst/>
              <a:rect l="l" t="t" r="r" b="b"/>
              <a:pathLst>
                <a:path w="291480" h="564814">
                  <a:moveTo>
                    <a:pt x="97468" y="0"/>
                  </a:moveTo>
                  <a:lnTo>
                    <a:pt x="194012" y="0"/>
                  </a:lnTo>
                  <a:cubicBezTo>
                    <a:pt x="219862" y="0"/>
                    <a:pt x="244654" y="10269"/>
                    <a:pt x="262932" y="28548"/>
                  </a:cubicBezTo>
                  <a:cubicBezTo>
                    <a:pt x="281211" y="46827"/>
                    <a:pt x="291480" y="71618"/>
                    <a:pt x="291480" y="97468"/>
                  </a:cubicBezTo>
                  <a:lnTo>
                    <a:pt x="291480" y="467346"/>
                  </a:lnTo>
                  <a:cubicBezTo>
                    <a:pt x="291480" y="521176"/>
                    <a:pt x="247842" y="564814"/>
                    <a:pt x="194012" y="564814"/>
                  </a:cubicBezTo>
                  <a:lnTo>
                    <a:pt x="97468" y="564814"/>
                  </a:lnTo>
                  <a:cubicBezTo>
                    <a:pt x="71618" y="564814"/>
                    <a:pt x="46827" y="554545"/>
                    <a:pt x="28548" y="536266"/>
                  </a:cubicBezTo>
                  <a:cubicBezTo>
                    <a:pt x="10269" y="517988"/>
                    <a:pt x="0" y="493196"/>
                    <a:pt x="0" y="467346"/>
                  </a:cubicBezTo>
                  <a:lnTo>
                    <a:pt x="0" y="97468"/>
                  </a:lnTo>
                  <a:cubicBezTo>
                    <a:pt x="0" y="43638"/>
                    <a:pt x="43638" y="0"/>
                    <a:pt x="97468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0" y="-9525"/>
              <a:ext cx="291480" cy="5743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379"/>
                </a:lnSpc>
              </a:pPr>
              <a:r>
                <a:rPr lang="en-US" sz="114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Indian plates follow rules. We use them:-</a:t>
              </a:r>
            </a:p>
            <a:p>
              <a:pPr algn="l">
                <a:lnSpc>
                  <a:spcPts val="1379"/>
                </a:lnSpc>
              </a:pPr>
              <a:r>
                <a:rPr lang="en-US" sz="114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0↔O, 1↔I, 8↔B only where a digit or letter must be. Measured on our test model: exact-match 89.2% → 91.7%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3171503" y="5293980"/>
            <a:ext cx="1350313" cy="2360406"/>
            <a:chOff x="0" y="0"/>
            <a:chExt cx="291480" cy="56191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91480" cy="561918"/>
            </a:xfrm>
            <a:custGeom>
              <a:avLst/>
              <a:gdLst/>
              <a:ahLst/>
              <a:cxnLst/>
              <a:rect l="l" t="t" r="r" b="b"/>
              <a:pathLst>
                <a:path w="291480" h="561918">
                  <a:moveTo>
                    <a:pt x="97468" y="0"/>
                  </a:moveTo>
                  <a:lnTo>
                    <a:pt x="194012" y="0"/>
                  </a:lnTo>
                  <a:cubicBezTo>
                    <a:pt x="219862" y="0"/>
                    <a:pt x="244654" y="10269"/>
                    <a:pt x="262932" y="28548"/>
                  </a:cubicBezTo>
                  <a:cubicBezTo>
                    <a:pt x="281211" y="46827"/>
                    <a:pt x="291480" y="71618"/>
                    <a:pt x="291480" y="97468"/>
                  </a:cubicBezTo>
                  <a:lnTo>
                    <a:pt x="291480" y="464450"/>
                  </a:lnTo>
                  <a:cubicBezTo>
                    <a:pt x="291480" y="518280"/>
                    <a:pt x="247842" y="561918"/>
                    <a:pt x="194012" y="561918"/>
                  </a:cubicBezTo>
                  <a:lnTo>
                    <a:pt x="97468" y="561918"/>
                  </a:lnTo>
                  <a:cubicBezTo>
                    <a:pt x="43638" y="561918"/>
                    <a:pt x="0" y="518280"/>
                    <a:pt x="0" y="464450"/>
                  </a:cubicBezTo>
                  <a:lnTo>
                    <a:pt x="0" y="97468"/>
                  </a:lnTo>
                  <a:cubicBezTo>
                    <a:pt x="0" y="43638"/>
                    <a:pt x="43638" y="0"/>
                    <a:pt x="97468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291480" cy="580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941562" y="2442887"/>
            <a:ext cx="3730280" cy="2022083"/>
            <a:chOff x="0" y="0"/>
            <a:chExt cx="982461" cy="532565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82461" cy="532565"/>
            </a:xfrm>
            <a:custGeom>
              <a:avLst/>
              <a:gdLst/>
              <a:ahLst/>
              <a:cxnLst/>
              <a:rect l="l" t="t" r="r" b="b"/>
              <a:pathLst>
                <a:path w="982461" h="532565">
                  <a:moveTo>
                    <a:pt x="35282" y="0"/>
                  </a:moveTo>
                  <a:lnTo>
                    <a:pt x="947178" y="0"/>
                  </a:lnTo>
                  <a:cubicBezTo>
                    <a:pt x="966664" y="0"/>
                    <a:pt x="982461" y="15796"/>
                    <a:pt x="982461" y="35282"/>
                  </a:cubicBezTo>
                  <a:lnTo>
                    <a:pt x="982461" y="497283"/>
                  </a:lnTo>
                  <a:cubicBezTo>
                    <a:pt x="982461" y="506640"/>
                    <a:pt x="978743" y="515615"/>
                    <a:pt x="972127" y="522231"/>
                  </a:cubicBezTo>
                  <a:cubicBezTo>
                    <a:pt x="965510" y="528848"/>
                    <a:pt x="956536" y="532565"/>
                    <a:pt x="947178" y="532565"/>
                  </a:cubicBezTo>
                  <a:lnTo>
                    <a:pt x="35282" y="532565"/>
                  </a:lnTo>
                  <a:cubicBezTo>
                    <a:pt x="15796" y="532565"/>
                    <a:pt x="0" y="516769"/>
                    <a:pt x="0" y="497283"/>
                  </a:cubicBezTo>
                  <a:lnTo>
                    <a:pt x="0" y="35282"/>
                  </a:lnTo>
                  <a:cubicBezTo>
                    <a:pt x="0" y="15796"/>
                    <a:pt x="15796" y="0"/>
                    <a:pt x="35282" y="0"/>
                  </a:cubicBez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982461" cy="551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5551" y="4720974"/>
            <a:ext cx="5268717" cy="3004253"/>
            <a:chOff x="0" y="0"/>
            <a:chExt cx="1387646" cy="791243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387646" cy="791243"/>
            </a:xfrm>
            <a:custGeom>
              <a:avLst/>
              <a:gdLst/>
              <a:ahLst/>
              <a:cxnLst/>
              <a:rect l="l" t="t" r="r" b="b"/>
              <a:pathLst>
                <a:path w="1387646" h="791243">
                  <a:moveTo>
                    <a:pt x="24980" y="0"/>
                  </a:moveTo>
                  <a:lnTo>
                    <a:pt x="1362666" y="0"/>
                  </a:lnTo>
                  <a:cubicBezTo>
                    <a:pt x="1376462" y="0"/>
                    <a:pt x="1387646" y="11184"/>
                    <a:pt x="1387646" y="24980"/>
                  </a:cubicBezTo>
                  <a:lnTo>
                    <a:pt x="1387646" y="766263"/>
                  </a:lnTo>
                  <a:cubicBezTo>
                    <a:pt x="1387646" y="772889"/>
                    <a:pt x="1385014" y="779242"/>
                    <a:pt x="1380329" y="783927"/>
                  </a:cubicBezTo>
                  <a:cubicBezTo>
                    <a:pt x="1375644" y="788612"/>
                    <a:pt x="1369291" y="791243"/>
                    <a:pt x="1362666" y="791243"/>
                  </a:cubicBezTo>
                  <a:lnTo>
                    <a:pt x="24980" y="791243"/>
                  </a:lnTo>
                  <a:cubicBezTo>
                    <a:pt x="18355" y="791243"/>
                    <a:pt x="12001" y="788612"/>
                    <a:pt x="7316" y="783927"/>
                  </a:cubicBezTo>
                  <a:cubicBezTo>
                    <a:pt x="2632" y="779242"/>
                    <a:pt x="0" y="772889"/>
                    <a:pt x="0" y="766263"/>
                  </a:cubicBezTo>
                  <a:lnTo>
                    <a:pt x="0" y="24980"/>
                  </a:lnTo>
                  <a:cubicBezTo>
                    <a:pt x="0" y="18355"/>
                    <a:pt x="2632" y="12001"/>
                    <a:pt x="7316" y="7316"/>
                  </a:cubicBezTo>
                  <a:cubicBezTo>
                    <a:pt x="12001" y="2632"/>
                    <a:pt x="18355" y="0"/>
                    <a:pt x="24980" y="0"/>
                  </a:cubicBezTo>
                  <a:close/>
                </a:path>
              </a:pathLst>
            </a:custGeom>
            <a:ln w="28575" cap="sq">
              <a:solidFill>
                <a:srgbClr val="D0E2F7"/>
              </a:solidFill>
              <a:prstDash val="solid"/>
              <a:miter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1387646" cy="810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499846" y="4720974"/>
            <a:ext cx="4518779" cy="3004253"/>
            <a:chOff x="0" y="0"/>
            <a:chExt cx="1190131" cy="791243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190131" cy="791243"/>
            </a:xfrm>
            <a:custGeom>
              <a:avLst/>
              <a:gdLst/>
              <a:ahLst/>
              <a:cxnLst/>
              <a:rect l="l" t="t" r="r" b="b"/>
              <a:pathLst>
                <a:path w="1190131" h="791243">
                  <a:moveTo>
                    <a:pt x="29126" y="0"/>
                  </a:moveTo>
                  <a:lnTo>
                    <a:pt x="1161005" y="0"/>
                  </a:lnTo>
                  <a:cubicBezTo>
                    <a:pt x="1177091" y="0"/>
                    <a:pt x="1190131" y="13040"/>
                    <a:pt x="1190131" y="29126"/>
                  </a:cubicBezTo>
                  <a:lnTo>
                    <a:pt x="1190131" y="762118"/>
                  </a:lnTo>
                  <a:cubicBezTo>
                    <a:pt x="1190131" y="778203"/>
                    <a:pt x="1177091" y="791243"/>
                    <a:pt x="1161005" y="791243"/>
                  </a:cubicBezTo>
                  <a:lnTo>
                    <a:pt x="29126" y="791243"/>
                  </a:lnTo>
                  <a:cubicBezTo>
                    <a:pt x="13040" y="791243"/>
                    <a:pt x="0" y="778203"/>
                    <a:pt x="0" y="762118"/>
                  </a:cubicBezTo>
                  <a:lnTo>
                    <a:pt x="0" y="29126"/>
                  </a:lnTo>
                  <a:cubicBezTo>
                    <a:pt x="0" y="13040"/>
                    <a:pt x="13040" y="0"/>
                    <a:pt x="29126" y="0"/>
                  </a:cubicBezTo>
                  <a:close/>
                </a:path>
              </a:pathLst>
            </a:custGeom>
            <a:ln w="28575" cap="sq">
              <a:solidFill>
                <a:srgbClr val="AFD8F8"/>
              </a:solidFill>
              <a:prstDash val="solid"/>
              <a:miter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0" y="-19050"/>
              <a:ext cx="1190131" cy="810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0119680" y="4731671"/>
            <a:ext cx="7952737" cy="3004253"/>
            <a:chOff x="0" y="0"/>
            <a:chExt cx="2094548" cy="791243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094548" cy="791243"/>
            </a:xfrm>
            <a:custGeom>
              <a:avLst/>
              <a:gdLst/>
              <a:ahLst/>
              <a:cxnLst/>
              <a:rect l="l" t="t" r="r" b="b"/>
              <a:pathLst>
                <a:path w="2094548" h="791243">
                  <a:moveTo>
                    <a:pt x="16549" y="0"/>
                  </a:moveTo>
                  <a:lnTo>
                    <a:pt x="2077999" y="0"/>
                  </a:lnTo>
                  <a:cubicBezTo>
                    <a:pt x="2082388" y="0"/>
                    <a:pt x="2086597" y="1744"/>
                    <a:pt x="2089701" y="4847"/>
                  </a:cubicBezTo>
                  <a:cubicBezTo>
                    <a:pt x="2092804" y="7951"/>
                    <a:pt x="2094548" y="12160"/>
                    <a:pt x="2094548" y="16549"/>
                  </a:cubicBezTo>
                  <a:lnTo>
                    <a:pt x="2094548" y="774694"/>
                  </a:lnTo>
                  <a:cubicBezTo>
                    <a:pt x="2094548" y="783834"/>
                    <a:pt x="2087138" y="791243"/>
                    <a:pt x="2077999" y="791243"/>
                  </a:cubicBezTo>
                  <a:lnTo>
                    <a:pt x="16549" y="791243"/>
                  </a:lnTo>
                  <a:cubicBezTo>
                    <a:pt x="12160" y="791243"/>
                    <a:pt x="7951" y="789500"/>
                    <a:pt x="4847" y="786396"/>
                  </a:cubicBezTo>
                  <a:cubicBezTo>
                    <a:pt x="1744" y="783293"/>
                    <a:pt x="0" y="779083"/>
                    <a:pt x="0" y="774694"/>
                  </a:cubicBezTo>
                  <a:lnTo>
                    <a:pt x="0" y="16549"/>
                  </a:lnTo>
                  <a:cubicBezTo>
                    <a:pt x="0" y="12160"/>
                    <a:pt x="1744" y="7951"/>
                    <a:pt x="4847" y="4847"/>
                  </a:cubicBezTo>
                  <a:cubicBezTo>
                    <a:pt x="7951" y="1744"/>
                    <a:pt x="12160" y="0"/>
                    <a:pt x="16549" y="0"/>
                  </a:cubicBezTo>
                  <a:close/>
                </a:path>
              </a:pathLst>
            </a:custGeom>
            <a:ln w="28575" cap="sq">
              <a:solidFill>
                <a:srgbClr val="AFD8F8"/>
              </a:solidFill>
              <a:prstDash val="solid"/>
              <a:miter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0" y="-19050"/>
              <a:ext cx="2094548" cy="810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2456238" y="648500"/>
            <a:ext cx="13111329" cy="760400"/>
            <a:chOff x="0" y="0"/>
            <a:chExt cx="3453190" cy="20027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453190" cy="200270"/>
            </a:xfrm>
            <a:custGeom>
              <a:avLst/>
              <a:gdLst/>
              <a:ahLst/>
              <a:cxnLst/>
              <a:rect l="l" t="t" r="r" b="b"/>
              <a:pathLst>
                <a:path w="3453190" h="200270">
                  <a:moveTo>
                    <a:pt x="10038" y="0"/>
                  </a:moveTo>
                  <a:lnTo>
                    <a:pt x="3443151" y="0"/>
                  </a:lnTo>
                  <a:cubicBezTo>
                    <a:pt x="3448695" y="0"/>
                    <a:pt x="3453190" y="4494"/>
                    <a:pt x="3453190" y="10038"/>
                  </a:cubicBezTo>
                  <a:lnTo>
                    <a:pt x="3453190" y="190232"/>
                  </a:lnTo>
                  <a:cubicBezTo>
                    <a:pt x="3453190" y="192894"/>
                    <a:pt x="3452132" y="195447"/>
                    <a:pt x="3450249" y="197330"/>
                  </a:cubicBezTo>
                  <a:cubicBezTo>
                    <a:pt x="3448367" y="199212"/>
                    <a:pt x="3445814" y="200270"/>
                    <a:pt x="3443151" y="200270"/>
                  </a:cubicBezTo>
                  <a:lnTo>
                    <a:pt x="10038" y="200270"/>
                  </a:lnTo>
                  <a:cubicBezTo>
                    <a:pt x="7376" y="200270"/>
                    <a:pt x="4823" y="199212"/>
                    <a:pt x="2940" y="197330"/>
                  </a:cubicBezTo>
                  <a:cubicBezTo>
                    <a:pt x="1058" y="195447"/>
                    <a:pt x="0" y="192894"/>
                    <a:pt x="0" y="190232"/>
                  </a:cubicBezTo>
                  <a:lnTo>
                    <a:pt x="0" y="10038"/>
                  </a:lnTo>
                  <a:cubicBezTo>
                    <a:pt x="0" y="7376"/>
                    <a:pt x="1058" y="4823"/>
                    <a:pt x="2940" y="2940"/>
                  </a:cubicBezTo>
                  <a:cubicBezTo>
                    <a:pt x="4823" y="1058"/>
                    <a:pt x="7376" y="0"/>
                    <a:pt x="10038" y="0"/>
                  </a:cubicBezTo>
                  <a:close/>
                </a:path>
              </a:pathLst>
            </a:custGeom>
            <a:solidFill>
              <a:srgbClr val="EBF4FF"/>
            </a:solidFill>
            <a:ln w="28575" cap="sq">
              <a:solidFill>
                <a:srgbClr val="1F497D"/>
              </a:solidFill>
              <a:prstDash val="solid"/>
              <a:miter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0" y="-19050"/>
              <a:ext cx="3453190" cy="2193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An end-to-end, event-driven system turning city ANPR cameras into live tracking, analytics and instant alerts.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"From isolated detections to connected city-wide intelligence."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163590" y="1469604"/>
            <a:ext cx="15960820" cy="493700"/>
            <a:chOff x="0" y="0"/>
            <a:chExt cx="4203673" cy="13002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4203673" cy="130028"/>
            </a:xfrm>
            <a:custGeom>
              <a:avLst/>
              <a:gdLst/>
              <a:ahLst/>
              <a:cxnLst/>
              <a:rect l="l" t="t" r="r" b="b"/>
              <a:pathLst>
                <a:path w="4203673" h="130028">
                  <a:moveTo>
                    <a:pt x="8246" y="0"/>
                  </a:moveTo>
                  <a:lnTo>
                    <a:pt x="4195427" y="0"/>
                  </a:lnTo>
                  <a:cubicBezTo>
                    <a:pt x="4197614" y="0"/>
                    <a:pt x="4199711" y="869"/>
                    <a:pt x="4201258" y="2415"/>
                  </a:cubicBezTo>
                  <a:cubicBezTo>
                    <a:pt x="4202804" y="3962"/>
                    <a:pt x="4203673" y="6059"/>
                    <a:pt x="4203673" y="8246"/>
                  </a:cubicBezTo>
                  <a:lnTo>
                    <a:pt x="4203673" y="121782"/>
                  </a:lnTo>
                  <a:cubicBezTo>
                    <a:pt x="4203673" y="123969"/>
                    <a:pt x="4202804" y="126066"/>
                    <a:pt x="4201258" y="127613"/>
                  </a:cubicBezTo>
                  <a:cubicBezTo>
                    <a:pt x="4199711" y="129159"/>
                    <a:pt x="4197614" y="130028"/>
                    <a:pt x="4195427" y="130028"/>
                  </a:cubicBezTo>
                  <a:lnTo>
                    <a:pt x="8246" y="130028"/>
                  </a:lnTo>
                  <a:cubicBezTo>
                    <a:pt x="6059" y="130028"/>
                    <a:pt x="3962" y="129159"/>
                    <a:pt x="2415" y="127613"/>
                  </a:cubicBezTo>
                  <a:cubicBezTo>
                    <a:pt x="869" y="126066"/>
                    <a:pt x="0" y="123969"/>
                    <a:pt x="0" y="121782"/>
                  </a:cubicBezTo>
                  <a:lnTo>
                    <a:pt x="0" y="8246"/>
                  </a:lnTo>
                  <a:cubicBezTo>
                    <a:pt x="0" y="6059"/>
                    <a:pt x="869" y="3962"/>
                    <a:pt x="2415" y="2415"/>
                  </a:cubicBezTo>
                  <a:cubicBezTo>
                    <a:pt x="3962" y="869"/>
                    <a:pt x="6059" y="0"/>
                    <a:pt x="8246" y="0"/>
                  </a:cubicBezTo>
                  <a:close/>
                </a:path>
              </a:pathLst>
            </a:custGeom>
            <a:solidFill>
              <a:srgbClr val="EBF4FF"/>
            </a:solidFill>
            <a:ln w="28575" cap="sq">
              <a:solidFill>
                <a:srgbClr val="104378"/>
              </a:solidFill>
              <a:prstDash val="solid"/>
              <a:miter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0" y="-19050"/>
              <a:ext cx="4203673" cy="1490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60 cameras · 296 detector loops · 13×12 km Delhi OSM (11,955 nodes / 30,510 edges) · ~300 events/sec · alert on screen &lt;2s p99 · ANPR avg &gt;90%</a:t>
              </a:r>
            </a:p>
          </p:txBody>
        </p:sp>
      </p:grpSp>
      <p:sp>
        <p:nvSpPr>
          <p:cNvPr id="67" name="Freeform 67"/>
          <p:cNvSpPr/>
          <p:nvPr/>
        </p:nvSpPr>
        <p:spPr>
          <a:xfrm>
            <a:off x="837691" y="2824842"/>
            <a:ext cx="773432" cy="630347"/>
          </a:xfrm>
          <a:custGeom>
            <a:avLst/>
            <a:gdLst/>
            <a:ahLst/>
            <a:cxnLst/>
            <a:rect l="l" t="t" r="r" b="b"/>
            <a:pathLst>
              <a:path w="773432" h="630347">
                <a:moveTo>
                  <a:pt x="0" y="0"/>
                </a:moveTo>
                <a:lnTo>
                  <a:pt x="773432" y="0"/>
                </a:lnTo>
                <a:lnTo>
                  <a:pt x="773432" y="630347"/>
                </a:lnTo>
                <a:lnTo>
                  <a:pt x="0" y="6303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8" name="Freeform 68"/>
          <p:cNvSpPr/>
          <p:nvPr/>
        </p:nvSpPr>
        <p:spPr>
          <a:xfrm>
            <a:off x="5435802" y="2843619"/>
            <a:ext cx="393221" cy="473760"/>
          </a:xfrm>
          <a:custGeom>
            <a:avLst/>
            <a:gdLst/>
            <a:ahLst/>
            <a:cxnLst/>
            <a:rect l="l" t="t" r="r" b="b"/>
            <a:pathLst>
              <a:path w="393221" h="473760">
                <a:moveTo>
                  <a:pt x="0" y="0"/>
                </a:moveTo>
                <a:lnTo>
                  <a:pt x="393221" y="0"/>
                </a:lnTo>
                <a:lnTo>
                  <a:pt x="393221" y="473760"/>
                </a:lnTo>
                <a:lnTo>
                  <a:pt x="0" y="4737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9" name="Freeform 69"/>
          <p:cNvSpPr/>
          <p:nvPr/>
        </p:nvSpPr>
        <p:spPr>
          <a:xfrm>
            <a:off x="7528509" y="2879870"/>
            <a:ext cx="672888" cy="575320"/>
          </a:xfrm>
          <a:custGeom>
            <a:avLst/>
            <a:gdLst/>
            <a:ahLst/>
            <a:cxnLst/>
            <a:rect l="l" t="t" r="r" b="b"/>
            <a:pathLst>
              <a:path w="672888" h="575320">
                <a:moveTo>
                  <a:pt x="0" y="0"/>
                </a:moveTo>
                <a:lnTo>
                  <a:pt x="672888" y="0"/>
                </a:lnTo>
                <a:lnTo>
                  <a:pt x="672888" y="575319"/>
                </a:lnTo>
                <a:lnTo>
                  <a:pt x="0" y="5753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0" name="TextBox 70"/>
          <p:cNvSpPr txBox="1"/>
          <p:nvPr/>
        </p:nvSpPr>
        <p:spPr>
          <a:xfrm>
            <a:off x="13051007" y="2500434"/>
            <a:ext cx="1188442" cy="435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2"/>
              </a:lnSpc>
            </a:pPr>
            <a:r>
              <a:rPr lang="en-US" sz="1237" b="1">
                <a:solidFill>
                  <a:srgbClr val="004AA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TIMESCALEDB (POSTGRES)</a:t>
            </a:r>
          </a:p>
        </p:txBody>
      </p:sp>
      <p:sp>
        <p:nvSpPr>
          <p:cNvPr id="71" name="Freeform 71"/>
          <p:cNvSpPr/>
          <p:nvPr/>
        </p:nvSpPr>
        <p:spPr>
          <a:xfrm>
            <a:off x="9331114" y="3062904"/>
            <a:ext cx="533651" cy="533651"/>
          </a:xfrm>
          <a:custGeom>
            <a:avLst/>
            <a:gdLst/>
            <a:ahLst/>
            <a:cxnLst/>
            <a:rect l="l" t="t" r="r" b="b"/>
            <a:pathLst>
              <a:path w="533651" h="533651">
                <a:moveTo>
                  <a:pt x="0" y="0"/>
                </a:moveTo>
                <a:lnTo>
                  <a:pt x="533652" y="0"/>
                </a:lnTo>
                <a:lnTo>
                  <a:pt x="533652" y="533651"/>
                </a:lnTo>
                <a:lnTo>
                  <a:pt x="0" y="53365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72" name="Freeform 72"/>
          <p:cNvSpPr/>
          <p:nvPr/>
        </p:nvSpPr>
        <p:spPr>
          <a:xfrm>
            <a:off x="10593899" y="3075190"/>
            <a:ext cx="366861" cy="542955"/>
          </a:xfrm>
          <a:custGeom>
            <a:avLst/>
            <a:gdLst/>
            <a:ahLst/>
            <a:cxnLst/>
            <a:rect l="l" t="t" r="r" b="b"/>
            <a:pathLst>
              <a:path w="366861" h="542955">
                <a:moveTo>
                  <a:pt x="0" y="0"/>
                </a:moveTo>
                <a:lnTo>
                  <a:pt x="366861" y="0"/>
                </a:lnTo>
                <a:lnTo>
                  <a:pt x="366861" y="542955"/>
                </a:lnTo>
                <a:lnTo>
                  <a:pt x="0" y="54295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73" name="Freeform 73"/>
          <p:cNvSpPr/>
          <p:nvPr/>
        </p:nvSpPr>
        <p:spPr>
          <a:xfrm>
            <a:off x="11771180" y="3075190"/>
            <a:ext cx="437821" cy="581946"/>
          </a:xfrm>
          <a:custGeom>
            <a:avLst/>
            <a:gdLst/>
            <a:ahLst/>
            <a:cxnLst/>
            <a:rect l="l" t="t" r="r" b="b"/>
            <a:pathLst>
              <a:path w="437821" h="581946">
                <a:moveTo>
                  <a:pt x="0" y="0"/>
                </a:moveTo>
                <a:lnTo>
                  <a:pt x="437821" y="0"/>
                </a:lnTo>
                <a:lnTo>
                  <a:pt x="437821" y="581947"/>
                </a:lnTo>
                <a:lnTo>
                  <a:pt x="0" y="58194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32918"/>
            </a:stretch>
          </a:blipFill>
        </p:spPr>
      </p:sp>
      <p:sp>
        <p:nvSpPr>
          <p:cNvPr id="74" name="TextBox 74"/>
          <p:cNvSpPr txBox="1"/>
          <p:nvPr/>
        </p:nvSpPr>
        <p:spPr>
          <a:xfrm>
            <a:off x="13017421" y="3568785"/>
            <a:ext cx="1641973" cy="82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9"/>
              </a:lnSpc>
            </a:pPr>
            <a:r>
              <a:rPr lang="en-US" sz="1206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Optimized for chronological and time-series data indexing</a:t>
            </a:r>
          </a:p>
        </p:txBody>
      </p:sp>
      <p:sp>
        <p:nvSpPr>
          <p:cNvPr id="75" name="Freeform 75"/>
          <p:cNvSpPr/>
          <p:nvPr/>
        </p:nvSpPr>
        <p:spPr>
          <a:xfrm>
            <a:off x="13341105" y="2916185"/>
            <a:ext cx="589196" cy="759752"/>
          </a:xfrm>
          <a:custGeom>
            <a:avLst/>
            <a:gdLst/>
            <a:ahLst/>
            <a:cxnLst/>
            <a:rect l="l" t="t" r="r" b="b"/>
            <a:pathLst>
              <a:path w="589196" h="759752">
                <a:moveTo>
                  <a:pt x="0" y="0"/>
                </a:moveTo>
                <a:lnTo>
                  <a:pt x="589196" y="0"/>
                </a:lnTo>
                <a:lnTo>
                  <a:pt x="589196" y="759753"/>
                </a:lnTo>
                <a:lnTo>
                  <a:pt x="0" y="75975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76" name="Freeform 76"/>
          <p:cNvSpPr/>
          <p:nvPr/>
        </p:nvSpPr>
        <p:spPr>
          <a:xfrm>
            <a:off x="15105746" y="2790989"/>
            <a:ext cx="775258" cy="573691"/>
          </a:xfrm>
          <a:custGeom>
            <a:avLst/>
            <a:gdLst/>
            <a:ahLst/>
            <a:cxnLst/>
            <a:rect l="l" t="t" r="r" b="b"/>
            <a:pathLst>
              <a:path w="775258" h="573691">
                <a:moveTo>
                  <a:pt x="0" y="0"/>
                </a:moveTo>
                <a:lnTo>
                  <a:pt x="775258" y="0"/>
                </a:lnTo>
                <a:lnTo>
                  <a:pt x="775258" y="573691"/>
                </a:lnTo>
                <a:lnTo>
                  <a:pt x="0" y="57369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77" name="Freeform 77"/>
          <p:cNvSpPr/>
          <p:nvPr/>
        </p:nvSpPr>
        <p:spPr>
          <a:xfrm>
            <a:off x="16934033" y="2824842"/>
            <a:ext cx="608588" cy="608588"/>
          </a:xfrm>
          <a:custGeom>
            <a:avLst/>
            <a:gdLst/>
            <a:ahLst/>
            <a:cxnLst/>
            <a:rect l="l" t="t" r="r" b="b"/>
            <a:pathLst>
              <a:path w="608588" h="608588">
                <a:moveTo>
                  <a:pt x="0" y="0"/>
                </a:moveTo>
                <a:lnTo>
                  <a:pt x="608588" y="0"/>
                </a:lnTo>
                <a:lnTo>
                  <a:pt x="608588" y="608588"/>
                </a:lnTo>
                <a:lnTo>
                  <a:pt x="0" y="60858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grpSp>
        <p:nvGrpSpPr>
          <p:cNvPr id="78" name="Group 78"/>
          <p:cNvGrpSpPr/>
          <p:nvPr/>
        </p:nvGrpSpPr>
        <p:grpSpPr>
          <a:xfrm>
            <a:off x="13256304" y="5691948"/>
            <a:ext cx="1180711" cy="1180711"/>
            <a:chOff x="0" y="0"/>
            <a:chExt cx="812800" cy="8128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80" name="TextBox 80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3256304" y="5691948"/>
            <a:ext cx="590355" cy="590355"/>
            <a:chOff x="0" y="0"/>
            <a:chExt cx="758687" cy="758687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758687" cy="758687"/>
            </a:xfrm>
            <a:custGeom>
              <a:avLst/>
              <a:gdLst/>
              <a:ahLst/>
              <a:cxnLst/>
              <a:rect l="l" t="t" r="r" b="b"/>
              <a:pathLst>
                <a:path w="758687" h="758687">
                  <a:moveTo>
                    <a:pt x="0" y="0"/>
                  </a:moveTo>
                  <a:lnTo>
                    <a:pt x="758687" y="0"/>
                  </a:lnTo>
                  <a:lnTo>
                    <a:pt x="758687" y="758687"/>
                  </a:lnTo>
                  <a:lnTo>
                    <a:pt x="0" y="758687"/>
                  </a:lnTo>
                  <a:close/>
                </a:path>
              </a:pathLst>
            </a:custGeom>
            <a:solidFill>
              <a:srgbClr val="D1F1F9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0" y="-19050"/>
              <a:ext cx="758687" cy="777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20"/>
                </a:lnSpc>
              </a:pPr>
              <a:r>
                <a:rPr lang="en-US" sz="11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CLEAN</a:t>
              </a:r>
            </a:p>
            <a:p>
              <a:pPr algn="ctr">
                <a:lnSpc>
                  <a:spcPts val="1320"/>
                </a:lnSpc>
              </a:pPr>
              <a:r>
                <a:rPr lang="en-US" sz="11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97%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3256304" y="6282303"/>
            <a:ext cx="590355" cy="590355"/>
            <a:chOff x="0" y="0"/>
            <a:chExt cx="758687" cy="758687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758687" cy="758687"/>
            </a:xfrm>
            <a:custGeom>
              <a:avLst/>
              <a:gdLst/>
              <a:ahLst/>
              <a:cxnLst/>
              <a:rect l="l" t="t" r="r" b="b"/>
              <a:pathLst>
                <a:path w="758687" h="758687">
                  <a:moveTo>
                    <a:pt x="0" y="0"/>
                  </a:moveTo>
                  <a:lnTo>
                    <a:pt x="758687" y="0"/>
                  </a:lnTo>
                  <a:lnTo>
                    <a:pt x="758687" y="758687"/>
                  </a:lnTo>
                  <a:lnTo>
                    <a:pt x="0" y="758687"/>
                  </a:lnTo>
                  <a:close/>
                </a:path>
              </a:pathLst>
            </a:custGeom>
            <a:solidFill>
              <a:srgbClr val="38B6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0" y="-19050"/>
              <a:ext cx="758687" cy="777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20"/>
                </a:lnSpc>
              </a:pPr>
              <a:r>
                <a:rPr lang="en-US" sz="11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NIGHT</a:t>
              </a:r>
            </a:p>
            <a:p>
              <a:pPr algn="ctr">
                <a:lnSpc>
                  <a:spcPts val="1320"/>
                </a:lnSpc>
              </a:pPr>
              <a:r>
                <a:rPr lang="en-US" sz="11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88%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3846660" y="6282303"/>
            <a:ext cx="590355" cy="590355"/>
            <a:chOff x="0" y="0"/>
            <a:chExt cx="758687" cy="758687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758687" cy="758687"/>
            </a:xfrm>
            <a:custGeom>
              <a:avLst/>
              <a:gdLst/>
              <a:ahLst/>
              <a:cxnLst/>
              <a:rect l="l" t="t" r="r" b="b"/>
              <a:pathLst>
                <a:path w="758687" h="758687">
                  <a:moveTo>
                    <a:pt x="0" y="0"/>
                  </a:moveTo>
                  <a:lnTo>
                    <a:pt x="758687" y="0"/>
                  </a:lnTo>
                  <a:lnTo>
                    <a:pt x="758687" y="758687"/>
                  </a:lnTo>
                  <a:lnTo>
                    <a:pt x="0" y="758687"/>
                  </a:lnTo>
                  <a:close/>
                </a:path>
              </a:pathLst>
            </a:custGeom>
            <a:solidFill>
              <a:srgbClr val="D1F1F9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0" y="-19050"/>
              <a:ext cx="758687" cy="777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20"/>
                </a:lnSpc>
              </a:pPr>
              <a:r>
                <a:rPr lang="en-US" sz="11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RAIN</a:t>
              </a:r>
            </a:p>
            <a:p>
              <a:pPr algn="ctr">
                <a:lnSpc>
                  <a:spcPts val="1320"/>
                </a:lnSpc>
              </a:pPr>
              <a:r>
                <a:rPr lang="en-US" sz="11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86%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3846660" y="5691948"/>
            <a:ext cx="590355" cy="590355"/>
            <a:chOff x="0" y="0"/>
            <a:chExt cx="758687" cy="758687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758687" cy="758687"/>
            </a:xfrm>
            <a:custGeom>
              <a:avLst/>
              <a:gdLst/>
              <a:ahLst/>
              <a:cxnLst/>
              <a:rect l="l" t="t" r="r" b="b"/>
              <a:pathLst>
                <a:path w="758687" h="758687">
                  <a:moveTo>
                    <a:pt x="0" y="0"/>
                  </a:moveTo>
                  <a:lnTo>
                    <a:pt x="758687" y="0"/>
                  </a:lnTo>
                  <a:lnTo>
                    <a:pt x="758687" y="758687"/>
                  </a:lnTo>
                  <a:lnTo>
                    <a:pt x="0" y="758687"/>
                  </a:lnTo>
                  <a:close/>
                </a:path>
              </a:pathLst>
            </a:custGeom>
            <a:solidFill>
              <a:srgbClr val="38B6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0" y="-19050"/>
              <a:ext cx="758687" cy="777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0"/>
                </a:lnSpc>
              </a:pPr>
              <a:r>
                <a:rPr lang="en-US" sz="12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BLUR</a:t>
              </a:r>
            </a:p>
            <a:p>
              <a:pPr algn="ctr">
                <a:lnSpc>
                  <a:spcPts val="1440"/>
                </a:lnSpc>
              </a:pPr>
              <a:r>
                <a:rPr lang="en-US" sz="12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93%</a:t>
              </a:r>
            </a:p>
          </p:txBody>
        </p:sp>
      </p:grpSp>
      <p:sp>
        <p:nvSpPr>
          <p:cNvPr id="93" name="Freeform 93"/>
          <p:cNvSpPr/>
          <p:nvPr/>
        </p:nvSpPr>
        <p:spPr>
          <a:xfrm>
            <a:off x="14618615" y="5051240"/>
            <a:ext cx="3377915" cy="2523547"/>
          </a:xfrm>
          <a:custGeom>
            <a:avLst/>
            <a:gdLst/>
            <a:ahLst/>
            <a:cxnLst/>
            <a:rect l="l" t="t" r="r" b="b"/>
            <a:pathLst>
              <a:path w="3377915" h="2523547">
                <a:moveTo>
                  <a:pt x="0" y="0"/>
                </a:moveTo>
                <a:lnTo>
                  <a:pt x="3377915" y="0"/>
                </a:lnTo>
                <a:lnTo>
                  <a:pt x="3377915" y="2523547"/>
                </a:lnTo>
                <a:lnTo>
                  <a:pt x="0" y="252354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73494" t="-50949" r="-26985"/>
            </a:stretch>
          </a:blipFill>
        </p:spPr>
      </p:sp>
      <p:sp>
        <p:nvSpPr>
          <p:cNvPr id="94" name="TextBox 94"/>
          <p:cNvSpPr txBox="1"/>
          <p:nvPr/>
        </p:nvSpPr>
        <p:spPr>
          <a:xfrm>
            <a:off x="5632412" y="5284121"/>
            <a:ext cx="4232353" cy="1967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1935" lvl="1" indent="-165967" algn="l">
              <a:lnSpc>
                <a:spcPts val="1983"/>
              </a:lnSpc>
              <a:buFont typeface="Arial"/>
              <a:buChar char="•"/>
            </a:pPr>
            <a:r>
              <a:rPr lang="en-US" sz="153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Real-time Vehicle Tracking — full trajectory + timestamps </a:t>
            </a:r>
          </a:p>
          <a:p>
            <a:pPr marL="331935" lvl="1" indent="-165967" algn="l">
              <a:lnSpc>
                <a:spcPts val="1983"/>
              </a:lnSpc>
              <a:buFont typeface="Arial"/>
              <a:buChar char="•"/>
            </a:pPr>
            <a:r>
              <a:rPr lang="en-US" sz="153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Traffic Analytics — heatmap, OD, congestion, peak hours </a:t>
            </a:r>
          </a:p>
          <a:p>
            <a:pPr marL="331935" lvl="1" indent="-165967" algn="l">
              <a:lnSpc>
                <a:spcPts val="1983"/>
              </a:lnSpc>
              <a:buFont typeface="Arial"/>
              <a:buChar char="•"/>
            </a:pPr>
            <a:r>
              <a:rPr lang="en-US" sz="153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Alerts &amp; Anomaly Detection — blacklist, clone/impossible travel, camera health</a:t>
            </a:r>
          </a:p>
          <a:p>
            <a:pPr marL="331935" lvl="1" indent="-165967" algn="l">
              <a:lnSpc>
                <a:spcPts val="1983"/>
              </a:lnSpc>
              <a:buFont typeface="Arial"/>
              <a:buChar char="•"/>
            </a:pPr>
            <a:r>
              <a:rPr lang="en-US" sz="153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Scalable Architecture — event-driven, swap real cameras in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244303" y="5085449"/>
            <a:ext cx="4328505" cy="2582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476" lvl="1" indent="-169738" algn="l">
              <a:lnSpc>
                <a:spcPts val="2028"/>
              </a:lnSpc>
              <a:buFont typeface="Arial"/>
              <a:buChar char="•"/>
            </a:pPr>
            <a:r>
              <a:rPr lang="en-US" sz="1572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Camera source: SUMO sim / RTSP / file (one swap layer) </a:t>
            </a:r>
          </a:p>
          <a:p>
            <a:pPr marL="339476" lvl="1" indent="-169738" algn="l">
              <a:lnSpc>
                <a:spcPts val="2028"/>
              </a:lnSpc>
              <a:buFont typeface="Arial"/>
              <a:buChar char="•"/>
            </a:pPr>
            <a:r>
              <a:rPr lang="en-US" sz="1572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ANPR service: plate brain of the system (see →) </a:t>
            </a:r>
          </a:p>
          <a:p>
            <a:pPr marL="339476" lvl="1" indent="-169738" algn="l">
              <a:lnSpc>
                <a:spcPts val="2028"/>
              </a:lnSpc>
              <a:buFont typeface="Arial"/>
              <a:buChar char="•"/>
            </a:pPr>
            <a:r>
              <a:rPr lang="en-US" sz="1572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Ingest + Redis: ordered, buffered event backbone </a:t>
            </a:r>
          </a:p>
          <a:p>
            <a:pPr marL="339476" lvl="1" indent="-169738" algn="l">
              <a:lnSpc>
                <a:spcPts val="2028"/>
              </a:lnSpc>
              <a:buFont typeface="Arial"/>
              <a:buChar char="•"/>
            </a:pPr>
            <a:r>
              <a:rPr lang="en-US" sz="1572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Workers: parallel fuzzy-match, analytics, alerting </a:t>
            </a:r>
          </a:p>
          <a:p>
            <a:pPr marL="339476" lvl="1" indent="-169738" algn="l">
              <a:lnSpc>
                <a:spcPts val="2028"/>
              </a:lnSpc>
              <a:buFont typeface="Arial"/>
              <a:buChar char="•"/>
            </a:pPr>
            <a:r>
              <a:rPr lang="en-US" sz="1572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TimescaleDB + API + dashboard: store once, serve fast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379396" y="2488449"/>
            <a:ext cx="1690021" cy="239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2"/>
              </a:lnSpc>
            </a:pPr>
            <a:r>
              <a:rPr lang="en-US" sz="1437" b="1">
                <a:solidFill>
                  <a:srgbClr val="004AA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CAMERA / SUMO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0418775" y="5049520"/>
            <a:ext cx="1155609" cy="278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sz="1725" b="1" dirty="0">
                <a:solidFill>
                  <a:srgbClr val="004AA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PIPELINE 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1990090" y="4820679"/>
            <a:ext cx="1155609" cy="226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3"/>
              </a:lnSpc>
            </a:pPr>
            <a:r>
              <a:rPr lang="en-US" sz="1359" b="1" dirty="0">
                <a:solidFill>
                  <a:srgbClr val="004AA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CORRECTOR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3369381" y="4749734"/>
            <a:ext cx="1253490" cy="4654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56"/>
              </a:lnSpc>
            </a:pPr>
            <a:r>
              <a:rPr lang="en-US" sz="1325" b="1" dirty="0">
                <a:solidFill>
                  <a:srgbClr val="004AA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ACCURACY</a:t>
            </a:r>
          </a:p>
          <a:p>
            <a:pPr algn="l">
              <a:lnSpc>
                <a:spcPts val="1856"/>
              </a:lnSpc>
            </a:pPr>
            <a:r>
              <a:rPr lang="en-US" sz="1325" b="1" dirty="0">
                <a:solidFill>
                  <a:srgbClr val="004AA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SCORECARD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5111795" y="2500940"/>
            <a:ext cx="1041235" cy="2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388" b="1">
                <a:solidFill>
                  <a:srgbClr val="004AA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INGEST API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7073950" y="2513432"/>
            <a:ext cx="1493496" cy="2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388" b="1">
                <a:solidFill>
                  <a:srgbClr val="004AA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REDIS STREAMS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9144000" y="2831476"/>
            <a:ext cx="975680" cy="2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388" b="1" dirty="0">
                <a:solidFill>
                  <a:srgbClr val="004AA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MATCHER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0308558" y="2858435"/>
            <a:ext cx="1122258" cy="2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388" b="1" dirty="0">
                <a:solidFill>
                  <a:srgbClr val="004AA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ANALYTICS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1664859" y="2831476"/>
            <a:ext cx="1122258" cy="2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388" b="1">
                <a:solidFill>
                  <a:srgbClr val="004AA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ALERTS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9771305" y="2488449"/>
            <a:ext cx="2070793" cy="2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388" b="1">
                <a:solidFill>
                  <a:srgbClr val="004AA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WORKERS (PARALLEL)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5062043" y="2488449"/>
            <a:ext cx="818961" cy="2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388" b="1">
                <a:solidFill>
                  <a:srgbClr val="004AA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FASTAPI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6663311" y="2488449"/>
            <a:ext cx="1191978" cy="2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388" b="1">
                <a:solidFill>
                  <a:srgbClr val="004AA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DASHBOARD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2529986" y="2888102"/>
            <a:ext cx="1828281" cy="422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ABC123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244303" y="3531389"/>
            <a:ext cx="1961312" cy="61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0487" lvl="1" indent="-130244" algn="l">
              <a:lnSpc>
                <a:spcPts val="1689"/>
              </a:lnSpc>
              <a:buFont typeface="Arial"/>
              <a:buChar char="•"/>
            </a:pPr>
            <a:r>
              <a:rPr lang="en-US" sz="1206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Real + Simulated Feeds</a:t>
            </a:r>
          </a:p>
          <a:p>
            <a:pPr marL="260487" lvl="1" indent="-130244" algn="l">
              <a:lnSpc>
                <a:spcPts val="1689"/>
              </a:lnSpc>
              <a:buFont typeface="Arial"/>
              <a:buChar char="•"/>
            </a:pPr>
            <a:r>
              <a:rPr lang="en-US" sz="1206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Gate triggers + speed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2529986" y="3608620"/>
            <a:ext cx="1825454" cy="61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9"/>
              </a:lnSpc>
            </a:pPr>
            <a:r>
              <a:rPr lang="en-US" sz="1206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Reads the Plate</a:t>
            </a:r>
          </a:p>
          <a:p>
            <a:pPr algn="l">
              <a:lnSpc>
                <a:spcPts val="1689"/>
              </a:lnSpc>
            </a:pPr>
            <a:r>
              <a:rPr lang="en-US" sz="1206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Find + Straighten + OCR + Correct Mismatches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4651756" y="3466421"/>
            <a:ext cx="1961312" cy="826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9"/>
              </a:lnSpc>
            </a:pPr>
            <a:r>
              <a:rPr lang="en-US" sz="1206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Validates and canonicalizes plate</a:t>
            </a:r>
          </a:p>
          <a:p>
            <a:pPr algn="l">
              <a:lnSpc>
                <a:spcPts val="1689"/>
              </a:lnSpc>
            </a:pPr>
            <a:r>
              <a:rPr lang="en-US" sz="1206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Adds metadata (camera_id, ts, location)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6937959" y="3569489"/>
            <a:ext cx="1843665" cy="61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9"/>
              </a:lnSpc>
            </a:pPr>
            <a:r>
              <a:rPr lang="en-US" sz="1206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Waiting Line : </a:t>
            </a:r>
          </a:p>
          <a:p>
            <a:pPr algn="l">
              <a:lnSpc>
                <a:spcPts val="1689"/>
              </a:lnSpc>
            </a:pPr>
            <a:r>
              <a:rPr lang="en-US" sz="1206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 that nothing is lost  at rush hour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9153751" y="3712257"/>
            <a:ext cx="965929" cy="407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9"/>
              </a:lnSpc>
            </a:pPr>
            <a:r>
              <a:rPr lang="en-US" sz="1206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Fuzzy edits plates 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0375224" y="3577505"/>
            <a:ext cx="920106" cy="752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9"/>
              </a:lnSpc>
            </a:pPr>
            <a:r>
              <a:rPr lang="en-US" sz="1106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Rollups, travel time graph,</a:t>
            </a:r>
          </a:p>
          <a:p>
            <a:pPr algn="l">
              <a:lnSpc>
                <a:spcPts val="1549"/>
              </a:lnSpc>
            </a:pPr>
            <a:r>
              <a:rPr lang="en-US" sz="1106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OD matrix, 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1609061" y="3608620"/>
            <a:ext cx="920106" cy="679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9"/>
              </a:lnSpc>
            </a:pPr>
            <a:r>
              <a:rPr lang="en-US" sz="1006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Blacklist, impossible travel, camera health 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4755312" y="3369464"/>
            <a:ext cx="1569121" cy="1036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0487" lvl="1" indent="-130244" algn="l">
              <a:lnSpc>
                <a:spcPts val="1689"/>
              </a:lnSpc>
              <a:buFont typeface="Arial"/>
              <a:buChar char="•"/>
            </a:pPr>
            <a:r>
              <a:rPr lang="en-US" sz="1206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REST</a:t>
            </a:r>
          </a:p>
          <a:p>
            <a:pPr marL="260487" lvl="1" indent="-130244" algn="l">
              <a:lnSpc>
                <a:spcPts val="1689"/>
              </a:lnSpc>
              <a:buFont typeface="Arial"/>
              <a:buChar char="•"/>
            </a:pPr>
            <a:r>
              <a:rPr lang="en-US" sz="1206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Websocket</a:t>
            </a:r>
          </a:p>
          <a:p>
            <a:pPr marL="260487" lvl="1" indent="-130244" algn="l">
              <a:lnSpc>
                <a:spcPts val="1689"/>
              </a:lnSpc>
              <a:buFont typeface="Arial"/>
              <a:buChar char="•"/>
            </a:pPr>
            <a:r>
              <a:rPr lang="en-US" sz="1206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Pushes Live Updates within seconds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6533983" y="3531389"/>
            <a:ext cx="1538434" cy="61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9"/>
              </a:lnSpc>
            </a:pPr>
            <a:r>
              <a:rPr lang="en-US" sz="1206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Live map, search, analytics, alerts (polls every 150ms)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244303" y="2058554"/>
            <a:ext cx="4778728" cy="313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>
                <a:solidFill>
                  <a:srgbClr val="004AA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Data Flow (From Camera to Dashboard)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244303" y="4756458"/>
            <a:ext cx="2250109" cy="28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1777" b="1">
                <a:solidFill>
                  <a:srgbClr val="004AA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KEY COMPONENTS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5695257" y="4756458"/>
            <a:ext cx="2250109" cy="28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1777" b="1">
                <a:solidFill>
                  <a:srgbClr val="004AA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CORE FEATURES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10228518" y="4756458"/>
            <a:ext cx="2822489" cy="28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1777" b="1" dirty="0">
                <a:solidFill>
                  <a:srgbClr val="004AA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ANPR ENGINE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3121152" y="2857350"/>
            <a:ext cx="994867" cy="138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3"/>
              </a:lnSpc>
            </a:pPr>
            <a:r>
              <a:rPr lang="en-US" sz="909" b="1">
                <a:solidFill>
                  <a:srgbClr val="004AA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CORE FEATURES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13224781" y="7087688"/>
            <a:ext cx="1243757" cy="24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3"/>
              </a:lnSpc>
            </a:pPr>
            <a:r>
              <a:rPr lang="en-US" sz="149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average ~91%</a:t>
            </a:r>
          </a:p>
        </p:txBody>
      </p:sp>
      <p:grpSp>
        <p:nvGrpSpPr>
          <p:cNvPr id="124" name="Group 124"/>
          <p:cNvGrpSpPr/>
          <p:nvPr/>
        </p:nvGrpSpPr>
        <p:grpSpPr>
          <a:xfrm>
            <a:off x="125551" y="8155023"/>
            <a:ext cx="2792950" cy="1339416"/>
            <a:chOff x="0" y="0"/>
            <a:chExt cx="3723933" cy="1785888"/>
          </a:xfrm>
        </p:grpSpPr>
        <p:grpSp>
          <p:nvGrpSpPr>
            <p:cNvPr id="125" name="Group 125"/>
            <p:cNvGrpSpPr/>
            <p:nvPr/>
          </p:nvGrpSpPr>
          <p:grpSpPr>
            <a:xfrm>
              <a:off x="0" y="0"/>
              <a:ext cx="3723933" cy="1785888"/>
              <a:chOff x="0" y="0"/>
              <a:chExt cx="735592" cy="352768"/>
            </a:xfrm>
          </p:grpSpPr>
          <p:sp>
            <p:nvSpPr>
              <p:cNvPr id="126" name="Freeform 126"/>
              <p:cNvSpPr/>
              <p:nvPr/>
            </p:nvSpPr>
            <p:spPr>
              <a:xfrm>
                <a:off x="0" y="0"/>
                <a:ext cx="735592" cy="352768"/>
              </a:xfrm>
              <a:custGeom>
                <a:avLst/>
                <a:gdLst/>
                <a:ahLst/>
                <a:cxnLst/>
                <a:rect l="l" t="t" r="r" b="b"/>
                <a:pathLst>
                  <a:path w="735592" h="352768">
                    <a:moveTo>
                      <a:pt x="47123" y="0"/>
                    </a:moveTo>
                    <a:lnTo>
                      <a:pt x="688469" y="0"/>
                    </a:lnTo>
                    <a:cubicBezTo>
                      <a:pt x="700966" y="0"/>
                      <a:pt x="712952" y="4965"/>
                      <a:pt x="721790" y="13802"/>
                    </a:cubicBezTo>
                    <a:cubicBezTo>
                      <a:pt x="730627" y="22639"/>
                      <a:pt x="735592" y="34625"/>
                      <a:pt x="735592" y="47123"/>
                    </a:cubicBezTo>
                    <a:lnTo>
                      <a:pt x="735592" y="305645"/>
                    </a:lnTo>
                    <a:cubicBezTo>
                      <a:pt x="735592" y="331670"/>
                      <a:pt x="714494" y="352768"/>
                      <a:pt x="688469" y="352768"/>
                    </a:cubicBezTo>
                    <a:lnTo>
                      <a:pt x="47123" y="352768"/>
                    </a:lnTo>
                    <a:cubicBezTo>
                      <a:pt x="21098" y="352768"/>
                      <a:pt x="0" y="331670"/>
                      <a:pt x="0" y="305645"/>
                    </a:cubicBezTo>
                    <a:lnTo>
                      <a:pt x="0" y="47123"/>
                    </a:lnTo>
                    <a:cubicBezTo>
                      <a:pt x="0" y="21098"/>
                      <a:pt x="21098" y="0"/>
                      <a:pt x="47123" y="0"/>
                    </a:cubicBezTo>
                    <a:close/>
                  </a:path>
                </a:pathLst>
              </a:custGeom>
              <a:ln w="28575" cap="sq">
                <a:solidFill>
                  <a:srgbClr val="0070C0"/>
                </a:solidFill>
                <a:prstDash val="solid"/>
                <a:miter/>
              </a:ln>
            </p:spPr>
          </p:sp>
          <p:sp>
            <p:nvSpPr>
              <p:cNvPr id="127" name="TextBox 127"/>
              <p:cNvSpPr txBox="1"/>
              <p:nvPr/>
            </p:nvSpPr>
            <p:spPr>
              <a:xfrm>
                <a:off x="0" y="-19050"/>
                <a:ext cx="735592" cy="37181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28" name="TextBox 128"/>
            <p:cNvSpPr txBox="1"/>
            <p:nvPr/>
          </p:nvSpPr>
          <p:spPr>
            <a:xfrm>
              <a:off x="1195740" y="179446"/>
              <a:ext cx="1130111" cy="267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</a:pPr>
              <a:r>
                <a:rPr lang="en-US" sz="1274" b="1">
                  <a:solidFill>
                    <a:srgbClr val="004AAD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Backend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523220" y="603472"/>
              <a:ext cx="2825277" cy="9096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32845" lvl="1" indent="-116422" algn="l">
                <a:lnSpc>
                  <a:spcPts val="1941"/>
                </a:lnSpc>
                <a:buFont typeface="Arial"/>
                <a:buChar char="•"/>
              </a:pPr>
              <a:r>
                <a:rPr lang="en-US" sz="1078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FastAPI (REST + WS)</a:t>
              </a:r>
            </a:p>
            <a:p>
              <a:pPr marL="232845" lvl="1" indent="-116422" algn="l">
                <a:lnSpc>
                  <a:spcPts val="1941"/>
                </a:lnSpc>
                <a:buFont typeface="Arial"/>
                <a:buChar char="•"/>
              </a:pPr>
              <a:r>
                <a:rPr lang="en-US" sz="1078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Python 3.11+</a:t>
              </a:r>
            </a:p>
            <a:p>
              <a:pPr marL="232845" lvl="1" indent="-116422" algn="l">
                <a:lnSpc>
                  <a:spcPts val="1941"/>
                </a:lnSpc>
                <a:buFont typeface="Arial"/>
                <a:buChar char="•"/>
              </a:pPr>
              <a:r>
                <a:rPr lang="en-US" sz="1078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Unicam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3164068" y="8155023"/>
            <a:ext cx="2792950" cy="1339416"/>
            <a:chOff x="0" y="0"/>
            <a:chExt cx="3723933" cy="1785888"/>
          </a:xfrm>
        </p:grpSpPr>
        <p:grpSp>
          <p:nvGrpSpPr>
            <p:cNvPr id="131" name="Group 131"/>
            <p:cNvGrpSpPr/>
            <p:nvPr/>
          </p:nvGrpSpPr>
          <p:grpSpPr>
            <a:xfrm>
              <a:off x="0" y="0"/>
              <a:ext cx="3723933" cy="1785888"/>
              <a:chOff x="0" y="0"/>
              <a:chExt cx="735592" cy="352768"/>
            </a:xfrm>
          </p:grpSpPr>
          <p:sp>
            <p:nvSpPr>
              <p:cNvPr id="132" name="Freeform 132"/>
              <p:cNvSpPr/>
              <p:nvPr/>
            </p:nvSpPr>
            <p:spPr>
              <a:xfrm>
                <a:off x="0" y="0"/>
                <a:ext cx="735592" cy="352768"/>
              </a:xfrm>
              <a:custGeom>
                <a:avLst/>
                <a:gdLst/>
                <a:ahLst/>
                <a:cxnLst/>
                <a:rect l="l" t="t" r="r" b="b"/>
                <a:pathLst>
                  <a:path w="735592" h="352768">
                    <a:moveTo>
                      <a:pt x="47123" y="0"/>
                    </a:moveTo>
                    <a:lnTo>
                      <a:pt x="688469" y="0"/>
                    </a:lnTo>
                    <a:cubicBezTo>
                      <a:pt x="700966" y="0"/>
                      <a:pt x="712952" y="4965"/>
                      <a:pt x="721790" y="13802"/>
                    </a:cubicBezTo>
                    <a:cubicBezTo>
                      <a:pt x="730627" y="22639"/>
                      <a:pt x="735592" y="34625"/>
                      <a:pt x="735592" y="47123"/>
                    </a:cubicBezTo>
                    <a:lnTo>
                      <a:pt x="735592" y="305645"/>
                    </a:lnTo>
                    <a:cubicBezTo>
                      <a:pt x="735592" y="331670"/>
                      <a:pt x="714494" y="352768"/>
                      <a:pt x="688469" y="352768"/>
                    </a:cubicBezTo>
                    <a:lnTo>
                      <a:pt x="47123" y="352768"/>
                    </a:lnTo>
                    <a:cubicBezTo>
                      <a:pt x="21098" y="352768"/>
                      <a:pt x="0" y="331670"/>
                      <a:pt x="0" y="305645"/>
                    </a:cubicBezTo>
                    <a:lnTo>
                      <a:pt x="0" y="47123"/>
                    </a:lnTo>
                    <a:cubicBezTo>
                      <a:pt x="0" y="21098"/>
                      <a:pt x="21098" y="0"/>
                      <a:pt x="47123" y="0"/>
                    </a:cubicBezTo>
                    <a:close/>
                  </a:path>
                </a:pathLst>
              </a:custGeom>
              <a:ln w="28575" cap="sq">
                <a:solidFill>
                  <a:srgbClr val="0070C0"/>
                </a:solidFill>
                <a:prstDash val="solid"/>
                <a:miter/>
              </a:ln>
            </p:spPr>
          </p:sp>
          <p:sp>
            <p:nvSpPr>
              <p:cNvPr id="133" name="TextBox 133"/>
              <p:cNvSpPr txBox="1"/>
              <p:nvPr/>
            </p:nvSpPr>
            <p:spPr>
              <a:xfrm>
                <a:off x="0" y="-19050"/>
                <a:ext cx="735592" cy="37181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34" name="TextBox 134"/>
            <p:cNvSpPr txBox="1"/>
            <p:nvPr/>
          </p:nvSpPr>
          <p:spPr>
            <a:xfrm>
              <a:off x="845497" y="179446"/>
              <a:ext cx="1686538" cy="267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</a:pPr>
              <a:r>
                <a:rPr lang="en-US" sz="1274" b="1">
                  <a:solidFill>
                    <a:srgbClr val="004AAD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ANPR / ML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451555" y="555365"/>
              <a:ext cx="2825277" cy="9096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32845" lvl="1" indent="-116422" algn="l">
                <a:lnSpc>
                  <a:spcPts val="1941"/>
                </a:lnSpc>
                <a:buFont typeface="Arial"/>
                <a:buChar char="•"/>
              </a:pPr>
              <a:r>
                <a:rPr lang="en-US" sz="1078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OpenCV</a:t>
              </a:r>
            </a:p>
            <a:p>
              <a:pPr marL="232845" lvl="1" indent="-116422" algn="l">
                <a:lnSpc>
                  <a:spcPts val="1941"/>
                </a:lnSpc>
                <a:buFont typeface="Arial"/>
                <a:buChar char="•"/>
              </a:pPr>
              <a:r>
                <a:rPr lang="en-US" sz="1078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(Stub / Future: YOLO + Tesserate / EasyOCR)</a:t>
              </a:r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6205927" y="8155023"/>
            <a:ext cx="2792950" cy="1339416"/>
            <a:chOff x="0" y="0"/>
            <a:chExt cx="3723933" cy="1785888"/>
          </a:xfrm>
        </p:grpSpPr>
        <p:grpSp>
          <p:nvGrpSpPr>
            <p:cNvPr id="137" name="Group 137"/>
            <p:cNvGrpSpPr/>
            <p:nvPr/>
          </p:nvGrpSpPr>
          <p:grpSpPr>
            <a:xfrm>
              <a:off x="0" y="0"/>
              <a:ext cx="3723933" cy="1785888"/>
              <a:chOff x="0" y="0"/>
              <a:chExt cx="735592" cy="352768"/>
            </a:xfrm>
          </p:grpSpPr>
          <p:sp>
            <p:nvSpPr>
              <p:cNvPr id="138" name="Freeform 138"/>
              <p:cNvSpPr/>
              <p:nvPr/>
            </p:nvSpPr>
            <p:spPr>
              <a:xfrm>
                <a:off x="0" y="0"/>
                <a:ext cx="735592" cy="352768"/>
              </a:xfrm>
              <a:custGeom>
                <a:avLst/>
                <a:gdLst/>
                <a:ahLst/>
                <a:cxnLst/>
                <a:rect l="l" t="t" r="r" b="b"/>
                <a:pathLst>
                  <a:path w="735592" h="352768">
                    <a:moveTo>
                      <a:pt x="47123" y="0"/>
                    </a:moveTo>
                    <a:lnTo>
                      <a:pt x="688469" y="0"/>
                    </a:lnTo>
                    <a:cubicBezTo>
                      <a:pt x="700966" y="0"/>
                      <a:pt x="712952" y="4965"/>
                      <a:pt x="721790" y="13802"/>
                    </a:cubicBezTo>
                    <a:cubicBezTo>
                      <a:pt x="730627" y="22639"/>
                      <a:pt x="735592" y="34625"/>
                      <a:pt x="735592" y="47123"/>
                    </a:cubicBezTo>
                    <a:lnTo>
                      <a:pt x="735592" y="305645"/>
                    </a:lnTo>
                    <a:cubicBezTo>
                      <a:pt x="735592" y="331670"/>
                      <a:pt x="714494" y="352768"/>
                      <a:pt x="688469" y="352768"/>
                    </a:cubicBezTo>
                    <a:lnTo>
                      <a:pt x="47123" y="352768"/>
                    </a:lnTo>
                    <a:cubicBezTo>
                      <a:pt x="21098" y="352768"/>
                      <a:pt x="0" y="331670"/>
                      <a:pt x="0" y="305645"/>
                    </a:cubicBezTo>
                    <a:lnTo>
                      <a:pt x="0" y="47123"/>
                    </a:lnTo>
                    <a:cubicBezTo>
                      <a:pt x="0" y="21098"/>
                      <a:pt x="21098" y="0"/>
                      <a:pt x="47123" y="0"/>
                    </a:cubicBezTo>
                    <a:close/>
                  </a:path>
                </a:pathLst>
              </a:custGeom>
              <a:ln w="28575" cap="sq">
                <a:solidFill>
                  <a:srgbClr val="0070C0"/>
                </a:solidFill>
                <a:prstDash val="solid"/>
                <a:miter/>
              </a:ln>
            </p:spPr>
          </p:sp>
          <p:sp>
            <p:nvSpPr>
              <p:cNvPr id="139" name="TextBox 139"/>
              <p:cNvSpPr txBox="1"/>
              <p:nvPr/>
            </p:nvSpPr>
            <p:spPr>
              <a:xfrm>
                <a:off x="0" y="-19050"/>
                <a:ext cx="735592" cy="37181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40" name="TextBox 140"/>
            <p:cNvSpPr txBox="1"/>
            <p:nvPr/>
          </p:nvSpPr>
          <p:spPr>
            <a:xfrm>
              <a:off x="1051700" y="179446"/>
              <a:ext cx="1497397" cy="267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</a:pPr>
              <a:r>
                <a:rPr lang="en-US" sz="1274" b="1">
                  <a:solidFill>
                    <a:srgbClr val="004AAD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Simulation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257374" y="555365"/>
              <a:ext cx="3399630" cy="9096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32845" lvl="1" indent="-116422" algn="l">
                <a:lnSpc>
                  <a:spcPts val="1941"/>
                </a:lnSpc>
                <a:buFont typeface="Arial"/>
                <a:buChar char="•"/>
              </a:pPr>
              <a:r>
                <a:rPr lang="en-US" sz="1078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SUMO (Traffic simulator)</a:t>
              </a:r>
            </a:p>
            <a:p>
              <a:pPr marL="232845" lvl="1" indent="-116422" algn="l">
                <a:lnSpc>
                  <a:spcPts val="1941"/>
                </a:lnSpc>
                <a:buFont typeface="Arial"/>
                <a:buChar char="•"/>
              </a:pPr>
              <a:r>
                <a:rPr lang="en-US" sz="1078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TraCI (control interface)</a:t>
              </a:r>
            </a:p>
            <a:p>
              <a:pPr marL="232845" lvl="1" indent="-116422" algn="l">
                <a:lnSpc>
                  <a:spcPts val="1941"/>
                </a:lnSpc>
                <a:buFont typeface="Arial"/>
                <a:buChar char="•"/>
              </a:pPr>
              <a:r>
                <a:rPr lang="en-US" sz="1078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Netedit (map editing)</a:t>
              </a:r>
            </a:p>
          </p:txBody>
        </p:sp>
      </p:grpSp>
      <p:grpSp>
        <p:nvGrpSpPr>
          <p:cNvPr id="142" name="Group 142"/>
          <p:cNvGrpSpPr/>
          <p:nvPr/>
        </p:nvGrpSpPr>
        <p:grpSpPr>
          <a:xfrm>
            <a:off x="9247785" y="8155023"/>
            <a:ext cx="3041858" cy="1339416"/>
            <a:chOff x="0" y="0"/>
            <a:chExt cx="4055811" cy="1785888"/>
          </a:xfrm>
        </p:grpSpPr>
        <p:grpSp>
          <p:nvGrpSpPr>
            <p:cNvPr id="143" name="Group 143"/>
            <p:cNvGrpSpPr/>
            <p:nvPr/>
          </p:nvGrpSpPr>
          <p:grpSpPr>
            <a:xfrm>
              <a:off x="0" y="0"/>
              <a:ext cx="3723933" cy="1785888"/>
              <a:chOff x="0" y="0"/>
              <a:chExt cx="735592" cy="352768"/>
            </a:xfrm>
          </p:grpSpPr>
          <p:sp>
            <p:nvSpPr>
              <p:cNvPr id="144" name="Freeform 144"/>
              <p:cNvSpPr/>
              <p:nvPr/>
            </p:nvSpPr>
            <p:spPr>
              <a:xfrm>
                <a:off x="0" y="0"/>
                <a:ext cx="735592" cy="352768"/>
              </a:xfrm>
              <a:custGeom>
                <a:avLst/>
                <a:gdLst/>
                <a:ahLst/>
                <a:cxnLst/>
                <a:rect l="l" t="t" r="r" b="b"/>
                <a:pathLst>
                  <a:path w="735592" h="352768">
                    <a:moveTo>
                      <a:pt x="47123" y="0"/>
                    </a:moveTo>
                    <a:lnTo>
                      <a:pt x="688469" y="0"/>
                    </a:lnTo>
                    <a:cubicBezTo>
                      <a:pt x="700966" y="0"/>
                      <a:pt x="712952" y="4965"/>
                      <a:pt x="721790" y="13802"/>
                    </a:cubicBezTo>
                    <a:cubicBezTo>
                      <a:pt x="730627" y="22639"/>
                      <a:pt x="735592" y="34625"/>
                      <a:pt x="735592" y="47123"/>
                    </a:cubicBezTo>
                    <a:lnTo>
                      <a:pt x="735592" y="305645"/>
                    </a:lnTo>
                    <a:cubicBezTo>
                      <a:pt x="735592" y="331670"/>
                      <a:pt x="714494" y="352768"/>
                      <a:pt x="688469" y="352768"/>
                    </a:cubicBezTo>
                    <a:lnTo>
                      <a:pt x="47123" y="352768"/>
                    </a:lnTo>
                    <a:cubicBezTo>
                      <a:pt x="21098" y="352768"/>
                      <a:pt x="0" y="331670"/>
                      <a:pt x="0" y="305645"/>
                    </a:cubicBezTo>
                    <a:lnTo>
                      <a:pt x="0" y="47123"/>
                    </a:lnTo>
                    <a:cubicBezTo>
                      <a:pt x="0" y="21098"/>
                      <a:pt x="21098" y="0"/>
                      <a:pt x="47123" y="0"/>
                    </a:cubicBezTo>
                    <a:close/>
                  </a:path>
                </a:pathLst>
              </a:custGeom>
              <a:ln w="28575" cap="sq">
                <a:solidFill>
                  <a:srgbClr val="0070C0"/>
                </a:solidFill>
                <a:prstDash val="solid"/>
                <a:miter/>
              </a:ln>
            </p:spPr>
          </p:sp>
          <p:sp>
            <p:nvSpPr>
              <p:cNvPr id="145" name="TextBox 145"/>
              <p:cNvSpPr txBox="1"/>
              <p:nvPr/>
            </p:nvSpPr>
            <p:spPr>
              <a:xfrm>
                <a:off x="0" y="-19050"/>
                <a:ext cx="735592" cy="37181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46" name="TextBox 146"/>
            <p:cNvSpPr txBox="1"/>
            <p:nvPr/>
          </p:nvSpPr>
          <p:spPr>
            <a:xfrm>
              <a:off x="630193" y="119088"/>
              <a:ext cx="2486244" cy="267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</a:pPr>
              <a:r>
                <a:rPr lang="en-US" sz="1274" b="1">
                  <a:solidFill>
                    <a:srgbClr val="004AAD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Streaming /Queue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162897" y="439552"/>
              <a:ext cx="3892914" cy="1227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32845" lvl="1" indent="-116422" algn="l">
                <a:lnSpc>
                  <a:spcPts val="1941"/>
                </a:lnSpc>
                <a:buFont typeface="Arial"/>
                <a:buChar char="•"/>
              </a:pPr>
              <a:r>
                <a:rPr lang="en-US" sz="1078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Redis Streams</a:t>
              </a:r>
            </a:p>
            <a:p>
              <a:pPr marL="232845" lvl="1" indent="-116422" algn="l">
                <a:lnSpc>
                  <a:spcPts val="1941"/>
                </a:lnSpc>
                <a:buFont typeface="Arial"/>
                <a:buChar char="•"/>
              </a:pPr>
              <a:r>
                <a:rPr lang="en-US" sz="1078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8 shards</a:t>
              </a:r>
            </a:p>
            <a:p>
              <a:pPr marL="232845" lvl="1" indent="-116422" algn="l">
                <a:lnSpc>
                  <a:spcPts val="1941"/>
                </a:lnSpc>
                <a:buFont typeface="Arial"/>
                <a:buChar char="•"/>
              </a:pPr>
              <a:r>
                <a:rPr lang="en-US" sz="1078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3 consumer groups</a:t>
              </a:r>
            </a:p>
            <a:p>
              <a:pPr marL="232845" lvl="1" indent="-116422" algn="l">
                <a:lnSpc>
                  <a:spcPts val="1941"/>
                </a:lnSpc>
                <a:buFont typeface="Arial"/>
                <a:buChar char="•"/>
              </a:pPr>
              <a:r>
                <a:rPr lang="en-US" sz="1078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Event buffering &amp; scaling</a:t>
              </a:r>
            </a:p>
          </p:txBody>
        </p:sp>
      </p:grpSp>
      <p:grpSp>
        <p:nvGrpSpPr>
          <p:cNvPr id="148" name="Group 148"/>
          <p:cNvGrpSpPr/>
          <p:nvPr/>
        </p:nvGrpSpPr>
        <p:grpSpPr>
          <a:xfrm>
            <a:off x="12289643" y="8155023"/>
            <a:ext cx="2860344" cy="1339416"/>
            <a:chOff x="0" y="0"/>
            <a:chExt cx="3813792" cy="1785888"/>
          </a:xfrm>
        </p:grpSpPr>
        <p:grpSp>
          <p:nvGrpSpPr>
            <p:cNvPr id="149" name="Group 149"/>
            <p:cNvGrpSpPr/>
            <p:nvPr/>
          </p:nvGrpSpPr>
          <p:grpSpPr>
            <a:xfrm>
              <a:off x="0" y="0"/>
              <a:ext cx="3723933" cy="1785888"/>
              <a:chOff x="0" y="0"/>
              <a:chExt cx="735592" cy="352768"/>
            </a:xfrm>
          </p:grpSpPr>
          <p:sp>
            <p:nvSpPr>
              <p:cNvPr id="150" name="Freeform 150"/>
              <p:cNvSpPr/>
              <p:nvPr/>
            </p:nvSpPr>
            <p:spPr>
              <a:xfrm>
                <a:off x="0" y="0"/>
                <a:ext cx="735592" cy="352768"/>
              </a:xfrm>
              <a:custGeom>
                <a:avLst/>
                <a:gdLst/>
                <a:ahLst/>
                <a:cxnLst/>
                <a:rect l="l" t="t" r="r" b="b"/>
                <a:pathLst>
                  <a:path w="735592" h="352768">
                    <a:moveTo>
                      <a:pt x="47123" y="0"/>
                    </a:moveTo>
                    <a:lnTo>
                      <a:pt x="688469" y="0"/>
                    </a:lnTo>
                    <a:cubicBezTo>
                      <a:pt x="700966" y="0"/>
                      <a:pt x="712952" y="4965"/>
                      <a:pt x="721790" y="13802"/>
                    </a:cubicBezTo>
                    <a:cubicBezTo>
                      <a:pt x="730627" y="22639"/>
                      <a:pt x="735592" y="34625"/>
                      <a:pt x="735592" y="47123"/>
                    </a:cubicBezTo>
                    <a:lnTo>
                      <a:pt x="735592" y="305645"/>
                    </a:lnTo>
                    <a:cubicBezTo>
                      <a:pt x="735592" y="331670"/>
                      <a:pt x="714494" y="352768"/>
                      <a:pt x="688469" y="352768"/>
                    </a:cubicBezTo>
                    <a:lnTo>
                      <a:pt x="47123" y="352768"/>
                    </a:lnTo>
                    <a:cubicBezTo>
                      <a:pt x="21098" y="352768"/>
                      <a:pt x="0" y="331670"/>
                      <a:pt x="0" y="305645"/>
                    </a:cubicBezTo>
                    <a:lnTo>
                      <a:pt x="0" y="47123"/>
                    </a:lnTo>
                    <a:cubicBezTo>
                      <a:pt x="0" y="21098"/>
                      <a:pt x="21098" y="0"/>
                      <a:pt x="47123" y="0"/>
                    </a:cubicBezTo>
                    <a:close/>
                  </a:path>
                </a:pathLst>
              </a:custGeom>
              <a:ln w="28575" cap="sq">
                <a:solidFill>
                  <a:srgbClr val="0070C0"/>
                </a:solidFill>
                <a:prstDash val="solid"/>
                <a:miter/>
              </a:ln>
            </p:spPr>
          </p:sp>
          <p:sp>
            <p:nvSpPr>
              <p:cNvPr id="151" name="TextBox 151"/>
              <p:cNvSpPr txBox="1"/>
              <p:nvPr/>
            </p:nvSpPr>
            <p:spPr>
              <a:xfrm>
                <a:off x="0" y="-19050"/>
                <a:ext cx="735592" cy="37181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52" name="TextBox 152"/>
            <p:cNvSpPr txBox="1"/>
            <p:nvPr/>
          </p:nvSpPr>
          <p:spPr>
            <a:xfrm>
              <a:off x="1080342" y="98841"/>
              <a:ext cx="1243122" cy="267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</a:pPr>
              <a:r>
                <a:rPr lang="en-US" sz="1274" b="1">
                  <a:solidFill>
                    <a:srgbClr val="004AAD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Database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21255" y="439552"/>
              <a:ext cx="3792537" cy="9096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32845" lvl="1" indent="-116422" algn="l">
                <a:lnSpc>
                  <a:spcPts val="1941"/>
                </a:lnSpc>
                <a:buFont typeface="Arial"/>
                <a:buChar char="•"/>
              </a:pPr>
              <a:r>
                <a:rPr lang="en-US" sz="1078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PostgreSQL (time-series)</a:t>
              </a:r>
            </a:p>
            <a:p>
              <a:pPr marL="232845" lvl="1" indent="-116422" algn="l">
                <a:lnSpc>
                  <a:spcPts val="1941"/>
                </a:lnSpc>
                <a:buFont typeface="Arial"/>
                <a:buChar char="•"/>
              </a:pPr>
              <a:r>
                <a:rPr lang="en-US" sz="1078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TimescaleDB (time-series)</a:t>
              </a:r>
            </a:p>
            <a:p>
              <a:pPr marL="232845" lvl="1" indent="-116422" algn="l">
                <a:lnSpc>
                  <a:spcPts val="1941"/>
                </a:lnSpc>
                <a:buFont typeface="Arial"/>
                <a:buChar char="•"/>
              </a:pPr>
              <a:r>
                <a:rPr lang="en-US" sz="1078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Stores reads, vehicles, rolls, alerts</a:t>
              </a:r>
            </a:p>
          </p:txBody>
        </p:sp>
      </p:grpSp>
      <p:grpSp>
        <p:nvGrpSpPr>
          <p:cNvPr id="154" name="Group 154"/>
          <p:cNvGrpSpPr/>
          <p:nvPr/>
        </p:nvGrpSpPr>
        <p:grpSpPr>
          <a:xfrm>
            <a:off x="15331501" y="8155023"/>
            <a:ext cx="2956499" cy="1339416"/>
            <a:chOff x="0" y="0"/>
            <a:chExt cx="3941998" cy="1785888"/>
          </a:xfrm>
        </p:grpSpPr>
        <p:grpSp>
          <p:nvGrpSpPr>
            <p:cNvPr id="155" name="Group 155"/>
            <p:cNvGrpSpPr/>
            <p:nvPr/>
          </p:nvGrpSpPr>
          <p:grpSpPr>
            <a:xfrm>
              <a:off x="0" y="0"/>
              <a:ext cx="3723933" cy="1785888"/>
              <a:chOff x="0" y="0"/>
              <a:chExt cx="735592" cy="352768"/>
            </a:xfrm>
          </p:grpSpPr>
          <p:sp>
            <p:nvSpPr>
              <p:cNvPr id="156" name="Freeform 156"/>
              <p:cNvSpPr/>
              <p:nvPr/>
            </p:nvSpPr>
            <p:spPr>
              <a:xfrm>
                <a:off x="0" y="0"/>
                <a:ext cx="735592" cy="352768"/>
              </a:xfrm>
              <a:custGeom>
                <a:avLst/>
                <a:gdLst/>
                <a:ahLst/>
                <a:cxnLst/>
                <a:rect l="l" t="t" r="r" b="b"/>
                <a:pathLst>
                  <a:path w="735592" h="352768">
                    <a:moveTo>
                      <a:pt x="47123" y="0"/>
                    </a:moveTo>
                    <a:lnTo>
                      <a:pt x="688469" y="0"/>
                    </a:lnTo>
                    <a:cubicBezTo>
                      <a:pt x="700966" y="0"/>
                      <a:pt x="712952" y="4965"/>
                      <a:pt x="721790" y="13802"/>
                    </a:cubicBezTo>
                    <a:cubicBezTo>
                      <a:pt x="730627" y="22639"/>
                      <a:pt x="735592" y="34625"/>
                      <a:pt x="735592" y="47123"/>
                    </a:cubicBezTo>
                    <a:lnTo>
                      <a:pt x="735592" y="305645"/>
                    </a:lnTo>
                    <a:cubicBezTo>
                      <a:pt x="735592" y="331670"/>
                      <a:pt x="714494" y="352768"/>
                      <a:pt x="688469" y="352768"/>
                    </a:cubicBezTo>
                    <a:lnTo>
                      <a:pt x="47123" y="352768"/>
                    </a:lnTo>
                    <a:cubicBezTo>
                      <a:pt x="21098" y="352768"/>
                      <a:pt x="0" y="331670"/>
                      <a:pt x="0" y="305645"/>
                    </a:cubicBezTo>
                    <a:lnTo>
                      <a:pt x="0" y="47123"/>
                    </a:lnTo>
                    <a:cubicBezTo>
                      <a:pt x="0" y="21098"/>
                      <a:pt x="21098" y="0"/>
                      <a:pt x="47123" y="0"/>
                    </a:cubicBezTo>
                    <a:close/>
                  </a:path>
                </a:pathLst>
              </a:custGeom>
              <a:ln w="28575" cap="sq">
                <a:solidFill>
                  <a:srgbClr val="0070C0"/>
                </a:solidFill>
                <a:prstDash val="solid"/>
                <a:miter/>
              </a:ln>
            </p:spPr>
          </p:sp>
          <p:sp>
            <p:nvSpPr>
              <p:cNvPr id="157" name="TextBox 157"/>
              <p:cNvSpPr txBox="1"/>
              <p:nvPr/>
            </p:nvSpPr>
            <p:spPr>
              <a:xfrm>
                <a:off x="0" y="-19050"/>
                <a:ext cx="735592" cy="37181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58" name="TextBox 158"/>
            <p:cNvSpPr txBox="1"/>
            <p:nvPr/>
          </p:nvSpPr>
          <p:spPr>
            <a:xfrm>
              <a:off x="1146436" y="98841"/>
              <a:ext cx="1186616" cy="267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</a:pPr>
              <a:r>
                <a:rPr lang="en-US" sz="1274" b="1">
                  <a:solidFill>
                    <a:srgbClr val="004AAD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Frontend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149461" y="439552"/>
              <a:ext cx="3792537" cy="1227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32845" lvl="1" indent="-116422" algn="l">
                <a:lnSpc>
                  <a:spcPts val="1941"/>
                </a:lnSpc>
                <a:buFont typeface="Arial"/>
                <a:buChar char="•"/>
              </a:pPr>
              <a:r>
                <a:rPr lang="en-US" sz="1078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React (Vite)</a:t>
              </a:r>
            </a:p>
            <a:p>
              <a:pPr marL="232845" lvl="1" indent="-116422" algn="l">
                <a:lnSpc>
                  <a:spcPts val="1941"/>
                </a:lnSpc>
                <a:buFont typeface="Arial"/>
                <a:buChar char="•"/>
              </a:pPr>
              <a:r>
                <a:rPr lang="en-US" sz="1078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MapLibre GL</a:t>
              </a:r>
            </a:p>
            <a:p>
              <a:pPr marL="232845" lvl="1" indent="-116422" algn="l">
                <a:lnSpc>
                  <a:spcPts val="1941"/>
                </a:lnSpc>
                <a:buFont typeface="Arial"/>
                <a:buChar char="•"/>
              </a:pPr>
              <a:r>
                <a:rPr lang="en-US" sz="1078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Realtime updates WebSocket</a:t>
              </a:r>
            </a:p>
            <a:p>
              <a:pPr marL="232845" lvl="1" indent="-116422" algn="l">
                <a:lnSpc>
                  <a:spcPts val="1941"/>
                </a:lnSpc>
                <a:buFont typeface="Arial"/>
                <a:buChar char="•"/>
              </a:pPr>
              <a:r>
                <a:rPr lang="en-US" sz="1078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Search, analytics, alerts UI</a:t>
              </a:r>
            </a:p>
          </p:txBody>
        </p:sp>
      </p:grpSp>
      <p:sp>
        <p:nvSpPr>
          <p:cNvPr id="160" name="TextBox 160"/>
          <p:cNvSpPr txBox="1"/>
          <p:nvPr/>
        </p:nvSpPr>
        <p:spPr>
          <a:xfrm>
            <a:off x="126797" y="7782377"/>
            <a:ext cx="2196466" cy="364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7"/>
              </a:lnSpc>
            </a:pPr>
            <a:r>
              <a:rPr lang="en-US" sz="2162" b="1">
                <a:solidFill>
                  <a:srgbClr val="004AA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TECH STACK</a:t>
            </a:r>
          </a:p>
        </p:txBody>
      </p:sp>
      <p:grpSp>
        <p:nvGrpSpPr>
          <p:cNvPr id="161" name="Group 161"/>
          <p:cNvGrpSpPr/>
          <p:nvPr/>
        </p:nvGrpSpPr>
        <p:grpSpPr>
          <a:xfrm>
            <a:off x="2253327" y="3271897"/>
            <a:ext cx="368564" cy="368564"/>
            <a:chOff x="0" y="0"/>
            <a:chExt cx="812800" cy="812800"/>
          </a:xfrm>
        </p:grpSpPr>
        <p:sp>
          <p:nvSpPr>
            <p:cNvPr id="162" name="Freeform 16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163" name="TextBox 163"/>
            <p:cNvSpPr txBox="1"/>
            <p:nvPr/>
          </p:nvSpPr>
          <p:spPr>
            <a:xfrm>
              <a:off x="0" y="184150"/>
              <a:ext cx="711200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64" name="Group 164"/>
          <p:cNvGrpSpPr/>
          <p:nvPr/>
        </p:nvGrpSpPr>
        <p:grpSpPr>
          <a:xfrm>
            <a:off x="4344504" y="3271897"/>
            <a:ext cx="368564" cy="368564"/>
            <a:chOff x="0" y="0"/>
            <a:chExt cx="812800" cy="812800"/>
          </a:xfrm>
        </p:grpSpPr>
        <p:sp>
          <p:nvSpPr>
            <p:cNvPr id="165" name="Freeform 16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166" name="TextBox 166"/>
            <p:cNvSpPr txBox="1"/>
            <p:nvPr/>
          </p:nvSpPr>
          <p:spPr>
            <a:xfrm>
              <a:off x="0" y="184150"/>
              <a:ext cx="711200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67" name="Group 167"/>
          <p:cNvGrpSpPr/>
          <p:nvPr/>
        </p:nvGrpSpPr>
        <p:grpSpPr>
          <a:xfrm>
            <a:off x="6613069" y="3271897"/>
            <a:ext cx="368564" cy="368564"/>
            <a:chOff x="0" y="0"/>
            <a:chExt cx="812800" cy="812800"/>
          </a:xfrm>
        </p:grpSpPr>
        <p:sp>
          <p:nvSpPr>
            <p:cNvPr id="168" name="Freeform 16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169" name="TextBox 169"/>
            <p:cNvSpPr txBox="1"/>
            <p:nvPr/>
          </p:nvSpPr>
          <p:spPr>
            <a:xfrm>
              <a:off x="0" y="184150"/>
              <a:ext cx="711200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70" name="Group 170"/>
          <p:cNvGrpSpPr/>
          <p:nvPr/>
        </p:nvGrpSpPr>
        <p:grpSpPr>
          <a:xfrm>
            <a:off x="8753000" y="3271897"/>
            <a:ext cx="368564" cy="368564"/>
            <a:chOff x="0" y="0"/>
            <a:chExt cx="812800" cy="812800"/>
          </a:xfrm>
        </p:grpSpPr>
        <p:sp>
          <p:nvSpPr>
            <p:cNvPr id="171" name="Freeform 17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172" name="TextBox 172"/>
            <p:cNvSpPr txBox="1"/>
            <p:nvPr/>
          </p:nvSpPr>
          <p:spPr>
            <a:xfrm>
              <a:off x="0" y="184150"/>
              <a:ext cx="711200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73" name="Group 173"/>
          <p:cNvGrpSpPr/>
          <p:nvPr/>
        </p:nvGrpSpPr>
        <p:grpSpPr>
          <a:xfrm>
            <a:off x="12608037" y="3271897"/>
            <a:ext cx="368564" cy="368564"/>
            <a:chOff x="0" y="0"/>
            <a:chExt cx="812800" cy="812800"/>
          </a:xfrm>
        </p:grpSpPr>
        <p:sp>
          <p:nvSpPr>
            <p:cNvPr id="174" name="Freeform 17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175" name="TextBox 175"/>
            <p:cNvSpPr txBox="1"/>
            <p:nvPr/>
          </p:nvSpPr>
          <p:spPr>
            <a:xfrm>
              <a:off x="0" y="184150"/>
              <a:ext cx="711200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76" name="Group 176"/>
          <p:cNvGrpSpPr/>
          <p:nvPr/>
        </p:nvGrpSpPr>
        <p:grpSpPr>
          <a:xfrm>
            <a:off x="14406551" y="3271897"/>
            <a:ext cx="368564" cy="368564"/>
            <a:chOff x="0" y="0"/>
            <a:chExt cx="812800" cy="812800"/>
          </a:xfrm>
        </p:grpSpPr>
        <p:sp>
          <p:nvSpPr>
            <p:cNvPr id="177" name="Freeform 17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178" name="TextBox 178"/>
            <p:cNvSpPr txBox="1"/>
            <p:nvPr/>
          </p:nvSpPr>
          <p:spPr>
            <a:xfrm>
              <a:off x="0" y="184150"/>
              <a:ext cx="711200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79" name="Group 179"/>
          <p:cNvGrpSpPr/>
          <p:nvPr/>
        </p:nvGrpSpPr>
        <p:grpSpPr>
          <a:xfrm>
            <a:off x="16242954" y="3271897"/>
            <a:ext cx="368564" cy="368564"/>
            <a:chOff x="0" y="0"/>
            <a:chExt cx="812800" cy="812800"/>
          </a:xfrm>
        </p:grpSpPr>
        <p:sp>
          <p:nvSpPr>
            <p:cNvPr id="180" name="Freeform 18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181" name="TextBox 181"/>
            <p:cNvSpPr txBox="1"/>
            <p:nvPr/>
          </p:nvSpPr>
          <p:spPr>
            <a:xfrm>
              <a:off x="0" y="184150"/>
              <a:ext cx="711200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182" name="TextBox 182"/>
          <p:cNvSpPr txBox="1"/>
          <p:nvPr/>
        </p:nvSpPr>
        <p:spPr>
          <a:xfrm>
            <a:off x="28731" y="-34599"/>
            <a:ext cx="18259269" cy="673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21"/>
              </a:lnSpc>
            </a:pPr>
            <a:r>
              <a:rPr lang="en-US" sz="3872" b="1">
                <a:solidFill>
                  <a:srgbClr val="000000"/>
                </a:solidFill>
                <a:latin typeface="Fraunces Semi-Bold"/>
                <a:ea typeface="Fraunces Semi-Bold"/>
                <a:cs typeface="Fraunces Semi-Bold"/>
                <a:sym typeface="Fraunces Semi-Bold"/>
              </a:rPr>
              <a:t>TECHNICAL APPROACH</a:t>
            </a:r>
          </a:p>
        </p:txBody>
      </p:sp>
      <p:grpSp>
        <p:nvGrpSpPr>
          <p:cNvPr id="183" name="Group 183"/>
          <p:cNvGrpSpPr/>
          <p:nvPr/>
        </p:nvGrpSpPr>
        <p:grpSpPr>
          <a:xfrm>
            <a:off x="9016132" y="2693960"/>
            <a:ext cx="1180674" cy="1711658"/>
            <a:chOff x="0" y="0"/>
            <a:chExt cx="310959" cy="419804"/>
          </a:xfrm>
        </p:grpSpPr>
        <p:sp>
          <p:nvSpPr>
            <p:cNvPr id="184" name="Freeform 184"/>
            <p:cNvSpPr/>
            <p:nvPr/>
          </p:nvSpPr>
          <p:spPr>
            <a:xfrm>
              <a:off x="0" y="0"/>
              <a:ext cx="310959" cy="419804"/>
            </a:xfrm>
            <a:custGeom>
              <a:avLst/>
              <a:gdLst/>
              <a:ahLst/>
              <a:cxnLst/>
              <a:rect l="l" t="t" r="r" b="b"/>
              <a:pathLst>
                <a:path w="310959" h="419804">
                  <a:moveTo>
                    <a:pt x="111472" y="0"/>
                  </a:moveTo>
                  <a:lnTo>
                    <a:pt x="199487" y="0"/>
                  </a:lnTo>
                  <a:cubicBezTo>
                    <a:pt x="229051" y="0"/>
                    <a:pt x="257405" y="11744"/>
                    <a:pt x="278310" y="32650"/>
                  </a:cubicBezTo>
                  <a:cubicBezTo>
                    <a:pt x="299215" y="53555"/>
                    <a:pt x="310959" y="81908"/>
                    <a:pt x="310959" y="111472"/>
                  </a:cubicBezTo>
                  <a:lnTo>
                    <a:pt x="310959" y="308332"/>
                  </a:lnTo>
                  <a:cubicBezTo>
                    <a:pt x="310959" y="337896"/>
                    <a:pt x="299215" y="366250"/>
                    <a:pt x="278310" y="387155"/>
                  </a:cubicBezTo>
                  <a:cubicBezTo>
                    <a:pt x="257405" y="408060"/>
                    <a:pt x="229051" y="419804"/>
                    <a:pt x="199487" y="419804"/>
                  </a:cubicBezTo>
                  <a:lnTo>
                    <a:pt x="111472" y="419804"/>
                  </a:lnTo>
                  <a:cubicBezTo>
                    <a:pt x="81908" y="419804"/>
                    <a:pt x="53555" y="408060"/>
                    <a:pt x="32650" y="387155"/>
                  </a:cubicBezTo>
                  <a:cubicBezTo>
                    <a:pt x="11744" y="366250"/>
                    <a:pt x="0" y="337896"/>
                    <a:pt x="0" y="308332"/>
                  </a:cubicBezTo>
                  <a:lnTo>
                    <a:pt x="0" y="111472"/>
                  </a:lnTo>
                  <a:cubicBezTo>
                    <a:pt x="0" y="81908"/>
                    <a:pt x="11744" y="53555"/>
                    <a:pt x="32650" y="32650"/>
                  </a:cubicBezTo>
                  <a:cubicBezTo>
                    <a:pt x="53555" y="11744"/>
                    <a:pt x="81908" y="0"/>
                    <a:pt x="111472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5" name="TextBox 185"/>
            <p:cNvSpPr txBox="1"/>
            <p:nvPr/>
          </p:nvSpPr>
          <p:spPr>
            <a:xfrm>
              <a:off x="0" y="-19050"/>
              <a:ext cx="310959" cy="438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86" name="Group 186"/>
          <p:cNvGrpSpPr/>
          <p:nvPr/>
        </p:nvGrpSpPr>
        <p:grpSpPr>
          <a:xfrm>
            <a:off x="10244940" y="2703485"/>
            <a:ext cx="1180674" cy="1702134"/>
            <a:chOff x="0" y="0"/>
            <a:chExt cx="310959" cy="448299"/>
          </a:xfrm>
        </p:grpSpPr>
        <p:sp>
          <p:nvSpPr>
            <p:cNvPr id="187" name="Freeform 187"/>
            <p:cNvSpPr/>
            <p:nvPr/>
          </p:nvSpPr>
          <p:spPr>
            <a:xfrm>
              <a:off x="0" y="0"/>
              <a:ext cx="310959" cy="448299"/>
            </a:xfrm>
            <a:custGeom>
              <a:avLst/>
              <a:gdLst/>
              <a:ahLst/>
              <a:cxnLst/>
              <a:rect l="l" t="t" r="r" b="b"/>
              <a:pathLst>
                <a:path w="310959" h="448299">
                  <a:moveTo>
                    <a:pt x="111472" y="0"/>
                  </a:moveTo>
                  <a:lnTo>
                    <a:pt x="199487" y="0"/>
                  </a:lnTo>
                  <a:cubicBezTo>
                    <a:pt x="229051" y="0"/>
                    <a:pt x="257405" y="11744"/>
                    <a:pt x="278310" y="32650"/>
                  </a:cubicBezTo>
                  <a:cubicBezTo>
                    <a:pt x="299215" y="53555"/>
                    <a:pt x="310959" y="81908"/>
                    <a:pt x="310959" y="111472"/>
                  </a:cubicBezTo>
                  <a:lnTo>
                    <a:pt x="310959" y="336826"/>
                  </a:lnTo>
                  <a:cubicBezTo>
                    <a:pt x="310959" y="366391"/>
                    <a:pt x="299215" y="394744"/>
                    <a:pt x="278310" y="415649"/>
                  </a:cubicBezTo>
                  <a:cubicBezTo>
                    <a:pt x="257405" y="436554"/>
                    <a:pt x="229051" y="448299"/>
                    <a:pt x="199487" y="448299"/>
                  </a:cubicBezTo>
                  <a:lnTo>
                    <a:pt x="111472" y="448299"/>
                  </a:lnTo>
                  <a:cubicBezTo>
                    <a:pt x="81908" y="448299"/>
                    <a:pt x="53555" y="436554"/>
                    <a:pt x="32650" y="415649"/>
                  </a:cubicBezTo>
                  <a:cubicBezTo>
                    <a:pt x="11744" y="394744"/>
                    <a:pt x="0" y="366391"/>
                    <a:pt x="0" y="336826"/>
                  </a:cubicBezTo>
                  <a:lnTo>
                    <a:pt x="0" y="111472"/>
                  </a:lnTo>
                  <a:cubicBezTo>
                    <a:pt x="0" y="81908"/>
                    <a:pt x="11744" y="53555"/>
                    <a:pt x="32650" y="32650"/>
                  </a:cubicBezTo>
                  <a:cubicBezTo>
                    <a:pt x="53555" y="11744"/>
                    <a:pt x="81908" y="0"/>
                    <a:pt x="111472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8" name="TextBox 188"/>
            <p:cNvSpPr txBox="1"/>
            <p:nvPr/>
          </p:nvSpPr>
          <p:spPr>
            <a:xfrm>
              <a:off x="0" y="-19050"/>
              <a:ext cx="310959" cy="467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89" name="Group 189"/>
          <p:cNvGrpSpPr/>
          <p:nvPr/>
        </p:nvGrpSpPr>
        <p:grpSpPr>
          <a:xfrm>
            <a:off x="11487820" y="2703485"/>
            <a:ext cx="1180674" cy="1702134"/>
            <a:chOff x="0" y="0"/>
            <a:chExt cx="310959" cy="448299"/>
          </a:xfrm>
        </p:grpSpPr>
        <p:sp>
          <p:nvSpPr>
            <p:cNvPr id="190" name="Freeform 190"/>
            <p:cNvSpPr/>
            <p:nvPr/>
          </p:nvSpPr>
          <p:spPr>
            <a:xfrm>
              <a:off x="0" y="0"/>
              <a:ext cx="310959" cy="448299"/>
            </a:xfrm>
            <a:custGeom>
              <a:avLst/>
              <a:gdLst/>
              <a:ahLst/>
              <a:cxnLst/>
              <a:rect l="l" t="t" r="r" b="b"/>
              <a:pathLst>
                <a:path w="310959" h="448299">
                  <a:moveTo>
                    <a:pt x="111472" y="0"/>
                  </a:moveTo>
                  <a:lnTo>
                    <a:pt x="199487" y="0"/>
                  </a:lnTo>
                  <a:cubicBezTo>
                    <a:pt x="229051" y="0"/>
                    <a:pt x="257405" y="11744"/>
                    <a:pt x="278310" y="32650"/>
                  </a:cubicBezTo>
                  <a:cubicBezTo>
                    <a:pt x="299215" y="53555"/>
                    <a:pt x="310959" y="81908"/>
                    <a:pt x="310959" y="111472"/>
                  </a:cubicBezTo>
                  <a:lnTo>
                    <a:pt x="310959" y="336826"/>
                  </a:lnTo>
                  <a:cubicBezTo>
                    <a:pt x="310959" y="366391"/>
                    <a:pt x="299215" y="394744"/>
                    <a:pt x="278310" y="415649"/>
                  </a:cubicBezTo>
                  <a:cubicBezTo>
                    <a:pt x="257405" y="436554"/>
                    <a:pt x="229051" y="448299"/>
                    <a:pt x="199487" y="448299"/>
                  </a:cubicBezTo>
                  <a:lnTo>
                    <a:pt x="111472" y="448299"/>
                  </a:lnTo>
                  <a:cubicBezTo>
                    <a:pt x="81908" y="448299"/>
                    <a:pt x="53555" y="436554"/>
                    <a:pt x="32650" y="415649"/>
                  </a:cubicBezTo>
                  <a:cubicBezTo>
                    <a:pt x="11744" y="394744"/>
                    <a:pt x="0" y="366391"/>
                    <a:pt x="0" y="336826"/>
                  </a:cubicBezTo>
                  <a:lnTo>
                    <a:pt x="0" y="111472"/>
                  </a:lnTo>
                  <a:cubicBezTo>
                    <a:pt x="0" y="81908"/>
                    <a:pt x="11744" y="53555"/>
                    <a:pt x="32650" y="32650"/>
                  </a:cubicBezTo>
                  <a:cubicBezTo>
                    <a:pt x="53555" y="11744"/>
                    <a:pt x="81908" y="0"/>
                    <a:pt x="111472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91" name="TextBox 191"/>
            <p:cNvSpPr txBox="1"/>
            <p:nvPr/>
          </p:nvSpPr>
          <p:spPr>
            <a:xfrm>
              <a:off x="0" y="-19050"/>
              <a:ext cx="310959" cy="467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92" name="Group 192"/>
          <p:cNvGrpSpPr/>
          <p:nvPr/>
        </p:nvGrpSpPr>
        <p:grpSpPr>
          <a:xfrm>
            <a:off x="194938" y="104912"/>
            <a:ext cx="1667524" cy="1087176"/>
            <a:chOff x="0" y="0"/>
            <a:chExt cx="2554516" cy="1665468"/>
          </a:xfrm>
        </p:grpSpPr>
        <p:sp>
          <p:nvSpPr>
            <p:cNvPr id="193" name="Freeform 193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94" name="TextBox 194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Baazigars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322532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320964" y="954656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85405" y="85649"/>
            <a:ext cx="1915887" cy="1249101"/>
            <a:chOff x="0" y="0"/>
            <a:chExt cx="2554516" cy="1665468"/>
          </a:xfrm>
        </p:grpSpPr>
        <p:sp>
          <p:nvSpPr>
            <p:cNvPr id="11" name="Freeform 11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Baazigars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505690" y="85649"/>
            <a:ext cx="2570036" cy="1306319"/>
            <a:chOff x="0" y="0"/>
            <a:chExt cx="4418241" cy="2245741"/>
          </a:xfrm>
        </p:grpSpPr>
        <p:sp>
          <p:nvSpPr>
            <p:cNvPr id="14" name="Freeform 14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348067" y="1767713"/>
            <a:ext cx="3706451" cy="3402505"/>
            <a:chOff x="0" y="0"/>
            <a:chExt cx="4941934" cy="4536673"/>
          </a:xfrm>
        </p:grpSpPr>
        <p:grpSp>
          <p:nvGrpSpPr>
            <p:cNvPr id="16" name="Group 16"/>
            <p:cNvGrpSpPr/>
            <p:nvPr/>
          </p:nvGrpSpPr>
          <p:grpSpPr>
            <a:xfrm>
              <a:off x="413567" y="386250"/>
              <a:ext cx="4114800" cy="4150423"/>
              <a:chOff x="0" y="0"/>
              <a:chExt cx="812800" cy="81983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9837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9837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691896"/>
                    </a:lnTo>
                    <a:cubicBezTo>
                      <a:pt x="812800" y="725828"/>
                      <a:pt x="799321" y="758370"/>
                      <a:pt x="775327" y="782364"/>
                    </a:cubicBezTo>
                    <a:cubicBezTo>
                      <a:pt x="751333" y="806357"/>
                      <a:pt x="718791" y="819837"/>
                      <a:pt x="684859" y="819837"/>
                    </a:cubicBezTo>
                    <a:lnTo>
                      <a:pt x="127941" y="819837"/>
                    </a:lnTo>
                    <a:cubicBezTo>
                      <a:pt x="94009" y="819837"/>
                      <a:pt x="61467" y="806357"/>
                      <a:pt x="37473" y="782364"/>
                    </a:cubicBezTo>
                    <a:cubicBezTo>
                      <a:pt x="13479" y="758370"/>
                      <a:pt x="0" y="725828"/>
                      <a:pt x="0" y="691896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0070C0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9050"/>
                <a:ext cx="812800" cy="8388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just">
                  <a:lnSpc>
                    <a:spcPts val="1680"/>
                  </a:lnSpc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0" y="0"/>
              <a:ext cx="4941934" cy="1210774"/>
            </a:xfrm>
            <a:custGeom>
              <a:avLst/>
              <a:gdLst/>
              <a:ahLst/>
              <a:cxnLst/>
              <a:rect l="l" t="t" r="r" b="b"/>
              <a:pathLst>
                <a:path w="4941934" h="1210774">
                  <a:moveTo>
                    <a:pt x="0" y="0"/>
                  </a:moveTo>
                  <a:lnTo>
                    <a:pt x="4941934" y="0"/>
                  </a:lnTo>
                  <a:lnTo>
                    <a:pt x="4941934" y="1210774"/>
                  </a:lnTo>
                  <a:lnTo>
                    <a:pt x="0" y="1210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565795" y="11600"/>
              <a:ext cx="4114800" cy="730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6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REAL-TIME OPERATIONAL FEASIBILITY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8195" y="1052024"/>
              <a:ext cx="3213259" cy="298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1400" b="1" i="1">
                  <a:solidFill>
                    <a:srgbClr val="FFFFFF"/>
                  </a:solidFill>
                  <a:latin typeface="Arimo Bold Italics"/>
                  <a:ea typeface="Arimo Bold Italics"/>
                  <a:cs typeface="Arimo Bold Italics"/>
                  <a:sym typeface="Arimo Bold Italics"/>
                </a:rPr>
                <a:t>Can it respond fast enough?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843965" y="1767713"/>
            <a:ext cx="3706451" cy="3375787"/>
            <a:chOff x="0" y="0"/>
            <a:chExt cx="4941934" cy="4501050"/>
          </a:xfrm>
        </p:grpSpPr>
        <p:grpSp>
          <p:nvGrpSpPr>
            <p:cNvPr id="23" name="Group 23"/>
            <p:cNvGrpSpPr/>
            <p:nvPr/>
          </p:nvGrpSpPr>
          <p:grpSpPr>
            <a:xfrm>
              <a:off x="413567" y="386250"/>
              <a:ext cx="4114800" cy="4114800"/>
              <a:chOff x="0" y="0"/>
              <a:chExt cx="812800" cy="812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684859"/>
                    </a:lnTo>
                    <a:cubicBezTo>
                      <a:pt x="812800" y="718791"/>
                      <a:pt x="799321" y="751333"/>
                      <a:pt x="775327" y="775327"/>
                    </a:cubicBezTo>
                    <a:cubicBezTo>
                      <a:pt x="751333" y="799321"/>
                      <a:pt x="718791" y="812800"/>
                      <a:pt x="684859" y="812800"/>
                    </a:cubicBezTo>
                    <a:lnTo>
                      <a:pt x="127941" y="812800"/>
                    </a:lnTo>
                    <a:cubicBezTo>
                      <a:pt x="94009" y="812800"/>
                      <a:pt x="61467" y="799321"/>
                      <a:pt x="37473" y="775327"/>
                    </a:cubicBezTo>
                    <a:cubicBezTo>
                      <a:pt x="13479" y="751333"/>
                      <a:pt x="0" y="718791"/>
                      <a:pt x="0" y="684859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0070C0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19050"/>
                <a:ext cx="812800" cy="831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26" name="Freeform 26"/>
            <p:cNvSpPr/>
            <p:nvPr/>
          </p:nvSpPr>
          <p:spPr>
            <a:xfrm>
              <a:off x="0" y="0"/>
              <a:ext cx="4941934" cy="1210774"/>
            </a:xfrm>
            <a:custGeom>
              <a:avLst/>
              <a:gdLst/>
              <a:ahLst/>
              <a:cxnLst/>
              <a:rect l="l" t="t" r="r" b="b"/>
              <a:pathLst>
                <a:path w="4941934" h="1210774">
                  <a:moveTo>
                    <a:pt x="0" y="0"/>
                  </a:moveTo>
                  <a:lnTo>
                    <a:pt x="4941934" y="0"/>
                  </a:lnTo>
                  <a:lnTo>
                    <a:pt x="4941934" y="1210774"/>
                  </a:lnTo>
                  <a:lnTo>
                    <a:pt x="0" y="1210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565795" y="11600"/>
              <a:ext cx="4114800" cy="730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6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SCALABILITY &amp; DEPLOYMENT FEASIBILITY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8195" y="1052024"/>
              <a:ext cx="3213259" cy="298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1400" b="1" i="1">
                  <a:solidFill>
                    <a:srgbClr val="FFFFFF"/>
                  </a:solidFill>
                  <a:latin typeface="Arimo Bold Italics"/>
                  <a:ea typeface="Arimo Bold Italics"/>
                  <a:cs typeface="Arimo Bold Italics"/>
                  <a:sym typeface="Arimo Bold Italics"/>
                </a:rPr>
                <a:t>Can it grow city-wide?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375300" y="1767713"/>
            <a:ext cx="3706451" cy="3375787"/>
            <a:chOff x="0" y="0"/>
            <a:chExt cx="4941934" cy="4501050"/>
          </a:xfrm>
        </p:grpSpPr>
        <p:grpSp>
          <p:nvGrpSpPr>
            <p:cNvPr id="30" name="Group 30"/>
            <p:cNvGrpSpPr/>
            <p:nvPr/>
          </p:nvGrpSpPr>
          <p:grpSpPr>
            <a:xfrm>
              <a:off x="413567" y="386250"/>
              <a:ext cx="4114800" cy="4114800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684859"/>
                    </a:lnTo>
                    <a:cubicBezTo>
                      <a:pt x="812800" y="718791"/>
                      <a:pt x="799321" y="751333"/>
                      <a:pt x="775327" y="775327"/>
                    </a:cubicBezTo>
                    <a:cubicBezTo>
                      <a:pt x="751333" y="799321"/>
                      <a:pt x="718791" y="812800"/>
                      <a:pt x="684859" y="812800"/>
                    </a:cubicBezTo>
                    <a:lnTo>
                      <a:pt x="127941" y="812800"/>
                    </a:lnTo>
                    <a:cubicBezTo>
                      <a:pt x="94009" y="812800"/>
                      <a:pt x="61467" y="799321"/>
                      <a:pt x="37473" y="775327"/>
                    </a:cubicBezTo>
                    <a:cubicBezTo>
                      <a:pt x="13479" y="751333"/>
                      <a:pt x="0" y="718791"/>
                      <a:pt x="0" y="684859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0070C0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19050"/>
                <a:ext cx="812800" cy="831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33" name="Freeform 33"/>
            <p:cNvSpPr/>
            <p:nvPr/>
          </p:nvSpPr>
          <p:spPr>
            <a:xfrm>
              <a:off x="0" y="0"/>
              <a:ext cx="4941934" cy="1210774"/>
            </a:xfrm>
            <a:custGeom>
              <a:avLst/>
              <a:gdLst/>
              <a:ahLst/>
              <a:cxnLst/>
              <a:rect l="l" t="t" r="r" b="b"/>
              <a:pathLst>
                <a:path w="4941934" h="1210774">
                  <a:moveTo>
                    <a:pt x="0" y="0"/>
                  </a:moveTo>
                  <a:lnTo>
                    <a:pt x="4941934" y="0"/>
                  </a:lnTo>
                  <a:lnTo>
                    <a:pt x="4941934" y="1210774"/>
                  </a:lnTo>
                  <a:lnTo>
                    <a:pt x="0" y="1210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565795" y="11600"/>
              <a:ext cx="4114800" cy="730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6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REAL-WORLD VALIDATION FEASIBILITY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8195" y="1052024"/>
              <a:ext cx="3213259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1400" b="1" i="1">
                  <a:solidFill>
                    <a:srgbClr val="FFFFFF"/>
                  </a:solidFill>
                  <a:latin typeface="Arimo Bold Italics"/>
                  <a:ea typeface="Arimo Bold Italics"/>
                  <a:cs typeface="Arimo Bold Italics"/>
                  <a:sym typeface="Arimo Bold Italics"/>
                </a:rPr>
                <a:t>Has it been tested against realistic conditions?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3881713" y="1767713"/>
            <a:ext cx="3706451" cy="3375787"/>
            <a:chOff x="0" y="0"/>
            <a:chExt cx="4941934" cy="4501050"/>
          </a:xfrm>
        </p:grpSpPr>
        <p:grpSp>
          <p:nvGrpSpPr>
            <p:cNvPr id="37" name="Group 37"/>
            <p:cNvGrpSpPr/>
            <p:nvPr/>
          </p:nvGrpSpPr>
          <p:grpSpPr>
            <a:xfrm>
              <a:off x="413567" y="386250"/>
              <a:ext cx="4114800" cy="4114800"/>
              <a:chOff x="0" y="0"/>
              <a:chExt cx="812800" cy="812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684859"/>
                    </a:lnTo>
                    <a:cubicBezTo>
                      <a:pt x="812800" y="718791"/>
                      <a:pt x="799321" y="751333"/>
                      <a:pt x="775327" y="775327"/>
                    </a:cubicBezTo>
                    <a:cubicBezTo>
                      <a:pt x="751333" y="799321"/>
                      <a:pt x="718791" y="812800"/>
                      <a:pt x="684859" y="812800"/>
                    </a:cubicBezTo>
                    <a:lnTo>
                      <a:pt x="127941" y="812800"/>
                    </a:lnTo>
                    <a:cubicBezTo>
                      <a:pt x="94009" y="812800"/>
                      <a:pt x="61467" y="799321"/>
                      <a:pt x="37473" y="775327"/>
                    </a:cubicBezTo>
                    <a:cubicBezTo>
                      <a:pt x="13479" y="751333"/>
                      <a:pt x="0" y="718791"/>
                      <a:pt x="0" y="684859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0070C0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0" y="-19050"/>
                <a:ext cx="812800" cy="831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40" name="Freeform 40"/>
            <p:cNvSpPr/>
            <p:nvPr/>
          </p:nvSpPr>
          <p:spPr>
            <a:xfrm>
              <a:off x="0" y="0"/>
              <a:ext cx="4941934" cy="1210774"/>
            </a:xfrm>
            <a:custGeom>
              <a:avLst/>
              <a:gdLst/>
              <a:ahLst/>
              <a:cxnLst/>
              <a:rect l="l" t="t" r="r" b="b"/>
              <a:pathLst>
                <a:path w="4941934" h="1210774">
                  <a:moveTo>
                    <a:pt x="0" y="0"/>
                  </a:moveTo>
                  <a:lnTo>
                    <a:pt x="4941934" y="0"/>
                  </a:lnTo>
                  <a:lnTo>
                    <a:pt x="4941934" y="1210774"/>
                  </a:lnTo>
                  <a:lnTo>
                    <a:pt x="0" y="1210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565795" y="11600"/>
              <a:ext cx="4114800" cy="730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6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RISK-RESILIENT SYSTEM DESIGN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8195" y="1052024"/>
              <a:ext cx="3213259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1400" b="1" i="1">
                  <a:solidFill>
                    <a:srgbClr val="FFFFFF"/>
                  </a:solidFill>
                  <a:latin typeface="Arimo Bold Italics"/>
                  <a:ea typeface="Arimo Bold Italics"/>
                  <a:cs typeface="Arimo Bold Italics"/>
                  <a:sym typeface="Arimo Bold Italics"/>
                </a:rPr>
                <a:t>Can it handle imperfect conditions?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476841" y="5296136"/>
            <a:ext cx="1609041" cy="1609041"/>
            <a:chOff x="0" y="0"/>
            <a:chExt cx="812800" cy="812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 l="-123597" r="-2671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45" name="Freeform 45"/>
          <p:cNvSpPr/>
          <p:nvPr/>
        </p:nvSpPr>
        <p:spPr>
          <a:xfrm>
            <a:off x="2992842" y="6046971"/>
            <a:ext cx="497143" cy="139200"/>
          </a:xfrm>
          <a:custGeom>
            <a:avLst/>
            <a:gdLst/>
            <a:ahLst/>
            <a:cxnLst/>
            <a:rect l="l" t="t" r="r" b="b"/>
            <a:pathLst>
              <a:path w="497143" h="139200">
                <a:moveTo>
                  <a:pt x="0" y="0"/>
                </a:moveTo>
                <a:lnTo>
                  <a:pt x="497143" y="0"/>
                </a:lnTo>
                <a:lnTo>
                  <a:pt x="497143" y="139200"/>
                </a:lnTo>
                <a:lnTo>
                  <a:pt x="0" y="1392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7075121" y="6072410"/>
            <a:ext cx="430339" cy="120495"/>
          </a:xfrm>
          <a:custGeom>
            <a:avLst/>
            <a:gdLst/>
            <a:ahLst/>
            <a:cxnLst/>
            <a:rect l="l" t="t" r="r" b="b"/>
            <a:pathLst>
              <a:path w="430339" h="120495">
                <a:moveTo>
                  <a:pt x="0" y="0"/>
                </a:moveTo>
                <a:lnTo>
                  <a:pt x="430339" y="0"/>
                </a:lnTo>
                <a:lnTo>
                  <a:pt x="430339" y="120495"/>
                </a:lnTo>
                <a:lnTo>
                  <a:pt x="0" y="1204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47" name="Group 47"/>
          <p:cNvGrpSpPr/>
          <p:nvPr/>
        </p:nvGrpSpPr>
        <p:grpSpPr>
          <a:xfrm>
            <a:off x="5333531" y="5541256"/>
            <a:ext cx="1967795" cy="1180304"/>
            <a:chOff x="0" y="0"/>
            <a:chExt cx="582488" cy="349383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82488" cy="349383"/>
            </a:xfrm>
            <a:custGeom>
              <a:avLst/>
              <a:gdLst/>
              <a:ahLst/>
              <a:cxnLst/>
              <a:rect l="l" t="t" r="r" b="b"/>
              <a:pathLst>
                <a:path w="582488" h="349383">
                  <a:moveTo>
                    <a:pt x="76842" y="0"/>
                  </a:moveTo>
                  <a:lnTo>
                    <a:pt x="505646" y="0"/>
                  </a:lnTo>
                  <a:cubicBezTo>
                    <a:pt x="526026" y="0"/>
                    <a:pt x="545571" y="8096"/>
                    <a:pt x="559982" y="22507"/>
                  </a:cubicBezTo>
                  <a:cubicBezTo>
                    <a:pt x="574392" y="36917"/>
                    <a:pt x="582488" y="56462"/>
                    <a:pt x="582488" y="76842"/>
                  </a:cubicBezTo>
                  <a:lnTo>
                    <a:pt x="582488" y="272541"/>
                  </a:lnTo>
                  <a:cubicBezTo>
                    <a:pt x="582488" y="292920"/>
                    <a:pt x="574392" y="312465"/>
                    <a:pt x="559982" y="326876"/>
                  </a:cubicBezTo>
                  <a:cubicBezTo>
                    <a:pt x="545571" y="341287"/>
                    <a:pt x="526026" y="349383"/>
                    <a:pt x="505646" y="349383"/>
                  </a:cubicBezTo>
                  <a:lnTo>
                    <a:pt x="76842" y="349383"/>
                  </a:lnTo>
                  <a:cubicBezTo>
                    <a:pt x="56462" y="349383"/>
                    <a:pt x="36917" y="341287"/>
                    <a:pt x="22507" y="326876"/>
                  </a:cubicBezTo>
                  <a:cubicBezTo>
                    <a:pt x="8096" y="312465"/>
                    <a:pt x="0" y="292920"/>
                    <a:pt x="0" y="272541"/>
                  </a:cubicBezTo>
                  <a:lnTo>
                    <a:pt x="0" y="76842"/>
                  </a:lnTo>
                  <a:cubicBezTo>
                    <a:pt x="0" y="56462"/>
                    <a:pt x="8096" y="36917"/>
                    <a:pt x="22507" y="22507"/>
                  </a:cubicBezTo>
                  <a:cubicBezTo>
                    <a:pt x="36917" y="8096"/>
                    <a:pt x="56462" y="0"/>
                    <a:pt x="7684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D0E2F7"/>
              </a:solidFill>
              <a:prstDash val="solid"/>
              <a:round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582488" cy="368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50" name="Freeform 50"/>
          <p:cNvSpPr/>
          <p:nvPr/>
        </p:nvSpPr>
        <p:spPr>
          <a:xfrm>
            <a:off x="5010671" y="6079977"/>
            <a:ext cx="322860" cy="90401"/>
          </a:xfrm>
          <a:custGeom>
            <a:avLst/>
            <a:gdLst/>
            <a:ahLst/>
            <a:cxnLst/>
            <a:rect l="l" t="t" r="r" b="b"/>
            <a:pathLst>
              <a:path w="322860" h="90401">
                <a:moveTo>
                  <a:pt x="0" y="0"/>
                </a:moveTo>
                <a:lnTo>
                  <a:pt x="322860" y="0"/>
                </a:lnTo>
                <a:lnTo>
                  <a:pt x="322860" y="90401"/>
                </a:lnTo>
                <a:lnTo>
                  <a:pt x="0" y="904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51" name="Group 51"/>
          <p:cNvGrpSpPr/>
          <p:nvPr/>
        </p:nvGrpSpPr>
        <p:grpSpPr>
          <a:xfrm>
            <a:off x="6634118" y="7914683"/>
            <a:ext cx="3289255" cy="571367"/>
            <a:chOff x="0" y="0"/>
            <a:chExt cx="744715" cy="12936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744715" cy="129362"/>
            </a:xfrm>
            <a:custGeom>
              <a:avLst/>
              <a:gdLst/>
              <a:ahLst/>
              <a:cxnLst/>
              <a:rect l="l" t="t" r="r" b="b"/>
              <a:pathLst>
                <a:path w="744715" h="129362">
                  <a:moveTo>
                    <a:pt x="45971" y="0"/>
                  </a:moveTo>
                  <a:lnTo>
                    <a:pt x="698745" y="0"/>
                  </a:lnTo>
                  <a:cubicBezTo>
                    <a:pt x="710937" y="0"/>
                    <a:pt x="722630" y="4843"/>
                    <a:pt x="731251" y="13465"/>
                  </a:cubicBezTo>
                  <a:cubicBezTo>
                    <a:pt x="739872" y="22086"/>
                    <a:pt x="744715" y="33779"/>
                    <a:pt x="744715" y="45971"/>
                  </a:cubicBezTo>
                  <a:lnTo>
                    <a:pt x="744715" y="83392"/>
                  </a:lnTo>
                  <a:cubicBezTo>
                    <a:pt x="744715" y="108780"/>
                    <a:pt x="724133" y="129362"/>
                    <a:pt x="698745" y="129362"/>
                  </a:cubicBezTo>
                  <a:lnTo>
                    <a:pt x="45971" y="129362"/>
                  </a:lnTo>
                  <a:cubicBezTo>
                    <a:pt x="33779" y="129362"/>
                    <a:pt x="22086" y="124519"/>
                    <a:pt x="13465" y="115898"/>
                  </a:cubicBezTo>
                  <a:cubicBezTo>
                    <a:pt x="4843" y="107277"/>
                    <a:pt x="0" y="95584"/>
                    <a:pt x="0" y="83392"/>
                  </a:cubicBezTo>
                  <a:lnTo>
                    <a:pt x="0" y="45971"/>
                  </a:lnTo>
                  <a:cubicBezTo>
                    <a:pt x="0" y="33779"/>
                    <a:pt x="4843" y="22086"/>
                    <a:pt x="13465" y="13465"/>
                  </a:cubicBezTo>
                  <a:cubicBezTo>
                    <a:pt x="22086" y="4843"/>
                    <a:pt x="33779" y="0"/>
                    <a:pt x="45971" y="0"/>
                  </a:cubicBezTo>
                  <a:close/>
                </a:path>
              </a:pathLst>
            </a:custGeom>
            <a:solidFill>
              <a:srgbClr val="E4E7D5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0" y="-19050"/>
              <a:ext cx="744715" cy="1484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54" name="Freeform 54"/>
          <p:cNvSpPr/>
          <p:nvPr/>
        </p:nvSpPr>
        <p:spPr>
          <a:xfrm>
            <a:off x="9435454" y="7587866"/>
            <a:ext cx="1032055" cy="326818"/>
          </a:xfrm>
          <a:custGeom>
            <a:avLst/>
            <a:gdLst/>
            <a:ahLst/>
            <a:cxnLst/>
            <a:rect l="l" t="t" r="r" b="b"/>
            <a:pathLst>
              <a:path w="1032055" h="326818">
                <a:moveTo>
                  <a:pt x="0" y="326818"/>
                </a:moveTo>
                <a:lnTo>
                  <a:pt x="0" y="163409"/>
                </a:lnTo>
                <a:cubicBezTo>
                  <a:pt x="0" y="73160"/>
                  <a:pt x="73161" y="0"/>
                  <a:pt x="163410" y="0"/>
                </a:cubicBezTo>
                <a:lnTo>
                  <a:pt x="1010973" y="0"/>
                </a:lnTo>
                <a:cubicBezTo>
                  <a:pt x="1022616" y="0"/>
                  <a:pt x="1032055" y="9438"/>
                  <a:pt x="1032055" y="21082"/>
                </a:cubicBezTo>
                <a:lnTo>
                  <a:pt x="1032055" y="42164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5" name="Freeform 55"/>
          <p:cNvSpPr/>
          <p:nvPr/>
        </p:nvSpPr>
        <p:spPr>
          <a:xfrm>
            <a:off x="9435454" y="8486050"/>
            <a:ext cx="1032055" cy="318958"/>
          </a:xfrm>
          <a:custGeom>
            <a:avLst/>
            <a:gdLst/>
            <a:ahLst/>
            <a:cxnLst/>
            <a:rect l="l" t="t" r="r" b="b"/>
            <a:pathLst>
              <a:path w="1032055" h="318958">
                <a:moveTo>
                  <a:pt x="0" y="0"/>
                </a:moveTo>
                <a:lnTo>
                  <a:pt x="0" y="159480"/>
                </a:lnTo>
                <a:cubicBezTo>
                  <a:pt x="0" y="201776"/>
                  <a:pt x="16802" y="242340"/>
                  <a:pt x="46711" y="272248"/>
                </a:cubicBezTo>
                <a:cubicBezTo>
                  <a:pt x="76619" y="302156"/>
                  <a:pt x="117183" y="318958"/>
                  <a:pt x="159480" y="318958"/>
                </a:cubicBezTo>
                <a:lnTo>
                  <a:pt x="1032055" y="318958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6" name="Freeform 56"/>
          <p:cNvSpPr/>
          <p:nvPr/>
        </p:nvSpPr>
        <p:spPr>
          <a:xfrm>
            <a:off x="5969653" y="8486050"/>
            <a:ext cx="907612" cy="318958"/>
          </a:xfrm>
          <a:custGeom>
            <a:avLst/>
            <a:gdLst/>
            <a:ahLst/>
            <a:cxnLst/>
            <a:rect l="l" t="t" r="r" b="b"/>
            <a:pathLst>
              <a:path w="907612" h="318958">
                <a:moveTo>
                  <a:pt x="907612" y="0"/>
                </a:moveTo>
                <a:lnTo>
                  <a:pt x="907612" y="159480"/>
                </a:lnTo>
                <a:cubicBezTo>
                  <a:pt x="907612" y="201776"/>
                  <a:pt x="890810" y="242340"/>
                  <a:pt x="860902" y="272248"/>
                </a:cubicBezTo>
                <a:cubicBezTo>
                  <a:pt x="830994" y="302156"/>
                  <a:pt x="790430" y="318958"/>
                  <a:pt x="748134" y="318958"/>
                </a:cubicBezTo>
                <a:lnTo>
                  <a:pt x="0" y="318958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7" name="Freeform 57"/>
          <p:cNvSpPr/>
          <p:nvPr/>
        </p:nvSpPr>
        <p:spPr>
          <a:xfrm>
            <a:off x="5917668" y="7724660"/>
            <a:ext cx="959598" cy="190024"/>
          </a:xfrm>
          <a:custGeom>
            <a:avLst/>
            <a:gdLst/>
            <a:ahLst/>
            <a:cxnLst/>
            <a:rect l="l" t="t" r="r" b="b"/>
            <a:pathLst>
              <a:path w="959598" h="190024">
                <a:moveTo>
                  <a:pt x="959597" y="190024"/>
                </a:moveTo>
                <a:lnTo>
                  <a:pt x="959597" y="120658"/>
                </a:lnTo>
                <a:cubicBezTo>
                  <a:pt x="959597" y="102261"/>
                  <a:pt x="952289" y="84617"/>
                  <a:pt x="939281" y="71608"/>
                </a:cubicBezTo>
                <a:cubicBezTo>
                  <a:pt x="926272" y="58600"/>
                  <a:pt x="908629" y="51292"/>
                  <a:pt x="890232" y="51292"/>
                </a:cubicBezTo>
                <a:lnTo>
                  <a:pt x="25646" y="51292"/>
                </a:lnTo>
                <a:cubicBezTo>
                  <a:pt x="18844" y="51292"/>
                  <a:pt x="12321" y="48590"/>
                  <a:pt x="7511" y="43780"/>
                </a:cubicBezTo>
                <a:cubicBezTo>
                  <a:pt x="2702" y="38971"/>
                  <a:pt x="0" y="32447"/>
                  <a:pt x="0" y="25646"/>
                </a:cubicBezTo>
                <a:lnTo>
                  <a:pt x="0" y="0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8" name="Group 58"/>
          <p:cNvGrpSpPr/>
          <p:nvPr/>
        </p:nvGrpSpPr>
        <p:grpSpPr>
          <a:xfrm>
            <a:off x="10008591" y="7157287"/>
            <a:ext cx="3524525" cy="1043079"/>
            <a:chOff x="0" y="0"/>
            <a:chExt cx="702004" cy="207757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702004" cy="207757"/>
            </a:xfrm>
            <a:custGeom>
              <a:avLst/>
              <a:gdLst/>
              <a:ahLst/>
              <a:cxnLst/>
              <a:rect l="l" t="t" r="r" b="b"/>
              <a:pathLst>
                <a:path w="702004" h="207757">
                  <a:moveTo>
                    <a:pt x="42902" y="0"/>
                  </a:moveTo>
                  <a:lnTo>
                    <a:pt x="659102" y="0"/>
                  </a:lnTo>
                  <a:cubicBezTo>
                    <a:pt x="682796" y="0"/>
                    <a:pt x="702004" y="19208"/>
                    <a:pt x="702004" y="42902"/>
                  </a:cubicBezTo>
                  <a:lnTo>
                    <a:pt x="702004" y="164855"/>
                  </a:lnTo>
                  <a:cubicBezTo>
                    <a:pt x="702004" y="188549"/>
                    <a:pt x="682796" y="207757"/>
                    <a:pt x="659102" y="207757"/>
                  </a:cubicBezTo>
                  <a:lnTo>
                    <a:pt x="42902" y="207757"/>
                  </a:lnTo>
                  <a:cubicBezTo>
                    <a:pt x="19208" y="207757"/>
                    <a:pt x="0" y="188549"/>
                    <a:pt x="0" y="164855"/>
                  </a:cubicBezTo>
                  <a:lnTo>
                    <a:pt x="0" y="42902"/>
                  </a:lnTo>
                  <a:cubicBezTo>
                    <a:pt x="0" y="19208"/>
                    <a:pt x="19208" y="0"/>
                    <a:pt x="42902" y="0"/>
                  </a:cubicBezTo>
                  <a:close/>
                </a:path>
              </a:pathLst>
            </a:custGeom>
            <a:solidFill>
              <a:srgbClr val="D0E2F7"/>
            </a:solidFill>
            <a:ln w="38100" cap="rnd">
              <a:solidFill>
                <a:srgbClr val="AFD8F8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19050"/>
              <a:ext cx="702004" cy="2268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2122309" y="7171877"/>
            <a:ext cx="3795359" cy="1105565"/>
            <a:chOff x="0" y="0"/>
            <a:chExt cx="635000" cy="184972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635000" cy="184972"/>
            </a:xfrm>
            <a:custGeom>
              <a:avLst/>
              <a:gdLst/>
              <a:ahLst/>
              <a:cxnLst/>
              <a:rect l="l" t="t" r="r" b="b"/>
              <a:pathLst>
                <a:path w="635000" h="184972">
                  <a:moveTo>
                    <a:pt x="39841" y="0"/>
                  </a:moveTo>
                  <a:lnTo>
                    <a:pt x="595159" y="0"/>
                  </a:lnTo>
                  <a:cubicBezTo>
                    <a:pt x="605726" y="0"/>
                    <a:pt x="615859" y="4197"/>
                    <a:pt x="623331" y="11669"/>
                  </a:cubicBezTo>
                  <a:cubicBezTo>
                    <a:pt x="630803" y="19141"/>
                    <a:pt x="635000" y="29274"/>
                    <a:pt x="635000" y="39841"/>
                  </a:cubicBezTo>
                  <a:lnTo>
                    <a:pt x="635000" y="145131"/>
                  </a:lnTo>
                  <a:cubicBezTo>
                    <a:pt x="635000" y="167134"/>
                    <a:pt x="617163" y="184972"/>
                    <a:pt x="595159" y="184972"/>
                  </a:cubicBezTo>
                  <a:lnTo>
                    <a:pt x="39841" y="184972"/>
                  </a:lnTo>
                  <a:cubicBezTo>
                    <a:pt x="29274" y="184972"/>
                    <a:pt x="19141" y="180774"/>
                    <a:pt x="11669" y="173303"/>
                  </a:cubicBezTo>
                  <a:cubicBezTo>
                    <a:pt x="4197" y="165831"/>
                    <a:pt x="0" y="155697"/>
                    <a:pt x="0" y="145131"/>
                  </a:cubicBezTo>
                  <a:lnTo>
                    <a:pt x="0" y="39841"/>
                  </a:lnTo>
                  <a:cubicBezTo>
                    <a:pt x="0" y="29274"/>
                    <a:pt x="4197" y="19141"/>
                    <a:pt x="11669" y="11669"/>
                  </a:cubicBezTo>
                  <a:cubicBezTo>
                    <a:pt x="19141" y="4197"/>
                    <a:pt x="29274" y="0"/>
                    <a:pt x="39841" y="0"/>
                  </a:cubicBezTo>
                  <a:close/>
                </a:path>
              </a:pathLst>
            </a:custGeom>
            <a:solidFill>
              <a:srgbClr val="D0E2F7"/>
            </a:solidFill>
            <a:ln w="38100" cap="rnd">
              <a:solidFill>
                <a:srgbClr val="AFD8F8"/>
              </a:solidFill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19050"/>
              <a:ext cx="635000" cy="2040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2102542" y="8401267"/>
            <a:ext cx="3867111" cy="983373"/>
            <a:chOff x="0" y="0"/>
            <a:chExt cx="898764" cy="22854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898764" cy="228548"/>
            </a:xfrm>
            <a:custGeom>
              <a:avLst/>
              <a:gdLst/>
              <a:ahLst/>
              <a:cxnLst/>
              <a:rect l="l" t="t" r="r" b="b"/>
              <a:pathLst>
                <a:path w="898764" h="228548">
                  <a:moveTo>
                    <a:pt x="39101" y="0"/>
                  </a:moveTo>
                  <a:lnTo>
                    <a:pt x="859663" y="0"/>
                  </a:lnTo>
                  <a:cubicBezTo>
                    <a:pt x="881258" y="0"/>
                    <a:pt x="898764" y="17506"/>
                    <a:pt x="898764" y="39101"/>
                  </a:cubicBezTo>
                  <a:lnTo>
                    <a:pt x="898764" y="189447"/>
                  </a:lnTo>
                  <a:cubicBezTo>
                    <a:pt x="898764" y="199817"/>
                    <a:pt x="894645" y="209763"/>
                    <a:pt x="887312" y="217096"/>
                  </a:cubicBezTo>
                  <a:cubicBezTo>
                    <a:pt x="879979" y="224429"/>
                    <a:pt x="870033" y="228548"/>
                    <a:pt x="859663" y="228548"/>
                  </a:cubicBezTo>
                  <a:lnTo>
                    <a:pt x="39101" y="228548"/>
                  </a:lnTo>
                  <a:cubicBezTo>
                    <a:pt x="28731" y="228548"/>
                    <a:pt x="18785" y="224429"/>
                    <a:pt x="11453" y="217096"/>
                  </a:cubicBezTo>
                  <a:cubicBezTo>
                    <a:pt x="4120" y="209763"/>
                    <a:pt x="0" y="199817"/>
                    <a:pt x="0" y="189447"/>
                  </a:cubicBezTo>
                  <a:lnTo>
                    <a:pt x="0" y="39101"/>
                  </a:lnTo>
                  <a:cubicBezTo>
                    <a:pt x="0" y="28731"/>
                    <a:pt x="4120" y="18785"/>
                    <a:pt x="11453" y="11453"/>
                  </a:cubicBezTo>
                  <a:cubicBezTo>
                    <a:pt x="18785" y="4120"/>
                    <a:pt x="28731" y="0"/>
                    <a:pt x="39101" y="0"/>
                  </a:cubicBezTo>
                  <a:close/>
                </a:path>
              </a:pathLst>
            </a:custGeom>
            <a:solidFill>
              <a:srgbClr val="D0E2F7"/>
            </a:solidFill>
            <a:ln w="38100" cap="rnd">
              <a:solidFill>
                <a:srgbClr val="AFD8F8"/>
              </a:solidFill>
              <a:prstDash val="solid"/>
              <a:round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0" y="-19050"/>
              <a:ext cx="898764" cy="2475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0075773" y="8314667"/>
            <a:ext cx="3360468" cy="1069033"/>
            <a:chOff x="0" y="0"/>
            <a:chExt cx="683086" cy="217304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683087" cy="217304"/>
            </a:xfrm>
            <a:custGeom>
              <a:avLst/>
              <a:gdLst/>
              <a:ahLst/>
              <a:cxnLst/>
              <a:rect l="l" t="t" r="r" b="b"/>
              <a:pathLst>
                <a:path w="683087" h="217304">
                  <a:moveTo>
                    <a:pt x="44997" y="0"/>
                  </a:moveTo>
                  <a:lnTo>
                    <a:pt x="638090" y="0"/>
                  </a:lnTo>
                  <a:cubicBezTo>
                    <a:pt x="650024" y="0"/>
                    <a:pt x="661469" y="4741"/>
                    <a:pt x="669907" y="13179"/>
                  </a:cubicBezTo>
                  <a:cubicBezTo>
                    <a:pt x="678346" y="21618"/>
                    <a:pt x="683087" y="33063"/>
                    <a:pt x="683087" y="44997"/>
                  </a:cubicBezTo>
                  <a:lnTo>
                    <a:pt x="683087" y="172307"/>
                  </a:lnTo>
                  <a:cubicBezTo>
                    <a:pt x="683087" y="197158"/>
                    <a:pt x="662941" y="217304"/>
                    <a:pt x="638090" y="217304"/>
                  </a:cubicBezTo>
                  <a:lnTo>
                    <a:pt x="44997" y="217304"/>
                  </a:lnTo>
                  <a:cubicBezTo>
                    <a:pt x="20146" y="217304"/>
                    <a:pt x="0" y="197158"/>
                    <a:pt x="0" y="172307"/>
                  </a:cubicBezTo>
                  <a:lnTo>
                    <a:pt x="0" y="44997"/>
                  </a:lnTo>
                  <a:cubicBezTo>
                    <a:pt x="0" y="20146"/>
                    <a:pt x="20146" y="0"/>
                    <a:pt x="44997" y="0"/>
                  </a:cubicBezTo>
                  <a:close/>
                </a:path>
              </a:pathLst>
            </a:custGeom>
            <a:solidFill>
              <a:srgbClr val="D0E2F7"/>
            </a:solidFill>
            <a:ln w="38100" cap="rnd">
              <a:solidFill>
                <a:srgbClr val="AFD8F8"/>
              </a:solidFill>
              <a:prstDash val="solid"/>
              <a:round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0" y="-19050"/>
              <a:ext cx="683086" cy="2363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70" name="Freeform 70"/>
          <p:cNvSpPr/>
          <p:nvPr/>
        </p:nvSpPr>
        <p:spPr>
          <a:xfrm>
            <a:off x="13579211" y="8728428"/>
            <a:ext cx="824365" cy="375727"/>
          </a:xfrm>
          <a:custGeom>
            <a:avLst/>
            <a:gdLst/>
            <a:ahLst/>
            <a:cxnLst/>
            <a:rect l="l" t="t" r="r" b="b"/>
            <a:pathLst>
              <a:path w="824365" h="375727">
                <a:moveTo>
                  <a:pt x="0" y="0"/>
                </a:moveTo>
                <a:lnTo>
                  <a:pt x="194668" y="0"/>
                </a:lnTo>
                <a:cubicBezTo>
                  <a:pt x="244491" y="0"/>
                  <a:pt x="292276" y="19793"/>
                  <a:pt x="327506" y="55024"/>
                </a:cubicBezTo>
                <a:cubicBezTo>
                  <a:pt x="362738" y="90255"/>
                  <a:pt x="382531" y="138039"/>
                  <a:pt x="382531" y="187864"/>
                </a:cubicBezTo>
                <a:lnTo>
                  <a:pt x="382531" y="187864"/>
                </a:lnTo>
                <a:cubicBezTo>
                  <a:pt x="382531" y="237689"/>
                  <a:pt x="402323" y="285473"/>
                  <a:pt x="437555" y="320704"/>
                </a:cubicBezTo>
                <a:cubicBezTo>
                  <a:pt x="472786" y="355935"/>
                  <a:pt x="520570" y="375728"/>
                  <a:pt x="570395" y="375728"/>
                </a:cubicBezTo>
                <a:lnTo>
                  <a:pt x="824366" y="375728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1" name="Group 71"/>
          <p:cNvGrpSpPr/>
          <p:nvPr/>
        </p:nvGrpSpPr>
        <p:grpSpPr>
          <a:xfrm>
            <a:off x="14403577" y="7305234"/>
            <a:ext cx="2623680" cy="2101895"/>
            <a:chOff x="0" y="0"/>
            <a:chExt cx="594023" cy="475887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594023" cy="475887"/>
            </a:xfrm>
            <a:custGeom>
              <a:avLst/>
              <a:gdLst/>
              <a:ahLst/>
              <a:cxnLst/>
              <a:rect l="l" t="t" r="r" b="b"/>
              <a:pathLst>
                <a:path w="594023" h="475887">
                  <a:moveTo>
                    <a:pt x="57633" y="0"/>
                  </a:moveTo>
                  <a:lnTo>
                    <a:pt x="536391" y="0"/>
                  </a:lnTo>
                  <a:cubicBezTo>
                    <a:pt x="551676" y="0"/>
                    <a:pt x="566335" y="6072"/>
                    <a:pt x="577143" y="16880"/>
                  </a:cubicBezTo>
                  <a:cubicBezTo>
                    <a:pt x="587951" y="27688"/>
                    <a:pt x="594023" y="42347"/>
                    <a:pt x="594023" y="57633"/>
                  </a:cubicBezTo>
                  <a:lnTo>
                    <a:pt x="594023" y="418254"/>
                  </a:lnTo>
                  <a:cubicBezTo>
                    <a:pt x="594023" y="433539"/>
                    <a:pt x="587951" y="448199"/>
                    <a:pt x="577143" y="459007"/>
                  </a:cubicBezTo>
                  <a:cubicBezTo>
                    <a:pt x="566335" y="469815"/>
                    <a:pt x="551676" y="475887"/>
                    <a:pt x="536391" y="475887"/>
                  </a:cubicBezTo>
                  <a:lnTo>
                    <a:pt x="57633" y="475887"/>
                  </a:lnTo>
                  <a:cubicBezTo>
                    <a:pt x="42347" y="475887"/>
                    <a:pt x="27688" y="469815"/>
                    <a:pt x="16880" y="459007"/>
                  </a:cubicBezTo>
                  <a:cubicBezTo>
                    <a:pt x="6072" y="448199"/>
                    <a:pt x="0" y="433539"/>
                    <a:pt x="0" y="418254"/>
                  </a:cubicBezTo>
                  <a:lnTo>
                    <a:pt x="0" y="57633"/>
                  </a:lnTo>
                  <a:cubicBezTo>
                    <a:pt x="0" y="42347"/>
                    <a:pt x="6072" y="27688"/>
                    <a:pt x="16880" y="16880"/>
                  </a:cubicBezTo>
                  <a:cubicBezTo>
                    <a:pt x="27688" y="6072"/>
                    <a:pt x="42347" y="0"/>
                    <a:pt x="57633" y="0"/>
                  </a:cubicBezTo>
                  <a:close/>
                </a:path>
              </a:pathLst>
            </a:custGeom>
            <a:solidFill>
              <a:srgbClr val="D0E2F7"/>
            </a:solidFill>
            <a:ln w="38100" cap="rnd">
              <a:solidFill>
                <a:srgbClr val="0070C0"/>
              </a:solidFill>
              <a:prstDash val="solid"/>
              <a:round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0" y="-19050"/>
              <a:ext cx="594023" cy="4949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824067" y="9620767"/>
            <a:ext cx="4806001" cy="547688"/>
            <a:chOff x="0" y="0"/>
            <a:chExt cx="6408001" cy="73025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Team: Baazigars | SIH26127</a:t>
              </a:r>
            </a:p>
          </p:txBody>
        </p:sp>
      </p:grpSp>
      <p:sp>
        <p:nvSpPr>
          <p:cNvPr id="77" name="Freeform 77"/>
          <p:cNvSpPr/>
          <p:nvPr/>
        </p:nvSpPr>
        <p:spPr>
          <a:xfrm>
            <a:off x="100611" y="5314501"/>
            <a:ext cx="3061904" cy="1530952"/>
          </a:xfrm>
          <a:custGeom>
            <a:avLst/>
            <a:gdLst/>
            <a:ahLst/>
            <a:cxnLst/>
            <a:rect l="l" t="t" r="r" b="b"/>
            <a:pathLst>
              <a:path w="3061904" h="1530952">
                <a:moveTo>
                  <a:pt x="0" y="0"/>
                </a:moveTo>
                <a:lnTo>
                  <a:pt x="3061905" y="0"/>
                </a:lnTo>
                <a:lnTo>
                  <a:pt x="3061905" y="1530952"/>
                </a:lnTo>
                <a:lnTo>
                  <a:pt x="0" y="153095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id="78" name="Freeform 78"/>
          <p:cNvSpPr/>
          <p:nvPr/>
        </p:nvSpPr>
        <p:spPr>
          <a:xfrm>
            <a:off x="10804249" y="6068575"/>
            <a:ext cx="424277" cy="118797"/>
          </a:xfrm>
          <a:custGeom>
            <a:avLst/>
            <a:gdLst/>
            <a:ahLst/>
            <a:cxnLst/>
            <a:rect l="l" t="t" r="r" b="b"/>
            <a:pathLst>
              <a:path w="424277" h="118797">
                <a:moveTo>
                  <a:pt x="0" y="0"/>
                </a:moveTo>
                <a:lnTo>
                  <a:pt x="424277" y="0"/>
                </a:lnTo>
                <a:lnTo>
                  <a:pt x="424277" y="118797"/>
                </a:lnTo>
                <a:lnTo>
                  <a:pt x="0" y="1187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9" name="Freeform 79"/>
          <p:cNvSpPr/>
          <p:nvPr/>
        </p:nvSpPr>
        <p:spPr>
          <a:xfrm>
            <a:off x="7463252" y="5256167"/>
            <a:ext cx="3573640" cy="1786820"/>
          </a:xfrm>
          <a:custGeom>
            <a:avLst/>
            <a:gdLst/>
            <a:ahLst/>
            <a:cxnLst/>
            <a:rect l="l" t="t" r="r" b="b"/>
            <a:pathLst>
              <a:path w="3573640" h="1786820">
                <a:moveTo>
                  <a:pt x="0" y="0"/>
                </a:moveTo>
                <a:lnTo>
                  <a:pt x="3573640" y="0"/>
                </a:lnTo>
                <a:lnTo>
                  <a:pt x="3573640" y="1786820"/>
                </a:lnTo>
                <a:lnTo>
                  <a:pt x="0" y="178682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id="80" name="Freeform 80"/>
          <p:cNvSpPr/>
          <p:nvPr/>
        </p:nvSpPr>
        <p:spPr>
          <a:xfrm>
            <a:off x="14367626" y="6020579"/>
            <a:ext cx="342829" cy="95992"/>
          </a:xfrm>
          <a:custGeom>
            <a:avLst/>
            <a:gdLst/>
            <a:ahLst/>
            <a:cxnLst/>
            <a:rect l="l" t="t" r="r" b="b"/>
            <a:pathLst>
              <a:path w="342829" h="95992">
                <a:moveTo>
                  <a:pt x="0" y="0"/>
                </a:moveTo>
                <a:lnTo>
                  <a:pt x="342829" y="0"/>
                </a:lnTo>
                <a:lnTo>
                  <a:pt x="342829" y="95992"/>
                </a:lnTo>
                <a:lnTo>
                  <a:pt x="0" y="959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1" name="Freeform 81"/>
          <p:cNvSpPr/>
          <p:nvPr/>
        </p:nvSpPr>
        <p:spPr>
          <a:xfrm>
            <a:off x="11173171" y="5268198"/>
            <a:ext cx="3365870" cy="1682935"/>
          </a:xfrm>
          <a:custGeom>
            <a:avLst/>
            <a:gdLst/>
            <a:ahLst/>
            <a:cxnLst/>
            <a:rect l="l" t="t" r="r" b="b"/>
            <a:pathLst>
              <a:path w="3365870" h="1682935">
                <a:moveTo>
                  <a:pt x="0" y="0"/>
                </a:moveTo>
                <a:lnTo>
                  <a:pt x="3365870" y="0"/>
                </a:lnTo>
                <a:lnTo>
                  <a:pt x="3365870" y="1682935"/>
                </a:lnTo>
                <a:lnTo>
                  <a:pt x="0" y="16829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id="82" name="Freeform 82"/>
          <p:cNvSpPr/>
          <p:nvPr/>
        </p:nvSpPr>
        <p:spPr>
          <a:xfrm>
            <a:off x="14703979" y="5296136"/>
            <a:ext cx="3496968" cy="1748484"/>
          </a:xfrm>
          <a:custGeom>
            <a:avLst/>
            <a:gdLst/>
            <a:ahLst/>
            <a:cxnLst/>
            <a:rect l="l" t="t" r="r" b="b"/>
            <a:pathLst>
              <a:path w="3496968" h="1748484">
                <a:moveTo>
                  <a:pt x="0" y="0"/>
                </a:moveTo>
                <a:lnTo>
                  <a:pt x="3496968" y="0"/>
                </a:lnTo>
                <a:lnTo>
                  <a:pt x="3496968" y="1748484"/>
                </a:lnTo>
                <a:lnTo>
                  <a:pt x="0" y="17484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id="83" name="TextBox 83"/>
          <p:cNvSpPr txBox="1"/>
          <p:nvPr/>
        </p:nvSpPr>
        <p:spPr>
          <a:xfrm>
            <a:off x="1879965" y="1239568"/>
            <a:ext cx="13910549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Built as a modular event-driven system, validated on a realistic Delhi traffic simulation and designed for real camera integration.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800334" y="2981097"/>
            <a:ext cx="2801916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3" lvl="1" indent="-129542" algn="l">
              <a:lnSpc>
                <a:spcPts val="1440"/>
              </a:lnSpc>
              <a:buFont typeface="Arial"/>
              <a:buChar char="•"/>
            </a:pPr>
            <a:r>
              <a:rPr lang="en-US" sz="12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Trinetra processes lightweight vehicle events instead of streaming full video, enabling fast alert generation as vehicles are detected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800334" y="4152451"/>
            <a:ext cx="2643950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3" lvl="1" indent="-129542" algn="l">
              <a:lnSpc>
                <a:spcPts val="1440"/>
              </a:lnSpc>
              <a:buFont typeface="Arial"/>
              <a:buChar char="•"/>
            </a:pPr>
            <a:r>
              <a:rPr lang="en-US" sz="12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8 Redis shards distribute incoming events across processing workers, targeting &lt;2 sec alert visibility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5300867" y="2951117"/>
            <a:ext cx="2792647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5" lvl="1" indent="-129542" algn="l">
              <a:lnSpc>
                <a:spcPts val="1440"/>
              </a:lnSpc>
              <a:spcBef>
                <a:spcPct val="0"/>
              </a:spcBef>
              <a:buFont typeface="Arial"/>
              <a:buChar char="•"/>
            </a:pPr>
            <a:r>
              <a:rPr lang="en-US" sz="12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Designed so additional cameras and processing capacity can be added without redesigning the full application.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5300867" y="3932192"/>
            <a:ext cx="2805930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3" lvl="1" indent="-129542" algn="l">
              <a:lnSpc>
                <a:spcPts val="1440"/>
              </a:lnSpc>
              <a:buFont typeface="Arial"/>
              <a:buChar char="•"/>
            </a:pPr>
            <a:r>
              <a:rPr lang="en-US" sz="12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Architecture targets 1000+ cameras and 10K+ events/sec, with processing workers that scale horizontally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9914751" y="3045102"/>
            <a:ext cx="2722855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7494" lvl="1" indent="-118747" algn="l">
              <a:lnSpc>
                <a:spcPts val="1320"/>
              </a:lnSpc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Tested on a realistic Delhi road network with simulated traffic and virtual ANPR checkpoints, instead of a small artificial map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9914751" y="3875042"/>
            <a:ext cx="2829890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3" lvl="1" indent="-129542" algn="l">
              <a:lnSpc>
                <a:spcPts val="1440"/>
              </a:lnSpc>
              <a:buFont typeface="Arial"/>
              <a:buChar char="•"/>
            </a:pPr>
            <a:r>
              <a:rPr lang="en-US" sz="12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~13×12 km network: 11,955 nodes </a:t>
            </a:r>
          </a:p>
          <a:p>
            <a:pPr marL="259083" lvl="1" indent="-129542" algn="l">
              <a:lnSpc>
                <a:spcPts val="1440"/>
              </a:lnSpc>
              <a:buFont typeface="Arial"/>
              <a:buChar char="•"/>
            </a:pPr>
            <a:r>
              <a:rPr lang="en-US" sz="12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30,510 road edges </a:t>
            </a:r>
          </a:p>
          <a:p>
            <a:pPr marL="259083" lvl="1" indent="-129542" algn="l">
              <a:lnSpc>
                <a:spcPts val="1440"/>
              </a:lnSpc>
              <a:buFont typeface="Arial"/>
              <a:buChar char="•"/>
            </a:pPr>
            <a:r>
              <a:rPr lang="en-US" sz="12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75 signals</a:t>
            </a:r>
          </a:p>
          <a:p>
            <a:pPr marL="259083" lvl="1" indent="-129542" algn="l">
              <a:lnSpc>
                <a:spcPts val="1440"/>
              </a:lnSpc>
              <a:buFont typeface="Arial"/>
              <a:buChar char="•"/>
            </a:pPr>
            <a:r>
              <a:rPr lang="en-US" sz="12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~60 virtual ANPR gates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4367626" y="3045102"/>
            <a:ext cx="2845775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7494" lvl="1" indent="-118747" algn="l">
              <a:lnSpc>
                <a:spcPts val="1320"/>
              </a:lnSpc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Built to keep producing reliable intelligence even with incomplete camera data or imperfect ANPR recognition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4303389" y="3766125"/>
            <a:ext cx="2863099" cy="1438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1583" lvl="1" indent="-105791" algn="l">
              <a:lnSpc>
                <a:spcPts val="1176"/>
              </a:lnSpc>
              <a:spcBef>
                <a:spcPct val="0"/>
              </a:spcBef>
              <a:buFont typeface="Arial"/>
              <a:buChar char="•"/>
            </a:pPr>
            <a:r>
              <a:rPr lang="en-US" sz="98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ANPR Errors → Confidence + fuzzy matching</a:t>
            </a:r>
          </a:p>
          <a:p>
            <a:pPr marL="211583" lvl="1" indent="-105791" algn="l">
              <a:lnSpc>
                <a:spcPts val="1176"/>
              </a:lnSpc>
              <a:spcBef>
                <a:spcPct val="0"/>
              </a:spcBef>
              <a:buFont typeface="Arial"/>
              <a:buChar char="•"/>
            </a:pPr>
            <a:r>
              <a:rPr lang="en-US" sz="98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Camera Failure → Health monitoring + alerts</a:t>
            </a:r>
          </a:p>
          <a:p>
            <a:pPr marL="211583" lvl="1" indent="-105791" algn="l">
              <a:lnSpc>
                <a:spcPts val="1176"/>
              </a:lnSpc>
              <a:spcBef>
                <a:spcPct val="0"/>
              </a:spcBef>
              <a:buFont typeface="Arial"/>
              <a:buChar char="•"/>
            </a:pPr>
            <a:r>
              <a:rPr lang="en-US" sz="98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High Event Load → Sharding + scalable workers</a:t>
            </a:r>
          </a:p>
          <a:p>
            <a:pPr marL="211583" lvl="1" indent="-105791" algn="l">
              <a:lnSpc>
                <a:spcPts val="1176"/>
              </a:lnSpc>
              <a:spcBef>
                <a:spcPct val="0"/>
              </a:spcBef>
              <a:buFont typeface="Arial"/>
              <a:buChar char="•"/>
            </a:pPr>
            <a:r>
              <a:rPr lang="en-US" sz="98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False Clone Flag → Physics-based validation</a:t>
            </a:r>
          </a:p>
          <a:p>
            <a:pPr marL="211583" lvl="1" indent="-105791" algn="l">
              <a:lnSpc>
                <a:spcPts val="1176"/>
              </a:lnSpc>
              <a:spcBef>
                <a:spcPct val="0"/>
              </a:spcBef>
              <a:buFont typeface="Arial"/>
              <a:buChar char="•"/>
            </a:pPr>
            <a:r>
              <a:rPr lang="en-US" sz="98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Real Deployment → Common camera contract</a:t>
            </a:r>
          </a:p>
          <a:p>
            <a:pPr algn="l">
              <a:lnSpc>
                <a:spcPts val="1176"/>
              </a:lnSpc>
              <a:spcBef>
                <a:spcPct val="0"/>
              </a:spcBef>
            </a:pPr>
            <a:endParaRPr lang="en-US" sz="980" b="1">
              <a:solidFill>
                <a:srgbClr val="FFFFF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92" name="TextBox 92"/>
          <p:cNvSpPr txBox="1"/>
          <p:nvPr/>
        </p:nvSpPr>
        <p:spPr>
          <a:xfrm>
            <a:off x="5459352" y="5563296"/>
            <a:ext cx="1364715" cy="11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sz="628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{</a:t>
            </a:r>
          </a:p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sz="628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"camera_id": "CAM_017",</a:t>
            </a:r>
          </a:p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sz="628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"ts": "2026-08-26T09:14:32+05:30",</a:t>
            </a:r>
          </a:p>
          <a:p>
            <a:pPr algn="l">
              <a:lnSpc>
                <a:spcPts val="753"/>
              </a:lnSpc>
              <a:spcBef>
                <a:spcPct val="0"/>
              </a:spcBef>
            </a:pPr>
            <a:endParaRPr lang="en-US" sz="628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sz="628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"plate_raw": "DL 8C AB 1234",</a:t>
            </a:r>
          </a:p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sz="628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"canonical": "DL8CAB1234",</a:t>
            </a:r>
          </a:p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sz="628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"confidence": 0.93,</a:t>
            </a:r>
          </a:p>
          <a:p>
            <a:pPr algn="l">
              <a:lnSpc>
                <a:spcPts val="753"/>
              </a:lnSpc>
              <a:spcBef>
                <a:spcPct val="0"/>
              </a:spcBef>
            </a:pPr>
            <a:endParaRPr lang="en-US" sz="628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sz="628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"vehicle_class": "private",</a:t>
            </a:r>
          </a:p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sz="628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"crop_b64": "...",</a:t>
            </a:r>
          </a:p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sz="628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"ground_truth": "DL8CAB1234"</a:t>
            </a:r>
          </a:p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sz="628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}</a:t>
            </a:r>
          </a:p>
        </p:txBody>
      </p:sp>
      <p:sp>
        <p:nvSpPr>
          <p:cNvPr id="93" name="TextBox 93"/>
          <p:cNvSpPr txBox="1"/>
          <p:nvPr/>
        </p:nvSpPr>
        <p:spPr>
          <a:xfrm rot="-5400000">
            <a:off x="6472300" y="6066818"/>
            <a:ext cx="1394703" cy="146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1"/>
              </a:lnSpc>
              <a:spcBef>
                <a:spcPct val="0"/>
              </a:spcBef>
            </a:pPr>
            <a:r>
              <a:rPr lang="en-US" sz="834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 event for a vehicle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6423459" y="8024733"/>
            <a:ext cx="3662255" cy="2945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  <a:spcBef>
                <a:spcPct val="0"/>
              </a:spcBef>
            </a:pPr>
            <a:r>
              <a:rPr lang="en-US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TRINETRA is practical ?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0550245" y="8293930"/>
            <a:ext cx="2201780" cy="251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3"/>
              </a:lnSpc>
              <a:spcBef>
                <a:spcPct val="0"/>
              </a:spcBef>
            </a:pPr>
            <a:r>
              <a:rPr lang="en-US" sz="1635" b="1" dirty="0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↓ DATA BURDEN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2549848" y="8486050"/>
            <a:ext cx="3086430" cy="242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3"/>
              </a:lnSpc>
              <a:spcBef>
                <a:spcPct val="0"/>
              </a:spcBef>
            </a:pPr>
            <a:r>
              <a:rPr lang="en-US" sz="1635" b="1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↓ INFRASTRUCTURE CHANGE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0891191" y="7266000"/>
            <a:ext cx="1514974" cy="251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3"/>
              </a:lnSpc>
              <a:spcBef>
                <a:spcPct val="0"/>
              </a:spcBef>
            </a:pPr>
            <a:r>
              <a:rPr lang="en-US" sz="1635" b="1" dirty="0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↑RELIABILITY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2700662" y="7295484"/>
            <a:ext cx="2707712" cy="251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3"/>
              </a:lnSpc>
              <a:spcBef>
                <a:spcPct val="0"/>
              </a:spcBef>
            </a:pPr>
            <a:r>
              <a:rPr lang="en-US" sz="1635" b="1" dirty="0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↑ SAFE DEPLOYMENT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0253165" y="8597714"/>
            <a:ext cx="3035377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7715" lvl="1" indent="-133858" algn="l">
              <a:lnSpc>
                <a:spcPts val="1487"/>
              </a:lnSpc>
              <a:buFont typeface="Arial"/>
              <a:buChar char="•"/>
            </a:pPr>
            <a:r>
              <a:rPr lang="en-US" sz="123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Sends only lightweight text events (plate, time, location) instead of streaming raw video, keeping bandwidth and storage needs minimal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2435944" y="8757003"/>
            <a:ext cx="3381309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4698" lvl="1" indent="-137349" algn="l">
              <a:lnSpc>
                <a:spcPts val="1526"/>
              </a:lnSpc>
              <a:buFont typeface="Arial"/>
              <a:buChar char="•"/>
            </a:pPr>
            <a:r>
              <a:rPr lang="en-US" sz="127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Works with existing ANPR/CCTV cameras;</a:t>
            </a:r>
          </a:p>
          <a:p>
            <a:pPr marL="274698" lvl="1" indent="-137349" algn="l">
              <a:lnSpc>
                <a:spcPts val="1526"/>
              </a:lnSpc>
              <a:buFont typeface="Arial"/>
              <a:buChar char="•"/>
            </a:pPr>
            <a:r>
              <a:rPr lang="en-US" sz="127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no need to replace hardware, just plug into the common event-ingestion layer.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0281139" y="7517223"/>
            <a:ext cx="2979427" cy="5619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93066" lvl="1" indent="-146533" algn="l">
              <a:lnSpc>
                <a:spcPts val="1628"/>
              </a:lnSpc>
              <a:buFont typeface="Arial"/>
              <a:buChar char="•"/>
            </a:pPr>
            <a:r>
              <a:rPr lang="en-US" sz="135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One event → multiple intelligence</a:t>
            </a:r>
          </a:p>
          <a:p>
            <a:pPr algn="ctr">
              <a:lnSpc>
                <a:spcPts val="1396"/>
              </a:lnSpc>
              <a:spcBef>
                <a:spcPct val="0"/>
              </a:spcBef>
            </a:pPr>
            <a:r>
              <a:rPr lang="en-US" sz="116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The same recorded detection powers trajectory, traffic analytics and alerts.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2399882" y="7657846"/>
            <a:ext cx="327919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5901" lvl="1" indent="-122950" algn="l">
              <a:lnSpc>
                <a:spcPts val="1366"/>
              </a:lnSpc>
              <a:buFont typeface="Arial"/>
              <a:buChar char="•"/>
            </a:pPr>
            <a:r>
              <a:rPr lang="en-US" sz="113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Digital-city validation</a:t>
            </a:r>
          </a:p>
          <a:p>
            <a:pPr marL="245901" lvl="1" indent="-122950" algn="l">
              <a:lnSpc>
                <a:spcPts val="1366"/>
              </a:lnSpc>
              <a:buFont typeface="Arial"/>
              <a:buChar char="•"/>
            </a:pPr>
            <a:r>
              <a:rPr lang="en-US" sz="113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Real Delhi road geometry enables repeatable testing before real deployment.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4518808" y="7391612"/>
            <a:ext cx="2393217" cy="702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7"/>
              </a:lnSpc>
              <a:spcBef>
                <a:spcPct val="0"/>
              </a:spcBef>
            </a:pPr>
            <a:r>
              <a:rPr lang="en-US" sz="1181" b="1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TRADITIONAL APPROACH </a:t>
            </a:r>
          </a:p>
          <a:p>
            <a:pPr algn="ctr">
              <a:lnSpc>
                <a:spcPts val="1417"/>
              </a:lnSpc>
              <a:spcBef>
                <a:spcPct val="0"/>
              </a:spcBef>
            </a:pPr>
            <a:r>
              <a:rPr lang="en-US" sz="118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1000 Cameras </a:t>
            </a:r>
          </a:p>
          <a:p>
            <a:pPr algn="ctr">
              <a:lnSpc>
                <a:spcPts val="1417"/>
              </a:lnSpc>
              <a:spcBef>
                <a:spcPct val="0"/>
              </a:spcBef>
            </a:pPr>
            <a:r>
              <a:rPr lang="en-US" sz="118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▼ ~3 Gbps VIDEO </a:t>
            </a:r>
          </a:p>
          <a:p>
            <a:pPr algn="ctr">
              <a:lnSpc>
                <a:spcPts val="1417"/>
              </a:lnSpc>
              <a:spcBef>
                <a:spcPct val="0"/>
              </a:spcBef>
            </a:pPr>
            <a:r>
              <a:rPr lang="en-US" sz="118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▼ CENTRAL SYSTEM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4380175" y="8231280"/>
            <a:ext cx="2670485" cy="1048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7"/>
              </a:lnSpc>
            </a:pPr>
            <a:endParaRPr/>
          </a:p>
          <a:p>
            <a:pPr algn="ctr">
              <a:lnSpc>
                <a:spcPts val="1417"/>
              </a:lnSpc>
              <a:spcBef>
                <a:spcPct val="0"/>
              </a:spcBef>
            </a:pPr>
            <a:r>
              <a:rPr lang="en-US" sz="1181" b="1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TRINETRA APPROACH</a:t>
            </a:r>
          </a:p>
          <a:p>
            <a:pPr algn="ctr">
              <a:lnSpc>
                <a:spcPts val="1417"/>
              </a:lnSpc>
              <a:spcBef>
                <a:spcPct val="0"/>
              </a:spcBef>
            </a:pPr>
            <a:r>
              <a:rPr lang="en-US" sz="118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18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1000 Cameras </a:t>
            </a:r>
          </a:p>
          <a:p>
            <a:pPr algn="ctr">
              <a:lnSpc>
                <a:spcPts val="1417"/>
              </a:lnSpc>
              <a:spcBef>
                <a:spcPct val="0"/>
              </a:spcBef>
            </a:pPr>
            <a:r>
              <a:rPr lang="en-US" sz="118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▼ ~2 MB/s</a:t>
            </a:r>
          </a:p>
          <a:p>
            <a:pPr algn="ctr">
              <a:lnSpc>
                <a:spcPts val="1417"/>
              </a:lnSpc>
              <a:spcBef>
                <a:spcPct val="0"/>
              </a:spcBef>
            </a:pPr>
            <a:r>
              <a:rPr lang="en-US" sz="118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EVENTS plate • time • camera </a:t>
            </a:r>
          </a:p>
          <a:p>
            <a:pPr algn="ctr">
              <a:lnSpc>
                <a:spcPts val="1417"/>
              </a:lnSpc>
              <a:spcBef>
                <a:spcPct val="0"/>
              </a:spcBef>
            </a:pPr>
            <a:r>
              <a:rPr lang="en-US" sz="118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▼ CENTRAL SYSTEM</a:t>
            </a:r>
          </a:p>
        </p:txBody>
      </p:sp>
      <p:grpSp>
        <p:nvGrpSpPr>
          <p:cNvPr id="105" name="Group 105"/>
          <p:cNvGrpSpPr/>
          <p:nvPr/>
        </p:nvGrpSpPr>
        <p:grpSpPr>
          <a:xfrm>
            <a:off x="15581405" y="104891"/>
            <a:ext cx="2494321" cy="1267835"/>
            <a:chOff x="0" y="0"/>
            <a:chExt cx="4418241" cy="2245741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270" r="-27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0" y="9704784"/>
            <a:ext cx="18288000" cy="754856"/>
            <a:chOff x="0" y="0"/>
            <a:chExt cx="24384000" cy="10064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7245042" y="9739312"/>
            <a:ext cx="4806001" cy="547688"/>
            <a:chOff x="0" y="0"/>
            <a:chExt cx="6408001" cy="7302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Team: Baazigars     SIH26127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565776" y="9739312"/>
            <a:ext cx="4267200" cy="547688"/>
            <a:chOff x="0" y="0"/>
            <a:chExt cx="5689600" cy="7302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109764" y="9739312"/>
            <a:ext cx="18463988" cy="754856"/>
            <a:chOff x="0" y="0"/>
            <a:chExt cx="24618651" cy="100647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618651" cy="1006475"/>
            </a:xfrm>
            <a:custGeom>
              <a:avLst/>
              <a:gdLst/>
              <a:ahLst/>
              <a:cxnLst/>
              <a:rect l="l" t="t" r="r" b="b"/>
              <a:pathLst>
                <a:path w="24618651" h="1006475">
                  <a:moveTo>
                    <a:pt x="0" y="0"/>
                  </a:moveTo>
                  <a:lnTo>
                    <a:pt x="24618651" y="0"/>
                  </a:lnTo>
                  <a:lnTo>
                    <a:pt x="24618651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6920113" y="9637225"/>
            <a:ext cx="4806001" cy="547688"/>
            <a:chOff x="0" y="0"/>
            <a:chExt cx="6408001" cy="7302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Team: Baazigars | SIH26127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265848" y="9580075"/>
            <a:ext cx="4267200" cy="547688"/>
            <a:chOff x="0" y="0"/>
            <a:chExt cx="5689600" cy="7302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00100" y="-240591"/>
            <a:ext cx="16459200" cy="1714500"/>
            <a:chOff x="0" y="0"/>
            <a:chExt cx="21945600" cy="2286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96887" y="224808"/>
            <a:ext cx="1915887" cy="1249101"/>
            <a:chOff x="0" y="0"/>
            <a:chExt cx="2554516" cy="1665468"/>
          </a:xfrm>
        </p:grpSpPr>
        <p:sp>
          <p:nvSpPr>
            <p:cNvPr id="30" name="Freeform 30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Baazigars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526196" y="9246"/>
            <a:ext cx="2494321" cy="1267835"/>
            <a:chOff x="0" y="0"/>
            <a:chExt cx="4418241" cy="224574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0" r="-270"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296887" y="2676526"/>
            <a:ext cx="4219173" cy="2181909"/>
            <a:chOff x="0" y="0"/>
            <a:chExt cx="802910" cy="41521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02910" cy="415218"/>
            </a:xfrm>
            <a:custGeom>
              <a:avLst/>
              <a:gdLst/>
              <a:ahLst/>
              <a:cxnLst/>
              <a:rect l="l" t="t" r="r" b="b"/>
              <a:pathLst>
                <a:path w="802910" h="415218">
                  <a:moveTo>
                    <a:pt x="35839" y="0"/>
                  </a:moveTo>
                  <a:lnTo>
                    <a:pt x="767071" y="0"/>
                  </a:lnTo>
                  <a:cubicBezTo>
                    <a:pt x="776576" y="0"/>
                    <a:pt x="785692" y="3776"/>
                    <a:pt x="792413" y="10497"/>
                  </a:cubicBezTo>
                  <a:cubicBezTo>
                    <a:pt x="799134" y="17218"/>
                    <a:pt x="802910" y="26334"/>
                    <a:pt x="802910" y="35839"/>
                  </a:cubicBezTo>
                  <a:lnTo>
                    <a:pt x="802910" y="379379"/>
                  </a:lnTo>
                  <a:cubicBezTo>
                    <a:pt x="802910" y="399172"/>
                    <a:pt x="786864" y="415218"/>
                    <a:pt x="767071" y="415218"/>
                  </a:cubicBezTo>
                  <a:lnTo>
                    <a:pt x="35839" y="415218"/>
                  </a:lnTo>
                  <a:cubicBezTo>
                    <a:pt x="16045" y="415218"/>
                    <a:pt x="0" y="399172"/>
                    <a:pt x="0" y="379379"/>
                  </a:cubicBezTo>
                  <a:lnTo>
                    <a:pt x="0" y="35839"/>
                  </a:lnTo>
                  <a:cubicBezTo>
                    <a:pt x="0" y="16045"/>
                    <a:pt x="16045" y="0"/>
                    <a:pt x="35839" y="0"/>
                  </a:cubicBezTo>
                  <a:close/>
                </a:path>
              </a:pathLst>
            </a:custGeom>
            <a:solidFill>
              <a:srgbClr val="EBF4FF"/>
            </a:solidFill>
            <a:ln w="38100" cap="rnd">
              <a:solidFill>
                <a:srgbClr val="4A7EBB"/>
              </a:solidFill>
              <a:prstDash val="solid"/>
              <a:round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802910" cy="4342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2659952" y="1028700"/>
            <a:ext cx="12739496" cy="906335"/>
            <a:chOff x="0" y="0"/>
            <a:chExt cx="16985995" cy="1208446"/>
          </a:xfrm>
        </p:grpSpPr>
        <p:grpSp>
          <p:nvGrpSpPr>
            <p:cNvPr id="38" name="Group 38"/>
            <p:cNvGrpSpPr/>
            <p:nvPr/>
          </p:nvGrpSpPr>
          <p:grpSpPr>
            <a:xfrm>
              <a:off x="418345" y="0"/>
              <a:ext cx="16009424" cy="1208446"/>
              <a:chOff x="0" y="0"/>
              <a:chExt cx="2470590" cy="186489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2470590" cy="186489"/>
              </a:xfrm>
              <a:custGeom>
                <a:avLst/>
                <a:gdLst/>
                <a:ahLst/>
                <a:cxnLst/>
                <a:rect l="l" t="t" r="r" b="b"/>
                <a:pathLst>
                  <a:path w="2470590" h="186489">
                    <a:moveTo>
                      <a:pt x="12593" y="0"/>
                    </a:moveTo>
                    <a:lnTo>
                      <a:pt x="2457997" y="0"/>
                    </a:lnTo>
                    <a:cubicBezTo>
                      <a:pt x="2461337" y="0"/>
                      <a:pt x="2464540" y="1327"/>
                      <a:pt x="2466902" y="3689"/>
                    </a:cubicBezTo>
                    <a:cubicBezTo>
                      <a:pt x="2469263" y="6050"/>
                      <a:pt x="2470590" y="9253"/>
                      <a:pt x="2470590" y="12593"/>
                    </a:cubicBezTo>
                    <a:lnTo>
                      <a:pt x="2470590" y="173895"/>
                    </a:lnTo>
                    <a:cubicBezTo>
                      <a:pt x="2470590" y="177235"/>
                      <a:pt x="2469263" y="180438"/>
                      <a:pt x="2466902" y="182800"/>
                    </a:cubicBezTo>
                    <a:cubicBezTo>
                      <a:pt x="2464540" y="185162"/>
                      <a:pt x="2461337" y="186489"/>
                      <a:pt x="2457997" y="186489"/>
                    </a:cubicBezTo>
                    <a:lnTo>
                      <a:pt x="12593" y="186489"/>
                    </a:lnTo>
                    <a:cubicBezTo>
                      <a:pt x="9253" y="186489"/>
                      <a:pt x="6050" y="185162"/>
                      <a:pt x="3689" y="182800"/>
                    </a:cubicBezTo>
                    <a:cubicBezTo>
                      <a:pt x="1327" y="180438"/>
                      <a:pt x="0" y="177235"/>
                      <a:pt x="0" y="173895"/>
                    </a:cubicBezTo>
                    <a:lnTo>
                      <a:pt x="0" y="12593"/>
                    </a:lnTo>
                    <a:cubicBezTo>
                      <a:pt x="0" y="9253"/>
                      <a:pt x="1327" y="6050"/>
                      <a:pt x="3689" y="3689"/>
                    </a:cubicBezTo>
                    <a:cubicBezTo>
                      <a:pt x="6050" y="1327"/>
                      <a:pt x="9253" y="0"/>
                      <a:pt x="12593" y="0"/>
                    </a:cubicBezTo>
                    <a:close/>
                  </a:path>
                </a:pathLst>
              </a:custGeom>
              <a:solidFill>
                <a:srgbClr val="D0E2F7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-19050"/>
                <a:ext cx="2470590" cy="2055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0" y="210523"/>
              <a:ext cx="16985995" cy="787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99"/>
                </a:lnSpc>
                <a:spcBef>
                  <a:spcPct val="0"/>
                </a:spcBef>
              </a:pPr>
              <a:r>
                <a:rPr lang="en-US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TRINETRA CRAETES VALUE FOR AUTHORITIES , CITIZENS AND THE CITY BY TURNING INTO ACTIONABLE INTELLIGENCE - FASTER, SMARTER AND AT SCALE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810527" y="2676526"/>
            <a:ext cx="4219173" cy="2181909"/>
            <a:chOff x="0" y="0"/>
            <a:chExt cx="802910" cy="41521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02910" cy="415218"/>
            </a:xfrm>
            <a:custGeom>
              <a:avLst/>
              <a:gdLst/>
              <a:ahLst/>
              <a:cxnLst/>
              <a:rect l="l" t="t" r="r" b="b"/>
              <a:pathLst>
                <a:path w="802910" h="415218">
                  <a:moveTo>
                    <a:pt x="35839" y="0"/>
                  </a:moveTo>
                  <a:lnTo>
                    <a:pt x="767071" y="0"/>
                  </a:lnTo>
                  <a:cubicBezTo>
                    <a:pt x="776576" y="0"/>
                    <a:pt x="785692" y="3776"/>
                    <a:pt x="792413" y="10497"/>
                  </a:cubicBezTo>
                  <a:cubicBezTo>
                    <a:pt x="799134" y="17218"/>
                    <a:pt x="802910" y="26334"/>
                    <a:pt x="802910" y="35839"/>
                  </a:cubicBezTo>
                  <a:lnTo>
                    <a:pt x="802910" y="379379"/>
                  </a:lnTo>
                  <a:cubicBezTo>
                    <a:pt x="802910" y="399172"/>
                    <a:pt x="786864" y="415218"/>
                    <a:pt x="767071" y="415218"/>
                  </a:cubicBezTo>
                  <a:lnTo>
                    <a:pt x="35839" y="415218"/>
                  </a:lnTo>
                  <a:cubicBezTo>
                    <a:pt x="16045" y="415218"/>
                    <a:pt x="0" y="399172"/>
                    <a:pt x="0" y="379379"/>
                  </a:cubicBezTo>
                  <a:lnTo>
                    <a:pt x="0" y="35839"/>
                  </a:lnTo>
                  <a:cubicBezTo>
                    <a:pt x="0" y="16045"/>
                    <a:pt x="16045" y="0"/>
                    <a:pt x="35839" y="0"/>
                  </a:cubicBezTo>
                  <a:close/>
                </a:path>
              </a:pathLst>
            </a:custGeom>
            <a:solidFill>
              <a:srgbClr val="EBF4FF"/>
            </a:solidFill>
            <a:ln w="38100" cap="rnd">
              <a:solidFill>
                <a:srgbClr val="4A7EBB"/>
              </a:solidFill>
              <a:prstDash val="solid"/>
              <a:round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0" y="-19050"/>
              <a:ext cx="802910" cy="4342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392525" y="2676526"/>
            <a:ext cx="4219173" cy="2181909"/>
            <a:chOff x="0" y="0"/>
            <a:chExt cx="802910" cy="415218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02910" cy="415218"/>
            </a:xfrm>
            <a:custGeom>
              <a:avLst/>
              <a:gdLst/>
              <a:ahLst/>
              <a:cxnLst/>
              <a:rect l="l" t="t" r="r" b="b"/>
              <a:pathLst>
                <a:path w="802910" h="415218">
                  <a:moveTo>
                    <a:pt x="35839" y="0"/>
                  </a:moveTo>
                  <a:lnTo>
                    <a:pt x="767071" y="0"/>
                  </a:lnTo>
                  <a:cubicBezTo>
                    <a:pt x="776576" y="0"/>
                    <a:pt x="785692" y="3776"/>
                    <a:pt x="792413" y="10497"/>
                  </a:cubicBezTo>
                  <a:cubicBezTo>
                    <a:pt x="799134" y="17218"/>
                    <a:pt x="802910" y="26334"/>
                    <a:pt x="802910" y="35839"/>
                  </a:cubicBezTo>
                  <a:lnTo>
                    <a:pt x="802910" y="379379"/>
                  </a:lnTo>
                  <a:cubicBezTo>
                    <a:pt x="802910" y="399172"/>
                    <a:pt x="786864" y="415218"/>
                    <a:pt x="767071" y="415218"/>
                  </a:cubicBezTo>
                  <a:lnTo>
                    <a:pt x="35839" y="415218"/>
                  </a:lnTo>
                  <a:cubicBezTo>
                    <a:pt x="16045" y="415218"/>
                    <a:pt x="0" y="399172"/>
                    <a:pt x="0" y="379379"/>
                  </a:cubicBezTo>
                  <a:lnTo>
                    <a:pt x="0" y="35839"/>
                  </a:lnTo>
                  <a:cubicBezTo>
                    <a:pt x="0" y="16045"/>
                    <a:pt x="16045" y="0"/>
                    <a:pt x="35839" y="0"/>
                  </a:cubicBezTo>
                  <a:close/>
                </a:path>
              </a:pathLst>
            </a:custGeom>
            <a:solidFill>
              <a:srgbClr val="EBF4FF"/>
            </a:solidFill>
            <a:ln w="38100" cap="rnd">
              <a:solidFill>
                <a:srgbClr val="4A7EBB"/>
              </a:solidFill>
              <a:prstDash val="solid"/>
              <a:round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802910" cy="4342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3801343" y="2663346"/>
            <a:ext cx="4219173" cy="2126055"/>
            <a:chOff x="0" y="0"/>
            <a:chExt cx="802910" cy="404589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02910" cy="404589"/>
            </a:xfrm>
            <a:custGeom>
              <a:avLst/>
              <a:gdLst/>
              <a:ahLst/>
              <a:cxnLst/>
              <a:rect l="l" t="t" r="r" b="b"/>
              <a:pathLst>
                <a:path w="802910" h="404589">
                  <a:moveTo>
                    <a:pt x="35839" y="0"/>
                  </a:moveTo>
                  <a:lnTo>
                    <a:pt x="767071" y="0"/>
                  </a:lnTo>
                  <a:cubicBezTo>
                    <a:pt x="776576" y="0"/>
                    <a:pt x="785692" y="3776"/>
                    <a:pt x="792413" y="10497"/>
                  </a:cubicBezTo>
                  <a:cubicBezTo>
                    <a:pt x="799134" y="17218"/>
                    <a:pt x="802910" y="26334"/>
                    <a:pt x="802910" y="35839"/>
                  </a:cubicBezTo>
                  <a:lnTo>
                    <a:pt x="802910" y="368750"/>
                  </a:lnTo>
                  <a:cubicBezTo>
                    <a:pt x="802910" y="388543"/>
                    <a:pt x="786864" y="404589"/>
                    <a:pt x="767071" y="404589"/>
                  </a:cubicBezTo>
                  <a:lnTo>
                    <a:pt x="35839" y="404589"/>
                  </a:lnTo>
                  <a:cubicBezTo>
                    <a:pt x="16045" y="404589"/>
                    <a:pt x="0" y="388543"/>
                    <a:pt x="0" y="368750"/>
                  </a:cubicBezTo>
                  <a:lnTo>
                    <a:pt x="0" y="35839"/>
                  </a:lnTo>
                  <a:cubicBezTo>
                    <a:pt x="0" y="16045"/>
                    <a:pt x="16045" y="0"/>
                    <a:pt x="35839" y="0"/>
                  </a:cubicBezTo>
                  <a:close/>
                </a:path>
              </a:pathLst>
            </a:custGeom>
            <a:solidFill>
              <a:srgbClr val="EBF4FF"/>
            </a:solidFill>
            <a:ln w="38100" cap="rnd">
              <a:solidFill>
                <a:srgbClr val="4A7EBB"/>
              </a:solidFill>
              <a:prstDash val="solid"/>
              <a:round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0" y="-19050"/>
              <a:ext cx="802910" cy="4236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51" name="AutoShape 51"/>
          <p:cNvSpPr/>
          <p:nvPr/>
        </p:nvSpPr>
        <p:spPr>
          <a:xfrm flipV="1">
            <a:off x="0" y="2305780"/>
            <a:ext cx="1855400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2" name="AutoShape 52"/>
          <p:cNvSpPr/>
          <p:nvPr/>
        </p:nvSpPr>
        <p:spPr>
          <a:xfrm>
            <a:off x="2679002" y="2305780"/>
            <a:ext cx="0" cy="2916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3" name="AutoShape 53"/>
          <p:cNvSpPr/>
          <p:nvPr/>
        </p:nvSpPr>
        <p:spPr>
          <a:xfrm>
            <a:off x="6972300" y="2305780"/>
            <a:ext cx="0" cy="2916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4" name="AutoShape 54"/>
          <p:cNvSpPr/>
          <p:nvPr/>
        </p:nvSpPr>
        <p:spPr>
          <a:xfrm>
            <a:off x="11265598" y="2305780"/>
            <a:ext cx="0" cy="2916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5" name="AutoShape 55"/>
          <p:cNvSpPr/>
          <p:nvPr/>
        </p:nvSpPr>
        <p:spPr>
          <a:xfrm>
            <a:off x="16306922" y="2305780"/>
            <a:ext cx="0" cy="2916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6" name="Freeform 56"/>
          <p:cNvSpPr/>
          <p:nvPr/>
        </p:nvSpPr>
        <p:spPr>
          <a:xfrm>
            <a:off x="604481" y="2748775"/>
            <a:ext cx="462721" cy="701092"/>
          </a:xfrm>
          <a:custGeom>
            <a:avLst/>
            <a:gdLst/>
            <a:ahLst/>
            <a:cxnLst/>
            <a:rect l="l" t="t" r="r" b="b"/>
            <a:pathLst>
              <a:path w="462721" h="701092">
                <a:moveTo>
                  <a:pt x="0" y="0"/>
                </a:moveTo>
                <a:lnTo>
                  <a:pt x="462721" y="0"/>
                </a:lnTo>
                <a:lnTo>
                  <a:pt x="462721" y="701092"/>
                </a:lnTo>
                <a:lnTo>
                  <a:pt x="0" y="7010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7" name="Freeform 57"/>
          <p:cNvSpPr/>
          <p:nvPr/>
        </p:nvSpPr>
        <p:spPr>
          <a:xfrm>
            <a:off x="5188341" y="2769958"/>
            <a:ext cx="407945" cy="679909"/>
          </a:xfrm>
          <a:custGeom>
            <a:avLst/>
            <a:gdLst/>
            <a:ahLst/>
            <a:cxnLst/>
            <a:rect l="l" t="t" r="r" b="b"/>
            <a:pathLst>
              <a:path w="407945" h="679909">
                <a:moveTo>
                  <a:pt x="0" y="0"/>
                </a:moveTo>
                <a:lnTo>
                  <a:pt x="407946" y="0"/>
                </a:lnTo>
                <a:lnTo>
                  <a:pt x="407946" y="679909"/>
                </a:lnTo>
                <a:lnTo>
                  <a:pt x="0" y="6799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8" name="Freeform 58"/>
          <p:cNvSpPr/>
          <p:nvPr/>
        </p:nvSpPr>
        <p:spPr>
          <a:xfrm>
            <a:off x="9583025" y="2795588"/>
            <a:ext cx="646554" cy="695219"/>
          </a:xfrm>
          <a:custGeom>
            <a:avLst/>
            <a:gdLst/>
            <a:ahLst/>
            <a:cxnLst/>
            <a:rect l="l" t="t" r="r" b="b"/>
            <a:pathLst>
              <a:path w="646554" h="695219">
                <a:moveTo>
                  <a:pt x="0" y="0"/>
                </a:moveTo>
                <a:lnTo>
                  <a:pt x="646554" y="0"/>
                </a:lnTo>
                <a:lnTo>
                  <a:pt x="646554" y="695219"/>
                </a:lnTo>
                <a:lnTo>
                  <a:pt x="0" y="6952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59" name="Freeform 59"/>
          <p:cNvSpPr/>
          <p:nvPr/>
        </p:nvSpPr>
        <p:spPr>
          <a:xfrm>
            <a:off x="13990968" y="2834515"/>
            <a:ext cx="692304" cy="571151"/>
          </a:xfrm>
          <a:custGeom>
            <a:avLst/>
            <a:gdLst/>
            <a:ahLst/>
            <a:cxnLst/>
            <a:rect l="l" t="t" r="r" b="b"/>
            <a:pathLst>
              <a:path w="692304" h="571151">
                <a:moveTo>
                  <a:pt x="0" y="0"/>
                </a:moveTo>
                <a:lnTo>
                  <a:pt x="692304" y="0"/>
                </a:lnTo>
                <a:lnTo>
                  <a:pt x="692304" y="571151"/>
                </a:lnTo>
                <a:lnTo>
                  <a:pt x="0" y="57115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60" name="Group 60"/>
          <p:cNvGrpSpPr/>
          <p:nvPr/>
        </p:nvGrpSpPr>
        <p:grpSpPr>
          <a:xfrm>
            <a:off x="256747" y="4973465"/>
            <a:ext cx="4219173" cy="2181909"/>
            <a:chOff x="0" y="0"/>
            <a:chExt cx="802910" cy="415218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802910" cy="415218"/>
            </a:xfrm>
            <a:custGeom>
              <a:avLst/>
              <a:gdLst/>
              <a:ahLst/>
              <a:cxnLst/>
              <a:rect l="l" t="t" r="r" b="b"/>
              <a:pathLst>
                <a:path w="802910" h="415218">
                  <a:moveTo>
                    <a:pt x="35839" y="0"/>
                  </a:moveTo>
                  <a:lnTo>
                    <a:pt x="767071" y="0"/>
                  </a:lnTo>
                  <a:cubicBezTo>
                    <a:pt x="776576" y="0"/>
                    <a:pt x="785692" y="3776"/>
                    <a:pt x="792413" y="10497"/>
                  </a:cubicBezTo>
                  <a:cubicBezTo>
                    <a:pt x="799134" y="17218"/>
                    <a:pt x="802910" y="26334"/>
                    <a:pt x="802910" y="35839"/>
                  </a:cubicBezTo>
                  <a:lnTo>
                    <a:pt x="802910" y="379379"/>
                  </a:lnTo>
                  <a:cubicBezTo>
                    <a:pt x="802910" y="399172"/>
                    <a:pt x="786864" y="415218"/>
                    <a:pt x="767071" y="415218"/>
                  </a:cubicBezTo>
                  <a:lnTo>
                    <a:pt x="35839" y="415218"/>
                  </a:lnTo>
                  <a:cubicBezTo>
                    <a:pt x="16045" y="415218"/>
                    <a:pt x="0" y="399172"/>
                    <a:pt x="0" y="379379"/>
                  </a:cubicBezTo>
                  <a:lnTo>
                    <a:pt x="0" y="35839"/>
                  </a:lnTo>
                  <a:cubicBezTo>
                    <a:pt x="0" y="16045"/>
                    <a:pt x="16045" y="0"/>
                    <a:pt x="35839" y="0"/>
                  </a:cubicBezTo>
                  <a:close/>
                </a:path>
              </a:pathLst>
            </a:custGeom>
            <a:solidFill>
              <a:srgbClr val="EBF4FF"/>
            </a:solidFill>
            <a:ln w="38100" cap="rnd">
              <a:solidFill>
                <a:srgbClr val="4A7EBB"/>
              </a:solidFill>
              <a:prstDash val="solid"/>
              <a:round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0" y="-19050"/>
              <a:ext cx="802910" cy="4342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63" name="Freeform 63"/>
          <p:cNvSpPr/>
          <p:nvPr/>
        </p:nvSpPr>
        <p:spPr>
          <a:xfrm>
            <a:off x="370657" y="5086725"/>
            <a:ext cx="436634" cy="698614"/>
          </a:xfrm>
          <a:custGeom>
            <a:avLst/>
            <a:gdLst/>
            <a:ahLst/>
            <a:cxnLst/>
            <a:rect l="l" t="t" r="r" b="b"/>
            <a:pathLst>
              <a:path w="436634" h="698614">
                <a:moveTo>
                  <a:pt x="0" y="0"/>
                </a:moveTo>
                <a:lnTo>
                  <a:pt x="436634" y="0"/>
                </a:lnTo>
                <a:lnTo>
                  <a:pt x="436634" y="698615"/>
                </a:lnTo>
                <a:lnTo>
                  <a:pt x="0" y="69861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64" name="TextBox 64"/>
          <p:cNvSpPr txBox="1"/>
          <p:nvPr/>
        </p:nvSpPr>
        <p:spPr>
          <a:xfrm>
            <a:off x="1028700" y="2776538"/>
            <a:ext cx="3419877" cy="642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  <a:spcBef>
                <a:spcPct val="0"/>
              </a:spcBef>
            </a:pPr>
            <a:r>
              <a:rPr lang="en-US" sz="209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FASTER LAW ENFORCEMENT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03371" y="3514167"/>
            <a:ext cx="3806204" cy="1344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6101" lvl="1" indent="-108051" algn="l">
              <a:lnSpc>
                <a:spcPts val="1201"/>
              </a:lnSpc>
              <a:buFont typeface="Arial"/>
              <a:buChar char="•"/>
            </a:pPr>
            <a:r>
              <a:rPr lang="en-US" sz="1000" dirty="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Search a vehicle and reconstruct its city-wide movement history.</a:t>
            </a:r>
          </a:p>
          <a:p>
            <a:pPr algn="l">
              <a:lnSpc>
                <a:spcPts val="1201"/>
              </a:lnSpc>
            </a:pPr>
            <a:endParaRPr lang="en-US" sz="1000" dirty="0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101" lvl="1" indent="-108051" algn="l">
              <a:lnSpc>
                <a:spcPts val="1201"/>
              </a:lnSpc>
              <a:buFont typeface="Arial"/>
              <a:buChar char="•"/>
            </a:pPr>
            <a:r>
              <a:rPr lang="en-US" sz="1000" dirty="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Receive alerts for blacklisted vehicles and suspicious travel patterns.</a:t>
            </a:r>
          </a:p>
          <a:p>
            <a:pPr algn="l">
              <a:lnSpc>
                <a:spcPts val="1201"/>
              </a:lnSpc>
            </a:pPr>
            <a:endParaRPr lang="en-US" sz="1000" dirty="0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101" lvl="1" indent="-108051" algn="l">
              <a:lnSpc>
                <a:spcPts val="1201"/>
              </a:lnSpc>
              <a:buFont typeface="Arial"/>
              <a:buChar char="•"/>
            </a:pPr>
            <a:r>
              <a:rPr lang="en-US" sz="1000" dirty="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Reduce time spent manually correlating multiple camera records.</a:t>
            </a:r>
          </a:p>
          <a:p>
            <a:pPr algn="l">
              <a:lnSpc>
                <a:spcPts val="1201"/>
              </a:lnSpc>
            </a:pPr>
            <a:endParaRPr lang="en-US" sz="1000" dirty="0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TextBox 66"/>
          <p:cNvSpPr txBox="1"/>
          <p:nvPr/>
        </p:nvSpPr>
        <p:spPr>
          <a:xfrm>
            <a:off x="412491" y="5067675"/>
            <a:ext cx="4312311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  <a:spcBef>
                <a:spcPct val="0"/>
              </a:spcBef>
            </a:pPr>
            <a:r>
              <a:rPr lang="en-US" sz="209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REAL-TIME SITUATIONAL AWARENESS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70657" y="5830155"/>
            <a:ext cx="3806204" cy="1344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6101" lvl="1" indent="-108051" algn="l">
              <a:lnSpc>
                <a:spcPts val="1201"/>
              </a:lnSpc>
              <a:buFont typeface="Arial"/>
              <a:buChar char="•"/>
            </a:pPr>
            <a:r>
              <a:rPr lang="en-US" sz="100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Live map combines vehicles, cameras, congestion and alerts in one operational view.</a:t>
            </a:r>
          </a:p>
          <a:p>
            <a:pPr algn="l">
              <a:lnSpc>
                <a:spcPts val="1201"/>
              </a:lnSpc>
            </a:pPr>
            <a:endParaRPr lang="en-US" sz="1000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101" lvl="1" indent="-108051" algn="l">
              <a:lnSpc>
                <a:spcPts val="1201"/>
              </a:lnSpc>
              <a:buFont typeface="Arial"/>
              <a:buChar char="•"/>
            </a:pPr>
            <a:r>
              <a:rPr lang="en-US" sz="100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Alerts are designed to reach the authority dashboard within a &lt;2 sec p99 target. </a:t>
            </a:r>
          </a:p>
          <a:p>
            <a:pPr algn="l">
              <a:lnSpc>
                <a:spcPts val="1201"/>
              </a:lnSpc>
            </a:pPr>
            <a:endParaRPr lang="en-US" sz="1000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101" lvl="1" indent="-108051" algn="l">
              <a:lnSpc>
                <a:spcPts val="1201"/>
              </a:lnSpc>
              <a:buFont typeface="Arial"/>
              <a:buChar char="•"/>
            </a:pPr>
            <a:r>
              <a:rPr lang="en-US" sz="100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Authorities can move from detection → investigation → action from the same platform.</a:t>
            </a:r>
          </a:p>
          <a:p>
            <a:pPr algn="l">
              <a:lnSpc>
                <a:spcPts val="1201"/>
              </a:lnSpc>
            </a:pPr>
            <a:endParaRPr lang="en-US" sz="1000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Freeform 69"/>
          <p:cNvSpPr/>
          <p:nvPr/>
        </p:nvSpPr>
        <p:spPr>
          <a:xfrm>
            <a:off x="1254830" y="8660324"/>
            <a:ext cx="15975028" cy="776876"/>
          </a:xfrm>
          <a:custGeom>
            <a:avLst/>
            <a:gdLst/>
            <a:ahLst/>
            <a:cxnLst/>
            <a:rect l="l" t="t" r="r" b="b"/>
            <a:pathLst>
              <a:path w="15975028" h="776876">
                <a:moveTo>
                  <a:pt x="0" y="0"/>
                </a:moveTo>
                <a:lnTo>
                  <a:pt x="15975029" y="0"/>
                </a:lnTo>
                <a:lnTo>
                  <a:pt x="15975029" y="776876"/>
                </a:lnTo>
                <a:lnTo>
                  <a:pt x="0" y="77687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1046" b="-11046"/>
            </a:stretch>
          </a:blipFill>
        </p:spPr>
      </p:sp>
      <p:grpSp>
        <p:nvGrpSpPr>
          <p:cNvPr id="70" name="Group 70"/>
          <p:cNvGrpSpPr/>
          <p:nvPr/>
        </p:nvGrpSpPr>
        <p:grpSpPr>
          <a:xfrm>
            <a:off x="13767164" y="4951326"/>
            <a:ext cx="4219173" cy="2181909"/>
            <a:chOff x="0" y="0"/>
            <a:chExt cx="802910" cy="415218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802910" cy="415218"/>
            </a:xfrm>
            <a:custGeom>
              <a:avLst/>
              <a:gdLst/>
              <a:ahLst/>
              <a:cxnLst/>
              <a:rect l="l" t="t" r="r" b="b"/>
              <a:pathLst>
                <a:path w="802910" h="415218">
                  <a:moveTo>
                    <a:pt x="35839" y="0"/>
                  </a:moveTo>
                  <a:lnTo>
                    <a:pt x="767071" y="0"/>
                  </a:lnTo>
                  <a:cubicBezTo>
                    <a:pt x="776576" y="0"/>
                    <a:pt x="785692" y="3776"/>
                    <a:pt x="792413" y="10497"/>
                  </a:cubicBezTo>
                  <a:cubicBezTo>
                    <a:pt x="799134" y="17218"/>
                    <a:pt x="802910" y="26334"/>
                    <a:pt x="802910" y="35839"/>
                  </a:cubicBezTo>
                  <a:lnTo>
                    <a:pt x="802910" y="379379"/>
                  </a:lnTo>
                  <a:cubicBezTo>
                    <a:pt x="802910" y="399172"/>
                    <a:pt x="786864" y="415218"/>
                    <a:pt x="767071" y="415218"/>
                  </a:cubicBezTo>
                  <a:lnTo>
                    <a:pt x="35839" y="415218"/>
                  </a:lnTo>
                  <a:cubicBezTo>
                    <a:pt x="16045" y="415218"/>
                    <a:pt x="0" y="399172"/>
                    <a:pt x="0" y="379379"/>
                  </a:cubicBezTo>
                  <a:lnTo>
                    <a:pt x="0" y="35839"/>
                  </a:lnTo>
                  <a:cubicBezTo>
                    <a:pt x="0" y="16045"/>
                    <a:pt x="16045" y="0"/>
                    <a:pt x="35839" y="0"/>
                  </a:cubicBezTo>
                  <a:close/>
                </a:path>
              </a:pathLst>
            </a:custGeom>
            <a:solidFill>
              <a:srgbClr val="EBF4FF"/>
            </a:solidFill>
            <a:ln w="38100" cap="rnd">
              <a:solidFill>
                <a:srgbClr val="4A7EBB"/>
              </a:solidFill>
              <a:prstDash val="solid"/>
              <a:round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0" y="-19050"/>
              <a:ext cx="802910" cy="4342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14513094" y="5070371"/>
            <a:ext cx="3348564" cy="33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  <a:spcBef>
                <a:spcPct val="0"/>
              </a:spcBef>
            </a:pPr>
            <a:r>
              <a:rPr lang="en-US" sz="209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ECONOMIC BENEFITS</a:t>
            </a:r>
          </a:p>
        </p:txBody>
      </p:sp>
      <p:sp>
        <p:nvSpPr>
          <p:cNvPr id="74" name="Freeform 74"/>
          <p:cNvSpPr/>
          <p:nvPr/>
        </p:nvSpPr>
        <p:spPr>
          <a:xfrm flipH="1">
            <a:off x="-593558" y="2387628"/>
            <a:ext cx="822962" cy="3675915"/>
          </a:xfrm>
          <a:custGeom>
            <a:avLst/>
            <a:gdLst/>
            <a:ahLst/>
            <a:cxnLst/>
            <a:rect l="l" t="t" r="r" b="b"/>
            <a:pathLst>
              <a:path w="184939" h="3736500">
                <a:moveTo>
                  <a:pt x="184939" y="0"/>
                </a:moveTo>
                <a:lnTo>
                  <a:pt x="184939" y="3644031"/>
                </a:lnTo>
                <a:cubicBezTo>
                  <a:pt x="184939" y="3668556"/>
                  <a:pt x="175197" y="3692076"/>
                  <a:pt x="157855" y="3709417"/>
                </a:cubicBezTo>
                <a:cubicBezTo>
                  <a:pt x="140514" y="3726758"/>
                  <a:pt x="116994" y="3736501"/>
                  <a:pt x="92470" y="3736501"/>
                </a:cubicBezTo>
                <a:lnTo>
                  <a:pt x="0" y="3736501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5" name="Freeform 75"/>
          <p:cNvSpPr/>
          <p:nvPr/>
        </p:nvSpPr>
        <p:spPr>
          <a:xfrm>
            <a:off x="14075305" y="5022085"/>
            <a:ext cx="523630" cy="551189"/>
          </a:xfrm>
          <a:custGeom>
            <a:avLst/>
            <a:gdLst/>
            <a:ahLst/>
            <a:cxnLst/>
            <a:rect l="l" t="t" r="r" b="b"/>
            <a:pathLst>
              <a:path w="523630" h="551189">
                <a:moveTo>
                  <a:pt x="0" y="0"/>
                </a:moveTo>
                <a:lnTo>
                  <a:pt x="523630" y="0"/>
                </a:lnTo>
                <a:lnTo>
                  <a:pt x="523630" y="551189"/>
                </a:lnTo>
                <a:lnTo>
                  <a:pt x="0" y="55118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76" name="TextBox 76"/>
          <p:cNvSpPr txBox="1"/>
          <p:nvPr/>
        </p:nvSpPr>
        <p:spPr>
          <a:xfrm>
            <a:off x="5017011" y="3481282"/>
            <a:ext cx="3842114" cy="1805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8140" lvl="1" indent="-109070" algn="l">
              <a:lnSpc>
                <a:spcPts val="1212"/>
              </a:lnSpc>
              <a:buFont typeface="Arial"/>
              <a:buChar char="•"/>
            </a:pPr>
            <a:r>
              <a:rPr lang="en-US" sz="1010" dirty="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Identify congested corridors and traffic hotspots in real time.</a:t>
            </a:r>
          </a:p>
          <a:p>
            <a:pPr algn="l">
              <a:lnSpc>
                <a:spcPts val="1212"/>
              </a:lnSpc>
            </a:pPr>
            <a:endParaRPr lang="en-US" sz="1010" dirty="0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8140" lvl="1" indent="-109070" algn="l">
              <a:lnSpc>
                <a:spcPts val="1212"/>
              </a:lnSpc>
              <a:buFont typeface="Arial"/>
              <a:buChar char="•"/>
            </a:pPr>
            <a:r>
              <a:rPr lang="en-US" sz="1010" dirty="0" err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Analyse</a:t>
            </a:r>
            <a:r>
              <a:rPr lang="en-US" sz="1010" dirty="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 origin–destination patterns to understand how traffic moves across the city.</a:t>
            </a:r>
          </a:p>
          <a:p>
            <a:pPr algn="l">
              <a:lnSpc>
                <a:spcPts val="1212"/>
              </a:lnSpc>
            </a:pPr>
            <a:endParaRPr lang="en-US" sz="1010" dirty="0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8140" lvl="1" indent="-109070" algn="l">
              <a:lnSpc>
                <a:spcPts val="1212"/>
              </a:lnSpc>
              <a:buFont typeface="Arial"/>
              <a:buChar char="•"/>
            </a:pPr>
            <a:r>
              <a:rPr lang="en-US" sz="1010" dirty="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Support better decisions on traffic diversion, infrastructure and peak-hour management.</a:t>
            </a:r>
          </a:p>
          <a:p>
            <a:pPr algn="l">
              <a:lnSpc>
                <a:spcPts val="1212"/>
              </a:lnSpc>
            </a:pPr>
            <a:r>
              <a:rPr lang="en-US" sz="1010" dirty="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Less time in traffic → Faster mobility → Better city-wide traffic flow</a:t>
            </a:r>
          </a:p>
          <a:p>
            <a:pPr algn="l">
              <a:lnSpc>
                <a:spcPts val="1212"/>
              </a:lnSpc>
            </a:pPr>
            <a:endParaRPr lang="en-US" sz="1010" dirty="0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1212"/>
              </a:lnSpc>
            </a:pPr>
            <a:endParaRPr lang="en-US" sz="1010" dirty="0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1212"/>
              </a:lnSpc>
            </a:pPr>
            <a:endParaRPr lang="en-US" sz="1010" dirty="0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1212"/>
              </a:lnSpc>
            </a:pPr>
            <a:endParaRPr lang="en-US" sz="1010" dirty="0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Freeform 77"/>
          <p:cNvSpPr/>
          <p:nvPr/>
        </p:nvSpPr>
        <p:spPr>
          <a:xfrm>
            <a:off x="6308507" y="4973465"/>
            <a:ext cx="5626069" cy="2159771"/>
          </a:xfrm>
          <a:custGeom>
            <a:avLst/>
            <a:gdLst/>
            <a:ahLst/>
            <a:cxnLst/>
            <a:rect l="l" t="t" r="r" b="b"/>
            <a:pathLst>
              <a:path w="5626069" h="2159771">
                <a:moveTo>
                  <a:pt x="0" y="0"/>
                </a:moveTo>
                <a:lnTo>
                  <a:pt x="5626070" y="0"/>
                </a:lnTo>
                <a:lnTo>
                  <a:pt x="5626070" y="2159770"/>
                </a:lnTo>
                <a:lnTo>
                  <a:pt x="0" y="215977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3975" t="-282114" r="-175934" b="-28031"/>
            </a:stretch>
          </a:blipFill>
        </p:spPr>
      </p:sp>
      <p:grpSp>
        <p:nvGrpSpPr>
          <p:cNvPr id="78" name="Group 78"/>
          <p:cNvGrpSpPr/>
          <p:nvPr/>
        </p:nvGrpSpPr>
        <p:grpSpPr>
          <a:xfrm>
            <a:off x="296887" y="7403024"/>
            <a:ext cx="5554580" cy="874090"/>
            <a:chOff x="0" y="0"/>
            <a:chExt cx="1057038" cy="16634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1057038" cy="166340"/>
            </a:xfrm>
            <a:custGeom>
              <a:avLst/>
              <a:gdLst/>
              <a:ahLst/>
              <a:cxnLst/>
              <a:rect l="l" t="t" r="r" b="b"/>
              <a:pathLst>
                <a:path w="1057038" h="166340">
                  <a:moveTo>
                    <a:pt x="27222" y="0"/>
                  </a:moveTo>
                  <a:lnTo>
                    <a:pt x="1029816" y="0"/>
                  </a:lnTo>
                  <a:cubicBezTo>
                    <a:pt x="1037035" y="0"/>
                    <a:pt x="1043960" y="2868"/>
                    <a:pt x="1049065" y="7973"/>
                  </a:cubicBezTo>
                  <a:cubicBezTo>
                    <a:pt x="1054170" y="13078"/>
                    <a:pt x="1057038" y="20003"/>
                    <a:pt x="1057038" y="27222"/>
                  </a:cubicBezTo>
                  <a:lnTo>
                    <a:pt x="1057038" y="139117"/>
                  </a:lnTo>
                  <a:cubicBezTo>
                    <a:pt x="1057038" y="146337"/>
                    <a:pt x="1054170" y="153261"/>
                    <a:pt x="1049065" y="158366"/>
                  </a:cubicBezTo>
                  <a:cubicBezTo>
                    <a:pt x="1043960" y="163471"/>
                    <a:pt x="1037035" y="166340"/>
                    <a:pt x="1029816" y="166340"/>
                  </a:cubicBezTo>
                  <a:lnTo>
                    <a:pt x="27222" y="166340"/>
                  </a:lnTo>
                  <a:cubicBezTo>
                    <a:pt x="20003" y="166340"/>
                    <a:pt x="13078" y="163471"/>
                    <a:pt x="7973" y="158366"/>
                  </a:cubicBezTo>
                  <a:cubicBezTo>
                    <a:pt x="2868" y="153261"/>
                    <a:pt x="0" y="146337"/>
                    <a:pt x="0" y="139117"/>
                  </a:cubicBezTo>
                  <a:lnTo>
                    <a:pt x="0" y="27222"/>
                  </a:lnTo>
                  <a:cubicBezTo>
                    <a:pt x="0" y="20003"/>
                    <a:pt x="2868" y="13078"/>
                    <a:pt x="7973" y="7973"/>
                  </a:cubicBezTo>
                  <a:cubicBezTo>
                    <a:pt x="13078" y="2868"/>
                    <a:pt x="20003" y="0"/>
                    <a:pt x="27222" y="0"/>
                  </a:cubicBezTo>
                  <a:close/>
                </a:path>
              </a:pathLst>
            </a:custGeom>
            <a:solidFill>
              <a:srgbClr val="EBF4FF"/>
            </a:solidFill>
            <a:ln w="38100" cap="rnd">
              <a:solidFill>
                <a:srgbClr val="4A7EBB"/>
              </a:solidFill>
              <a:prstDash val="solid"/>
              <a:round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0" y="-19050"/>
              <a:ext cx="1057038" cy="185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209205" y="7337411"/>
            <a:ext cx="1045625" cy="1045625"/>
            <a:chOff x="0" y="0"/>
            <a:chExt cx="812800" cy="81280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70294" y="0"/>
                  </a:moveTo>
                  <a:lnTo>
                    <a:pt x="642506" y="0"/>
                  </a:lnTo>
                  <a:cubicBezTo>
                    <a:pt x="736557" y="0"/>
                    <a:pt x="812800" y="76243"/>
                    <a:pt x="812800" y="170294"/>
                  </a:cubicBezTo>
                  <a:lnTo>
                    <a:pt x="812800" y="642506"/>
                  </a:lnTo>
                  <a:cubicBezTo>
                    <a:pt x="812800" y="736557"/>
                    <a:pt x="736557" y="812800"/>
                    <a:pt x="642506" y="812800"/>
                  </a:cubicBezTo>
                  <a:lnTo>
                    <a:pt x="170294" y="812800"/>
                  </a:lnTo>
                  <a:cubicBezTo>
                    <a:pt x="76243" y="812800"/>
                    <a:pt x="0" y="736557"/>
                    <a:pt x="0" y="642506"/>
                  </a:cubicBezTo>
                  <a:lnTo>
                    <a:pt x="0" y="170294"/>
                  </a:lnTo>
                  <a:cubicBezTo>
                    <a:pt x="0" y="76243"/>
                    <a:pt x="76243" y="0"/>
                    <a:pt x="170294" y="0"/>
                  </a:cubicBezTo>
                  <a:close/>
                </a:path>
              </a:pathLst>
            </a:custGeom>
            <a:blipFill>
              <a:blip r:embed="rId19"/>
              <a:stretch>
                <a:fillRect l="-42307" r="-42307"/>
              </a:stretch>
            </a:blipFill>
          </p:spPr>
        </p:sp>
      </p:grpSp>
      <p:grpSp>
        <p:nvGrpSpPr>
          <p:cNvPr id="83" name="Group 83"/>
          <p:cNvGrpSpPr/>
          <p:nvPr/>
        </p:nvGrpSpPr>
        <p:grpSpPr>
          <a:xfrm>
            <a:off x="12731076" y="7342785"/>
            <a:ext cx="5101900" cy="874090"/>
            <a:chOff x="0" y="0"/>
            <a:chExt cx="970893" cy="16634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970893" cy="166340"/>
            </a:xfrm>
            <a:custGeom>
              <a:avLst/>
              <a:gdLst/>
              <a:ahLst/>
              <a:cxnLst/>
              <a:rect l="l" t="t" r="r" b="b"/>
              <a:pathLst>
                <a:path w="970893" h="166340">
                  <a:moveTo>
                    <a:pt x="29638" y="0"/>
                  </a:moveTo>
                  <a:lnTo>
                    <a:pt x="941255" y="0"/>
                  </a:lnTo>
                  <a:cubicBezTo>
                    <a:pt x="949115" y="0"/>
                    <a:pt x="956654" y="3123"/>
                    <a:pt x="962212" y="8681"/>
                  </a:cubicBezTo>
                  <a:cubicBezTo>
                    <a:pt x="967770" y="14239"/>
                    <a:pt x="970893" y="21777"/>
                    <a:pt x="970893" y="29638"/>
                  </a:cubicBezTo>
                  <a:lnTo>
                    <a:pt x="970893" y="136702"/>
                  </a:lnTo>
                  <a:cubicBezTo>
                    <a:pt x="970893" y="144562"/>
                    <a:pt x="967770" y="152101"/>
                    <a:pt x="962212" y="157659"/>
                  </a:cubicBezTo>
                  <a:cubicBezTo>
                    <a:pt x="956654" y="163217"/>
                    <a:pt x="949115" y="166340"/>
                    <a:pt x="941255" y="166340"/>
                  </a:cubicBezTo>
                  <a:lnTo>
                    <a:pt x="29638" y="166340"/>
                  </a:lnTo>
                  <a:cubicBezTo>
                    <a:pt x="21777" y="166340"/>
                    <a:pt x="14239" y="163217"/>
                    <a:pt x="8681" y="157659"/>
                  </a:cubicBezTo>
                  <a:cubicBezTo>
                    <a:pt x="3123" y="152101"/>
                    <a:pt x="0" y="144562"/>
                    <a:pt x="0" y="136702"/>
                  </a:cubicBezTo>
                  <a:lnTo>
                    <a:pt x="0" y="29638"/>
                  </a:lnTo>
                  <a:cubicBezTo>
                    <a:pt x="0" y="21777"/>
                    <a:pt x="3123" y="14239"/>
                    <a:pt x="8681" y="8681"/>
                  </a:cubicBezTo>
                  <a:cubicBezTo>
                    <a:pt x="14239" y="3123"/>
                    <a:pt x="21777" y="0"/>
                    <a:pt x="29638" y="0"/>
                  </a:cubicBezTo>
                  <a:close/>
                </a:path>
              </a:pathLst>
            </a:custGeom>
            <a:solidFill>
              <a:srgbClr val="EBF4FF"/>
            </a:solidFill>
            <a:ln w="38100" cap="rnd">
              <a:solidFill>
                <a:srgbClr val="4A7EBB"/>
              </a:solidFill>
              <a:prstDash val="solid"/>
              <a:round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0" y="-19050"/>
              <a:ext cx="970893" cy="185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2583587" y="7257017"/>
            <a:ext cx="1098506" cy="1098506"/>
            <a:chOff x="0" y="0"/>
            <a:chExt cx="812800" cy="81280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62097" y="0"/>
                  </a:moveTo>
                  <a:lnTo>
                    <a:pt x="650703" y="0"/>
                  </a:lnTo>
                  <a:cubicBezTo>
                    <a:pt x="740227" y="0"/>
                    <a:pt x="812800" y="72573"/>
                    <a:pt x="812800" y="162097"/>
                  </a:cubicBezTo>
                  <a:lnTo>
                    <a:pt x="812800" y="650703"/>
                  </a:lnTo>
                  <a:cubicBezTo>
                    <a:pt x="812800" y="740227"/>
                    <a:pt x="740227" y="812800"/>
                    <a:pt x="650703" y="812800"/>
                  </a:cubicBezTo>
                  <a:lnTo>
                    <a:pt x="162097" y="812800"/>
                  </a:lnTo>
                  <a:cubicBezTo>
                    <a:pt x="72573" y="812800"/>
                    <a:pt x="0" y="740227"/>
                    <a:pt x="0" y="650703"/>
                  </a:cubicBezTo>
                  <a:lnTo>
                    <a:pt x="0" y="162097"/>
                  </a:lnTo>
                  <a:cubicBezTo>
                    <a:pt x="0" y="72573"/>
                    <a:pt x="72573" y="0"/>
                    <a:pt x="162097" y="0"/>
                  </a:cubicBez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  <a:ln w="9525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id="88" name="TextBox 88"/>
          <p:cNvSpPr txBox="1"/>
          <p:nvPr/>
        </p:nvSpPr>
        <p:spPr>
          <a:xfrm>
            <a:off x="5682012" y="2776538"/>
            <a:ext cx="3348564" cy="642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  <a:spcBef>
                <a:spcPct val="0"/>
              </a:spcBef>
            </a:pPr>
            <a:r>
              <a:rPr lang="en-US" sz="209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SMARTER TRAFFIC MANAGEMENT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0401029" y="2828646"/>
            <a:ext cx="3092660" cy="33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  <a:spcBef>
                <a:spcPct val="0"/>
              </a:spcBef>
            </a:pPr>
            <a:r>
              <a:rPr lang="en-US" sz="209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ANOMOLY DETECTION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9563100" y="3532465"/>
            <a:ext cx="3806204" cy="1344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6101" lvl="1" indent="-108051" algn="l">
              <a:lnSpc>
                <a:spcPts val="1201"/>
              </a:lnSpc>
              <a:buFont typeface="Arial"/>
              <a:buChar char="•"/>
            </a:pPr>
            <a:r>
              <a:rPr lang="en-US" sz="100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Detect blacklisted/wanted vehicles as they appear at monitored locations.</a:t>
            </a:r>
          </a:p>
          <a:p>
            <a:pPr algn="l">
              <a:lnSpc>
                <a:spcPts val="1201"/>
              </a:lnSpc>
            </a:pPr>
            <a:endParaRPr lang="en-US" sz="1000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101" lvl="1" indent="-108051" algn="l">
              <a:lnSpc>
                <a:spcPts val="1201"/>
              </a:lnSpc>
              <a:buFont typeface="Arial"/>
              <a:buChar char="•"/>
            </a:pPr>
            <a:r>
              <a:rPr lang="en-US" sz="100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Flag impossible travel / potential cloned plates when the same identity appears at physically incompatible locations.</a:t>
            </a:r>
          </a:p>
          <a:p>
            <a:pPr algn="l">
              <a:lnSpc>
                <a:spcPts val="1201"/>
              </a:lnSpc>
            </a:pPr>
            <a:endParaRPr lang="en-US" sz="1000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101" lvl="1" indent="-108051" algn="l">
              <a:lnSpc>
                <a:spcPts val="1201"/>
              </a:lnSpc>
              <a:buFont typeface="Arial"/>
              <a:buChar char="•"/>
            </a:pPr>
            <a:r>
              <a:rPr lang="en-US" sz="100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Detect unusual traffic or camera behaviour through continuous monitoring.</a:t>
            </a:r>
          </a:p>
          <a:p>
            <a:pPr algn="l">
              <a:lnSpc>
                <a:spcPts val="1201"/>
              </a:lnSpc>
            </a:pPr>
            <a:endParaRPr lang="en-US" sz="1000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TextBox 91"/>
          <p:cNvSpPr txBox="1"/>
          <p:nvPr/>
        </p:nvSpPr>
        <p:spPr>
          <a:xfrm>
            <a:off x="14768997" y="2763357"/>
            <a:ext cx="3092660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  <a:spcBef>
                <a:spcPct val="0"/>
              </a:spcBef>
            </a:pPr>
            <a:r>
              <a:rPr lang="en-US" sz="209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BETTER CAMERA UTILISATION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4007828" y="3593437"/>
            <a:ext cx="3806204" cy="1047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6101" lvl="1" indent="-108051" algn="l">
              <a:lnSpc>
                <a:spcPts val="1201"/>
              </a:lnSpc>
              <a:buFont typeface="Arial"/>
              <a:buChar char="•"/>
            </a:pPr>
            <a:r>
              <a:rPr lang="en-US" sz="100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Convert individual camera detections into city-wide intelligence.</a:t>
            </a:r>
          </a:p>
          <a:p>
            <a:pPr algn="l">
              <a:lnSpc>
                <a:spcPts val="1201"/>
              </a:lnSpc>
            </a:pPr>
            <a:endParaRPr lang="en-US" sz="1000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101" lvl="1" indent="-108051" algn="l">
              <a:lnSpc>
                <a:spcPts val="1201"/>
              </a:lnSpc>
              <a:buFont typeface="Arial"/>
              <a:buChar char="•"/>
            </a:pPr>
            <a:r>
              <a:rPr lang="en-US" sz="100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Monitor camera health, data freshness and inactive nodes.</a:t>
            </a:r>
          </a:p>
          <a:p>
            <a:pPr algn="l">
              <a:lnSpc>
                <a:spcPts val="1201"/>
              </a:lnSpc>
            </a:pPr>
            <a:endParaRPr lang="en-US" sz="1000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101" lvl="1" indent="-108051" algn="l">
              <a:lnSpc>
                <a:spcPts val="1201"/>
              </a:lnSpc>
              <a:buFont typeface="Arial"/>
              <a:buChar char="•"/>
            </a:pPr>
            <a:r>
              <a:rPr lang="en-US" sz="100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Existing cameras can feed the platform through a common event interface instead of requiring a completely new system.</a:t>
            </a:r>
          </a:p>
          <a:p>
            <a:pPr algn="l">
              <a:lnSpc>
                <a:spcPts val="1201"/>
              </a:lnSpc>
            </a:pPr>
            <a:endParaRPr lang="en-US" sz="1000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TextBox 93"/>
          <p:cNvSpPr txBox="1"/>
          <p:nvPr/>
        </p:nvSpPr>
        <p:spPr>
          <a:xfrm>
            <a:off x="13990968" y="5640662"/>
            <a:ext cx="3806204" cy="1492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6101" lvl="1" indent="-108051" algn="l">
              <a:lnSpc>
                <a:spcPts val="1201"/>
              </a:lnSpc>
              <a:buFont typeface="Arial"/>
              <a:buChar char="•"/>
            </a:pPr>
            <a:r>
              <a:rPr lang="en-US" sz="100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Reduced manual investigation effort → less time and manpower spent correlating CCTV/ANPR records.</a:t>
            </a:r>
          </a:p>
          <a:p>
            <a:pPr algn="l">
              <a:lnSpc>
                <a:spcPts val="1201"/>
              </a:lnSpc>
            </a:pPr>
            <a:endParaRPr lang="en-US" sz="1000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101" lvl="1" indent="-108051" algn="l">
              <a:lnSpc>
                <a:spcPts val="1201"/>
              </a:lnSpc>
              <a:buFont typeface="Arial"/>
              <a:buChar char="•"/>
            </a:pPr>
            <a:r>
              <a:rPr lang="en-US" sz="100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Better use of existing infrastructure → extracts more intelligence from deployed cameras without requiring an entirely new surveillance network.</a:t>
            </a:r>
          </a:p>
          <a:p>
            <a:pPr algn="l">
              <a:lnSpc>
                <a:spcPts val="1201"/>
              </a:lnSpc>
            </a:pPr>
            <a:endParaRPr lang="en-US" sz="1000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101" lvl="1" indent="-108051" algn="l">
              <a:lnSpc>
                <a:spcPts val="1201"/>
              </a:lnSpc>
              <a:buFont typeface="Arial"/>
              <a:buChar char="•"/>
            </a:pPr>
            <a:r>
              <a:rPr lang="en-US" sz="100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Lower operational costs → event-based processing reduces the need to centrally move and store continuous video.</a:t>
            </a:r>
          </a:p>
          <a:p>
            <a:pPr algn="l">
              <a:lnSpc>
                <a:spcPts val="1201"/>
              </a:lnSpc>
            </a:pPr>
            <a:endParaRPr lang="en-US" sz="1000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TextBox 94"/>
          <p:cNvSpPr txBox="1"/>
          <p:nvPr/>
        </p:nvSpPr>
        <p:spPr>
          <a:xfrm>
            <a:off x="7181522" y="8233190"/>
            <a:ext cx="4422007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8"/>
              </a:lnSpc>
              <a:spcBef>
                <a:spcPct val="0"/>
              </a:spcBef>
            </a:pPr>
            <a:r>
              <a:rPr lang="en-US" sz="239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MEASURABLE IMPACTS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351363" y="7526849"/>
            <a:ext cx="4500103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8"/>
              </a:lnSpc>
              <a:spcBef>
                <a:spcPct val="0"/>
              </a:spcBef>
            </a:pPr>
            <a:r>
              <a:rPr lang="en-US" sz="2090" b="1" u="sng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21" tooltip="https://morth.gov.in"/>
              </a:rPr>
              <a:t>Ministry of Road Transport and Highways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4152970" y="7495185"/>
            <a:ext cx="4040727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2"/>
              </a:lnSpc>
              <a:spcBef>
                <a:spcPct val="0"/>
              </a:spcBef>
            </a:pPr>
            <a:r>
              <a:rPr lang="en-US" sz="2476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22" tooltip="https://traffic.delhipolice.gov.in"/>
              </a:rPr>
              <a:t>Delhi Traffic Police</a:t>
            </a:r>
          </a:p>
        </p:txBody>
      </p:sp>
      <p:sp>
        <p:nvSpPr>
          <p:cNvPr id="97" name="Freeform 74">
            <a:extLst>
              <a:ext uri="{FF2B5EF4-FFF2-40B4-BE49-F238E27FC236}">
                <a16:creationId xmlns:a16="http://schemas.microsoft.com/office/drawing/2014/main" id="{DEA77DEF-CD80-AEAD-0AA1-B196D26CADC2}"/>
              </a:ext>
            </a:extLst>
          </p:cNvPr>
          <p:cNvSpPr/>
          <p:nvPr/>
        </p:nvSpPr>
        <p:spPr>
          <a:xfrm>
            <a:off x="18183653" y="2458180"/>
            <a:ext cx="322971" cy="3675915"/>
          </a:xfrm>
          <a:custGeom>
            <a:avLst/>
            <a:gdLst/>
            <a:ahLst/>
            <a:cxnLst/>
            <a:rect l="l" t="t" r="r" b="b"/>
            <a:pathLst>
              <a:path w="184939" h="3736500">
                <a:moveTo>
                  <a:pt x="184939" y="0"/>
                </a:moveTo>
                <a:lnTo>
                  <a:pt x="184939" y="3644031"/>
                </a:lnTo>
                <a:cubicBezTo>
                  <a:pt x="184939" y="3668556"/>
                  <a:pt x="175197" y="3692076"/>
                  <a:pt x="157855" y="3709417"/>
                </a:cubicBezTo>
                <a:cubicBezTo>
                  <a:pt x="140514" y="3726758"/>
                  <a:pt x="116994" y="3736501"/>
                  <a:pt x="92470" y="3736501"/>
                </a:cubicBezTo>
                <a:lnTo>
                  <a:pt x="0" y="3736501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8" name="Freeform 74">
            <a:extLst>
              <a:ext uri="{FF2B5EF4-FFF2-40B4-BE49-F238E27FC236}">
                <a16:creationId xmlns:a16="http://schemas.microsoft.com/office/drawing/2014/main" id="{4511014D-7779-873B-33C6-B26BA7934227}"/>
              </a:ext>
            </a:extLst>
          </p:cNvPr>
          <p:cNvSpPr/>
          <p:nvPr/>
        </p:nvSpPr>
        <p:spPr>
          <a:xfrm>
            <a:off x="18031253" y="2317688"/>
            <a:ext cx="522751" cy="3850933"/>
          </a:xfrm>
          <a:custGeom>
            <a:avLst/>
            <a:gdLst/>
            <a:ahLst/>
            <a:cxnLst/>
            <a:rect l="l" t="t" r="r" b="b"/>
            <a:pathLst>
              <a:path w="184939" h="3736500">
                <a:moveTo>
                  <a:pt x="184939" y="0"/>
                </a:moveTo>
                <a:lnTo>
                  <a:pt x="184939" y="3644031"/>
                </a:lnTo>
                <a:cubicBezTo>
                  <a:pt x="184939" y="3668556"/>
                  <a:pt x="175197" y="3692076"/>
                  <a:pt x="157855" y="3709417"/>
                </a:cubicBezTo>
                <a:cubicBezTo>
                  <a:pt x="140514" y="3726758"/>
                  <a:pt x="116994" y="3736501"/>
                  <a:pt x="92470" y="3736501"/>
                </a:cubicBezTo>
                <a:lnTo>
                  <a:pt x="0" y="3736501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277835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27170" y="136606"/>
            <a:ext cx="1915887" cy="1249101"/>
            <a:chOff x="0" y="0"/>
            <a:chExt cx="2554516" cy="1665468"/>
          </a:xfrm>
        </p:grpSpPr>
        <p:sp>
          <p:nvSpPr>
            <p:cNvPr id="11" name="Freeform 11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Baazigars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518008" y="85649"/>
            <a:ext cx="2557718" cy="1300059"/>
            <a:chOff x="0" y="0"/>
            <a:chExt cx="4418241" cy="2245741"/>
          </a:xfrm>
        </p:grpSpPr>
        <p:sp>
          <p:nvSpPr>
            <p:cNvPr id="14" name="Freeform 14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6741000" y="9635728"/>
            <a:ext cx="4806001" cy="547688"/>
            <a:chOff x="0" y="0"/>
            <a:chExt cx="6408001" cy="7302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Team: Baazigars | SIH26127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150448" y="2233580"/>
            <a:ext cx="15987105" cy="2777759"/>
          </a:xfrm>
          <a:custGeom>
            <a:avLst/>
            <a:gdLst/>
            <a:ahLst/>
            <a:cxnLst/>
            <a:rect l="l" t="t" r="r" b="b"/>
            <a:pathLst>
              <a:path w="15987105" h="2777759">
                <a:moveTo>
                  <a:pt x="0" y="0"/>
                </a:moveTo>
                <a:lnTo>
                  <a:pt x="15987104" y="0"/>
                </a:lnTo>
                <a:lnTo>
                  <a:pt x="15987104" y="2777759"/>
                </a:lnTo>
                <a:lnTo>
                  <a:pt x="0" y="27777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2040780" y="1369595"/>
            <a:ext cx="14206441" cy="790919"/>
            <a:chOff x="0" y="0"/>
            <a:chExt cx="2923136" cy="16274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923136" cy="162741"/>
            </a:xfrm>
            <a:custGeom>
              <a:avLst/>
              <a:gdLst/>
              <a:ahLst/>
              <a:cxnLst/>
              <a:rect l="l" t="t" r="r" b="b"/>
              <a:pathLst>
                <a:path w="2923136" h="162741">
                  <a:moveTo>
                    <a:pt x="10644" y="0"/>
                  </a:moveTo>
                  <a:lnTo>
                    <a:pt x="2912492" y="0"/>
                  </a:lnTo>
                  <a:cubicBezTo>
                    <a:pt x="2918371" y="0"/>
                    <a:pt x="2923136" y="4765"/>
                    <a:pt x="2923136" y="10644"/>
                  </a:cubicBezTo>
                  <a:lnTo>
                    <a:pt x="2923136" y="152097"/>
                  </a:lnTo>
                  <a:cubicBezTo>
                    <a:pt x="2923136" y="154920"/>
                    <a:pt x="2922014" y="157627"/>
                    <a:pt x="2920018" y="159623"/>
                  </a:cubicBezTo>
                  <a:cubicBezTo>
                    <a:pt x="2918022" y="161619"/>
                    <a:pt x="2915315" y="162741"/>
                    <a:pt x="2912492" y="162741"/>
                  </a:cubicBezTo>
                  <a:lnTo>
                    <a:pt x="10644" y="162741"/>
                  </a:lnTo>
                  <a:cubicBezTo>
                    <a:pt x="4765" y="162741"/>
                    <a:pt x="0" y="157975"/>
                    <a:pt x="0" y="152097"/>
                  </a:cubicBezTo>
                  <a:lnTo>
                    <a:pt x="0" y="10644"/>
                  </a:lnTo>
                  <a:cubicBezTo>
                    <a:pt x="0" y="7821"/>
                    <a:pt x="1121" y="5114"/>
                    <a:pt x="3117" y="3117"/>
                  </a:cubicBezTo>
                  <a:cubicBezTo>
                    <a:pt x="5114" y="1121"/>
                    <a:pt x="7821" y="0"/>
                    <a:pt x="10644" y="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2923136" cy="1817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TriNetra combines established research in ANPR, OCR, vehicle re-identification and traffic simulation with scalable event-driven systems to build a unified city-wide intelligence platform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821847" y="5641727"/>
            <a:ext cx="413705" cy="413705"/>
          </a:xfrm>
          <a:custGeom>
            <a:avLst/>
            <a:gdLst/>
            <a:ahLst/>
            <a:cxnLst/>
            <a:rect l="l" t="t" r="r" b="b"/>
            <a:pathLst>
              <a:path w="413705" h="413705">
                <a:moveTo>
                  <a:pt x="0" y="0"/>
                </a:moveTo>
                <a:lnTo>
                  <a:pt x="413706" y="0"/>
                </a:lnTo>
                <a:lnTo>
                  <a:pt x="413706" y="413706"/>
                </a:lnTo>
                <a:lnTo>
                  <a:pt x="0" y="4137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150448" y="5151029"/>
            <a:ext cx="1129105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SIH26127 — City-Wide AI Engine for Multi-Camera ANPR Trajectory Tracking and Urban Traffic Analytics</a:t>
            </a:r>
          </a:p>
        </p:txBody>
      </p:sp>
      <p:sp>
        <p:nvSpPr>
          <p:cNvPr id="24" name="Freeform 24"/>
          <p:cNvSpPr/>
          <p:nvPr/>
        </p:nvSpPr>
        <p:spPr>
          <a:xfrm>
            <a:off x="8154387" y="5641727"/>
            <a:ext cx="413705" cy="413705"/>
          </a:xfrm>
          <a:custGeom>
            <a:avLst/>
            <a:gdLst/>
            <a:ahLst/>
            <a:cxnLst/>
            <a:rect l="l" t="t" r="r" b="b"/>
            <a:pathLst>
              <a:path w="413705" h="413705">
                <a:moveTo>
                  <a:pt x="0" y="0"/>
                </a:moveTo>
                <a:lnTo>
                  <a:pt x="413706" y="0"/>
                </a:lnTo>
                <a:lnTo>
                  <a:pt x="413706" y="413706"/>
                </a:lnTo>
                <a:lnTo>
                  <a:pt x="0" y="4137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1213938" y="5474408"/>
            <a:ext cx="6252839" cy="890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 u="sng">
                <a:solidFill>
                  <a:srgbClr val="5170FF"/>
                </a:solidFill>
                <a:latin typeface="Arimo Bold"/>
                <a:ea typeface="Arimo Bold"/>
                <a:cs typeface="Arimo Bold"/>
                <a:sym typeface="Arimo Bold"/>
                <a:hlinkClick r:id="rId8" tooltip="https://www.cv-foundation.org/openaccess/content_cvpr_2016/papers/Redmon_You_Only_Look_CVPR_2016_paper.pdf"/>
              </a:rPr>
              <a:t>https://www.cv-foundation.org/openaccess/content_cvpr_2016/papers/Redmon_You_Only_Look_CVPR_2016_paper.pdf</a:t>
            </a:r>
          </a:p>
        </p:txBody>
      </p:sp>
      <p:sp>
        <p:nvSpPr>
          <p:cNvPr id="26" name="Freeform 26"/>
          <p:cNvSpPr/>
          <p:nvPr/>
        </p:nvSpPr>
        <p:spPr>
          <a:xfrm>
            <a:off x="736742" y="6782030"/>
            <a:ext cx="413705" cy="413705"/>
          </a:xfrm>
          <a:custGeom>
            <a:avLst/>
            <a:gdLst/>
            <a:ahLst/>
            <a:cxnLst/>
            <a:rect l="l" t="t" r="r" b="b"/>
            <a:pathLst>
              <a:path w="413705" h="413705">
                <a:moveTo>
                  <a:pt x="0" y="0"/>
                </a:moveTo>
                <a:lnTo>
                  <a:pt x="413706" y="0"/>
                </a:lnTo>
                <a:lnTo>
                  <a:pt x="413706" y="413705"/>
                </a:lnTo>
                <a:lnTo>
                  <a:pt x="0" y="413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8154387" y="6782030"/>
            <a:ext cx="413705" cy="413705"/>
          </a:xfrm>
          <a:custGeom>
            <a:avLst/>
            <a:gdLst/>
            <a:ahLst/>
            <a:cxnLst/>
            <a:rect l="l" t="t" r="r" b="b"/>
            <a:pathLst>
              <a:path w="413705" h="413705">
                <a:moveTo>
                  <a:pt x="0" y="0"/>
                </a:moveTo>
                <a:lnTo>
                  <a:pt x="413706" y="0"/>
                </a:lnTo>
                <a:lnTo>
                  <a:pt x="413706" y="413705"/>
                </a:lnTo>
                <a:lnTo>
                  <a:pt x="0" y="413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0750622" y="6836483"/>
            <a:ext cx="4419749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 u="sng">
                <a:solidFill>
                  <a:srgbClr val="5170FF"/>
                </a:solidFill>
                <a:latin typeface="Arimo Bold"/>
                <a:ea typeface="Arimo Bold"/>
                <a:cs typeface="Arimo Bold"/>
                <a:sym typeface="Arimo Bold"/>
                <a:hlinkClick r:id="rId9" tooltip="https://share.google/FnpUiPvKHbfVt4ulp"/>
              </a:rPr>
              <a:t>https://share.google/FnpUiPvKHbfVt4ulp</a:t>
            </a:r>
          </a:p>
        </p:txBody>
      </p:sp>
      <p:sp>
        <p:nvSpPr>
          <p:cNvPr id="29" name="Freeform 29"/>
          <p:cNvSpPr/>
          <p:nvPr/>
        </p:nvSpPr>
        <p:spPr>
          <a:xfrm>
            <a:off x="8154387" y="7808033"/>
            <a:ext cx="413705" cy="413705"/>
          </a:xfrm>
          <a:custGeom>
            <a:avLst/>
            <a:gdLst/>
            <a:ahLst/>
            <a:cxnLst/>
            <a:rect l="l" t="t" r="r" b="b"/>
            <a:pathLst>
              <a:path w="413705" h="413705">
                <a:moveTo>
                  <a:pt x="0" y="0"/>
                </a:moveTo>
                <a:lnTo>
                  <a:pt x="413706" y="0"/>
                </a:lnTo>
                <a:lnTo>
                  <a:pt x="413706" y="413705"/>
                </a:lnTo>
                <a:lnTo>
                  <a:pt x="0" y="413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30" name="Group 30"/>
          <p:cNvGrpSpPr/>
          <p:nvPr/>
        </p:nvGrpSpPr>
        <p:grpSpPr>
          <a:xfrm>
            <a:off x="15581405" y="101761"/>
            <a:ext cx="2494321" cy="1267835"/>
            <a:chOff x="0" y="0"/>
            <a:chExt cx="4418241" cy="224574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70" r="-270"/>
              </a:stretch>
            </a:blipFill>
          </p:spPr>
        </p:sp>
      </p:grpSp>
      <p:sp>
        <p:nvSpPr>
          <p:cNvPr id="32" name="Freeform 32"/>
          <p:cNvSpPr/>
          <p:nvPr/>
        </p:nvSpPr>
        <p:spPr>
          <a:xfrm>
            <a:off x="736742" y="7954917"/>
            <a:ext cx="413705" cy="413705"/>
          </a:xfrm>
          <a:custGeom>
            <a:avLst/>
            <a:gdLst/>
            <a:ahLst/>
            <a:cxnLst/>
            <a:rect l="l" t="t" r="r" b="b"/>
            <a:pathLst>
              <a:path w="413705" h="413705">
                <a:moveTo>
                  <a:pt x="0" y="0"/>
                </a:moveTo>
                <a:lnTo>
                  <a:pt x="413706" y="0"/>
                </a:lnTo>
                <a:lnTo>
                  <a:pt x="413706" y="413705"/>
                </a:lnTo>
                <a:lnTo>
                  <a:pt x="0" y="413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1754664" y="7836016"/>
            <a:ext cx="4674543" cy="325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u="sng">
                <a:solidFill>
                  <a:srgbClr val="5170FF"/>
                </a:solidFill>
                <a:latin typeface="Arimo Bold"/>
                <a:ea typeface="Arimo Bold"/>
                <a:cs typeface="Arimo Bold"/>
                <a:sym typeface="Arimo Bold"/>
                <a:hlinkClick r:id="rId11" tooltip="https://pubmed.ncbi.nlm.nih.gov/41846120/"/>
              </a:rPr>
              <a:t>https://pubmed.ncbi.nlm.nih.gov/41846120/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62174" y="5762379"/>
            <a:ext cx="2795071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Adaptive Traffic Signals :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283866" y="5502983"/>
            <a:ext cx="3613346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 u="sng">
                <a:solidFill>
                  <a:srgbClr val="5170FF"/>
                </a:solidFill>
                <a:latin typeface="Arimo Bold"/>
                <a:ea typeface="Arimo Bold"/>
                <a:cs typeface="Arimo Bold"/>
                <a:sym typeface="Arimo Bold"/>
                <a:hlinkClick r:id="rId12" tooltip="https://www.researchgate.net/publication/377677383_Traffic_Management_System_Using_YOLO_Algorithm"/>
              </a:rPr>
              <a:t>https://www.researchgate.net/publication/377677383_Traffic_Management_System_Using_YOLO_Algorithm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85114" y="6909985"/>
            <a:ext cx="2426771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Indian Traffic Dataset: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504831" y="7816172"/>
            <a:ext cx="3613346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 u="sng">
                <a:solidFill>
                  <a:srgbClr val="5170FF"/>
                </a:solidFill>
                <a:latin typeface="Arimo Bold"/>
                <a:ea typeface="Arimo Bold"/>
                <a:cs typeface="Arimo Bold"/>
                <a:sym typeface="Arimo Bold"/>
                <a:hlinkClick r:id="rId13" tooltip="https://www.researchgate.net/publication/224793504_SUMO_Simulation_of_Urban_MObility_An_open-source_traffic_simulation"/>
              </a:rPr>
              <a:t>https://www.researchgate.net/publication/224793504_SUMO_Simulation_of_Urban_MObility_An_open-source_traffic_simulation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62174" y="7852960"/>
            <a:ext cx="2142657" cy="806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1"/>
              </a:lnSpc>
            </a:pPr>
            <a:endParaRPr/>
          </a:p>
          <a:p>
            <a:pPr algn="ctr">
              <a:lnSpc>
                <a:spcPts val="2101"/>
              </a:lnSpc>
            </a:pPr>
            <a:r>
              <a:rPr lang="en-US" sz="175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Traffic Simulation :</a:t>
            </a:r>
          </a:p>
          <a:p>
            <a:pPr algn="ctr">
              <a:lnSpc>
                <a:spcPts val="2101"/>
              </a:lnSpc>
              <a:spcBef>
                <a:spcPct val="0"/>
              </a:spcBef>
            </a:pPr>
            <a:endParaRPr lang="en-US" sz="1751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4050009" y="6909985"/>
            <a:ext cx="3613346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 u="sng">
                <a:solidFill>
                  <a:srgbClr val="5170FF"/>
                </a:solidFill>
                <a:latin typeface="Arimo Bold"/>
                <a:ea typeface="Arimo Bold"/>
                <a:cs typeface="Arimo Bold"/>
                <a:sym typeface="Arimo Bold"/>
                <a:hlinkClick r:id="rId14" tooltip="https://arxiv.org/html/2507.19912v1"/>
              </a:rPr>
              <a:t>https://arxiv.org/html/2507.19912v1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720493" y="5696180"/>
            <a:ext cx="2388671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Real-Time Detection :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662601" y="6836483"/>
            <a:ext cx="1992771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ANPR for Trucks :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625243" y="7862485"/>
            <a:ext cx="3072271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License Plate Recognition 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2258</Words>
  <Application>Microsoft Office PowerPoint</Application>
  <PresentationFormat>Custom</PresentationFormat>
  <Paragraphs>353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Calibri (MS)</vt:lpstr>
      <vt:lpstr>Arimo Bold</vt:lpstr>
      <vt:lpstr>Calibri</vt:lpstr>
      <vt:lpstr>Open Sauce Bold</vt:lpstr>
      <vt:lpstr>Fraunces Semi-Bold</vt:lpstr>
      <vt:lpstr>Arial</vt:lpstr>
      <vt:lpstr>Arimo</vt:lpstr>
      <vt:lpstr>Canva Sans Bold</vt:lpstr>
      <vt:lpstr>Arial Bold</vt:lpstr>
      <vt:lpstr>Times New Roman Bold</vt:lpstr>
      <vt:lpstr>Garamond Bold</vt:lpstr>
      <vt:lpstr>Arimo Bold Italics</vt:lpstr>
      <vt:lpstr>Calibri (MS) Bold</vt:lpstr>
      <vt:lpstr>Open Sauce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SIH2025-IDEA-Presentation-Format.pptx</dc:title>
  <dc:creator>INTEL</dc:creator>
  <cp:lastModifiedBy>INTEL</cp:lastModifiedBy>
  <cp:revision>3</cp:revision>
  <dcterms:created xsi:type="dcterms:W3CDTF">2006-08-16T00:00:00Z</dcterms:created>
  <dcterms:modified xsi:type="dcterms:W3CDTF">2026-09-11T19:46:46Z</dcterms:modified>
  <dc:identifier>DAHUsa30Kl0</dc:identifier>
</cp:coreProperties>
</file>