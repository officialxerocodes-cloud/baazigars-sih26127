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Arial" charset="1" panose="020B0604020202020204"/>
      <p:regular r:id="rId14"/>
    </p:embeddedFont>
    <p:embeddedFont>
      <p:font typeface="Times New Roman Bold" charset="1" panose="02020803070505020304"/>
      <p:regular r:id="rId15"/>
    </p:embeddedFont>
    <p:embeddedFont>
      <p:font typeface="Arimo Bold" charset="1" panose="020B0704020202020204"/>
      <p:regular r:id="rId19"/>
    </p:embeddedFont>
    <p:embeddedFont>
      <p:font typeface="Arimo" charset="1" panose="020B0604020202020204"/>
      <p:regular r:id="rId20"/>
    </p:embeddedFont>
    <p:embeddedFont>
      <p:font typeface="Calibri (MS)" charset="1" panose="020F0502020204030204"/>
      <p:regular r:id="rId21"/>
    </p:embeddedFont>
    <p:embeddedFont>
      <p:font typeface="Open Sauce Heavy" charset="1" panose="00000A00000000000000"/>
      <p:regular r:id="rId23"/>
    </p:embeddedFont>
    <p:embeddedFont>
      <p:font typeface="Open Sauce Bold" charset="1" panose="00000800000000000000"/>
      <p:regular r:id="rId24"/>
    </p:embeddedFont>
    <p:embeddedFont>
      <p:font typeface="Canva Sans Bold" charset="1" panose="020B0803030501040103"/>
      <p:regular r:id="rId25"/>
    </p:embeddedFont>
    <p:embeddedFont>
      <p:font typeface="Fraunces Semi-Bold" charset="1" panose="00000000000000000000"/>
      <p:regular r:id="rId26"/>
    </p:embeddedFont>
    <p:embeddedFont>
      <p:font typeface="Arimo Italics" charset="1" panose="020B0604020202090204"/>
      <p:regular r:id="rId28"/>
    </p:embeddedFont>
    <p:embeddedFont>
      <p:font typeface="Calibri (MS) Bold" charset="1" panose="020F0702030404030204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Slides/notesSlide3.xml" Type="http://schemas.openxmlformats.org/officeDocument/2006/relationships/notes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3.pn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15" Target="../media/image16.png" Type="http://schemas.openxmlformats.org/officeDocument/2006/relationships/image"/><Relationship Id="rId16" Target="../media/image17.svg" Type="http://schemas.openxmlformats.org/officeDocument/2006/relationships/image"/><Relationship Id="rId17" Target="../media/image18.png" Type="http://schemas.openxmlformats.org/officeDocument/2006/relationships/image"/><Relationship Id="rId18" Target="../media/image19.svg" Type="http://schemas.openxmlformats.org/officeDocument/2006/relationships/image"/><Relationship Id="rId19" Target="../media/image20.png" Type="http://schemas.openxmlformats.org/officeDocument/2006/relationships/image"/><Relationship Id="rId2" Target="../notesSlides/notesSlide1.xml" Type="http://schemas.openxmlformats.org/officeDocument/2006/relationships/notesSlide"/><Relationship Id="rId20" Target="../media/image21.svg" Type="http://schemas.openxmlformats.org/officeDocument/2006/relationships/image"/><Relationship Id="rId21" Target="../media/image22.png" Type="http://schemas.openxmlformats.org/officeDocument/2006/relationships/image"/><Relationship Id="rId22" Target="../media/image23.png" Type="http://schemas.openxmlformats.org/officeDocument/2006/relationships/image"/><Relationship Id="rId23" Target="../media/image24.svg" Type="http://schemas.openxmlformats.org/officeDocument/2006/relationships/imag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Relationship Id="rId7" Target="../media/image5.pn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svg" Type="http://schemas.openxmlformats.org/officeDocument/2006/relationships/image"/><Relationship Id="rId11" Target="../media/image31.png" Type="http://schemas.openxmlformats.org/officeDocument/2006/relationships/image"/><Relationship Id="rId12" Target="../media/image32.png" Type="http://schemas.openxmlformats.org/officeDocument/2006/relationships/image"/><Relationship Id="rId13" Target="../media/image33.png" Type="http://schemas.openxmlformats.org/officeDocument/2006/relationships/image"/><Relationship Id="rId14" Target="../media/image34.png" Type="http://schemas.openxmlformats.org/officeDocument/2006/relationships/image"/><Relationship Id="rId15" Target="../media/image35.png" Type="http://schemas.openxmlformats.org/officeDocument/2006/relationships/image"/><Relationship Id="rId16" Target="../media/image36.png" Type="http://schemas.openxmlformats.org/officeDocument/2006/relationships/image"/><Relationship Id="rId17" Target="../media/image37.svg" Type="http://schemas.openxmlformats.org/officeDocument/2006/relationships/image"/><Relationship Id="rId18" Target="../media/image38.pn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27.png" Type="http://schemas.openxmlformats.org/officeDocument/2006/relationships/image"/><Relationship Id="rId8" Target="../media/image28.svg" Type="http://schemas.openxmlformats.org/officeDocument/2006/relationships/image"/><Relationship Id="rId9" Target="../media/image2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11" Target="../media/image46.png" Type="http://schemas.openxmlformats.org/officeDocument/2006/relationships/image"/><Relationship Id="rId12" Target="../media/image47.png" Type="http://schemas.openxmlformats.org/officeDocument/2006/relationships/image"/><Relationship Id="rId13" Target="../media/image48.png" Type="http://schemas.openxmlformats.org/officeDocument/2006/relationships/image"/><Relationship Id="rId14" Target="../media/image5.pn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39.pn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4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13" Target="../media/image55.png" Type="http://schemas.openxmlformats.org/officeDocument/2006/relationships/image"/><Relationship Id="rId14" Target="../media/image56.svg" Type="http://schemas.openxmlformats.org/officeDocument/2006/relationships/image"/><Relationship Id="rId15" Target="../media/image57.png" Type="http://schemas.openxmlformats.org/officeDocument/2006/relationships/image"/><Relationship Id="rId16" Target="../media/image58.png" Type="http://schemas.openxmlformats.org/officeDocument/2006/relationships/image"/><Relationship Id="rId17" Target="../media/image59.svg" Type="http://schemas.openxmlformats.org/officeDocument/2006/relationships/image"/><Relationship Id="rId18" Target="../media/image60.png" Type="http://schemas.openxmlformats.org/officeDocument/2006/relationships/image"/><Relationship Id="rId19" Target="../media/image61.png" Type="http://schemas.openxmlformats.org/officeDocument/2006/relationships/image"/><Relationship Id="rId2" Target="../notesSlides/notesSlide4.xml" Type="http://schemas.openxmlformats.org/officeDocument/2006/relationships/notesSlide"/><Relationship Id="rId20" Target="../media/image62.png" Type="http://schemas.openxmlformats.org/officeDocument/2006/relationships/image"/><Relationship Id="rId21" Target="https://morth.gov.in" TargetMode="External" Type="http://schemas.openxmlformats.org/officeDocument/2006/relationships/hyperlink"/><Relationship Id="rId22" Target="https://traffic.delhipolice.gov.in" TargetMode="External" Type="http://schemas.openxmlformats.org/officeDocument/2006/relationships/hyperlink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49.png" Type="http://schemas.openxmlformats.org/officeDocument/2006/relationships/image"/><Relationship Id="rId6" Target="../media/image50.svg" Type="http://schemas.openxmlformats.org/officeDocument/2006/relationships/image"/><Relationship Id="rId7" Target="../media/image51.png" Type="http://schemas.openxmlformats.org/officeDocument/2006/relationships/image"/><Relationship Id="rId8" Target="../media/image52.svg" Type="http://schemas.openxmlformats.org/officeDocument/2006/relationships/image"/><Relationship Id="rId9" Target="../media/image5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https://www.researchgate.net/publication/224793504_SUMO_Simulation_of_Urban_MObility_An_open-source_traffic_simulation" TargetMode="External" Type="http://schemas.openxmlformats.org/officeDocument/2006/relationships/hyperlink"/><Relationship Id="rId12" Target="https://pubmed.ncbi.nlm.nih.gov/41846120/" TargetMode="External" Type="http://schemas.openxmlformats.org/officeDocument/2006/relationships/hyperlink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../media/image39.png" Type="http://schemas.openxmlformats.org/officeDocument/2006/relationships/image"/><Relationship Id="rId5" Target="../media/image63.png" Type="http://schemas.openxmlformats.org/officeDocument/2006/relationships/image"/><Relationship Id="rId6" Target="../media/image64.png" Type="http://schemas.openxmlformats.org/officeDocument/2006/relationships/image"/><Relationship Id="rId7" Target="../media/image65.svg" Type="http://schemas.openxmlformats.org/officeDocument/2006/relationships/image"/><Relationship Id="rId8" Target="https://www.cv-foundation.org/openaccess/content_cvpr_2016/papers/Redmon_You_Only_Look_CVPR_2016_paper.pdf" TargetMode="External" Type="http://schemas.openxmlformats.org/officeDocument/2006/relationships/hyperlink"/><Relationship Id="rId9" Target="https://share.google/FnpUiPvKHbfVt4ul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9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9000"/>
              </a:blip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74085" y="-705736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726400" cy="4162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080"/>
                </a:lnSpc>
              </a:pPr>
              <a:r>
                <a:rPr lang="en-US" sz="59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31185" y="3288192"/>
            <a:ext cx="16230600" cy="644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0"/>
              </a:lnSpc>
            </a:pPr>
          </a:p>
          <a:p>
            <a:pPr algn="just" marL="564186" indent="-282093" lvl="1">
              <a:lnSpc>
                <a:spcPts val="7481"/>
              </a:lnSpc>
              <a:buFont typeface="Arial"/>
              <a:buChar char="•"/>
            </a:pPr>
            <a:r>
              <a:rPr lang="en-US" b="true" sz="31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sz="31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26127</a:t>
            </a:r>
          </a:p>
          <a:p>
            <a:pPr algn="just" marL="564186" indent="-282093" lvl="1">
              <a:lnSpc>
                <a:spcPts val="5798"/>
              </a:lnSpc>
              <a:buFont typeface="Arial"/>
              <a:buChar char="•"/>
            </a:pPr>
            <a:r>
              <a:rPr lang="en-US" b="true" sz="3117" spc="-4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sz="3117" spc="-4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City-Wide AI Engine for Multi-Camera ANPR Trajectory Tracking and Urban Traffic Analytics</a:t>
            </a:r>
          </a:p>
          <a:p>
            <a:pPr algn="just" marL="564186" indent="-282093" lvl="1">
              <a:lnSpc>
                <a:spcPts val="7481"/>
              </a:lnSpc>
              <a:buFont typeface="Arial"/>
              <a:buChar char="•"/>
            </a:pPr>
            <a:r>
              <a:rPr lang="en-US" b="true" sz="31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</a:t>
            </a:r>
            <a:r>
              <a:rPr lang="en-US" sz="31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Automation</a:t>
            </a:r>
          </a:p>
          <a:p>
            <a:pPr algn="just" marL="564186" indent="-282093" lvl="1">
              <a:lnSpc>
                <a:spcPts val="7481"/>
              </a:lnSpc>
              <a:buFont typeface="Arial"/>
              <a:buChar char="•"/>
            </a:pPr>
            <a:r>
              <a:rPr lang="en-US" b="true" sz="31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sz="31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</a:p>
          <a:p>
            <a:pPr algn="just" marL="564186" indent="-282093" lvl="1">
              <a:lnSpc>
                <a:spcPts val="7481"/>
              </a:lnSpc>
              <a:buFont typeface="Arial"/>
              <a:buChar char="•"/>
            </a:pPr>
            <a:r>
              <a:rPr lang="en-US" b="true" sz="31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</a:t>
            </a:r>
          </a:p>
          <a:p>
            <a:pPr algn="just" marL="564186" indent="-282093" lvl="1">
              <a:lnSpc>
                <a:spcPts val="7481"/>
              </a:lnSpc>
              <a:buFont typeface="Arial"/>
              <a:buChar char="•"/>
            </a:pPr>
            <a:r>
              <a:rPr lang="en-US" b="true" sz="31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sz="31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Baazigars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581405" y="9449"/>
            <a:ext cx="2494321" cy="1267835"/>
            <a:chOff x="0" y="0"/>
            <a:chExt cx="4418241" cy="22457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70" t="0" r="-27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233845" y="1600600"/>
            <a:ext cx="5263625" cy="808340"/>
            <a:chOff x="0" y="0"/>
            <a:chExt cx="1083050" cy="16632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83050" cy="166325"/>
            </a:xfrm>
            <a:custGeom>
              <a:avLst/>
              <a:gdLst/>
              <a:ahLst/>
              <a:cxnLst/>
              <a:rect r="r" b="b" t="t" l="l"/>
              <a:pathLst>
                <a:path h="166325" w="1083050">
                  <a:moveTo>
                    <a:pt x="28727" y="0"/>
                  </a:moveTo>
                  <a:lnTo>
                    <a:pt x="1054323" y="0"/>
                  </a:lnTo>
                  <a:cubicBezTo>
                    <a:pt x="1070189" y="0"/>
                    <a:pt x="1083050" y="12862"/>
                    <a:pt x="1083050" y="28727"/>
                  </a:cubicBezTo>
                  <a:lnTo>
                    <a:pt x="1083050" y="137598"/>
                  </a:lnTo>
                  <a:cubicBezTo>
                    <a:pt x="1083050" y="145217"/>
                    <a:pt x="1080024" y="152524"/>
                    <a:pt x="1074636" y="157911"/>
                  </a:cubicBezTo>
                  <a:cubicBezTo>
                    <a:pt x="1069249" y="163298"/>
                    <a:pt x="1061942" y="166325"/>
                    <a:pt x="1054323" y="166325"/>
                  </a:cubicBezTo>
                  <a:lnTo>
                    <a:pt x="28727" y="166325"/>
                  </a:lnTo>
                  <a:cubicBezTo>
                    <a:pt x="21108" y="166325"/>
                    <a:pt x="13801" y="163298"/>
                    <a:pt x="8414" y="157911"/>
                  </a:cubicBezTo>
                  <a:cubicBezTo>
                    <a:pt x="3027" y="152524"/>
                    <a:pt x="0" y="145217"/>
                    <a:pt x="0" y="137598"/>
                  </a:cubicBezTo>
                  <a:lnTo>
                    <a:pt x="0" y="28727"/>
                  </a:lnTo>
                  <a:cubicBezTo>
                    <a:pt x="0" y="21108"/>
                    <a:pt x="3027" y="13801"/>
                    <a:pt x="8414" y="8414"/>
                  </a:cubicBezTo>
                  <a:cubicBezTo>
                    <a:pt x="13801" y="3027"/>
                    <a:pt x="21108" y="0"/>
                    <a:pt x="28727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0070C0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083050" cy="1853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959"/>
                </a:lnSpc>
              </a:pPr>
              <a:r>
                <a:rPr lang="en-US" b="true" sz="3299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TRINETRA OS - DELHI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4234484" y="2554767"/>
            <a:ext cx="9262348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“City-Wide Traffic Intelligence &amp; Vehicle Trajectory Platform”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60" y="9506777"/>
            <a:ext cx="18288000" cy="761173"/>
            <a:chOff x="0" y="0"/>
            <a:chExt cx="24384000" cy="10148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14898"/>
            </a:xfrm>
            <a:custGeom>
              <a:avLst/>
              <a:gdLst/>
              <a:ahLst/>
              <a:cxnLst/>
              <a:rect r="r" b="b" t="t" l="l"/>
              <a:pathLst>
                <a:path h="101489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4898"/>
                  </a:lnTo>
                  <a:lnTo>
                    <a:pt x="0" y="1014898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37411" y="-950584"/>
            <a:ext cx="16459200" cy="1901168"/>
            <a:chOff x="0" y="0"/>
            <a:chExt cx="21945600" cy="25348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534890"/>
            </a:xfrm>
            <a:custGeom>
              <a:avLst/>
              <a:gdLst/>
              <a:ahLst/>
              <a:cxnLst/>
              <a:rect r="r" b="b" t="t" l="l"/>
              <a:pathLst>
                <a:path h="25348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534890"/>
                  </a:lnTo>
                  <a:lnTo>
                    <a:pt x="0" y="253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99" r="0" b="-11378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56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TRINETRA OS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744460" y="959957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94938" y="66038"/>
            <a:ext cx="1667524" cy="1087176"/>
            <a:chOff x="0" y="0"/>
            <a:chExt cx="2554516" cy="1665468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Baazigars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518199" y="855810"/>
            <a:ext cx="9211491" cy="790919"/>
            <a:chOff x="0" y="0"/>
            <a:chExt cx="1895368" cy="16274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95368" cy="162741"/>
            </a:xfrm>
            <a:custGeom>
              <a:avLst/>
              <a:gdLst/>
              <a:ahLst/>
              <a:cxnLst/>
              <a:rect r="r" b="b" t="t" l="l"/>
              <a:pathLst>
                <a:path h="162741" w="1895368">
                  <a:moveTo>
                    <a:pt x="16415" y="0"/>
                  </a:moveTo>
                  <a:lnTo>
                    <a:pt x="1878953" y="0"/>
                  </a:lnTo>
                  <a:cubicBezTo>
                    <a:pt x="1883307" y="0"/>
                    <a:pt x="1887482" y="1729"/>
                    <a:pt x="1890561" y="4808"/>
                  </a:cubicBezTo>
                  <a:cubicBezTo>
                    <a:pt x="1893639" y="7886"/>
                    <a:pt x="1895368" y="12062"/>
                    <a:pt x="1895368" y="16415"/>
                  </a:cubicBezTo>
                  <a:lnTo>
                    <a:pt x="1895368" y="146325"/>
                  </a:lnTo>
                  <a:cubicBezTo>
                    <a:pt x="1895368" y="150679"/>
                    <a:pt x="1893639" y="154854"/>
                    <a:pt x="1890561" y="157933"/>
                  </a:cubicBezTo>
                  <a:cubicBezTo>
                    <a:pt x="1887482" y="161011"/>
                    <a:pt x="1883307" y="162741"/>
                    <a:pt x="1878953" y="162741"/>
                  </a:cubicBezTo>
                  <a:lnTo>
                    <a:pt x="16415" y="162741"/>
                  </a:lnTo>
                  <a:cubicBezTo>
                    <a:pt x="12062" y="162741"/>
                    <a:pt x="7886" y="161011"/>
                    <a:pt x="4808" y="157933"/>
                  </a:cubicBezTo>
                  <a:cubicBezTo>
                    <a:pt x="1729" y="154854"/>
                    <a:pt x="0" y="150679"/>
                    <a:pt x="0" y="146325"/>
                  </a:cubicBezTo>
                  <a:lnTo>
                    <a:pt x="0" y="16415"/>
                  </a:lnTo>
                  <a:cubicBezTo>
                    <a:pt x="0" y="12062"/>
                    <a:pt x="1729" y="7886"/>
                    <a:pt x="4808" y="4808"/>
                  </a:cubicBezTo>
                  <a:cubicBezTo>
                    <a:pt x="7886" y="1729"/>
                    <a:pt x="12062" y="0"/>
                    <a:pt x="16415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895368" cy="181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one event driven platform turning city ANPR cameras into live vehicle tracking, traffic analytics &amp; instant alerts.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8242199" y="5568536"/>
            <a:ext cx="2910835" cy="956590"/>
          </a:xfrm>
          <a:custGeom>
            <a:avLst/>
            <a:gdLst/>
            <a:ahLst/>
            <a:cxnLst/>
            <a:rect r="r" b="b" t="t" l="l"/>
            <a:pathLst>
              <a:path h="956590" w="2910835">
                <a:moveTo>
                  <a:pt x="0" y="0"/>
                </a:moveTo>
                <a:lnTo>
                  <a:pt x="2910835" y="0"/>
                </a:lnTo>
                <a:lnTo>
                  <a:pt x="2910835" y="956589"/>
                </a:lnTo>
                <a:lnTo>
                  <a:pt x="0" y="956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614" t="0" r="-1614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400000">
            <a:off x="9558234" y="6610204"/>
            <a:ext cx="260382" cy="313713"/>
          </a:xfrm>
          <a:custGeom>
            <a:avLst/>
            <a:gdLst/>
            <a:ahLst/>
            <a:cxnLst/>
            <a:rect r="r" b="b" t="t" l="l"/>
            <a:pathLst>
              <a:path h="313713" w="260382">
                <a:moveTo>
                  <a:pt x="0" y="0"/>
                </a:moveTo>
                <a:lnTo>
                  <a:pt x="260382" y="0"/>
                </a:lnTo>
                <a:lnTo>
                  <a:pt x="260382" y="313714"/>
                </a:lnTo>
                <a:lnTo>
                  <a:pt x="0" y="31371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5655779" y="-24291"/>
            <a:ext cx="2494321" cy="1267835"/>
            <a:chOff x="0" y="0"/>
            <a:chExt cx="4418241" cy="22457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70" t="0" r="-270" b="0"/>
              </a:stretch>
            </a:blipFill>
          </p:spPr>
        </p:sp>
      </p:grpSp>
      <p:sp>
        <p:nvSpPr>
          <p:cNvPr name="Freeform 23" id="23"/>
          <p:cNvSpPr/>
          <p:nvPr/>
        </p:nvSpPr>
        <p:spPr>
          <a:xfrm flipH="false" flipV="false" rot="0">
            <a:off x="2646763" y="3055086"/>
            <a:ext cx="390740" cy="470771"/>
          </a:xfrm>
          <a:custGeom>
            <a:avLst/>
            <a:gdLst/>
            <a:ahLst/>
            <a:cxnLst/>
            <a:rect r="r" b="b" t="t" l="l"/>
            <a:pathLst>
              <a:path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5758872" y="3055086"/>
            <a:ext cx="390740" cy="470771"/>
          </a:xfrm>
          <a:custGeom>
            <a:avLst/>
            <a:gdLst/>
            <a:ahLst/>
            <a:cxnLst/>
            <a:rect r="r" b="b" t="t" l="l"/>
            <a:pathLst>
              <a:path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8960911" y="3055086"/>
            <a:ext cx="390740" cy="470771"/>
          </a:xfrm>
          <a:custGeom>
            <a:avLst/>
            <a:gdLst/>
            <a:ahLst/>
            <a:cxnLst/>
            <a:rect r="r" b="b" t="t" l="l"/>
            <a:pathLst>
              <a:path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2172890" y="3055086"/>
            <a:ext cx="390740" cy="470771"/>
          </a:xfrm>
          <a:custGeom>
            <a:avLst/>
            <a:gdLst/>
            <a:ahLst/>
            <a:cxnLst/>
            <a:rect r="r" b="b" t="t" l="l"/>
            <a:pathLst>
              <a:path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309964" y="3055086"/>
            <a:ext cx="390740" cy="470771"/>
          </a:xfrm>
          <a:custGeom>
            <a:avLst/>
            <a:gdLst/>
            <a:ahLst/>
            <a:cxnLst/>
            <a:rect r="r" b="b" t="t" l="l"/>
            <a:pathLst>
              <a:path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63061" y="1753289"/>
            <a:ext cx="2587650" cy="3653669"/>
            <a:chOff x="0" y="0"/>
            <a:chExt cx="635000" cy="89659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" cy="896597"/>
            </a:xfrm>
            <a:custGeom>
              <a:avLst/>
              <a:gdLst/>
              <a:ahLst/>
              <a:cxnLst/>
              <a:rect r="r" b="b" t="t" l="l"/>
              <a:pathLst>
                <a:path h="896597" w="635000">
                  <a:moveTo>
                    <a:pt x="58435" y="0"/>
                  </a:moveTo>
                  <a:lnTo>
                    <a:pt x="576565" y="0"/>
                  </a:lnTo>
                  <a:cubicBezTo>
                    <a:pt x="608838" y="0"/>
                    <a:pt x="635000" y="26162"/>
                    <a:pt x="635000" y="58435"/>
                  </a:cubicBezTo>
                  <a:lnTo>
                    <a:pt x="635000" y="838162"/>
                  </a:lnTo>
                  <a:cubicBezTo>
                    <a:pt x="635000" y="853660"/>
                    <a:pt x="628843" y="868523"/>
                    <a:pt x="617885" y="879482"/>
                  </a:cubicBezTo>
                  <a:cubicBezTo>
                    <a:pt x="606926" y="890441"/>
                    <a:pt x="592063" y="896597"/>
                    <a:pt x="576565" y="896597"/>
                  </a:cubicBezTo>
                  <a:lnTo>
                    <a:pt x="58435" y="896597"/>
                  </a:lnTo>
                  <a:cubicBezTo>
                    <a:pt x="26162" y="896597"/>
                    <a:pt x="0" y="870435"/>
                    <a:pt x="0" y="838162"/>
                  </a:cubicBezTo>
                  <a:lnTo>
                    <a:pt x="0" y="58435"/>
                  </a:lnTo>
                  <a:cubicBezTo>
                    <a:pt x="0" y="26162"/>
                    <a:pt x="26162" y="0"/>
                    <a:pt x="58435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635000" cy="915647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013858" y="1990109"/>
            <a:ext cx="560476" cy="462393"/>
          </a:xfrm>
          <a:custGeom>
            <a:avLst/>
            <a:gdLst/>
            <a:ahLst/>
            <a:cxnLst/>
            <a:rect r="r" b="b" t="t" l="l"/>
            <a:pathLst>
              <a:path h="462393" w="560476">
                <a:moveTo>
                  <a:pt x="0" y="0"/>
                </a:moveTo>
                <a:lnTo>
                  <a:pt x="560476" y="0"/>
                </a:lnTo>
                <a:lnTo>
                  <a:pt x="560476" y="462393"/>
                </a:lnTo>
                <a:lnTo>
                  <a:pt x="0" y="46239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3127825" y="1856279"/>
            <a:ext cx="2462069" cy="3447689"/>
            <a:chOff x="0" y="0"/>
            <a:chExt cx="635000" cy="88920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35000" cy="889204"/>
            </a:xfrm>
            <a:custGeom>
              <a:avLst/>
              <a:gdLst/>
              <a:ahLst/>
              <a:cxnLst/>
              <a:rect r="r" b="b" t="t" l="l"/>
              <a:pathLst>
                <a:path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4163926" y="1937890"/>
            <a:ext cx="453768" cy="424273"/>
          </a:xfrm>
          <a:custGeom>
            <a:avLst/>
            <a:gdLst/>
            <a:ahLst/>
            <a:cxnLst/>
            <a:rect r="r" b="b" t="t" l="l"/>
            <a:pathLst>
              <a:path h="424273" w="453768">
                <a:moveTo>
                  <a:pt x="0" y="0"/>
                </a:moveTo>
                <a:lnTo>
                  <a:pt x="453768" y="0"/>
                </a:lnTo>
                <a:lnTo>
                  <a:pt x="453768" y="424273"/>
                </a:lnTo>
                <a:lnTo>
                  <a:pt x="0" y="42427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6318590" y="1856279"/>
            <a:ext cx="2462069" cy="3447689"/>
            <a:chOff x="0" y="0"/>
            <a:chExt cx="635000" cy="88920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35000" cy="889204"/>
            </a:xfrm>
            <a:custGeom>
              <a:avLst/>
              <a:gdLst/>
              <a:ahLst/>
              <a:cxnLst/>
              <a:rect r="r" b="b" t="t" l="l"/>
              <a:pathLst>
                <a:path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39" id="39"/>
          <p:cNvSpPr/>
          <p:nvPr/>
        </p:nvSpPr>
        <p:spPr>
          <a:xfrm flipH="false" flipV="false" rot="0">
            <a:off x="7074086" y="1937890"/>
            <a:ext cx="1056310" cy="433087"/>
          </a:xfrm>
          <a:custGeom>
            <a:avLst/>
            <a:gdLst/>
            <a:ahLst/>
            <a:cxnLst/>
            <a:rect r="r" b="b" t="t" l="l"/>
            <a:pathLst>
              <a:path h="433087" w="1056310">
                <a:moveTo>
                  <a:pt x="0" y="0"/>
                </a:moveTo>
                <a:lnTo>
                  <a:pt x="1056310" y="0"/>
                </a:lnTo>
                <a:lnTo>
                  <a:pt x="1056310" y="433087"/>
                </a:lnTo>
                <a:lnTo>
                  <a:pt x="0" y="433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grpSp>
        <p:nvGrpSpPr>
          <p:cNvPr name="Group 40" id="40"/>
          <p:cNvGrpSpPr/>
          <p:nvPr/>
        </p:nvGrpSpPr>
        <p:grpSpPr>
          <a:xfrm rot="0">
            <a:off x="9531903" y="1856279"/>
            <a:ext cx="2462069" cy="3432190"/>
            <a:chOff x="0" y="0"/>
            <a:chExt cx="635000" cy="885207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35000" cy="885207"/>
            </a:xfrm>
            <a:custGeom>
              <a:avLst/>
              <a:gdLst/>
              <a:ahLst/>
              <a:cxnLst/>
              <a:rect r="r" b="b" t="t" l="l"/>
              <a:pathLst>
                <a:path h="885207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3791"/>
                  </a:lnTo>
                  <a:cubicBezTo>
                    <a:pt x="635000" y="857710"/>
                    <a:pt x="607503" y="885207"/>
                    <a:pt x="573584" y="885207"/>
                  </a:cubicBezTo>
                  <a:lnTo>
                    <a:pt x="61416" y="885207"/>
                  </a:lnTo>
                  <a:cubicBezTo>
                    <a:pt x="45127" y="885207"/>
                    <a:pt x="29506" y="878736"/>
                    <a:pt x="17988" y="867219"/>
                  </a:cubicBezTo>
                  <a:cubicBezTo>
                    <a:pt x="6471" y="855701"/>
                    <a:pt x="0" y="840080"/>
                    <a:pt x="0" y="823791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19050"/>
              <a:ext cx="635000" cy="904257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10392671" y="1918906"/>
            <a:ext cx="670038" cy="418774"/>
          </a:xfrm>
          <a:custGeom>
            <a:avLst/>
            <a:gdLst/>
            <a:ahLst/>
            <a:cxnLst/>
            <a:rect r="r" b="b" t="t" l="l"/>
            <a:pathLst>
              <a:path h="418774" w="670038">
                <a:moveTo>
                  <a:pt x="0" y="0"/>
                </a:moveTo>
                <a:lnTo>
                  <a:pt x="670038" y="0"/>
                </a:lnTo>
                <a:lnTo>
                  <a:pt x="670038" y="418774"/>
                </a:lnTo>
                <a:lnTo>
                  <a:pt x="0" y="41877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12722668" y="1856279"/>
            <a:ext cx="2462069" cy="3447689"/>
            <a:chOff x="0" y="0"/>
            <a:chExt cx="635000" cy="88920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35000" cy="889204"/>
            </a:xfrm>
            <a:custGeom>
              <a:avLst/>
              <a:gdLst/>
              <a:ahLst/>
              <a:cxnLst/>
              <a:rect r="r" b="b" t="t" l="l"/>
              <a:pathLst>
                <a:path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13748710" y="1959838"/>
            <a:ext cx="436510" cy="432145"/>
          </a:xfrm>
          <a:custGeom>
            <a:avLst/>
            <a:gdLst/>
            <a:ahLst/>
            <a:cxnLst/>
            <a:rect r="r" b="b" t="t" l="l"/>
            <a:pathLst>
              <a:path h="432145" w="436510">
                <a:moveTo>
                  <a:pt x="0" y="0"/>
                </a:moveTo>
                <a:lnTo>
                  <a:pt x="436510" y="0"/>
                </a:lnTo>
                <a:lnTo>
                  <a:pt x="436510" y="432145"/>
                </a:lnTo>
                <a:lnTo>
                  <a:pt x="0" y="43214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15825931" y="1814885"/>
            <a:ext cx="2462069" cy="3473584"/>
            <a:chOff x="0" y="0"/>
            <a:chExt cx="635000" cy="895883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35000" cy="895883"/>
            </a:xfrm>
            <a:custGeom>
              <a:avLst/>
              <a:gdLst/>
              <a:ahLst/>
              <a:cxnLst/>
              <a:rect r="r" b="b" t="t" l="l"/>
              <a:pathLst>
                <a:path h="895883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34467"/>
                  </a:lnTo>
                  <a:cubicBezTo>
                    <a:pt x="635000" y="868386"/>
                    <a:pt x="607503" y="895883"/>
                    <a:pt x="573584" y="895883"/>
                  </a:cubicBezTo>
                  <a:lnTo>
                    <a:pt x="61416" y="895883"/>
                  </a:lnTo>
                  <a:cubicBezTo>
                    <a:pt x="27497" y="895883"/>
                    <a:pt x="0" y="868386"/>
                    <a:pt x="0" y="834467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635000" cy="914933"/>
            </a:xfrm>
            <a:prstGeom prst="rect">
              <a:avLst/>
            </a:prstGeom>
          </p:spPr>
          <p:txBody>
            <a:bodyPr anchor="ctr" rtlCol="false" tIns="53013" lIns="53013" bIns="53013" rIns="53013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sp>
        <p:nvSpPr>
          <p:cNvPr name="Freeform 51" id="51"/>
          <p:cNvSpPr/>
          <p:nvPr/>
        </p:nvSpPr>
        <p:spPr>
          <a:xfrm flipH="false" flipV="false" rot="0">
            <a:off x="16848582" y="1918906"/>
            <a:ext cx="416766" cy="496862"/>
          </a:xfrm>
          <a:custGeom>
            <a:avLst/>
            <a:gdLst/>
            <a:ahLst/>
            <a:cxnLst/>
            <a:rect r="r" b="b" t="t" l="l"/>
            <a:pathLst>
              <a:path h="496862" w="416766">
                <a:moveTo>
                  <a:pt x="0" y="0"/>
                </a:moveTo>
                <a:lnTo>
                  <a:pt x="416766" y="0"/>
                </a:lnTo>
                <a:lnTo>
                  <a:pt x="416766" y="496862"/>
                </a:lnTo>
                <a:lnTo>
                  <a:pt x="0" y="49686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-2976" b="-32886"/>
            </a:stretch>
          </a:blipFill>
        </p:spPr>
      </p:sp>
      <p:grpSp>
        <p:nvGrpSpPr>
          <p:cNvPr name="Group 52" id="52"/>
          <p:cNvGrpSpPr/>
          <p:nvPr/>
        </p:nvGrpSpPr>
        <p:grpSpPr>
          <a:xfrm rot="0">
            <a:off x="475612" y="5361118"/>
            <a:ext cx="7195087" cy="4007301"/>
            <a:chOff x="0" y="0"/>
            <a:chExt cx="1374361" cy="76545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374361" cy="765450"/>
            </a:xfrm>
            <a:custGeom>
              <a:avLst/>
              <a:gdLst/>
              <a:ahLst/>
              <a:cxnLst/>
              <a:rect r="r" b="b" t="t" l="l"/>
              <a:pathLst>
                <a:path h="765450" w="1374361">
                  <a:moveTo>
                    <a:pt x="21016" y="0"/>
                  </a:moveTo>
                  <a:lnTo>
                    <a:pt x="1353345" y="0"/>
                  </a:lnTo>
                  <a:cubicBezTo>
                    <a:pt x="1358919" y="0"/>
                    <a:pt x="1364264" y="2214"/>
                    <a:pt x="1368205" y="6155"/>
                  </a:cubicBezTo>
                  <a:cubicBezTo>
                    <a:pt x="1372147" y="10097"/>
                    <a:pt x="1374361" y="15442"/>
                    <a:pt x="1374361" y="21016"/>
                  </a:cubicBezTo>
                  <a:lnTo>
                    <a:pt x="1374361" y="744434"/>
                  </a:lnTo>
                  <a:cubicBezTo>
                    <a:pt x="1374361" y="756041"/>
                    <a:pt x="1364952" y="765450"/>
                    <a:pt x="1353345" y="765450"/>
                  </a:cubicBezTo>
                  <a:lnTo>
                    <a:pt x="21016" y="765450"/>
                  </a:lnTo>
                  <a:cubicBezTo>
                    <a:pt x="9409" y="765450"/>
                    <a:pt x="0" y="756041"/>
                    <a:pt x="0" y="744434"/>
                  </a:cubicBezTo>
                  <a:lnTo>
                    <a:pt x="0" y="21016"/>
                  </a:lnTo>
                  <a:cubicBezTo>
                    <a:pt x="0" y="9409"/>
                    <a:pt x="9409" y="0"/>
                    <a:pt x="21016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DCE6F2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1374361" cy="784500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ctr">
                <a:lnSpc>
                  <a:spcPts val="2159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-5400000">
            <a:off x="2170940" y="6862158"/>
            <a:ext cx="2557586" cy="688758"/>
            <a:chOff x="0" y="0"/>
            <a:chExt cx="760745" cy="20486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60745" cy="204869"/>
            </a:xfrm>
            <a:custGeom>
              <a:avLst/>
              <a:gdLst/>
              <a:ahLst/>
              <a:cxnLst/>
              <a:rect r="r" b="b" t="t" l="l"/>
              <a:pathLst>
                <a:path h="204869" w="760745">
                  <a:moveTo>
                    <a:pt x="59122" y="0"/>
                  </a:moveTo>
                  <a:lnTo>
                    <a:pt x="701623" y="0"/>
                  </a:lnTo>
                  <a:cubicBezTo>
                    <a:pt x="734275" y="0"/>
                    <a:pt x="760745" y="26470"/>
                    <a:pt x="760745" y="59122"/>
                  </a:cubicBezTo>
                  <a:lnTo>
                    <a:pt x="760745" y="145747"/>
                  </a:lnTo>
                  <a:cubicBezTo>
                    <a:pt x="760745" y="178399"/>
                    <a:pt x="734275" y="204869"/>
                    <a:pt x="701623" y="204869"/>
                  </a:cubicBezTo>
                  <a:lnTo>
                    <a:pt x="59122" y="204869"/>
                  </a:lnTo>
                  <a:cubicBezTo>
                    <a:pt x="26470" y="204869"/>
                    <a:pt x="0" y="178399"/>
                    <a:pt x="0" y="145747"/>
                  </a:cubicBezTo>
                  <a:lnTo>
                    <a:pt x="0" y="59122"/>
                  </a:lnTo>
                  <a:cubicBezTo>
                    <a:pt x="0" y="26470"/>
                    <a:pt x="26470" y="0"/>
                    <a:pt x="59122" y="0"/>
                  </a:cubicBezTo>
                  <a:close/>
                </a:path>
              </a:pathLst>
            </a:custGeom>
            <a:solidFill>
              <a:srgbClr val="E28787">
                <a:alpha val="59216"/>
              </a:srgbClr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760745" cy="2239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58" id="58"/>
          <p:cNvGrpSpPr/>
          <p:nvPr/>
        </p:nvGrpSpPr>
        <p:grpSpPr>
          <a:xfrm rot="-5400000">
            <a:off x="2911699" y="6873558"/>
            <a:ext cx="2531316" cy="681684"/>
            <a:chOff x="0" y="0"/>
            <a:chExt cx="760745" cy="204869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60745" cy="204869"/>
            </a:xfrm>
            <a:custGeom>
              <a:avLst/>
              <a:gdLst/>
              <a:ahLst/>
              <a:cxnLst/>
              <a:rect r="r" b="b" t="t" l="l"/>
              <a:pathLst>
                <a:path h="204869" w="760745">
                  <a:moveTo>
                    <a:pt x="59735" y="0"/>
                  </a:moveTo>
                  <a:lnTo>
                    <a:pt x="701009" y="0"/>
                  </a:lnTo>
                  <a:cubicBezTo>
                    <a:pt x="734000" y="0"/>
                    <a:pt x="760745" y="26744"/>
                    <a:pt x="760745" y="59735"/>
                  </a:cubicBezTo>
                  <a:lnTo>
                    <a:pt x="760745" y="145133"/>
                  </a:lnTo>
                  <a:cubicBezTo>
                    <a:pt x="760745" y="178124"/>
                    <a:pt x="734000" y="204869"/>
                    <a:pt x="701009" y="204869"/>
                  </a:cubicBezTo>
                  <a:lnTo>
                    <a:pt x="59735" y="204869"/>
                  </a:lnTo>
                  <a:cubicBezTo>
                    <a:pt x="26744" y="204869"/>
                    <a:pt x="0" y="178124"/>
                    <a:pt x="0" y="145133"/>
                  </a:cubicBezTo>
                  <a:lnTo>
                    <a:pt x="0" y="59735"/>
                  </a:lnTo>
                  <a:cubicBezTo>
                    <a:pt x="0" y="26744"/>
                    <a:pt x="26744" y="0"/>
                    <a:pt x="59735" y="0"/>
                  </a:cubicBezTo>
                  <a:close/>
                </a:path>
              </a:pathLst>
            </a:custGeom>
            <a:solidFill>
              <a:srgbClr val="8DCFA1">
                <a:alpha val="61569"/>
              </a:srgbClr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760745" cy="2239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682506" y="5556578"/>
            <a:ext cx="1992928" cy="804270"/>
            <a:chOff x="0" y="0"/>
            <a:chExt cx="603319" cy="243477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319" cy="243477"/>
            </a:xfrm>
            <a:custGeom>
              <a:avLst/>
              <a:gdLst/>
              <a:ahLst/>
              <a:cxnLst/>
              <a:rect r="r" b="b" t="t" l="l"/>
              <a:pathLst>
                <a:path h="243477" w="603319">
                  <a:moveTo>
                    <a:pt x="75873" y="0"/>
                  </a:moveTo>
                  <a:lnTo>
                    <a:pt x="527446" y="0"/>
                  </a:lnTo>
                  <a:cubicBezTo>
                    <a:pt x="547569" y="0"/>
                    <a:pt x="566868" y="7994"/>
                    <a:pt x="581097" y="22223"/>
                  </a:cubicBezTo>
                  <a:cubicBezTo>
                    <a:pt x="595326" y="36452"/>
                    <a:pt x="603319" y="55750"/>
                    <a:pt x="603319" y="75873"/>
                  </a:cubicBezTo>
                  <a:lnTo>
                    <a:pt x="603319" y="167604"/>
                  </a:lnTo>
                  <a:cubicBezTo>
                    <a:pt x="603319" y="209507"/>
                    <a:pt x="569350" y="243477"/>
                    <a:pt x="527446" y="243477"/>
                  </a:cubicBezTo>
                  <a:lnTo>
                    <a:pt x="75873" y="243477"/>
                  </a:lnTo>
                  <a:cubicBezTo>
                    <a:pt x="33969" y="243477"/>
                    <a:pt x="0" y="209507"/>
                    <a:pt x="0" y="167604"/>
                  </a:cubicBezTo>
                  <a:lnTo>
                    <a:pt x="0" y="75873"/>
                  </a:lnTo>
                  <a:cubicBezTo>
                    <a:pt x="0" y="33969"/>
                    <a:pt x="33969" y="0"/>
                    <a:pt x="75873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FF4444"/>
              </a:solidFill>
              <a:prstDash val="solid"/>
              <a:round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603319" cy="262527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64" id="64"/>
          <p:cNvSpPr/>
          <p:nvPr/>
        </p:nvSpPr>
        <p:spPr>
          <a:xfrm flipH="false" flipV="false" rot="0">
            <a:off x="768370" y="5750119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768370" y="6045223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6" id="66"/>
          <p:cNvGrpSpPr/>
          <p:nvPr/>
        </p:nvGrpSpPr>
        <p:grpSpPr>
          <a:xfrm rot="0">
            <a:off x="731575" y="7422017"/>
            <a:ext cx="1964200" cy="872689"/>
            <a:chOff x="0" y="0"/>
            <a:chExt cx="594622" cy="264189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94622" cy="264189"/>
            </a:xfrm>
            <a:custGeom>
              <a:avLst/>
              <a:gdLst/>
              <a:ahLst/>
              <a:cxnLst/>
              <a:rect r="r" b="b" t="t" l="l"/>
              <a:pathLst>
                <a:path h="264189" w="594622">
                  <a:moveTo>
                    <a:pt x="76983" y="0"/>
                  </a:moveTo>
                  <a:lnTo>
                    <a:pt x="517640" y="0"/>
                  </a:lnTo>
                  <a:cubicBezTo>
                    <a:pt x="538057" y="0"/>
                    <a:pt x="557638" y="8111"/>
                    <a:pt x="572075" y="22548"/>
                  </a:cubicBezTo>
                  <a:cubicBezTo>
                    <a:pt x="586512" y="36985"/>
                    <a:pt x="594622" y="56566"/>
                    <a:pt x="594622" y="76983"/>
                  </a:cubicBezTo>
                  <a:lnTo>
                    <a:pt x="594622" y="187206"/>
                  </a:lnTo>
                  <a:cubicBezTo>
                    <a:pt x="594622" y="229723"/>
                    <a:pt x="560156" y="264189"/>
                    <a:pt x="517640" y="264189"/>
                  </a:cubicBezTo>
                  <a:lnTo>
                    <a:pt x="76983" y="264189"/>
                  </a:lnTo>
                  <a:cubicBezTo>
                    <a:pt x="56566" y="264189"/>
                    <a:pt x="36985" y="256079"/>
                    <a:pt x="22548" y="241641"/>
                  </a:cubicBezTo>
                  <a:cubicBezTo>
                    <a:pt x="8111" y="227204"/>
                    <a:pt x="0" y="207624"/>
                    <a:pt x="0" y="187206"/>
                  </a:cubicBezTo>
                  <a:lnTo>
                    <a:pt x="0" y="76983"/>
                  </a:lnTo>
                  <a:cubicBezTo>
                    <a:pt x="0" y="56566"/>
                    <a:pt x="8111" y="36985"/>
                    <a:pt x="22548" y="22548"/>
                  </a:cubicBezTo>
                  <a:cubicBezTo>
                    <a:pt x="36985" y="8111"/>
                    <a:pt x="56566" y="0"/>
                    <a:pt x="76983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FF4444"/>
              </a:solidFill>
              <a:prstDash val="solid"/>
              <a:round/>
            </a:ln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594622" cy="283239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69" id="69"/>
          <p:cNvSpPr/>
          <p:nvPr/>
        </p:nvSpPr>
        <p:spPr>
          <a:xfrm flipH="false" flipV="false" rot="0">
            <a:off x="780643" y="7708342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0" id="70"/>
          <p:cNvSpPr/>
          <p:nvPr/>
        </p:nvSpPr>
        <p:spPr>
          <a:xfrm flipH="false" flipV="false" rot="0">
            <a:off x="780643" y="8004368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1" id="71"/>
          <p:cNvGrpSpPr/>
          <p:nvPr/>
        </p:nvGrpSpPr>
        <p:grpSpPr>
          <a:xfrm rot="0">
            <a:off x="711234" y="6513502"/>
            <a:ext cx="1964200" cy="779687"/>
            <a:chOff x="0" y="0"/>
            <a:chExt cx="594622" cy="236035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94622" cy="236035"/>
            </a:xfrm>
            <a:custGeom>
              <a:avLst/>
              <a:gdLst/>
              <a:ahLst/>
              <a:cxnLst/>
              <a:rect r="r" b="b" t="t" l="l"/>
              <a:pathLst>
                <a:path h="236035" w="594622">
                  <a:moveTo>
                    <a:pt x="76983" y="0"/>
                  </a:moveTo>
                  <a:lnTo>
                    <a:pt x="517640" y="0"/>
                  </a:lnTo>
                  <a:cubicBezTo>
                    <a:pt x="538057" y="0"/>
                    <a:pt x="557638" y="8111"/>
                    <a:pt x="572075" y="22548"/>
                  </a:cubicBezTo>
                  <a:cubicBezTo>
                    <a:pt x="586512" y="36985"/>
                    <a:pt x="594622" y="56566"/>
                    <a:pt x="594622" y="76983"/>
                  </a:cubicBezTo>
                  <a:lnTo>
                    <a:pt x="594622" y="159052"/>
                  </a:lnTo>
                  <a:cubicBezTo>
                    <a:pt x="594622" y="179469"/>
                    <a:pt x="586512" y="199050"/>
                    <a:pt x="572075" y="213487"/>
                  </a:cubicBezTo>
                  <a:cubicBezTo>
                    <a:pt x="557638" y="227924"/>
                    <a:pt x="538057" y="236035"/>
                    <a:pt x="517640" y="236035"/>
                  </a:cubicBezTo>
                  <a:lnTo>
                    <a:pt x="76983" y="236035"/>
                  </a:lnTo>
                  <a:cubicBezTo>
                    <a:pt x="34466" y="236035"/>
                    <a:pt x="0" y="201568"/>
                    <a:pt x="0" y="159052"/>
                  </a:cubicBezTo>
                  <a:lnTo>
                    <a:pt x="0" y="76983"/>
                  </a:lnTo>
                  <a:cubicBezTo>
                    <a:pt x="0" y="56566"/>
                    <a:pt x="8111" y="36985"/>
                    <a:pt x="22548" y="22548"/>
                  </a:cubicBezTo>
                  <a:cubicBezTo>
                    <a:pt x="36985" y="8111"/>
                    <a:pt x="56566" y="0"/>
                    <a:pt x="76983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FF4444"/>
              </a:solidFill>
              <a:prstDash val="solid"/>
              <a:round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0" y="-19050"/>
              <a:ext cx="594622" cy="255085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777119" y="6774987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5" id="75"/>
          <p:cNvSpPr/>
          <p:nvPr/>
        </p:nvSpPr>
        <p:spPr>
          <a:xfrm flipH="false" flipV="false" rot="0">
            <a:off x="777119" y="6998153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6" id="76"/>
          <p:cNvGrpSpPr/>
          <p:nvPr/>
        </p:nvGrpSpPr>
        <p:grpSpPr>
          <a:xfrm rot="0">
            <a:off x="4817752" y="5406958"/>
            <a:ext cx="2655687" cy="954464"/>
            <a:chOff x="0" y="0"/>
            <a:chExt cx="756080" cy="271738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756080" cy="271738"/>
            </a:xfrm>
            <a:custGeom>
              <a:avLst/>
              <a:gdLst/>
              <a:ahLst/>
              <a:cxnLst/>
              <a:rect r="r" b="b" t="t" l="l"/>
              <a:pathLst>
                <a:path h="271738" w="756080">
                  <a:moveTo>
                    <a:pt x="56938" y="0"/>
                  </a:moveTo>
                  <a:lnTo>
                    <a:pt x="699142" y="0"/>
                  </a:lnTo>
                  <a:cubicBezTo>
                    <a:pt x="714243" y="0"/>
                    <a:pt x="728726" y="5999"/>
                    <a:pt x="739404" y="16677"/>
                  </a:cubicBezTo>
                  <a:cubicBezTo>
                    <a:pt x="750082" y="27355"/>
                    <a:pt x="756080" y="41837"/>
                    <a:pt x="756080" y="56938"/>
                  </a:cubicBezTo>
                  <a:lnTo>
                    <a:pt x="756080" y="214800"/>
                  </a:lnTo>
                  <a:cubicBezTo>
                    <a:pt x="756080" y="229901"/>
                    <a:pt x="750082" y="244384"/>
                    <a:pt x="739404" y="255062"/>
                  </a:cubicBezTo>
                  <a:cubicBezTo>
                    <a:pt x="728726" y="265739"/>
                    <a:pt x="714243" y="271738"/>
                    <a:pt x="699142" y="271738"/>
                  </a:cubicBezTo>
                  <a:lnTo>
                    <a:pt x="56938" y="271738"/>
                  </a:lnTo>
                  <a:cubicBezTo>
                    <a:pt x="41837" y="271738"/>
                    <a:pt x="27355" y="265739"/>
                    <a:pt x="16677" y="255062"/>
                  </a:cubicBezTo>
                  <a:cubicBezTo>
                    <a:pt x="5999" y="244384"/>
                    <a:pt x="0" y="229901"/>
                    <a:pt x="0" y="214800"/>
                  </a:cubicBezTo>
                  <a:lnTo>
                    <a:pt x="0" y="56938"/>
                  </a:lnTo>
                  <a:cubicBezTo>
                    <a:pt x="0" y="41837"/>
                    <a:pt x="5999" y="27355"/>
                    <a:pt x="16677" y="16677"/>
                  </a:cubicBezTo>
                  <a:cubicBezTo>
                    <a:pt x="27355" y="5999"/>
                    <a:pt x="41837" y="0"/>
                    <a:pt x="56938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2A8D49"/>
              </a:solidFill>
              <a:prstDash val="solid"/>
              <a:round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19050"/>
              <a:ext cx="756080" cy="290788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79" id="79"/>
          <p:cNvSpPr/>
          <p:nvPr/>
        </p:nvSpPr>
        <p:spPr>
          <a:xfrm flipH="false" flipV="false" rot="0">
            <a:off x="4844702" y="5609181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0" id="80"/>
          <p:cNvSpPr/>
          <p:nvPr/>
        </p:nvSpPr>
        <p:spPr>
          <a:xfrm flipH="false" flipV="false" rot="0">
            <a:off x="4817752" y="5940594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0">
            <a:off x="4838953" y="6173478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2" id="82"/>
          <p:cNvGrpSpPr/>
          <p:nvPr/>
        </p:nvGrpSpPr>
        <p:grpSpPr>
          <a:xfrm rot="0">
            <a:off x="4790217" y="7391980"/>
            <a:ext cx="2669467" cy="985910"/>
            <a:chOff x="0" y="0"/>
            <a:chExt cx="808128" cy="298465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08128" cy="298465"/>
            </a:xfrm>
            <a:custGeom>
              <a:avLst/>
              <a:gdLst/>
              <a:ahLst/>
              <a:cxnLst/>
              <a:rect r="r" b="b" t="t" l="l"/>
              <a:pathLst>
                <a:path h="298465" w="808128">
                  <a:moveTo>
                    <a:pt x="56644" y="0"/>
                  </a:moveTo>
                  <a:lnTo>
                    <a:pt x="751484" y="0"/>
                  </a:lnTo>
                  <a:cubicBezTo>
                    <a:pt x="782767" y="0"/>
                    <a:pt x="808128" y="25360"/>
                    <a:pt x="808128" y="56644"/>
                  </a:cubicBezTo>
                  <a:lnTo>
                    <a:pt x="808128" y="241821"/>
                  </a:lnTo>
                  <a:cubicBezTo>
                    <a:pt x="808128" y="273104"/>
                    <a:pt x="782767" y="298465"/>
                    <a:pt x="751484" y="298465"/>
                  </a:cubicBezTo>
                  <a:lnTo>
                    <a:pt x="56644" y="298465"/>
                  </a:lnTo>
                  <a:cubicBezTo>
                    <a:pt x="25360" y="298465"/>
                    <a:pt x="0" y="273104"/>
                    <a:pt x="0" y="241821"/>
                  </a:cubicBezTo>
                  <a:lnTo>
                    <a:pt x="0" y="56644"/>
                  </a:lnTo>
                  <a:cubicBezTo>
                    <a:pt x="0" y="25360"/>
                    <a:pt x="25360" y="0"/>
                    <a:pt x="56644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2A8D49"/>
              </a:solidFill>
              <a:prstDash val="solid"/>
              <a:round/>
            </a:ln>
          </p:spPr>
        </p:sp>
        <p:sp>
          <p:nvSpPr>
            <p:cNvPr name="TextBox 84" id="84"/>
            <p:cNvSpPr txBox="true"/>
            <p:nvPr/>
          </p:nvSpPr>
          <p:spPr>
            <a:xfrm>
              <a:off x="0" y="-19050"/>
              <a:ext cx="808128" cy="317515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85" id="85"/>
          <p:cNvSpPr/>
          <p:nvPr/>
        </p:nvSpPr>
        <p:spPr>
          <a:xfrm flipH="false" flipV="false" rot="0">
            <a:off x="4832319" y="7629714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6" id="86"/>
          <p:cNvSpPr/>
          <p:nvPr/>
        </p:nvSpPr>
        <p:spPr>
          <a:xfrm flipH="false" flipV="false" rot="0">
            <a:off x="4832319" y="7884935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7" id="87"/>
          <p:cNvSpPr/>
          <p:nvPr/>
        </p:nvSpPr>
        <p:spPr>
          <a:xfrm flipH="false" flipV="false" rot="0">
            <a:off x="4832319" y="8107467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8" id="88"/>
          <p:cNvGrpSpPr/>
          <p:nvPr/>
        </p:nvGrpSpPr>
        <p:grpSpPr>
          <a:xfrm rot="0">
            <a:off x="4790217" y="6412307"/>
            <a:ext cx="2683222" cy="920308"/>
            <a:chOff x="0" y="0"/>
            <a:chExt cx="812292" cy="278605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812292" cy="278605"/>
            </a:xfrm>
            <a:custGeom>
              <a:avLst/>
              <a:gdLst/>
              <a:ahLst/>
              <a:cxnLst/>
              <a:rect r="r" b="b" t="t" l="l"/>
              <a:pathLst>
                <a:path h="278605" w="812292">
                  <a:moveTo>
                    <a:pt x="56354" y="0"/>
                  </a:moveTo>
                  <a:lnTo>
                    <a:pt x="755938" y="0"/>
                  </a:lnTo>
                  <a:cubicBezTo>
                    <a:pt x="770884" y="0"/>
                    <a:pt x="785218" y="5937"/>
                    <a:pt x="795786" y="16506"/>
                  </a:cubicBezTo>
                  <a:cubicBezTo>
                    <a:pt x="806355" y="27074"/>
                    <a:pt x="812292" y="41408"/>
                    <a:pt x="812292" y="56354"/>
                  </a:cubicBezTo>
                  <a:lnTo>
                    <a:pt x="812292" y="222251"/>
                  </a:lnTo>
                  <a:cubicBezTo>
                    <a:pt x="812292" y="237197"/>
                    <a:pt x="806355" y="251531"/>
                    <a:pt x="795786" y="262099"/>
                  </a:cubicBezTo>
                  <a:cubicBezTo>
                    <a:pt x="785218" y="272668"/>
                    <a:pt x="770884" y="278605"/>
                    <a:pt x="755938" y="278605"/>
                  </a:cubicBezTo>
                  <a:lnTo>
                    <a:pt x="56354" y="278605"/>
                  </a:lnTo>
                  <a:cubicBezTo>
                    <a:pt x="41408" y="278605"/>
                    <a:pt x="27074" y="272668"/>
                    <a:pt x="16506" y="262099"/>
                  </a:cubicBezTo>
                  <a:cubicBezTo>
                    <a:pt x="5937" y="251531"/>
                    <a:pt x="0" y="237197"/>
                    <a:pt x="0" y="222251"/>
                  </a:cubicBezTo>
                  <a:lnTo>
                    <a:pt x="0" y="56354"/>
                  </a:lnTo>
                  <a:cubicBezTo>
                    <a:pt x="0" y="41408"/>
                    <a:pt x="5937" y="27074"/>
                    <a:pt x="16506" y="16506"/>
                  </a:cubicBezTo>
                  <a:cubicBezTo>
                    <a:pt x="27074" y="5937"/>
                    <a:pt x="41408" y="0"/>
                    <a:pt x="56354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2A8D49"/>
              </a:solidFill>
              <a:prstDash val="solid"/>
              <a:round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812292" cy="297655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91" id="91"/>
          <p:cNvSpPr/>
          <p:nvPr/>
        </p:nvSpPr>
        <p:spPr>
          <a:xfrm flipH="false" flipV="false" rot="0">
            <a:off x="4817752" y="6660111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2" id="92"/>
          <p:cNvSpPr/>
          <p:nvPr/>
        </p:nvSpPr>
        <p:spPr>
          <a:xfrm flipH="false" flipV="false" rot="0">
            <a:off x="4803972" y="6880866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3" id="93"/>
          <p:cNvSpPr/>
          <p:nvPr/>
        </p:nvSpPr>
        <p:spPr>
          <a:xfrm flipH="false" flipV="false" rot="0">
            <a:off x="4803972" y="7093824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4" id="94"/>
          <p:cNvGrpSpPr/>
          <p:nvPr/>
        </p:nvGrpSpPr>
        <p:grpSpPr>
          <a:xfrm rot="0">
            <a:off x="4721737" y="8377765"/>
            <a:ext cx="2751702" cy="971030"/>
            <a:chOff x="0" y="0"/>
            <a:chExt cx="833023" cy="29396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33023" cy="293960"/>
            </a:xfrm>
            <a:custGeom>
              <a:avLst/>
              <a:gdLst/>
              <a:ahLst/>
              <a:cxnLst/>
              <a:rect r="r" b="b" t="t" l="l"/>
              <a:pathLst>
                <a:path h="293960" w="833023">
                  <a:moveTo>
                    <a:pt x="54951" y="0"/>
                  </a:moveTo>
                  <a:lnTo>
                    <a:pt x="778072" y="0"/>
                  </a:lnTo>
                  <a:cubicBezTo>
                    <a:pt x="792646" y="0"/>
                    <a:pt x="806623" y="5789"/>
                    <a:pt x="816928" y="16095"/>
                  </a:cubicBezTo>
                  <a:cubicBezTo>
                    <a:pt x="827233" y="26400"/>
                    <a:pt x="833023" y="40377"/>
                    <a:pt x="833023" y="54951"/>
                  </a:cubicBezTo>
                  <a:lnTo>
                    <a:pt x="833023" y="239009"/>
                  </a:lnTo>
                  <a:cubicBezTo>
                    <a:pt x="833023" y="253583"/>
                    <a:pt x="827233" y="267560"/>
                    <a:pt x="816928" y="277865"/>
                  </a:cubicBezTo>
                  <a:cubicBezTo>
                    <a:pt x="806623" y="288171"/>
                    <a:pt x="792646" y="293960"/>
                    <a:pt x="778072" y="293960"/>
                  </a:cubicBezTo>
                  <a:lnTo>
                    <a:pt x="54951" y="293960"/>
                  </a:lnTo>
                  <a:cubicBezTo>
                    <a:pt x="40377" y="293960"/>
                    <a:pt x="26400" y="288171"/>
                    <a:pt x="16095" y="277865"/>
                  </a:cubicBezTo>
                  <a:cubicBezTo>
                    <a:pt x="5789" y="267560"/>
                    <a:pt x="0" y="253583"/>
                    <a:pt x="0" y="239009"/>
                  </a:cubicBezTo>
                  <a:lnTo>
                    <a:pt x="0" y="54951"/>
                  </a:lnTo>
                  <a:cubicBezTo>
                    <a:pt x="0" y="40377"/>
                    <a:pt x="5789" y="26400"/>
                    <a:pt x="16095" y="16095"/>
                  </a:cubicBezTo>
                  <a:cubicBezTo>
                    <a:pt x="26400" y="5789"/>
                    <a:pt x="40377" y="0"/>
                    <a:pt x="54951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2A8D49"/>
              </a:solidFill>
              <a:prstDash val="solid"/>
              <a:round/>
            </a:ln>
          </p:spPr>
        </p:sp>
        <p:sp>
          <p:nvSpPr>
            <p:cNvPr name="TextBox 96" id="96"/>
            <p:cNvSpPr txBox="true"/>
            <p:nvPr/>
          </p:nvSpPr>
          <p:spPr>
            <a:xfrm>
              <a:off x="0" y="-19050"/>
              <a:ext cx="833023" cy="313010"/>
            </a:xfrm>
            <a:prstGeom prst="rect">
              <a:avLst/>
            </a:prstGeom>
          </p:spPr>
          <p:txBody>
            <a:bodyPr anchor="ctr" rtlCol="false" tIns="45559" lIns="45559" bIns="45559" rIns="45559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97" id="97"/>
          <p:cNvSpPr/>
          <p:nvPr/>
        </p:nvSpPr>
        <p:spPr>
          <a:xfrm flipH="false" flipV="false" rot="0">
            <a:off x="4772026" y="8606744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8" id="98"/>
          <p:cNvSpPr/>
          <p:nvPr/>
        </p:nvSpPr>
        <p:spPr>
          <a:xfrm flipH="false" flipV="false" rot="0">
            <a:off x="4772026" y="8886455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9" id="99"/>
          <p:cNvSpPr/>
          <p:nvPr/>
        </p:nvSpPr>
        <p:spPr>
          <a:xfrm flipH="false" flipV="false" rot="0">
            <a:off x="4772026" y="9126377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0" id="100"/>
          <p:cNvSpPr txBox="true"/>
          <p:nvPr/>
        </p:nvSpPr>
        <p:spPr>
          <a:xfrm rot="-5400000">
            <a:off x="1944514" y="6994869"/>
            <a:ext cx="2961071" cy="416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36"/>
              </a:lnSpc>
              <a:spcBef>
                <a:spcPct val="0"/>
              </a:spcBef>
            </a:pPr>
            <a:r>
              <a:rPr lang="en-US" b="true" sz="2614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Existing problem</a:t>
            </a:r>
          </a:p>
        </p:txBody>
      </p:sp>
      <p:sp>
        <p:nvSpPr>
          <p:cNvPr name="TextBox 101" id="101"/>
          <p:cNvSpPr txBox="true"/>
          <p:nvPr/>
        </p:nvSpPr>
        <p:spPr>
          <a:xfrm rot="5400000">
            <a:off x="2919384" y="6937828"/>
            <a:ext cx="2599285" cy="44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4"/>
              </a:lnSpc>
              <a:spcBef>
                <a:spcPct val="0"/>
              </a:spcBef>
            </a:pPr>
            <a:r>
              <a:rPr lang="en-US" b="true" sz="2770">
                <a:solidFill>
                  <a:srgbClr val="2A8D4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Our solution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682506" y="8480058"/>
            <a:ext cx="1992928" cy="612948"/>
            <a:chOff x="0" y="0"/>
            <a:chExt cx="623753" cy="191842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623753" cy="191842"/>
            </a:xfrm>
            <a:custGeom>
              <a:avLst/>
              <a:gdLst/>
              <a:ahLst/>
              <a:cxnLst/>
              <a:rect r="r" b="b" t="t" l="l"/>
              <a:pathLst>
                <a:path h="191842" w="623753">
                  <a:moveTo>
                    <a:pt x="75873" y="0"/>
                  </a:moveTo>
                  <a:lnTo>
                    <a:pt x="547880" y="0"/>
                  </a:lnTo>
                  <a:cubicBezTo>
                    <a:pt x="568002" y="0"/>
                    <a:pt x="587301" y="7994"/>
                    <a:pt x="601530" y="22223"/>
                  </a:cubicBezTo>
                  <a:cubicBezTo>
                    <a:pt x="615759" y="36452"/>
                    <a:pt x="623753" y="55750"/>
                    <a:pt x="623753" y="75873"/>
                  </a:cubicBezTo>
                  <a:lnTo>
                    <a:pt x="623753" y="115969"/>
                  </a:lnTo>
                  <a:cubicBezTo>
                    <a:pt x="623753" y="157873"/>
                    <a:pt x="589783" y="191842"/>
                    <a:pt x="547880" y="191842"/>
                  </a:cubicBezTo>
                  <a:lnTo>
                    <a:pt x="75873" y="191842"/>
                  </a:lnTo>
                  <a:cubicBezTo>
                    <a:pt x="33969" y="191842"/>
                    <a:pt x="0" y="157873"/>
                    <a:pt x="0" y="115969"/>
                  </a:cubicBezTo>
                  <a:lnTo>
                    <a:pt x="0" y="75873"/>
                  </a:lnTo>
                  <a:cubicBezTo>
                    <a:pt x="0" y="33969"/>
                    <a:pt x="33969" y="0"/>
                    <a:pt x="75873" y="0"/>
                  </a:cubicBezTo>
                  <a:close/>
                </a:path>
              </a:pathLst>
            </a:custGeom>
            <a:solidFill>
              <a:srgbClr val="DCE6F2"/>
            </a:solidFill>
            <a:ln w="19050" cap="rnd">
              <a:solidFill>
                <a:srgbClr val="FF4444"/>
              </a:solidFill>
              <a:prstDash val="solid"/>
              <a:round/>
            </a:ln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623753" cy="210892"/>
            </a:xfrm>
            <a:prstGeom prst="rect">
              <a:avLst/>
            </a:prstGeom>
          </p:spPr>
          <p:txBody>
            <a:bodyPr anchor="ctr" rtlCol="false" tIns="44067" lIns="44067" bIns="44067" rIns="44067"/>
            <a:lstStyle/>
            <a:p>
              <a:pPr algn="l">
                <a:lnSpc>
                  <a:spcPts val="2159"/>
                </a:lnSpc>
              </a:pPr>
            </a:p>
          </p:txBody>
        </p:sp>
      </p:grpSp>
      <p:sp>
        <p:nvSpPr>
          <p:cNvPr name="Freeform 105" id="105"/>
          <p:cNvSpPr/>
          <p:nvPr/>
        </p:nvSpPr>
        <p:spPr>
          <a:xfrm flipH="false" flipV="false" rot="0">
            <a:off x="731575" y="8786532"/>
            <a:ext cx="120584" cy="103100"/>
          </a:xfrm>
          <a:custGeom>
            <a:avLst/>
            <a:gdLst/>
            <a:ahLst/>
            <a:cxnLst/>
            <a:rect r="r" b="b" t="t" l="l"/>
            <a:pathLst>
              <a:path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6" id="106"/>
          <p:cNvSpPr/>
          <p:nvPr/>
        </p:nvSpPr>
        <p:spPr>
          <a:xfrm>
            <a:off x="4204738" y="5748210"/>
            <a:ext cx="585479" cy="210504"/>
          </a:xfrm>
          <a:custGeom>
            <a:avLst/>
            <a:gdLst/>
            <a:ahLst/>
            <a:cxnLst/>
            <a:rect r="r" b="b" t="t" l="l"/>
            <a:pathLst>
              <a:path h="210504" w="585479">
                <a:moveTo>
                  <a:pt x="0" y="210503"/>
                </a:moveTo>
                <a:lnTo>
                  <a:pt x="0" y="105252"/>
                </a:lnTo>
                <a:cubicBezTo>
                  <a:pt x="0" y="47122"/>
                  <a:pt x="47123" y="0"/>
                  <a:pt x="105252" y="0"/>
                </a:cubicBezTo>
                <a:lnTo>
                  <a:pt x="347606" y="0"/>
                </a:lnTo>
                <a:cubicBezTo>
                  <a:pt x="357368" y="0"/>
                  <a:pt x="366731" y="3878"/>
                  <a:pt x="373634" y="10781"/>
                </a:cubicBezTo>
                <a:cubicBezTo>
                  <a:pt x="380536" y="17683"/>
                  <a:pt x="384414" y="27046"/>
                  <a:pt x="384414" y="36808"/>
                </a:cubicBezTo>
                <a:lnTo>
                  <a:pt x="384414" y="36808"/>
                </a:lnTo>
                <a:cubicBezTo>
                  <a:pt x="384414" y="46570"/>
                  <a:pt x="388292" y="55933"/>
                  <a:pt x="395196" y="62836"/>
                </a:cubicBezTo>
                <a:cubicBezTo>
                  <a:pt x="402098" y="69738"/>
                  <a:pt x="411461" y="73616"/>
                  <a:pt x="421223" y="73616"/>
                </a:cubicBezTo>
                <a:lnTo>
                  <a:pt x="585479" y="73616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7" id="107"/>
          <p:cNvSpPr/>
          <p:nvPr/>
        </p:nvSpPr>
        <p:spPr>
          <a:xfrm>
            <a:off x="4593223" y="6903345"/>
            <a:ext cx="128514" cy="94807"/>
          </a:xfrm>
          <a:custGeom>
            <a:avLst/>
            <a:gdLst/>
            <a:ahLst/>
            <a:cxnLst/>
            <a:rect r="r" b="b" t="t" l="l"/>
            <a:pathLst>
              <a:path h="94807" w="128514">
                <a:moveTo>
                  <a:pt x="0" y="94808"/>
                </a:moveTo>
                <a:lnTo>
                  <a:pt x="0" y="47404"/>
                </a:lnTo>
                <a:cubicBezTo>
                  <a:pt x="0" y="34832"/>
                  <a:pt x="4994" y="22774"/>
                  <a:pt x="13884" y="13885"/>
                </a:cubicBezTo>
                <a:cubicBezTo>
                  <a:pt x="22774" y="4995"/>
                  <a:pt x="34831" y="0"/>
                  <a:pt x="47403" y="0"/>
                </a:cubicBezTo>
                <a:lnTo>
                  <a:pt x="128514" y="0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8" id="108"/>
          <p:cNvSpPr/>
          <p:nvPr/>
        </p:nvSpPr>
        <p:spPr>
          <a:xfrm>
            <a:off x="4537219" y="7732814"/>
            <a:ext cx="266753" cy="152121"/>
          </a:xfrm>
          <a:custGeom>
            <a:avLst/>
            <a:gdLst/>
            <a:ahLst/>
            <a:cxnLst/>
            <a:rect r="r" b="b" t="t" l="l"/>
            <a:pathLst>
              <a:path h="152121" w="266753">
                <a:moveTo>
                  <a:pt x="0" y="0"/>
                </a:moveTo>
                <a:lnTo>
                  <a:pt x="0" y="76061"/>
                </a:lnTo>
                <a:cubicBezTo>
                  <a:pt x="0" y="96233"/>
                  <a:pt x="8014" y="115579"/>
                  <a:pt x="22278" y="129843"/>
                </a:cubicBezTo>
                <a:cubicBezTo>
                  <a:pt x="36542" y="144108"/>
                  <a:pt x="55888" y="152121"/>
                  <a:pt x="76061" y="152121"/>
                </a:cubicBezTo>
                <a:lnTo>
                  <a:pt x="266753" y="152121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9" id="109"/>
          <p:cNvSpPr/>
          <p:nvPr/>
        </p:nvSpPr>
        <p:spPr>
          <a:xfrm>
            <a:off x="4204738" y="8555860"/>
            <a:ext cx="450891" cy="333771"/>
          </a:xfrm>
          <a:custGeom>
            <a:avLst/>
            <a:gdLst/>
            <a:ahLst/>
            <a:cxnLst/>
            <a:rect r="r" b="b" t="t" l="l"/>
            <a:pathLst>
              <a:path h="333771" w="450891">
                <a:moveTo>
                  <a:pt x="0" y="0"/>
                </a:moveTo>
                <a:lnTo>
                  <a:pt x="112723" y="0"/>
                </a:lnTo>
                <a:cubicBezTo>
                  <a:pt x="174978" y="0"/>
                  <a:pt x="225446" y="50467"/>
                  <a:pt x="225446" y="112723"/>
                </a:cubicBezTo>
                <a:lnTo>
                  <a:pt x="225446" y="221048"/>
                </a:lnTo>
                <a:cubicBezTo>
                  <a:pt x="225446" y="250944"/>
                  <a:pt x="237322" y="279615"/>
                  <a:pt x="258462" y="300755"/>
                </a:cubicBezTo>
                <a:cubicBezTo>
                  <a:pt x="279601" y="321895"/>
                  <a:pt x="308273" y="333771"/>
                  <a:pt x="338169" y="333771"/>
                </a:cubicBezTo>
                <a:lnTo>
                  <a:pt x="450892" y="333771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0" id="110"/>
          <p:cNvSpPr/>
          <p:nvPr/>
        </p:nvSpPr>
        <p:spPr>
          <a:xfrm>
            <a:off x="2650711" y="5743280"/>
            <a:ext cx="783864" cy="205462"/>
          </a:xfrm>
          <a:custGeom>
            <a:avLst/>
            <a:gdLst/>
            <a:ahLst/>
            <a:cxnLst/>
            <a:rect r="r" b="b" t="t" l="l"/>
            <a:pathLst>
              <a:path h="205462" w="783864">
                <a:moveTo>
                  <a:pt x="0" y="0"/>
                </a:moveTo>
                <a:lnTo>
                  <a:pt x="479458" y="0"/>
                </a:lnTo>
                <a:cubicBezTo>
                  <a:pt x="480820" y="0"/>
                  <a:pt x="481923" y="1103"/>
                  <a:pt x="481923" y="2465"/>
                </a:cubicBezTo>
                <a:lnTo>
                  <a:pt x="481923" y="2465"/>
                </a:lnTo>
                <a:cubicBezTo>
                  <a:pt x="481923" y="3826"/>
                  <a:pt x="483027" y="4930"/>
                  <a:pt x="484388" y="4930"/>
                </a:cubicBezTo>
                <a:lnTo>
                  <a:pt x="683597" y="4930"/>
                </a:lnTo>
                <a:cubicBezTo>
                  <a:pt x="710190" y="4930"/>
                  <a:pt x="735693" y="15493"/>
                  <a:pt x="754496" y="34297"/>
                </a:cubicBezTo>
                <a:cubicBezTo>
                  <a:pt x="773300" y="53100"/>
                  <a:pt x="783863" y="78603"/>
                  <a:pt x="783863" y="105196"/>
                </a:cubicBezTo>
                <a:lnTo>
                  <a:pt x="783863" y="205462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1" id="111"/>
          <p:cNvSpPr/>
          <p:nvPr/>
        </p:nvSpPr>
        <p:spPr>
          <a:xfrm>
            <a:off x="2675434" y="8496918"/>
            <a:ext cx="759140" cy="289614"/>
          </a:xfrm>
          <a:custGeom>
            <a:avLst/>
            <a:gdLst/>
            <a:ahLst/>
            <a:cxnLst/>
            <a:rect r="r" b="b" t="t" l="l"/>
            <a:pathLst>
              <a:path h="289614" w="759140">
                <a:moveTo>
                  <a:pt x="0" y="289614"/>
                </a:moveTo>
                <a:lnTo>
                  <a:pt x="234763" y="289614"/>
                </a:lnTo>
                <a:cubicBezTo>
                  <a:pt x="314738" y="289614"/>
                  <a:pt x="379570" y="224781"/>
                  <a:pt x="379570" y="144807"/>
                </a:cubicBezTo>
                <a:lnTo>
                  <a:pt x="379570" y="144807"/>
                </a:lnTo>
                <a:cubicBezTo>
                  <a:pt x="379570" y="64832"/>
                  <a:pt x="444403" y="0"/>
                  <a:pt x="524377" y="0"/>
                </a:cubicBezTo>
                <a:lnTo>
                  <a:pt x="759140" y="0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2" id="112"/>
          <p:cNvSpPr/>
          <p:nvPr/>
        </p:nvSpPr>
        <p:spPr>
          <a:xfrm>
            <a:off x="2788789" y="7877783"/>
            <a:ext cx="316565" cy="7152"/>
          </a:xfrm>
          <a:custGeom>
            <a:avLst/>
            <a:gdLst/>
            <a:ahLst/>
            <a:cxnLst/>
            <a:rect r="r" b="b" t="t" l="l"/>
            <a:pathLst>
              <a:path h="7152" w="316565">
                <a:moveTo>
                  <a:pt x="0" y="7152"/>
                </a:moveTo>
                <a:lnTo>
                  <a:pt x="312989" y="7152"/>
                </a:lnTo>
                <a:cubicBezTo>
                  <a:pt x="313937" y="7152"/>
                  <a:pt x="314847" y="6775"/>
                  <a:pt x="315517" y="6105"/>
                </a:cubicBezTo>
                <a:cubicBezTo>
                  <a:pt x="316188" y="5434"/>
                  <a:pt x="316565" y="4524"/>
                  <a:pt x="316565" y="3576"/>
                </a:cubicBezTo>
                <a:lnTo>
                  <a:pt x="316565" y="0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3" id="113"/>
          <p:cNvSpPr/>
          <p:nvPr/>
        </p:nvSpPr>
        <p:spPr>
          <a:xfrm>
            <a:off x="2668866" y="6932416"/>
            <a:ext cx="436488" cy="65736"/>
          </a:xfrm>
          <a:custGeom>
            <a:avLst/>
            <a:gdLst/>
            <a:ahLst/>
            <a:cxnLst/>
            <a:rect r="r" b="b" t="t" l="l"/>
            <a:pathLst>
              <a:path h="65736" w="436488">
                <a:moveTo>
                  <a:pt x="0" y="0"/>
                </a:moveTo>
                <a:lnTo>
                  <a:pt x="403620" y="0"/>
                </a:lnTo>
                <a:cubicBezTo>
                  <a:pt x="412337" y="0"/>
                  <a:pt x="420697" y="3463"/>
                  <a:pt x="426861" y="9627"/>
                </a:cubicBezTo>
                <a:cubicBezTo>
                  <a:pt x="433025" y="15791"/>
                  <a:pt x="436488" y="24152"/>
                  <a:pt x="436488" y="32869"/>
                </a:cubicBezTo>
                <a:lnTo>
                  <a:pt x="436488" y="65737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4" id="114"/>
          <p:cNvSpPr/>
          <p:nvPr/>
        </p:nvSpPr>
        <p:spPr>
          <a:xfrm flipH="false" flipV="false" rot="0">
            <a:off x="11591386" y="6207204"/>
            <a:ext cx="6558714" cy="3242423"/>
          </a:xfrm>
          <a:custGeom>
            <a:avLst/>
            <a:gdLst/>
            <a:ahLst/>
            <a:cxnLst/>
            <a:rect r="r" b="b" t="t" l="l"/>
            <a:pathLst>
              <a:path h="3242423" w="6558714">
                <a:moveTo>
                  <a:pt x="0" y="0"/>
                </a:moveTo>
                <a:lnTo>
                  <a:pt x="6558714" y="0"/>
                </a:lnTo>
                <a:lnTo>
                  <a:pt x="6558714" y="3242423"/>
                </a:lnTo>
                <a:lnTo>
                  <a:pt x="0" y="324242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-1139"/>
            </a:stretch>
          </a:blipFill>
        </p:spPr>
      </p:sp>
      <p:sp>
        <p:nvSpPr>
          <p:cNvPr name="TextBox 115" id="115"/>
          <p:cNvSpPr txBox="true"/>
          <p:nvPr/>
        </p:nvSpPr>
        <p:spPr>
          <a:xfrm rot="0">
            <a:off x="422921" y="2471880"/>
            <a:ext cx="182869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CAPTURE → CONVERT TO EVENTS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28602" y="2899331"/>
            <a:ext cx="2530988" cy="2382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Inste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ad of sending continuous video to the central server, each camera generates a lightweight event containing plate, timestamp, camera ID, location and confidence.</a:t>
            </a:r>
          </a:p>
          <a:p>
            <a:pPr algn="l">
              <a:lnSpc>
                <a:spcPts val="1201"/>
              </a:lnSpc>
              <a:spcBef>
                <a:spcPct val="0"/>
              </a:spcBef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Delhi uses ~60 virtual ANPR camera/gate locations on real junctions such as CP, India Gate, Lodi Road etc</a:t>
            </a:r>
          </a:p>
          <a:p>
            <a:pPr algn="l">
              <a:lnSpc>
                <a:spcPts val="1201"/>
              </a:lnSpc>
              <a:spcBef>
                <a:spcPct val="0"/>
              </a:spcBef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Standardized ingestion: Every source follows the same POST /ingest/v1/events contract, so replacing simulated feeds with real camera feeds does not require redesigning the downstream system.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3507512" y="2372933"/>
            <a:ext cx="182869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VEHICLE, ONE IDENTITY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3265725" y="2889806"/>
            <a:ext cx="2186269" cy="23986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82497" indent="-91248" lvl="1">
              <a:lnSpc>
                <a:spcPts val="1014"/>
              </a:lnSpc>
              <a:buFont typeface="Arial"/>
              <a:buChar char="•"/>
            </a:pPr>
            <a:r>
              <a:rPr lang="en-US" sz="845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Raw plate readings are canonicalized into a consistent format before processing.</a:t>
            </a:r>
          </a:p>
          <a:p>
            <a:pPr algn="l">
              <a:lnSpc>
                <a:spcPts val="1014"/>
              </a:lnSpc>
            </a:pPr>
          </a:p>
          <a:p>
            <a:pPr algn="l" marL="182497" indent="-91248" lvl="1">
              <a:lnSpc>
                <a:spcPts val="1014"/>
              </a:lnSpc>
              <a:buFont typeface="Arial"/>
              <a:buChar char="•"/>
            </a:pPr>
            <a:r>
              <a:rPr lang="en-US" sz="845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The system compares OCR variants instead of blindly trusting every reading.</a:t>
            </a:r>
          </a:p>
          <a:p>
            <a:pPr algn="l">
              <a:lnSpc>
                <a:spcPts val="1014"/>
              </a:lnSpc>
            </a:pPr>
          </a:p>
          <a:p>
            <a:pPr algn="l" marL="182497" indent="-91248" lvl="1">
              <a:lnSpc>
                <a:spcPts val="1014"/>
              </a:lnSpc>
              <a:buFont typeface="Arial"/>
              <a:buChar char="•"/>
            </a:pPr>
            <a:r>
              <a:rPr lang="en-US" sz="845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Plates with up to one-character difference can be associated when they occur within a 10-minute temporal window.</a:t>
            </a:r>
          </a:p>
          <a:p>
            <a:pPr algn="l">
              <a:lnSpc>
                <a:spcPts val="1014"/>
              </a:lnSpc>
            </a:pPr>
          </a:p>
          <a:p>
            <a:pPr algn="l" marL="182497" indent="-91248" lvl="1">
              <a:lnSpc>
                <a:spcPts val="1014"/>
              </a:lnSpc>
              <a:buFont typeface="Arial"/>
              <a:buChar char="•"/>
            </a:pPr>
            <a:r>
              <a:rPr lang="en-US" sz="845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DL51AB1234 → DL51AB123I → DL51AB1234 can still be treated as the same vehicle observation sequence.</a:t>
            </a:r>
          </a:p>
          <a:p>
            <a:pPr algn="l">
              <a:lnSpc>
                <a:spcPts val="1014"/>
              </a:lnSpc>
            </a:pPr>
          </a:p>
          <a:p>
            <a:pPr algn="l" marL="182497" indent="-91248" lvl="1">
              <a:lnSpc>
                <a:spcPts val="1014"/>
              </a:lnSpc>
              <a:buFont typeface="Arial"/>
              <a:buChar char="•"/>
            </a:pPr>
            <a:r>
              <a:rPr lang="en-US" sz="845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Missed detections create gaps rather than automatically breaking the vehicle's identity, improving trajectory robustness under imperfect ANPR. 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6659520" y="2398617"/>
            <a:ext cx="182869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FROM SIGHTINGS TO JOURNEY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6456490" y="2856759"/>
            <a:ext cx="2186269" cy="2369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80243" indent="-90121" lvl="1">
              <a:lnSpc>
                <a:spcPts val="1001"/>
              </a:lnSpc>
              <a:buFont typeface="Arial"/>
              <a:buChar char="•"/>
            </a:pPr>
            <a:r>
              <a:rPr lang="en-US" b="true" sz="834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Cross-camera trajectory reconstruction</a:t>
            </a:r>
            <a:r>
              <a:rPr lang="en-US" sz="83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: Connects detections of the same vehicle across multiple ANPR cameras</a:t>
            </a:r>
          </a:p>
          <a:p>
            <a:pPr algn="l">
              <a:lnSpc>
                <a:spcPts val="1001"/>
              </a:lnSpc>
            </a:pPr>
          </a:p>
          <a:p>
            <a:pPr algn="l" marL="180243" indent="-90121" lvl="1">
              <a:lnSpc>
                <a:spcPts val="1001"/>
              </a:lnSpc>
              <a:buFont typeface="Arial"/>
              <a:buChar char="•"/>
            </a:pPr>
            <a:r>
              <a:rPr lang="en-US" sz="83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Each detection contributes camera location + timestamp + confidence to the vehicle's journey.</a:t>
            </a:r>
          </a:p>
          <a:p>
            <a:pPr algn="l">
              <a:lnSpc>
                <a:spcPts val="1001"/>
              </a:lnSpc>
            </a:pPr>
          </a:p>
          <a:p>
            <a:pPr algn="l" marL="180243" indent="-90121" lvl="1">
              <a:lnSpc>
                <a:spcPts val="1001"/>
              </a:lnSpc>
              <a:buFont typeface="Arial"/>
              <a:buChar char="•"/>
            </a:pPr>
            <a:r>
              <a:rPr lang="en-US" sz="83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The reconstructed route is drawn directly on the Delhi road network.</a:t>
            </a:r>
          </a:p>
          <a:p>
            <a:pPr algn="l">
              <a:lnSpc>
                <a:spcPts val="1001"/>
              </a:lnSpc>
            </a:pPr>
          </a:p>
          <a:p>
            <a:pPr algn="l" marL="180243" indent="-90121" lvl="1">
              <a:lnSpc>
                <a:spcPts val="1001"/>
              </a:lnSpc>
              <a:buFont typeface="Arial"/>
              <a:buChar char="•"/>
            </a:pPr>
            <a:r>
              <a:rPr lang="en-US" b="true" sz="834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Journey intelligence</a:t>
            </a:r>
            <a:r>
              <a:rPr lang="en-US" sz="83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: The system derives inter-camera travel information such as hop timing and speed where data supports it.</a:t>
            </a:r>
          </a:p>
          <a:p>
            <a:pPr algn="l">
              <a:lnSpc>
                <a:spcPts val="1001"/>
              </a:lnSpc>
            </a:pPr>
          </a:p>
          <a:p>
            <a:pPr algn="l" marL="180243" indent="-90121" lvl="1">
              <a:lnSpc>
                <a:spcPts val="1001"/>
              </a:lnSpc>
              <a:buFont typeface="Arial"/>
              <a:buChar char="•"/>
            </a:pPr>
            <a:r>
              <a:rPr lang="en-US" sz="83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Authorities can search a plate and view its route, detection sequence and timeline.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9722850" y="2398617"/>
            <a:ext cx="205762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INDIVIDUAL VEHICLES → CITY-LEVEL INSIGHTS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9688425" y="2866284"/>
            <a:ext cx="2186269" cy="228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77989" indent="-88995" lvl="1">
              <a:lnSpc>
                <a:spcPts val="915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Real-time traffic density: Aggregates camera observations into traffic-volume rollups and map-based heatmaps.</a:t>
            </a:r>
          </a:p>
          <a:p>
            <a:pPr algn="l">
              <a:lnSpc>
                <a:spcPts val="915"/>
              </a:lnSpc>
            </a:pPr>
          </a:p>
          <a:p>
            <a:pPr algn="l" marL="177989" indent="-88995" lvl="1">
              <a:lnSpc>
                <a:spcPts val="915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Congestion detection: Compares observed travel time against a free-flow reference to identify heavy/congested corridors.</a:t>
            </a:r>
          </a:p>
          <a:p>
            <a:pPr algn="l">
              <a:lnSpc>
                <a:spcPts val="915"/>
              </a:lnSpc>
            </a:pPr>
          </a:p>
          <a:p>
            <a:pPr algn="l" marL="177989" indent="-88995" lvl="1">
              <a:lnSpc>
                <a:spcPts val="915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Origin–Destination analysis: Determines aggregated movement between camera regions — essentially “Where are vehicles coming from and where are they going?”</a:t>
            </a:r>
          </a:p>
          <a:p>
            <a:pPr algn="l">
              <a:lnSpc>
                <a:spcPts val="915"/>
              </a:lnSpc>
            </a:pPr>
          </a:p>
          <a:p>
            <a:pPr algn="l" marL="177989" indent="-88995" lvl="1">
              <a:lnSpc>
                <a:spcPts val="915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Peak-hour analysis: Tracks traffic trends across time windows to identify changing traffic patterns.</a:t>
            </a:r>
          </a:p>
          <a:p>
            <a:pPr algn="l">
              <a:lnSpc>
                <a:spcPts val="915"/>
              </a:lnSpc>
            </a:pPr>
          </a:p>
          <a:p>
            <a:pPr algn="l" marL="177989" indent="-88995" lvl="1">
              <a:lnSpc>
                <a:spcPts val="915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Camera health analytics: Monitors expected vs observed detections to identify healthy, degraded or down cameras.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13040744" y="2447057"/>
            <a:ext cx="182869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DETECT → ALERT → INVESTIGATE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12858741" y="2887351"/>
            <a:ext cx="2186269" cy="24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86670" indent="-93335" lvl="1">
              <a:lnSpc>
                <a:spcPts val="1037"/>
              </a:lnSpc>
              <a:buFont typeface="Arial"/>
              <a:buChar char="•"/>
            </a:pPr>
            <a:r>
              <a:rPr lang="en-US" b="true" sz="864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Blacklisted vehicle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Authority adds a vehicle plate to the blacklist.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 matching detection automatically generates a blacklist alert.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 is published to the dashboard for operator acknowledgement/investigation.</a:t>
            </a:r>
          </a:p>
          <a:p>
            <a:pPr algn="l">
              <a:lnSpc>
                <a:spcPts val="1037"/>
              </a:lnSpc>
            </a:pPr>
          </a:p>
          <a:p>
            <a:pPr algn="l" marL="186670" indent="-93335" lvl="1">
              <a:lnSpc>
                <a:spcPts val="1037"/>
              </a:lnSpc>
              <a:buFont typeface="Arial"/>
              <a:buChar char="•"/>
            </a:pPr>
            <a:r>
              <a:rPr lang="en-US" b="true" sz="864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Impossible travel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The system compares detections of the same plate across cameras.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If the vehicle appears at another location faster than physically possible, it generates an impossible-travel alert.</a:t>
            </a:r>
          </a:p>
          <a:p>
            <a:pPr algn="l">
              <a:lnSpc>
                <a:spcPts val="1037"/>
              </a:lnSpc>
            </a:pPr>
          </a:p>
          <a:p>
            <a:pPr algn="l" marL="186670" indent="-93335" lvl="1">
              <a:lnSpc>
                <a:spcPts val="1037"/>
              </a:lnSpc>
              <a:buFont typeface="Arial"/>
              <a:buChar char="•"/>
            </a:pPr>
            <a:r>
              <a:rPr lang="en-US" b="true" sz="864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Camera anomalies</a:t>
            </a:r>
          </a:p>
          <a:p>
            <a:pPr algn="l">
              <a:lnSpc>
                <a:spcPts val="1037"/>
              </a:lnSpc>
            </a:pPr>
            <a:r>
              <a:rPr lang="en-US" sz="86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Monitors camera observation patterns against expected activity.</a:t>
            </a:r>
          </a:p>
          <a:p>
            <a:pPr algn="l">
              <a:lnSpc>
                <a:spcPts val="1037"/>
              </a:lnSpc>
            </a:pPr>
          </a:p>
        </p:txBody>
      </p:sp>
      <p:sp>
        <p:nvSpPr>
          <p:cNvPr name="TextBox 125" id="125"/>
          <p:cNvSpPr txBox="true"/>
          <p:nvPr/>
        </p:nvSpPr>
        <p:spPr>
          <a:xfrm rot="0">
            <a:off x="16120944" y="2479044"/>
            <a:ext cx="1828696" cy="39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2"/>
              </a:lnSpc>
              <a:spcBef>
                <a:spcPct val="0"/>
              </a:spcBef>
            </a:pPr>
            <a:r>
              <a:rPr lang="en-US" b="true" sz="1252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OPERATIONAL VIEW</a:t>
            </a:r>
          </a:p>
        </p:txBody>
      </p:sp>
      <p:sp>
        <p:nvSpPr>
          <p:cNvPr name="TextBox 126" id="126"/>
          <p:cNvSpPr txBox="true"/>
          <p:nvPr/>
        </p:nvSpPr>
        <p:spPr>
          <a:xfrm rot="0">
            <a:off x="15963831" y="2896876"/>
            <a:ext cx="2186269" cy="233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77990" indent="-88995" lvl="1">
              <a:lnSpc>
                <a:spcPts val="989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Centralized command interface: Combines the city map, vehicle trajectories, traffic analytics, camera health and alerts.</a:t>
            </a:r>
          </a:p>
          <a:p>
            <a:pPr algn="l">
              <a:lnSpc>
                <a:spcPts val="989"/>
              </a:lnSpc>
            </a:pPr>
          </a:p>
          <a:p>
            <a:pPr algn="l" marL="177990" indent="-88995" lvl="1">
              <a:lnSpc>
                <a:spcPts val="989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Live GIS map: Displays cameras, traffic heatmaps and active vehicle movement.</a:t>
            </a:r>
          </a:p>
          <a:p>
            <a:pPr algn="l">
              <a:lnSpc>
                <a:spcPts val="989"/>
              </a:lnSpc>
            </a:pPr>
          </a:p>
          <a:p>
            <a:pPr algn="l" marL="177990" indent="-88995" lvl="1">
              <a:lnSpc>
                <a:spcPts val="989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 management: View, acknowledge and investigate blacklist/impossible-travel/anomaly alerts.</a:t>
            </a:r>
          </a:p>
          <a:p>
            <a:pPr algn="l">
              <a:lnSpc>
                <a:spcPts val="989"/>
              </a:lnSpc>
            </a:pPr>
          </a:p>
          <a:p>
            <a:pPr algn="l" marL="177990" indent="-88995" lvl="1">
              <a:lnSpc>
                <a:spcPts val="989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Analytics view: Provides congestion, traffic volume, OD patterns and camera-health information.</a:t>
            </a:r>
          </a:p>
          <a:p>
            <a:pPr algn="l">
              <a:lnSpc>
                <a:spcPts val="989"/>
              </a:lnSpc>
            </a:pPr>
          </a:p>
          <a:p>
            <a:pPr algn="l" marL="177990" indent="-88995" lvl="1">
              <a:lnSpc>
                <a:spcPts val="989"/>
              </a:lnSpc>
              <a:buFont typeface="Arial"/>
              <a:buChar char="•"/>
            </a:pPr>
            <a:r>
              <a:rPr lang="en-US" sz="824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Operator-focused design: Information is organized for quick investigation rather than requiring authorities to switch between multiple systems. 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610906" y="9735161"/>
            <a:ext cx="1616381" cy="157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"/>
              </a:lnSpc>
              <a:spcBef>
                <a:spcPct val="0"/>
              </a:spcBef>
            </a:pPr>
            <a:r>
              <a:rPr lang="en-US" sz="5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Miss</a:t>
            </a:r>
            <a:r>
              <a:rPr lang="en-US" sz="5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ed detections create trajectory gaps instead of automatically terminating vehicle identity.</a:t>
            </a:r>
          </a:p>
        </p:txBody>
      </p:sp>
      <p:sp>
        <p:nvSpPr>
          <p:cNvPr name="TextBox 128" id="128"/>
          <p:cNvSpPr txBox="true"/>
          <p:nvPr/>
        </p:nvSpPr>
        <p:spPr>
          <a:xfrm rot="0">
            <a:off x="12213353" y="5477701"/>
            <a:ext cx="619322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9"/>
              </a:lnSpc>
            </a:pPr>
            <a:r>
              <a:rPr lang="en-US" sz="2099" b="true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We don't just detect vehicles—we connect their movement to understand the city.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</a:p>
        </p:txBody>
      </p:sp>
      <p:sp>
        <p:nvSpPr>
          <p:cNvPr name="TextBox 129" id="129"/>
          <p:cNvSpPr txBox="true"/>
          <p:nvPr/>
        </p:nvSpPr>
        <p:spPr>
          <a:xfrm rot="0">
            <a:off x="4992193" y="6636870"/>
            <a:ext cx="2467491" cy="253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"/>
              </a:lnSpc>
              <a:spcBef>
                <a:spcPct val="0"/>
              </a:spcBef>
            </a:pP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enerates congestion heatmaps and identifies congested corridors.and Calculates traffic density/volume trends from camera observations.</a:t>
            </a:r>
          </a:p>
          <a:p>
            <a:pPr algn="l">
              <a:lnSpc>
                <a:spcPts val="683"/>
              </a:lnSpc>
              <a:spcBef>
                <a:spcPct val="0"/>
              </a:spcBef>
            </a:pPr>
          </a:p>
        </p:txBody>
      </p:sp>
      <p:sp>
        <p:nvSpPr>
          <p:cNvPr name="TextBox 130" id="130"/>
          <p:cNvSpPr txBox="true"/>
          <p:nvPr/>
        </p:nvSpPr>
        <p:spPr>
          <a:xfrm rot="0">
            <a:off x="4915276" y="8546335"/>
            <a:ext cx="2544408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esigned to accept imperfect ANPR results rather than assuming every plate read is correct and Uses confidence-aware normalization and fuzzy matching to tolerate OCR variations.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5152910" y="5430292"/>
            <a:ext cx="1957837" cy="162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17"/>
              </a:lnSpc>
              <a:spcBef>
                <a:spcPct val="0"/>
              </a:spcBef>
            </a:pPr>
            <a:r>
              <a:rPr lang="en-US" b="true" sz="1014" spc="-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Unifi</a:t>
            </a:r>
            <a:r>
              <a:rPr lang="en-US" b="true" sz="1014" spc="-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ed Event-Based Network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5111850" y="7436472"/>
            <a:ext cx="2192585" cy="13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3"/>
              </a:lnSpc>
            </a:pPr>
            <a:r>
              <a:rPr lang="en-US" b="true" sz="1014" spc="-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City-Wid</a:t>
            </a:r>
            <a:r>
              <a:rPr lang="en-US" b="true" sz="1014" spc="-18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 Trajectory Reconstruction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768370" y="5564297"/>
            <a:ext cx="1845299" cy="197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6"/>
              </a:lnSpc>
              <a:spcBef>
                <a:spcPct val="0"/>
              </a:spcBef>
            </a:pPr>
            <a:r>
              <a:rPr lang="en-US" b="true" sz="1171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Isolated Data Silos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923271" y="5733755"/>
            <a:ext cx="1699702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Existing CCTV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and ANPR cameras operate independently without communication between nodes.</a:t>
            </a:r>
          </a:p>
        </p:txBody>
      </p:sp>
      <p:sp>
        <p:nvSpPr>
          <p:cNvPr name="TextBox 135" id="135"/>
          <p:cNvSpPr txBox="true"/>
          <p:nvPr/>
        </p:nvSpPr>
        <p:spPr>
          <a:xfrm rot="0">
            <a:off x="953321" y="6024245"/>
            <a:ext cx="1605190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Data is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captured locally, preventing central visibility across different sectors or jurisdiction boundaries.</a:t>
            </a:r>
          </a:p>
        </p:txBody>
      </p:sp>
      <p:sp>
        <p:nvSpPr>
          <p:cNvPr name="TextBox 136" id="136"/>
          <p:cNvSpPr txBox="true"/>
          <p:nvPr/>
        </p:nvSpPr>
        <p:spPr>
          <a:xfrm rot="0">
            <a:off x="840936" y="7465055"/>
            <a:ext cx="1801778" cy="26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3"/>
              </a:lnSpc>
            </a:pPr>
            <a:r>
              <a:rPr lang="en-US" b="true" sz="1103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Inability to Track Vehicle Trajectories</a:t>
            </a:r>
          </a:p>
        </p:txBody>
      </p:sp>
      <p:sp>
        <p:nvSpPr>
          <p:cNvPr name="TextBox 137" id="137"/>
          <p:cNvSpPr txBox="true"/>
          <p:nvPr/>
        </p:nvSpPr>
        <p:spPr>
          <a:xfrm rot="0">
            <a:off x="938023" y="7687857"/>
            <a:ext cx="1704691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Lack of spatial-temporal data linking m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akes it impossible to trace a vehicle's continuous journey across the city.</a:t>
            </a:r>
          </a:p>
        </p:txBody>
      </p:sp>
      <p:sp>
        <p:nvSpPr>
          <p:cNvPr name="TextBox 138" id="138"/>
          <p:cNvSpPr txBox="true"/>
          <p:nvPr/>
        </p:nvSpPr>
        <p:spPr>
          <a:xfrm rot="0">
            <a:off x="918044" y="7965418"/>
            <a:ext cx="1689535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Security agencies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cannot efficiently recreate historical routes of high-interest or blacklisted vehicles.</a:t>
            </a:r>
          </a:p>
        </p:txBody>
      </p:sp>
      <p:sp>
        <p:nvSpPr>
          <p:cNvPr name="TextBox 139" id="139"/>
          <p:cNvSpPr txBox="true"/>
          <p:nvPr/>
        </p:nvSpPr>
        <p:spPr>
          <a:xfrm rot="0">
            <a:off x="797098" y="6554919"/>
            <a:ext cx="1790141" cy="24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3"/>
              </a:lnSpc>
            </a:pP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Lack </a:t>
            </a: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of Macro-Level Traffic Insights</a:t>
            </a:r>
          </a:p>
        </p:txBody>
      </p:sp>
      <p:sp>
        <p:nvSpPr>
          <p:cNvPr name="TextBox 140" id="140"/>
          <p:cNvSpPr txBox="true"/>
          <p:nvPr/>
        </p:nvSpPr>
        <p:spPr>
          <a:xfrm rot="0">
            <a:off x="917683" y="6755085"/>
            <a:ext cx="1704691" cy="18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amera infrastructure only performs localized detection (e.g., spot-checking a single lane).</a:t>
            </a:r>
          </a:p>
        </p:txBody>
      </p:sp>
      <p:sp>
        <p:nvSpPr>
          <p:cNvPr name="TextBox 141" id="141"/>
          <p:cNvSpPr txBox="true"/>
          <p:nvPr/>
        </p:nvSpPr>
        <p:spPr>
          <a:xfrm rot="0">
            <a:off x="923145" y="6959204"/>
            <a:ext cx="1664093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It fails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to extract aggregated trends like overall city traffic density, origin-destination patterns, or system-wide bottleneck locations.</a:t>
            </a:r>
          </a:p>
        </p:txBody>
      </p:sp>
      <p:sp>
        <p:nvSpPr>
          <p:cNvPr name="TextBox 142" id="142"/>
          <p:cNvSpPr txBox="true"/>
          <p:nvPr/>
        </p:nvSpPr>
        <p:spPr>
          <a:xfrm rot="0">
            <a:off x="4964075" y="5568536"/>
            <a:ext cx="2495609" cy="253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"/>
              </a:lnSpc>
              <a:spcBef>
                <a:spcPct val="0"/>
              </a:spcBef>
            </a:pP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Connects multiple</a:t>
            </a: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ANPR camera sources through a common event-ingestion layer and standardizes event containing plate, timestamp, camera ID/location and confidence for each camera sighting.</a:t>
            </a:r>
          </a:p>
        </p:txBody>
      </p:sp>
      <p:sp>
        <p:nvSpPr>
          <p:cNvPr name="TextBox 143" id="143"/>
          <p:cNvSpPr txBox="true"/>
          <p:nvPr/>
        </p:nvSpPr>
        <p:spPr>
          <a:xfrm rot="0">
            <a:off x="4968717" y="5877974"/>
            <a:ext cx="2490967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Redis-b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ased real-time event processing and Stores events centrally in PostgreSQL + PostGIS + TimescaleDB, creating a common source of truth.</a:t>
            </a:r>
          </a:p>
        </p:txBody>
      </p:sp>
      <p:sp>
        <p:nvSpPr>
          <p:cNvPr name="TextBox 144" id="144"/>
          <p:cNvSpPr txBox="true"/>
          <p:nvPr/>
        </p:nvSpPr>
        <p:spPr>
          <a:xfrm rot="0">
            <a:off x="4982365" y="6170260"/>
            <a:ext cx="2010226" cy="97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Compatible with future RTSP/edge camera feeds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4979548" y="7578786"/>
            <a:ext cx="2480135" cy="362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Links vehicle detections from different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cameras using plate normalization + fuzzy matching and Handles minor OCR errors so one incorrect character does not immediately break the vehicle's journey.</a:t>
            </a:r>
          </a:p>
          <a:p>
            <a:pPr algn="l">
              <a:lnSpc>
                <a:spcPts val="715"/>
              </a:lnSpc>
              <a:spcBef>
                <a:spcPct val="0"/>
              </a:spcBef>
            </a:pPr>
          </a:p>
        </p:txBody>
      </p:sp>
      <p:sp>
        <p:nvSpPr>
          <p:cNvPr name="TextBox 146" id="146"/>
          <p:cNvSpPr txBox="true"/>
          <p:nvPr/>
        </p:nvSpPr>
        <p:spPr>
          <a:xfrm rot="0">
            <a:off x="4979548" y="7868258"/>
            <a:ext cx="2480135" cy="18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Uses timestamp + camera location + matching confidence to reconstruct the vehicle's movement.</a:t>
            </a:r>
          </a:p>
        </p:txBody>
      </p:sp>
      <p:sp>
        <p:nvSpPr>
          <p:cNvPr name="TextBox 147" id="147"/>
          <p:cNvSpPr txBox="true"/>
          <p:nvPr/>
        </p:nvSpPr>
        <p:spPr>
          <a:xfrm rot="0">
            <a:off x="4982365" y="8094122"/>
            <a:ext cx="2491074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Displays the reconstructed journey on a GIS map and p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rovides trajectory search so authorities can investigate a vehicle using its plate.</a:t>
            </a:r>
          </a:p>
          <a:p>
            <a:pPr algn="l">
              <a:lnSpc>
                <a:spcPts val="715"/>
              </a:lnSpc>
              <a:spcBef>
                <a:spcPct val="0"/>
              </a:spcBef>
            </a:pPr>
          </a:p>
        </p:txBody>
      </p:sp>
      <p:sp>
        <p:nvSpPr>
          <p:cNvPr name="TextBox 148" id="148"/>
          <p:cNvSpPr txBox="true"/>
          <p:nvPr/>
        </p:nvSpPr>
        <p:spPr>
          <a:xfrm rot="0">
            <a:off x="5083382" y="6463315"/>
            <a:ext cx="2028412" cy="131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3"/>
              </a:lnSpc>
            </a:pP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City</a:t>
            </a: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-Wide Traffic Intelligence</a:t>
            </a:r>
          </a:p>
        </p:txBody>
      </p:sp>
      <p:sp>
        <p:nvSpPr>
          <p:cNvPr name="TextBox 149" id="149"/>
          <p:cNvSpPr txBox="true"/>
          <p:nvPr/>
        </p:nvSpPr>
        <p:spPr>
          <a:xfrm rot="0">
            <a:off x="4982365" y="6842083"/>
            <a:ext cx="2369743" cy="253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"/>
              </a:lnSpc>
              <a:spcBef>
                <a:spcPct val="0"/>
              </a:spcBef>
            </a:pP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569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enerates Origin–Destination (OD) patterns from vehicle movement between camera regions.and Calculates travel-time/congestion indicators for monitored corridors.</a:t>
            </a:r>
          </a:p>
        </p:txBody>
      </p:sp>
      <p:sp>
        <p:nvSpPr>
          <p:cNvPr name="TextBox 150" id="150"/>
          <p:cNvSpPr txBox="true"/>
          <p:nvPr/>
        </p:nvSpPr>
        <p:spPr>
          <a:xfrm rot="0">
            <a:off x="4958651" y="7102811"/>
            <a:ext cx="2393457" cy="18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rovides camera health/coverage analytics to indicate where data may be unreliable.</a:t>
            </a:r>
          </a:p>
        </p:txBody>
      </p:sp>
      <p:sp>
        <p:nvSpPr>
          <p:cNvPr name="TextBox 151" id="151"/>
          <p:cNvSpPr txBox="true"/>
          <p:nvPr/>
        </p:nvSpPr>
        <p:spPr>
          <a:xfrm rot="0">
            <a:off x="5219126" y="8439344"/>
            <a:ext cx="1820893" cy="131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3"/>
              </a:lnSpc>
            </a:pP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Robust</a:t>
            </a: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ANPR Pipeline</a:t>
            </a:r>
          </a:p>
        </p:txBody>
      </p:sp>
      <p:sp>
        <p:nvSpPr>
          <p:cNvPr name="TextBox 152" id="152"/>
          <p:cNvSpPr txBox="true"/>
          <p:nvPr/>
        </p:nvSpPr>
        <p:spPr>
          <a:xfrm rot="0">
            <a:off x="4922073" y="8879228"/>
            <a:ext cx="2537611" cy="18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Miss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ed detections create trajectory gaps instead of automatically terminating vehicle identity.</a:t>
            </a:r>
          </a:p>
        </p:txBody>
      </p:sp>
      <p:sp>
        <p:nvSpPr>
          <p:cNvPr name="TextBox 153" id="153"/>
          <p:cNvSpPr txBox="true"/>
          <p:nvPr/>
        </p:nvSpPr>
        <p:spPr>
          <a:xfrm rot="0">
            <a:off x="4922073" y="9106811"/>
            <a:ext cx="2551366" cy="18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Plann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ed YOLO + PP-OCRv4 production pipeline and Target: &gt;90% accuracy across conditions</a:t>
            </a:r>
          </a:p>
        </p:txBody>
      </p:sp>
      <p:sp>
        <p:nvSpPr>
          <p:cNvPr name="TextBox 154" id="154"/>
          <p:cNvSpPr txBox="true"/>
          <p:nvPr/>
        </p:nvSpPr>
        <p:spPr>
          <a:xfrm rot="0">
            <a:off x="802185" y="8506443"/>
            <a:ext cx="1720596" cy="271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4"/>
              </a:lnSpc>
            </a:pP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Envir</a:t>
            </a:r>
            <a:r>
              <a:rPr lang="en-US" b="true" sz="1014">
                <a:solidFill>
                  <a:srgbClr val="1F49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onmental &amp; Real-World Accuracy Drop</a:t>
            </a:r>
          </a:p>
        </p:txBody>
      </p:sp>
      <p:sp>
        <p:nvSpPr>
          <p:cNvPr name="TextBox 155" id="155"/>
          <p:cNvSpPr txBox="true"/>
          <p:nvPr/>
        </p:nvSpPr>
        <p:spPr>
          <a:xfrm rot="0">
            <a:off x="868975" y="8777359"/>
            <a:ext cx="1724670" cy="274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"/>
              </a:lnSpc>
              <a:spcBef>
                <a:spcPct val="0"/>
              </a:spcBef>
            </a:pP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Standard OCR systems</a:t>
            </a:r>
            <a:r>
              <a:rPr lang="en-US" sz="596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degrade under real-world conditions like motion blur, extreme angles, bad weather, poor lighting, or damaged license plates.</a:t>
            </a:r>
          </a:p>
        </p:txBody>
      </p:sp>
      <p:grpSp>
        <p:nvGrpSpPr>
          <p:cNvPr name="Group 156" id="156"/>
          <p:cNvGrpSpPr/>
          <p:nvPr/>
        </p:nvGrpSpPr>
        <p:grpSpPr>
          <a:xfrm rot="0">
            <a:off x="8855706" y="7011552"/>
            <a:ext cx="1734289" cy="2416569"/>
            <a:chOff x="0" y="0"/>
            <a:chExt cx="2312385" cy="3222093"/>
          </a:xfrm>
        </p:grpSpPr>
        <p:grpSp>
          <p:nvGrpSpPr>
            <p:cNvPr name="Group 157" id="157"/>
            <p:cNvGrpSpPr/>
            <p:nvPr/>
          </p:nvGrpSpPr>
          <p:grpSpPr>
            <a:xfrm rot="0">
              <a:off x="0" y="0"/>
              <a:ext cx="2312385" cy="3222093"/>
              <a:chOff x="0" y="0"/>
              <a:chExt cx="848766" cy="1182677"/>
            </a:xfrm>
          </p:grpSpPr>
          <p:sp>
            <p:nvSpPr>
              <p:cNvPr name="Freeform 158" id="158"/>
              <p:cNvSpPr/>
              <p:nvPr/>
            </p:nvSpPr>
            <p:spPr>
              <a:xfrm flipH="false" flipV="false" rot="0">
                <a:off x="0" y="0"/>
                <a:ext cx="848766" cy="1182677"/>
              </a:xfrm>
              <a:custGeom>
                <a:avLst/>
                <a:gdLst/>
                <a:ahLst/>
                <a:cxnLst/>
                <a:rect r="r" b="b" t="t" l="l"/>
                <a:pathLst>
                  <a:path h="1182677" w="848766">
                    <a:moveTo>
                      <a:pt x="19418" y="0"/>
                    </a:moveTo>
                    <a:lnTo>
                      <a:pt x="829348" y="0"/>
                    </a:lnTo>
                    <a:cubicBezTo>
                      <a:pt x="840073" y="0"/>
                      <a:pt x="848766" y="8694"/>
                      <a:pt x="848766" y="19418"/>
                    </a:cubicBezTo>
                    <a:lnTo>
                      <a:pt x="848766" y="1163259"/>
                    </a:lnTo>
                    <a:cubicBezTo>
                      <a:pt x="848766" y="1173983"/>
                      <a:pt x="840073" y="1182677"/>
                      <a:pt x="829348" y="1182677"/>
                    </a:cubicBezTo>
                    <a:lnTo>
                      <a:pt x="19418" y="1182677"/>
                    </a:lnTo>
                    <a:cubicBezTo>
                      <a:pt x="8694" y="1182677"/>
                      <a:pt x="0" y="1173983"/>
                      <a:pt x="0" y="1163259"/>
                    </a:cubicBezTo>
                    <a:lnTo>
                      <a:pt x="0" y="19418"/>
                    </a:lnTo>
                    <a:cubicBezTo>
                      <a:pt x="0" y="8694"/>
                      <a:pt x="8694" y="0"/>
                      <a:pt x="194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59" id="159"/>
              <p:cNvSpPr txBox="true"/>
              <p:nvPr/>
            </p:nvSpPr>
            <p:spPr>
              <a:xfrm>
                <a:off x="0" y="-19050"/>
                <a:ext cx="848766" cy="1201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grpSp>
          <p:nvGrpSpPr>
            <p:cNvPr name="Group 160" id="160"/>
            <p:cNvGrpSpPr/>
            <p:nvPr/>
          </p:nvGrpSpPr>
          <p:grpSpPr>
            <a:xfrm rot="0">
              <a:off x="291193" y="202297"/>
              <a:ext cx="1729998" cy="332558"/>
              <a:chOff x="0" y="0"/>
              <a:chExt cx="635000" cy="122066"/>
            </a:xfrm>
          </p:grpSpPr>
          <p:sp>
            <p:nvSpPr>
              <p:cNvPr name="Freeform 161" id="161"/>
              <p:cNvSpPr/>
              <p:nvPr/>
            </p:nvSpPr>
            <p:spPr>
              <a:xfrm flipH="false" flipV="false" rot="0">
                <a:off x="0" y="0"/>
                <a:ext cx="635000" cy="122066"/>
              </a:xfrm>
              <a:custGeom>
                <a:avLst/>
                <a:gdLst/>
                <a:ahLst/>
                <a:cxnLst/>
                <a:rect r="r" b="b" t="t" l="l"/>
                <a:pathLst>
                  <a:path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62" id="162"/>
              <p:cNvSpPr txBox="true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63" id="163"/>
            <p:cNvSpPr txBox="true"/>
            <p:nvPr/>
          </p:nvSpPr>
          <p:spPr>
            <a:xfrm rot="0">
              <a:off x="778917" y="247091"/>
              <a:ext cx="754551" cy="233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6"/>
                </a:lnSpc>
                <a:spcBef>
                  <a:spcPct val="0"/>
                </a:spcBef>
              </a:pPr>
              <a:r>
                <a:rPr lang="en-US" sz="1113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EVENTS</a:t>
              </a:r>
            </a:p>
          </p:txBody>
        </p:sp>
        <p:grpSp>
          <p:nvGrpSpPr>
            <p:cNvPr name="Group 164" id="164"/>
            <p:cNvGrpSpPr/>
            <p:nvPr/>
          </p:nvGrpSpPr>
          <p:grpSpPr>
            <a:xfrm rot="0">
              <a:off x="291193" y="823532"/>
              <a:ext cx="1729998" cy="332558"/>
              <a:chOff x="0" y="0"/>
              <a:chExt cx="635000" cy="122066"/>
            </a:xfrm>
          </p:grpSpPr>
          <p:sp>
            <p:nvSpPr>
              <p:cNvPr name="Freeform 165" id="165"/>
              <p:cNvSpPr/>
              <p:nvPr/>
            </p:nvSpPr>
            <p:spPr>
              <a:xfrm flipH="false" flipV="false" rot="0">
                <a:off x="0" y="0"/>
                <a:ext cx="635000" cy="122066"/>
              </a:xfrm>
              <a:custGeom>
                <a:avLst/>
                <a:gdLst/>
                <a:ahLst/>
                <a:cxnLst/>
                <a:rect r="r" b="b" t="t" l="l"/>
                <a:pathLst>
                  <a:path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66" id="166"/>
              <p:cNvSpPr txBox="true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67" id="167"/>
            <p:cNvSpPr txBox="true"/>
            <p:nvPr/>
          </p:nvSpPr>
          <p:spPr>
            <a:xfrm rot="0">
              <a:off x="726620" y="868326"/>
              <a:ext cx="859145" cy="233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6"/>
                </a:lnSpc>
                <a:spcBef>
                  <a:spcPct val="0"/>
                </a:spcBef>
              </a:pPr>
              <a:r>
                <a:rPr lang="en-US" sz="1113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IDENTITY</a:t>
              </a:r>
            </a:p>
          </p:txBody>
        </p:sp>
        <p:grpSp>
          <p:nvGrpSpPr>
            <p:cNvPr name="Group 168" id="168"/>
            <p:cNvGrpSpPr/>
            <p:nvPr/>
          </p:nvGrpSpPr>
          <p:grpSpPr>
            <a:xfrm rot="0">
              <a:off x="291193" y="2675576"/>
              <a:ext cx="1729998" cy="332558"/>
              <a:chOff x="0" y="0"/>
              <a:chExt cx="635000" cy="122066"/>
            </a:xfrm>
          </p:grpSpPr>
          <p:sp>
            <p:nvSpPr>
              <p:cNvPr name="Freeform 169" id="169"/>
              <p:cNvSpPr/>
              <p:nvPr/>
            </p:nvSpPr>
            <p:spPr>
              <a:xfrm flipH="false" flipV="false" rot="0">
                <a:off x="0" y="0"/>
                <a:ext cx="635000" cy="122066"/>
              </a:xfrm>
              <a:custGeom>
                <a:avLst/>
                <a:gdLst/>
                <a:ahLst/>
                <a:cxnLst/>
                <a:rect r="r" b="b" t="t" l="l"/>
                <a:pathLst>
                  <a:path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70" id="170"/>
              <p:cNvSpPr txBox="true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71" id="171"/>
            <p:cNvSpPr txBox="true"/>
            <p:nvPr/>
          </p:nvSpPr>
          <p:spPr>
            <a:xfrm rot="0">
              <a:off x="791071" y="2720370"/>
              <a:ext cx="730244" cy="233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6"/>
                </a:lnSpc>
                <a:spcBef>
                  <a:spcPct val="0"/>
                </a:spcBef>
              </a:pPr>
              <a:r>
                <a:rPr lang="en-US" sz="1113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ALERTS</a:t>
              </a:r>
            </a:p>
          </p:txBody>
        </p:sp>
        <p:grpSp>
          <p:nvGrpSpPr>
            <p:cNvPr name="Group 172" id="172"/>
            <p:cNvGrpSpPr/>
            <p:nvPr/>
          </p:nvGrpSpPr>
          <p:grpSpPr>
            <a:xfrm rot="0">
              <a:off x="291193" y="2060172"/>
              <a:ext cx="1729998" cy="332558"/>
              <a:chOff x="0" y="0"/>
              <a:chExt cx="635000" cy="122066"/>
            </a:xfrm>
          </p:grpSpPr>
          <p:sp>
            <p:nvSpPr>
              <p:cNvPr name="Freeform 173" id="173"/>
              <p:cNvSpPr/>
              <p:nvPr/>
            </p:nvSpPr>
            <p:spPr>
              <a:xfrm flipH="false" flipV="false" rot="0">
                <a:off x="0" y="0"/>
                <a:ext cx="635000" cy="122066"/>
              </a:xfrm>
              <a:custGeom>
                <a:avLst/>
                <a:gdLst/>
                <a:ahLst/>
                <a:cxnLst/>
                <a:rect r="r" b="b" t="t" l="l"/>
                <a:pathLst>
                  <a:path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74" id="174"/>
              <p:cNvSpPr txBox="true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75" id="175"/>
            <p:cNvSpPr txBox="true"/>
            <p:nvPr/>
          </p:nvSpPr>
          <p:spPr>
            <a:xfrm rot="0">
              <a:off x="639188" y="2104966"/>
              <a:ext cx="1034009" cy="233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6"/>
                </a:lnSpc>
                <a:spcBef>
                  <a:spcPct val="0"/>
                </a:spcBef>
              </a:pPr>
              <a:r>
                <a:rPr lang="en-US" sz="1113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ANALYTICS</a:t>
              </a:r>
            </a:p>
          </p:txBody>
        </p:sp>
        <p:grpSp>
          <p:nvGrpSpPr>
            <p:cNvPr name="Group 176" id="176"/>
            <p:cNvGrpSpPr/>
            <p:nvPr/>
          </p:nvGrpSpPr>
          <p:grpSpPr>
            <a:xfrm rot="0">
              <a:off x="291193" y="1444767"/>
              <a:ext cx="1729998" cy="332558"/>
              <a:chOff x="0" y="0"/>
              <a:chExt cx="635000" cy="122066"/>
            </a:xfrm>
          </p:grpSpPr>
          <p:sp>
            <p:nvSpPr>
              <p:cNvPr name="Freeform 177" id="177"/>
              <p:cNvSpPr/>
              <p:nvPr/>
            </p:nvSpPr>
            <p:spPr>
              <a:xfrm flipH="false" flipV="false" rot="0">
                <a:off x="0" y="0"/>
                <a:ext cx="635000" cy="122066"/>
              </a:xfrm>
              <a:custGeom>
                <a:avLst/>
                <a:gdLst/>
                <a:ahLst/>
                <a:cxnLst/>
                <a:rect r="r" b="b" t="t" l="l"/>
                <a:pathLst>
                  <a:path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D1F1F9"/>
                </a:solidFill>
                <a:prstDash val="solid"/>
                <a:miter/>
              </a:ln>
            </p:spPr>
          </p:sp>
          <p:sp>
            <p:nvSpPr>
              <p:cNvPr name="TextBox 178" id="178"/>
              <p:cNvSpPr txBox="true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79" id="179"/>
            <p:cNvSpPr txBox="true"/>
            <p:nvPr/>
          </p:nvSpPr>
          <p:spPr>
            <a:xfrm rot="0">
              <a:off x="530985" y="1489561"/>
              <a:ext cx="1250415" cy="233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36"/>
                </a:lnSpc>
                <a:spcBef>
                  <a:spcPct val="0"/>
                </a:spcBef>
              </a:pPr>
              <a:r>
                <a:rPr lang="en-US" sz="1113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TRAJECTORY</a:t>
              </a:r>
            </a:p>
          </p:txBody>
        </p:sp>
        <p:sp>
          <p:nvSpPr>
            <p:cNvPr name="Freeform 180" id="180"/>
            <p:cNvSpPr/>
            <p:nvPr/>
          </p:nvSpPr>
          <p:spPr>
            <a:xfrm flipH="false" flipV="false" rot="5400000">
              <a:off x="1072380" y="593232"/>
              <a:ext cx="167625" cy="171923"/>
            </a:xfrm>
            <a:custGeom>
              <a:avLst/>
              <a:gdLst/>
              <a:ahLst/>
              <a:cxnLst/>
              <a:rect r="r" b="b" t="t" l="l"/>
              <a:pathLst>
                <a:path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81" id="181"/>
            <p:cNvSpPr/>
            <p:nvPr/>
          </p:nvSpPr>
          <p:spPr>
            <a:xfrm flipH="false" flipV="false" rot="5400000">
              <a:off x="1072380" y="1212868"/>
              <a:ext cx="167625" cy="171923"/>
            </a:xfrm>
            <a:custGeom>
              <a:avLst/>
              <a:gdLst/>
              <a:ahLst/>
              <a:cxnLst/>
              <a:rect r="r" b="b" t="t" l="l"/>
              <a:pathLst>
                <a:path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82" id="182"/>
            <p:cNvSpPr/>
            <p:nvPr/>
          </p:nvSpPr>
          <p:spPr>
            <a:xfrm flipH="false" flipV="false" rot="5400000">
              <a:off x="1072380" y="1834103"/>
              <a:ext cx="167625" cy="171923"/>
            </a:xfrm>
            <a:custGeom>
              <a:avLst/>
              <a:gdLst/>
              <a:ahLst/>
              <a:cxnLst/>
              <a:rect r="r" b="b" t="t" l="l"/>
              <a:pathLst>
                <a:path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83" id="183"/>
            <p:cNvSpPr/>
            <p:nvPr/>
          </p:nvSpPr>
          <p:spPr>
            <a:xfrm flipH="false" flipV="false" rot="5400000">
              <a:off x="1072380" y="2455338"/>
              <a:ext cx="167625" cy="171923"/>
            </a:xfrm>
            <a:custGeom>
              <a:avLst/>
              <a:gdLst/>
              <a:ahLst/>
              <a:cxnLst/>
              <a:rect r="r" b="b" t="t" l="l"/>
              <a:pathLst>
                <a:path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5679379" y="62223"/>
            <a:ext cx="2471349" cy="1302606"/>
          </a:xfrm>
          <a:custGeom>
            <a:avLst/>
            <a:gdLst/>
            <a:ahLst/>
            <a:cxnLst/>
            <a:rect r="r" b="b" t="t" l="l"/>
            <a:pathLst>
              <a:path h="1302606" w="2471349">
                <a:moveTo>
                  <a:pt x="0" y="0"/>
                </a:moveTo>
                <a:lnTo>
                  <a:pt x="2471349" y="0"/>
                </a:lnTo>
                <a:lnTo>
                  <a:pt x="2471349" y="1302606"/>
                </a:lnTo>
                <a:lnTo>
                  <a:pt x="0" y="13026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29" t="0" r="-2129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0" y="9622076"/>
            <a:ext cx="18288000" cy="754856"/>
            <a:chOff x="0" y="0"/>
            <a:chExt cx="24384000" cy="10064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6858858" y="9589689"/>
            <a:ext cx="4806001" cy="547688"/>
            <a:chOff x="0" y="0"/>
            <a:chExt cx="6408001" cy="7302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275421" y="9534525"/>
            <a:ext cx="4267200" cy="547688"/>
            <a:chOff x="0" y="0"/>
            <a:chExt cx="5689600" cy="7302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443741" y="2442887"/>
            <a:ext cx="2000773" cy="2022083"/>
            <a:chOff x="0" y="0"/>
            <a:chExt cx="526953" cy="53256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26953" cy="532565"/>
            </a:xfrm>
            <a:custGeom>
              <a:avLst/>
              <a:gdLst/>
              <a:ahLst/>
              <a:cxnLst/>
              <a:rect r="r" b="b" t="t" l="l"/>
              <a:pathLst>
                <a:path h="532565" w="526953">
                  <a:moveTo>
                    <a:pt x="65781" y="0"/>
                  </a:moveTo>
                  <a:lnTo>
                    <a:pt x="461172" y="0"/>
                  </a:lnTo>
                  <a:cubicBezTo>
                    <a:pt x="497501" y="0"/>
                    <a:pt x="526953" y="29451"/>
                    <a:pt x="526953" y="65781"/>
                  </a:cubicBezTo>
                  <a:lnTo>
                    <a:pt x="526953" y="466784"/>
                  </a:lnTo>
                  <a:cubicBezTo>
                    <a:pt x="526953" y="503114"/>
                    <a:pt x="497501" y="532565"/>
                    <a:pt x="461172" y="532565"/>
                  </a:cubicBezTo>
                  <a:lnTo>
                    <a:pt x="65781" y="532565"/>
                  </a:lnTo>
                  <a:cubicBezTo>
                    <a:pt x="29451" y="532565"/>
                    <a:pt x="0" y="503114"/>
                    <a:pt x="0" y="466784"/>
                  </a:cubicBezTo>
                  <a:lnTo>
                    <a:pt x="0" y="65781"/>
                  </a:lnTo>
                  <a:cubicBezTo>
                    <a:pt x="0" y="29451"/>
                    <a:pt x="29451" y="0"/>
                    <a:pt x="65781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526953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20311" y="2442887"/>
            <a:ext cx="2000773" cy="2022083"/>
            <a:chOff x="0" y="0"/>
            <a:chExt cx="526953" cy="53256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26953" cy="532565"/>
            </a:xfrm>
            <a:custGeom>
              <a:avLst/>
              <a:gdLst/>
              <a:ahLst/>
              <a:cxnLst/>
              <a:rect r="r" b="b" t="t" l="l"/>
              <a:pathLst>
                <a:path h="532565" w="526953">
                  <a:moveTo>
                    <a:pt x="65781" y="0"/>
                  </a:moveTo>
                  <a:lnTo>
                    <a:pt x="461172" y="0"/>
                  </a:lnTo>
                  <a:cubicBezTo>
                    <a:pt x="497501" y="0"/>
                    <a:pt x="526953" y="29451"/>
                    <a:pt x="526953" y="65781"/>
                  </a:cubicBezTo>
                  <a:lnTo>
                    <a:pt x="526953" y="466784"/>
                  </a:lnTo>
                  <a:cubicBezTo>
                    <a:pt x="526953" y="503114"/>
                    <a:pt x="497501" y="532565"/>
                    <a:pt x="461172" y="532565"/>
                  </a:cubicBezTo>
                  <a:lnTo>
                    <a:pt x="65781" y="532565"/>
                  </a:lnTo>
                  <a:cubicBezTo>
                    <a:pt x="29451" y="532565"/>
                    <a:pt x="0" y="503114"/>
                    <a:pt x="0" y="466784"/>
                  </a:cubicBezTo>
                  <a:lnTo>
                    <a:pt x="0" y="65781"/>
                  </a:lnTo>
                  <a:cubicBezTo>
                    <a:pt x="0" y="29451"/>
                    <a:pt x="29451" y="0"/>
                    <a:pt x="65781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526953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5551" y="2442887"/>
            <a:ext cx="2197713" cy="2022083"/>
            <a:chOff x="0" y="0"/>
            <a:chExt cx="578821" cy="5325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78821" cy="532565"/>
            </a:xfrm>
            <a:custGeom>
              <a:avLst/>
              <a:gdLst/>
              <a:ahLst/>
              <a:cxnLst/>
              <a:rect r="r" b="b" t="t" l="l"/>
              <a:pathLst>
                <a:path h="532565" w="578821">
                  <a:moveTo>
                    <a:pt x="59886" y="0"/>
                  </a:moveTo>
                  <a:lnTo>
                    <a:pt x="518935" y="0"/>
                  </a:lnTo>
                  <a:cubicBezTo>
                    <a:pt x="552009" y="0"/>
                    <a:pt x="578821" y="26812"/>
                    <a:pt x="578821" y="59886"/>
                  </a:cubicBezTo>
                  <a:lnTo>
                    <a:pt x="578821" y="472679"/>
                  </a:lnTo>
                  <a:cubicBezTo>
                    <a:pt x="578821" y="488562"/>
                    <a:pt x="572512" y="503794"/>
                    <a:pt x="561281" y="515025"/>
                  </a:cubicBezTo>
                  <a:cubicBezTo>
                    <a:pt x="550050" y="526256"/>
                    <a:pt x="534818" y="532565"/>
                    <a:pt x="518935" y="532565"/>
                  </a:cubicBezTo>
                  <a:lnTo>
                    <a:pt x="59886" y="532565"/>
                  </a:lnTo>
                  <a:cubicBezTo>
                    <a:pt x="44003" y="532565"/>
                    <a:pt x="28771" y="526256"/>
                    <a:pt x="17540" y="515025"/>
                  </a:cubicBezTo>
                  <a:cubicBezTo>
                    <a:pt x="6309" y="503794"/>
                    <a:pt x="0" y="488562"/>
                    <a:pt x="0" y="472679"/>
                  </a:cubicBezTo>
                  <a:lnTo>
                    <a:pt x="0" y="59886"/>
                  </a:lnTo>
                  <a:cubicBezTo>
                    <a:pt x="0" y="44003"/>
                    <a:pt x="6309" y="28771"/>
                    <a:pt x="17540" y="17540"/>
                  </a:cubicBezTo>
                  <a:cubicBezTo>
                    <a:pt x="28771" y="6309"/>
                    <a:pt x="44003" y="0"/>
                    <a:pt x="59886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578821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564991" y="2442887"/>
            <a:ext cx="2134843" cy="2022083"/>
            <a:chOff x="0" y="0"/>
            <a:chExt cx="562263" cy="53256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62263" cy="532565"/>
            </a:xfrm>
            <a:custGeom>
              <a:avLst/>
              <a:gdLst/>
              <a:ahLst/>
              <a:cxnLst/>
              <a:rect r="r" b="b" t="t" l="l"/>
              <a:pathLst>
                <a:path h="532565" w="562263">
                  <a:moveTo>
                    <a:pt x="61650" y="0"/>
                  </a:moveTo>
                  <a:lnTo>
                    <a:pt x="500613" y="0"/>
                  </a:lnTo>
                  <a:cubicBezTo>
                    <a:pt x="534662" y="0"/>
                    <a:pt x="562263" y="27602"/>
                    <a:pt x="562263" y="61650"/>
                  </a:cubicBezTo>
                  <a:lnTo>
                    <a:pt x="562263" y="470915"/>
                  </a:lnTo>
                  <a:cubicBezTo>
                    <a:pt x="562263" y="504964"/>
                    <a:pt x="534662" y="532565"/>
                    <a:pt x="500613" y="532565"/>
                  </a:cubicBezTo>
                  <a:lnTo>
                    <a:pt x="61650" y="532565"/>
                  </a:lnTo>
                  <a:cubicBezTo>
                    <a:pt x="27602" y="532565"/>
                    <a:pt x="0" y="504964"/>
                    <a:pt x="0" y="470915"/>
                  </a:cubicBezTo>
                  <a:lnTo>
                    <a:pt x="0" y="61650"/>
                  </a:lnTo>
                  <a:cubicBezTo>
                    <a:pt x="0" y="27602"/>
                    <a:pt x="27602" y="0"/>
                    <a:pt x="61650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562263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792319" y="2442887"/>
            <a:ext cx="1705818" cy="2022083"/>
            <a:chOff x="0" y="0"/>
            <a:chExt cx="449269" cy="53256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49269" cy="532565"/>
            </a:xfrm>
            <a:custGeom>
              <a:avLst/>
              <a:gdLst/>
              <a:ahLst/>
              <a:cxnLst/>
              <a:rect r="r" b="b" t="t" l="l"/>
              <a:pathLst>
                <a:path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618615" y="2442887"/>
            <a:ext cx="1705818" cy="2022083"/>
            <a:chOff x="0" y="0"/>
            <a:chExt cx="449269" cy="53256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49269" cy="532565"/>
            </a:xfrm>
            <a:custGeom>
              <a:avLst/>
              <a:gdLst/>
              <a:ahLst/>
              <a:cxnLst/>
              <a:rect r="r" b="b" t="t" l="l"/>
              <a:pathLst>
                <a:path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444910" y="2442887"/>
            <a:ext cx="1705818" cy="2022083"/>
            <a:chOff x="0" y="0"/>
            <a:chExt cx="449269" cy="53256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9269" cy="532565"/>
            </a:xfrm>
            <a:custGeom>
              <a:avLst/>
              <a:gdLst/>
              <a:ahLst/>
              <a:cxnLst/>
              <a:rect r="r" b="b" t="t" l="l"/>
              <a:pathLst>
                <a:path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256940" y="5051240"/>
            <a:ext cx="1350313" cy="2616562"/>
            <a:chOff x="0" y="0"/>
            <a:chExt cx="291480" cy="56481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91480" cy="564814"/>
            </a:xfrm>
            <a:custGeom>
              <a:avLst/>
              <a:gdLst/>
              <a:ahLst/>
              <a:cxnLst/>
              <a:rect r="r" b="b" t="t" l="l"/>
              <a:pathLst>
                <a:path h="564814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7346"/>
                  </a:lnTo>
                  <a:cubicBezTo>
                    <a:pt x="291480" y="521176"/>
                    <a:pt x="247842" y="564814"/>
                    <a:pt x="194012" y="564814"/>
                  </a:cubicBezTo>
                  <a:lnTo>
                    <a:pt x="97468" y="564814"/>
                  </a:lnTo>
                  <a:cubicBezTo>
                    <a:pt x="71618" y="564814"/>
                    <a:pt x="46827" y="554545"/>
                    <a:pt x="28548" y="536266"/>
                  </a:cubicBezTo>
                  <a:cubicBezTo>
                    <a:pt x="10269" y="517988"/>
                    <a:pt x="0" y="493196"/>
                    <a:pt x="0" y="467346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19050"/>
              <a:ext cx="291480" cy="5838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60"/>
                </a:lnSpc>
              </a:pPr>
              <a:r>
                <a:rPr lang="en-US" b="true" sz="13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find the plate → straighten the photo → read characters → fix letter/digit mix-ups → confidence score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716596" y="5037824"/>
            <a:ext cx="1350313" cy="2616562"/>
            <a:chOff x="0" y="0"/>
            <a:chExt cx="291480" cy="56481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91480" cy="564814"/>
            </a:xfrm>
            <a:custGeom>
              <a:avLst/>
              <a:gdLst/>
              <a:ahLst/>
              <a:cxnLst/>
              <a:rect r="r" b="b" t="t" l="l"/>
              <a:pathLst>
                <a:path h="564814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7346"/>
                  </a:lnTo>
                  <a:cubicBezTo>
                    <a:pt x="291480" y="521176"/>
                    <a:pt x="247842" y="564814"/>
                    <a:pt x="194012" y="564814"/>
                  </a:cubicBezTo>
                  <a:lnTo>
                    <a:pt x="97468" y="564814"/>
                  </a:lnTo>
                  <a:cubicBezTo>
                    <a:pt x="71618" y="564814"/>
                    <a:pt x="46827" y="554545"/>
                    <a:pt x="28548" y="536266"/>
                  </a:cubicBezTo>
                  <a:cubicBezTo>
                    <a:pt x="10269" y="517988"/>
                    <a:pt x="0" y="493196"/>
                    <a:pt x="0" y="467346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291480" cy="5743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379"/>
                </a:lnSpc>
              </a:pPr>
              <a:r>
                <a:rPr lang="en-US" sz="114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Indian plates follow rules. We use them:-</a:t>
              </a:r>
            </a:p>
            <a:p>
              <a:pPr algn="l">
                <a:lnSpc>
                  <a:spcPts val="1379"/>
                </a:lnSpc>
              </a:pPr>
              <a:r>
                <a:rPr lang="en-US" sz="114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0↔O, 1↔I, 8↔B only where a digit or letter must be. Measured on our test model: exact-match 89.2% → 91.7%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3171503" y="5051240"/>
            <a:ext cx="1350313" cy="2603146"/>
            <a:chOff x="0" y="0"/>
            <a:chExt cx="291480" cy="56191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91480" cy="561918"/>
            </a:xfrm>
            <a:custGeom>
              <a:avLst/>
              <a:gdLst/>
              <a:ahLst/>
              <a:cxnLst/>
              <a:rect r="r" b="b" t="t" l="l"/>
              <a:pathLst>
                <a:path h="561918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4450"/>
                  </a:lnTo>
                  <a:cubicBezTo>
                    <a:pt x="291480" y="518280"/>
                    <a:pt x="247842" y="561918"/>
                    <a:pt x="194012" y="561918"/>
                  </a:cubicBezTo>
                  <a:lnTo>
                    <a:pt x="97468" y="561918"/>
                  </a:lnTo>
                  <a:cubicBezTo>
                    <a:pt x="43638" y="561918"/>
                    <a:pt x="0" y="518280"/>
                    <a:pt x="0" y="464450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291480" cy="5809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8941562" y="2442887"/>
            <a:ext cx="3730280" cy="2022083"/>
            <a:chOff x="0" y="0"/>
            <a:chExt cx="982461" cy="53256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82461" cy="532565"/>
            </a:xfrm>
            <a:custGeom>
              <a:avLst/>
              <a:gdLst/>
              <a:ahLst/>
              <a:cxnLst/>
              <a:rect r="r" b="b" t="t" l="l"/>
              <a:pathLst>
                <a:path h="532565" w="982461">
                  <a:moveTo>
                    <a:pt x="35282" y="0"/>
                  </a:moveTo>
                  <a:lnTo>
                    <a:pt x="947178" y="0"/>
                  </a:lnTo>
                  <a:cubicBezTo>
                    <a:pt x="966664" y="0"/>
                    <a:pt x="982461" y="15796"/>
                    <a:pt x="982461" y="35282"/>
                  </a:cubicBezTo>
                  <a:lnTo>
                    <a:pt x="982461" y="497283"/>
                  </a:lnTo>
                  <a:cubicBezTo>
                    <a:pt x="982461" y="506640"/>
                    <a:pt x="978743" y="515615"/>
                    <a:pt x="972127" y="522231"/>
                  </a:cubicBezTo>
                  <a:cubicBezTo>
                    <a:pt x="965510" y="528848"/>
                    <a:pt x="956536" y="532565"/>
                    <a:pt x="947178" y="532565"/>
                  </a:cubicBezTo>
                  <a:lnTo>
                    <a:pt x="35282" y="532565"/>
                  </a:lnTo>
                  <a:cubicBezTo>
                    <a:pt x="15796" y="532565"/>
                    <a:pt x="0" y="516769"/>
                    <a:pt x="0" y="497283"/>
                  </a:cubicBezTo>
                  <a:lnTo>
                    <a:pt x="0" y="35282"/>
                  </a:lnTo>
                  <a:cubicBezTo>
                    <a:pt x="0" y="15796"/>
                    <a:pt x="15796" y="0"/>
                    <a:pt x="35282" y="0"/>
                  </a:cubicBez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982461" cy="551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25551" y="4720974"/>
            <a:ext cx="5268717" cy="3004253"/>
            <a:chOff x="0" y="0"/>
            <a:chExt cx="1387646" cy="79124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387646" cy="791243"/>
            </a:xfrm>
            <a:custGeom>
              <a:avLst/>
              <a:gdLst/>
              <a:ahLst/>
              <a:cxnLst/>
              <a:rect r="r" b="b" t="t" l="l"/>
              <a:pathLst>
                <a:path h="791243" w="1387646">
                  <a:moveTo>
                    <a:pt x="24980" y="0"/>
                  </a:moveTo>
                  <a:lnTo>
                    <a:pt x="1362666" y="0"/>
                  </a:lnTo>
                  <a:cubicBezTo>
                    <a:pt x="1376462" y="0"/>
                    <a:pt x="1387646" y="11184"/>
                    <a:pt x="1387646" y="24980"/>
                  </a:cubicBezTo>
                  <a:lnTo>
                    <a:pt x="1387646" y="766263"/>
                  </a:lnTo>
                  <a:cubicBezTo>
                    <a:pt x="1387646" y="772889"/>
                    <a:pt x="1385014" y="779242"/>
                    <a:pt x="1380329" y="783927"/>
                  </a:cubicBezTo>
                  <a:cubicBezTo>
                    <a:pt x="1375644" y="788612"/>
                    <a:pt x="1369291" y="791243"/>
                    <a:pt x="1362666" y="791243"/>
                  </a:cubicBezTo>
                  <a:lnTo>
                    <a:pt x="24980" y="791243"/>
                  </a:lnTo>
                  <a:cubicBezTo>
                    <a:pt x="18355" y="791243"/>
                    <a:pt x="12001" y="788612"/>
                    <a:pt x="7316" y="783927"/>
                  </a:cubicBezTo>
                  <a:cubicBezTo>
                    <a:pt x="2632" y="779242"/>
                    <a:pt x="0" y="772889"/>
                    <a:pt x="0" y="766263"/>
                  </a:cubicBezTo>
                  <a:lnTo>
                    <a:pt x="0" y="24980"/>
                  </a:lnTo>
                  <a:cubicBezTo>
                    <a:pt x="0" y="18355"/>
                    <a:pt x="2632" y="12001"/>
                    <a:pt x="7316" y="7316"/>
                  </a:cubicBezTo>
                  <a:cubicBezTo>
                    <a:pt x="12001" y="2632"/>
                    <a:pt x="18355" y="0"/>
                    <a:pt x="24980" y="0"/>
                  </a:cubicBezTo>
                  <a:close/>
                </a:path>
              </a:pathLst>
            </a:custGeom>
            <a:ln w="28575" cap="sq">
              <a:solidFill>
                <a:srgbClr val="D0E2F7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1387646" cy="8102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5499846" y="4720974"/>
            <a:ext cx="4518779" cy="3004253"/>
            <a:chOff x="0" y="0"/>
            <a:chExt cx="1190131" cy="791243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90131" cy="791243"/>
            </a:xfrm>
            <a:custGeom>
              <a:avLst/>
              <a:gdLst/>
              <a:ahLst/>
              <a:cxnLst/>
              <a:rect r="r" b="b" t="t" l="l"/>
              <a:pathLst>
                <a:path h="791243" w="1190131">
                  <a:moveTo>
                    <a:pt x="29126" y="0"/>
                  </a:moveTo>
                  <a:lnTo>
                    <a:pt x="1161005" y="0"/>
                  </a:lnTo>
                  <a:cubicBezTo>
                    <a:pt x="1177091" y="0"/>
                    <a:pt x="1190131" y="13040"/>
                    <a:pt x="1190131" y="29126"/>
                  </a:cubicBezTo>
                  <a:lnTo>
                    <a:pt x="1190131" y="762118"/>
                  </a:lnTo>
                  <a:cubicBezTo>
                    <a:pt x="1190131" y="778203"/>
                    <a:pt x="1177091" y="791243"/>
                    <a:pt x="1161005" y="791243"/>
                  </a:cubicBezTo>
                  <a:lnTo>
                    <a:pt x="29126" y="791243"/>
                  </a:lnTo>
                  <a:cubicBezTo>
                    <a:pt x="13040" y="791243"/>
                    <a:pt x="0" y="778203"/>
                    <a:pt x="0" y="762118"/>
                  </a:cubicBezTo>
                  <a:lnTo>
                    <a:pt x="0" y="29126"/>
                  </a:lnTo>
                  <a:cubicBezTo>
                    <a:pt x="0" y="13040"/>
                    <a:pt x="13040" y="0"/>
                    <a:pt x="29126" y="0"/>
                  </a:cubicBezTo>
                  <a:close/>
                </a:path>
              </a:pathLst>
            </a:custGeom>
            <a:ln w="28575" cap="sq">
              <a:solidFill>
                <a:srgbClr val="AFD8F8"/>
              </a:solidFill>
              <a:prstDash val="solid"/>
              <a:miter/>
            </a:ln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1190131" cy="8102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119680" y="4731671"/>
            <a:ext cx="7952737" cy="3004253"/>
            <a:chOff x="0" y="0"/>
            <a:chExt cx="2094548" cy="791243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094548" cy="791243"/>
            </a:xfrm>
            <a:custGeom>
              <a:avLst/>
              <a:gdLst/>
              <a:ahLst/>
              <a:cxnLst/>
              <a:rect r="r" b="b" t="t" l="l"/>
              <a:pathLst>
                <a:path h="791243" w="2094548">
                  <a:moveTo>
                    <a:pt x="16549" y="0"/>
                  </a:moveTo>
                  <a:lnTo>
                    <a:pt x="2077999" y="0"/>
                  </a:lnTo>
                  <a:cubicBezTo>
                    <a:pt x="2082388" y="0"/>
                    <a:pt x="2086597" y="1744"/>
                    <a:pt x="2089701" y="4847"/>
                  </a:cubicBezTo>
                  <a:cubicBezTo>
                    <a:pt x="2092804" y="7951"/>
                    <a:pt x="2094548" y="12160"/>
                    <a:pt x="2094548" y="16549"/>
                  </a:cubicBezTo>
                  <a:lnTo>
                    <a:pt x="2094548" y="774694"/>
                  </a:lnTo>
                  <a:cubicBezTo>
                    <a:pt x="2094548" y="783834"/>
                    <a:pt x="2087138" y="791243"/>
                    <a:pt x="2077999" y="791243"/>
                  </a:cubicBezTo>
                  <a:lnTo>
                    <a:pt x="16549" y="791243"/>
                  </a:lnTo>
                  <a:cubicBezTo>
                    <a:pt x="12160" y="791243"/>
                    <a:pt x="7951" y="789500"/>
                    <a:pt x="4847" y="786396"/>
                  </a:cubicBezTo>
                  <a:cubicBezTo>
                    <a:pt x="1744" y="783293"/>
                    <a:pt x="0" y="779083"/>
                    <a:pt x="0" y="774694"/>
                  </a:cubicBezTo>
                  <a:lnTo>
                    <a:pt x="0" y="16549"/>
                  </a:lnTo>
                  <a:cubicBezTo>
                    <a:pt x="0" y="12160"/>
                    <a:pt x="1744" y="7951"/>
                    <a:pt x="4847" y="4847"/>
                  </a:cubicBezTo>
                  <a:cubicBezTo>
                    <a:pt x="7951" y="1744"/>
                    <a:pt x="12160" y="0"/>
                    <a:pt x="16549" y="0"/>
                  </a:cubicBezTo>
                  <a:close/>
                </a:path>
              </a:pathLst>
            </a:custGeom>
            <a:ln w="28575" cap="sq">
              <a:solidFill>
                <a:srgbClr val="AFD8F8"/>
              </a:solidFill>
              <a:prstDash val="solid"/>
              <a:miter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2094548" cy="8102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2456238" y="648500"/>
            <a:ext cx="13111329" cy="760400"/>
            <a:chOff x="0" y="0"/>
            <a:chExt cx="3453190" cy="20027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453190" cy="200270"/>
            </a:xfrm>
            <a:custGeom>
              <a:avLst/>
              <a:gdLst/>
              <a:ahLst/>
              <a:cxnLst/>
              <a:rect r="r" b="b" t="t" l="l"/>
              <a:pathLst>
                <a:path h="200270" w="3453190">
                  <a:moveTo>
                    <a:pt x="10038" y="0"/>
                  </a:moveTo>
                  <a:lnTo>
                    <a:pt x="3443151" y="0"/>
                  </a:lnTo>
                  <a:cubicBezTo>
                    <a:pt x="3448695" y="0"/>
                    <a:pt x="3453190" y="4494"/>
                    <a:pt x="3453190" y="10038"/>
                  </a:cubicBezTo>
                  <a:lnTo>
                    <a:pt x="3453190" y="190232"/>
                  </a:lnTo>
                  <a:cubicBezTo>
                    <a:pt x="3453190" y="192894"/>
                    <a:pt x="3452132" y="195447"/>
                    <a:pt x="3450249" y="197330"/>
                  </a:cubicBezTo>
                  <a:cubicBezTo>
                    <a:pt x="3448367" y="199212"/>
                    <a:pt x="3445814" y="200270"/>
                    <a:pt x="3443151" y="200270"/>
                  </a:cubicBezTo>
                  <a:lnTo>
                    <a:pt x="10038" y="200270"/>
                  </a:lnTo>
                  <a:cubicBezTo>
                    <a:pt x="7376" y="200270"/>
                    <a:pt x="4823" y="199212"/>
                    <a:pt x="2940" y="197330"/>
                  </a:cubicBezTo>
                  <a:cubicBezTo>
                    <a:pt x="1058" y="195447"/>
                    <a:pt x="0" y="192894"/>
                    <a:pt x="0" y="190232"/>
                  </a:cubicBezTo>
                  <a:lnTo>
                    <a:pt x="0" y="10038"/>
                  </a:lnTo>
                  <a:cubicBezTo>
                    <a:pt x="0" y="7376"/>
                    <a:pt x="1058" y="4823"/>
                    <a:pt x="2940" y="2940"/>
                  </a:cubicBezTo>
                  <a:cubicBezTo>
                    <a:pt x="4823" y="1058"/>
                    <a:pt x="7376" y="0"/>
                    <a:pt x="10038" y="0"/>
                  </a:cubicBezTo>
                  <a:close/>
                </a:path>
              </a:pathLst>
            </a:custGeom>
            <a:solidFill>
              <a:srgbClr val="EBF4FF"/>
            </a:solidFill>
            <a:ln w="28575" cap="sq">
              <a:solidFill>
                <a:srgbClr val="1F497D"/>
              </a:solidFill>
              <a:prstDash val="solid"/>
              <a:miter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3453190" cy="2193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An end-to-end, event-driven system turning city ANPR cameras into live tracking, analytics and instant alerts.</a:t>
              </a:r>
            </a:p>
            <a:p>
              <a:pPr algn="ctr">
                <a:lnSpc>
                  <a:spcPts val="2160"/>
                </a:lnSpc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"From isolated detections to connected city-wide intelligence."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163590" y="1469604"/>
            <a:ext cx="15960820" cy="493700"/>
            <a:chOff x="0" y="0"/>
            <a:chExt cx="4203673" cy="13002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203673" cy="130028"/>
            </a:xfrm>
            <a:custGeom>
              <a:avLst/>
              <a:gdLst/>
              <a:ahLst/>
              <a:cxnLst/>
              <a:rect r="r" b="b" t="t" l="l"/>
              <a:pathLst>
                <a:path h="130028" w="4203673">
                  <a:moveTo>
                    <a:pt x="8246" y="0"/>
                  </a:moveTo>
                  <a:lnTo>
                    <a:pt x="4195427" y="0"/>
                  </a:lnTo>
                  <a:cubicBezTo>
                    <a:pt x="4197614" y="0"/>
                    <a:pt x="4199711" y="869"/>
                    <a:pt x="4201258" y="2415"/>
                  </a:cubicBezTo>
                  <a:cubicBezTo>
                    <a:pt x="4202804" y="3962"/>
                    <a:pt x="4203673" y="6059"/>
                    <a:pt x="4203673" y="8246"/>
                  </a:cubicBezTo>
                  <a:lnTo>
                    <a:pt x="4203673" y="121782"/>
                  </a:lnTo>
                  <a:cubicBezTo>
                    <a:pt x="4203673" y="123969"/>
                    <a:pt x="4202804" y="126066"/>
                    <a:pt x="4201258" y="127613"/>
                  </a:cubicBezTo>
                  <a:cubicBezTo>
                    <a:pt x="4199711" y="129159"/>
                    <a:pt x="4197614" y="130028"/>
                    <a:pt x="4195427" y="130028"/>
                  </a:cubicBezTo>
                  <a:lnTo>
                    <a:pt x="8246" y="130028"/>
                  </a:lnTo>
                  <a:cubicBezTo>
                    <a:pt x="6059" y="130028"/>
                    <a:pt x="3962" y="129159"/>
                    <a:pt x="2415" y="127613"/>
                  </a:cubicBezTo>
                  <a:cubicBezTo>
                    <a:pt x="869" y="126066"/>
                    <a:pt x="0" y="123969"/>
                    <a:pt x="0" y="121782"/>
                  </a:cubicBezTo>
                  <a:lnTo>
                    <a:pt x="0" y="8246"/>
                  </a:lnTo>
                  <a:cubicBezTo>
                    <a:pt x="0" y="6059"/>
                    <a:pt x="869" y="3962"/>
                    <a:pt x="2415" y="2415"/>
                  </a:cubicBezTo>
                  <a:cubicBezTo>
                    <a:pt x="3962" y="869"/>
                    <a:pt x="6059" y="0"/>
                    <a:pt x="8246" y="0"/>
                  </a:cubicBezTo>
                  <a:close/>
                </a:path>
              </a:pathLst>
            </a:custGeom>
            <a:solidFill>
              <a:srgbClr val="EBF4FF"/>
            </a:solidFill>
            <a:ln w="28575" cap="sq">
              <a:solidFill>
                <a:srgbClr val="104378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4203673" cy="1490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60 cameras · 296 detector loops · 13×12 km Delhi OSM (11,955 nodes / 30,510 edges) · ~300 events/sec · alert on screen &lt;2s p99 · ANPR avg &gt;90%</a:t>
              </a:r>
            </a:p>
          </p:txBody>
        </p:sp>
      </p:grpSp>
      <p:sp>
        <p:nvSpPr>
          <p:cNvPr name="Freeform 67" id="67"/>
          <p:cNvSpPr/>
          <p:nvPr/>
        </p:nvSpPr>
        <p:spPr>
          <a:xfrm flipH="false" flipV="false" rot="0">
            <a:off x="837691" y="2824842"/>
            <a:ext cx="773432" cy="630347"/>
          </a:xfrm>
          <a:custGeom>
            <a:avLst/>
            <a:gdLst/>
            <a:ahLst/>
            <a:cxnLst/>
            <a:rect r="r" b="b" t="t" l="l"/>
            <a:pathLst>
              <a:path h="630347" w="773432">
                <a:moveTo>
                  <a:pt x="0" y="0"/>
                </a:moveTo>
                <a:lnTo>
                  <a:pt x="773432" y="0"/>
                </a:lnTo>
                <a:lnTo>
                  <a:pt x="773432" y="630347"/>
                </a:lnTo>
                <a:lnTo>
                  <a:pt x="0" y="63034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8" id="68"/>
          <p:cNvSpPr/>
          <p:nvPr/>
        </p:nvSpPr>
        <p:spPr>
          <a:xfrm flipH="false" flipV="false" rot="0">
            <a:off x="5435802" y="2843619"/>
            <a:ext cx="393221" cy="473760"/>
          </a:xfrm>
          <a:custGeom>
            <a:avLst/>
            <a:gdLst/>
            <a:ahLst/>
            <a:cxnLst/>
            <a:rect r="r" b="b" t="t" l="l"/>
            <a:pathLst>
              <a:path h="473760" w="393221">
                <a:moveTo>
                  <a:pt x="0" y="0"/>
                </a:moveTo>
                <a:lnTo>
                  <a:pt x="393221" y="0"/>
                </a:lnTo>
                <a:lnTo>
                  <a:pt x="393221" y="473760"/>
                </a:lnTo>
                <a:lnTo>
                  <a:pt x="0" y="47376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9" id="69"/>
          <p:cNvSpPr/>
          <p:nvPr/>
        </p:nvSpPr>
        <p:spPr>
          <a:xfrm flipH="false" flipV="false" rot="0">
            <a:off x="7528509" y="2879870"/>
            <a:ext cx="672888" cy="575320"/>
          </a:xfrm>
          <a:custGeom>
            <a:avLst/>
            <a:gdLst/>
            <a:ahLst/>
            <a:cxnLst/>
            <a:rect r="r" b="b" t="t" l="l"/>
            <a:pathLst>
              <a:path h="575320" w="672888">
                <a:moveTo>
                  <a:pt x="0" y="0"/>
                </a:moveTo>
                <a:lnTo>
                  <a:pt x="672888" y="0"/>
                </a:lnTo>
                <a:lnTo>
                  <a:pt x="672888" y="575319"/>
                </a:lnTo>
                <a:lnTo>
                  <a:pt x="0" y="57531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0" id="70"/>
          <p:cNvSpPr txBox="true"/>
          <p:nvPr/>
        </p:nvSpPr>
        <p:spPr>
          <a:xfrm rot="0">
            <a:off x="13051007" y="2500434"/>
            <a:ext cx="1188442" cy="435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2"/>
              </a:lnSpc>
            </a:pPr>
            <a:r>
              <a:rPr lang="en-US" b="true" sz="1237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TIMESCALEDB (POSTGRES)</a:t>
            </a:r>
          </a:p>
        </p:txBody>
      </p:sp>
      <p:sp>
        <p:nvSpPr>
          <p:cNvPr name="Freeform 71" id="71"/>
          <p:cNvSpPr/>
          <p:nvPr/>
        </p:nvSpPr>
        <p:spPr>
          <a:xfrm flipH="false" flipV="false" rot="0">
            <a:off x="9331114" y="3062904"/>
            <a:ext cx="533651" cy="533651"/>
          </a:xfrm>
          <a:custGeom>
            <a:avLst/>
            <a:gdLst/>
            <a:ahLst/>
            <a:cxnLst/>
            <a:rect r="r" b="b" t="t" l="l"/>
            <a:pathLst>
              <a:path h="533651" w="533651">
                <a:moveTo>
                  <a:pt x="0" y="0"/>
                </a:moveTo>
                <a:lnTo>
                  <a:pt x="533652" y="0"/>
                </a:lnTo>
                <a:lnTo>
                  <a:pt x="533652" y="533651"/>
                </a:lnTo>
                <a:lnTo>
                  <a:pt x="0" y="53365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72" id="72"/>
          <p:cNvSpPr/>
          <p:nvPr/>
        </p:nvSpPr>
        <p:spPr>
          <a:xfrm flipH="false" flipV="false" rot="0">
            <a:off x="10593899" y="3075190"/>
            <a:ext cx="366861" cy="542955"/>
          </a:xfrm>
          <a:custGeom>
            <a:avLst/>
            <a:gdLst/>
            <a:ahLst/>
            <a:cxnLst/>
            <a:rect r="r" b="b" t="t" l="l"/>
            <a:pathLst>
              <a:path h="542955" w="366861">
                <a:moveTo>
                  <a:pt x="0" y="0"/>
                </a:moveTo>
                <a:lnTo>
                  <a:pt x="366861" y="0"/>
                </a:lnTo>
                <a:lnTo>
                  <a:pt x="366861" y="542955"/>
                </a:lnTo>
                <a:lnTo>
                  <a:pt x="0" y="54295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73" id="73"/>
          <p:cNvSpPr/>
          <p:nvPr/>
        </p:nvSpPr>
        <p:spPr>
          <a:xfrm flipH="false" flipV="false" rot="0">
            <a:off x="11771180" y="3075190"/>
            <a:ext cx="437821" cy="581946"/>
          </a:xfrm>
          <a:custGeom>
            <a:avLst/>
            <a:gdLst/>
            <a:ahLst/>
            <a:cxnLst/>
            <a:rect r="r" b="b" t="t" l="l"/>
            <a:pathLst>
              <a:path h="581946" w="437821">
                <a:moveTo>
                  <a:pt x="0" y="0"/>
                </a:moveTo>
                <a:lnTo>
                  <a:pt x="437821" y="0"/>
                </a:lnTo>
                <a:lnTo>
                  <a:pt x="437821" y="581947"/>
                </a:lnTo>
                <a:lnTo>
                  <a:pt x="0" y="5819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32918" t="0" r="0" b="0"/>
            </a:stretch>
          </a:blipFill>
        </p:spPr>
      </p:sp>
      <p:sp>
        <p:nvSpPr>
          <p:cNvPr name="TextBox 74" id="74"/>
          <p:cNvSpPr txBox="true"/>
          <p:nvPr/>
        </p:nvSpPr>
        <p:spPr>
          <a:xfrm rot="0">
            <a:off x="12856164" y="3569489"/>
            <a:ext cx="1641973" cy="826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Optimized for chronological and time-series data indexing</a:t>
            </a:r>
          </a:p>
        </p:txBody>
      </p:sp>
      <p:sp>
        <p:nvSpPr>
          <p:cNvPr name="Freeform 75" id="75"/>
          <p:cNvSpPr/>
          <p:nvPr/>
        </p:nvSpPr>
        <p:spPr>
          <a:xfrm flipH="false" flipV="false" rot="0">
            <a:off x="13341105" y="2916185"/>
            <a:ext cx="589196" cy="759752"/>
          </a:xfrm>
          <a:custGeom>
            <a:avLst/>
            <a:gdLst/>
            <a:ahLst/>
            <a:cxnLst/>
            <a:rect r="r" b="b" t="t" l="l"/>
            <a:pathLst>
              <a:path h="759752" w="589196">
                <a:moveTo>
                  <a:pt x="0" y="0"/>
                </a:moveTo>
                <a:lnTo>
                  <a:pt x="589196" y="0"/>
                </a:lnTo>
                <a:lnTo>
                  <a:pt x="589196" y="759753"/>
                </a:lnTo>
                <a:lnTo>
                  <a:pt x="0" y="75975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76" id="76"/>
          <p:cNvSpPr/>
          <p:nvPr/>
        </p:nvSpPr>
        <p:spPr>
          <a:xfrm flipH="false" flipV="false" rot="0">
            <a:off x="15105746" y="2790989"/>
            <a:ext cx="775258" cy="573691"/>
          </a:xfrm>
          <a:custGeom>
            <a:avLst/>
            <a:gdLst/>
            <a:ahLst/>
            <a:cxnLst/>
            <a:rect r="r" b="b" t="t" l="l"/>
            <a:pathLst>
              <a:path h="573691" w="775258">
                <a:moveTo>
                  <a:pt x="0" y="0"/>
                </a:moveTo>
                <a:lnTo>
                  <a:pt x="775258" y="0"/>
                </a:lnTo>
                <a:lnTo>
                  <a:pt x="775258" y="573691"/>
                </a:lnTo>
                <a:lnTo>
                  <a:pt x="0" y="57369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16934033" y="2824842"/>
            <a:ext cx="608588" cy="608588"/>
          </a:xfrm>
          <a:custGeom>
            <a:avLst/>
            <a:gdLst/>
            <a:ahLst/>
            <a:cxnLst/>
            <a:rect r="r" b="b" t="t" l="l"/>
            <a:pathLst>
              <a:path h="608588" w="608588">
                <a:moveTo>
                  <a:pt x="0" y="0"/>
                </a:moveTo>
                <a:lnTo>
                  <a:pt x="608588" y="0"/>
                </a:lnTo>
                <a:lnTo>
                  <a:pt x="608588" y="608588"/>
                </a:lnTo>
                <a:lnTo>
                  <a:pt x="0" y="60858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8" id="78"/>
          <p:cNvGrpSpPr/>
          <p:nvPr/>
        </p:nvGrpSpPr>
        <p:grpSpPr>
          <a:xfrm rot="0">
            <a:off x="13256304" y="5691948"/>
            <a:ext cx="1180711" cy="1180711"/>
            <a:chOff x="0" y="0"/>
            <a:chExt cx="812800" cy="8128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19050"/>
              <a:ext cx="812800" cy="831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3256304" y="5691948"/>
            <a:ext cx="590355" cy="590355"/>
            <a:chOff x="0" y="0"/>
            <a:chExt cx="758687" cy="758687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58687" cy="758687"/>
            </a:xfrm>
            <a:custGeom>
              <a:avLst/>
              <a:gdLst/>
              <a:ahLst/>
              <a:cxnLst/>
              <a:rect r="r" b="b" t="t" l="l"/>
              <a:pathLst>
                <a:path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D1F1F9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3" id="83"/>
            <p:cNvSpPr txBox="true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CLEAN</a:t>
              </a:r>
            </a:p>
            <a:p>
              <a:pPr algn="ctr">
                <a:lnSpc>
                  <a:spcPts val="1320"/>
                </a:lnSpc>
              </a:pPr>
              <a:r>
                <a:rPr lang="en-US" b="true" sz="11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97%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3256304" y="6282303"/>
            <a:ext cx="590355" cy="590355"/>
            <a:chOff x="0" y="0"/>
            <a:chExt cx="758687" cy="758687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58687" cy="758687"/>
            </a:xfrm>
            <a:custGeom>
              <a:avLst/>
              <a:gdLst/>
              <a:ahLst/>
              <a:cxnLst/>
              <a:rect r="r" b="b" t="t" l="l"/>
              <a:pathLst>
                <a:path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38B6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NIGHT</a:t>
              </a:r>
            </a:p>
            <a:p>
              <a:pPr algn="ctr">
                <a:lnSpc>
                  <a:spcPts val="1320"/>
                </a:lnSpc>
              </a:pPr>
              <a:r>
                <a:rPr lang="en-US" b="true" sz="11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88%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13846660" y="6282303"/>
            <a:ext cx="590355" cy="590355"/>
            <a:chOff x="0" y="0"/>
            <a:chExt cx="758687" cy="758687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58687" cy="758687"/>
            </a:xfrm>
            <a:custGeom>
              <a:avLst/>
              <a:gdLst/>
              <a:ahLst/>
              <a:cxnLst/>
              <a:rect r="r" b="b" t="t" l="l"/>
              <a:pathLst>
                <a:path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D1F1F9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9" id="89"/>
            <p:cNvSpPr txBox="true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RAIN</a:t>
              </a:r>
            </a:p>
            <a:p>
              <a:pPr algn="ctr">
                <a:lnSpc>
                  <a:spcPts val="1320"/>
                </a:lnSpc>
              </a:pPr>
              <a:r>
                <a:rPr lang="en-US" b="true" sz="11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86%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3846660" y="5691948"/>
            <a:ext cx="590355" cy="590355"/>
            <a:chOff x="0" y="0"/>
            <a:chExt cx="758687" cy="758687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58687" cy="758687"/>
            </a:xfrm>
            <a:custGeom>
              <a:avLst/>
              <a:gdLst/>
              <a:ahLst/>
              <a:cxnLst/>
              <a:rect r="r" b="b" t="t" l="l"/>
              <a:pathLst>
                <a:path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38B6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40"/>
                </a:lnSpc>
              </a:pPr>
              <a:r>
                <a:rPr lang="en-US" sz="1200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BLUR</a:t>
              </a:r>
            </a:p>
            <a:p>
              <a:pPr algn="ctr">
                <a:lnSpc>
                  <a:spcPts val="1440"/>
                </a:lnSpc>
              </a:pPr>
              <a:r>
                <a:rPr lang="en-US" b="true" sz="12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93%</a:t>
              </a:r>
            </a:p>
          </p:txBody>
        </p:sp>
      </p:grpSp>
      <p:sp>
        <p:nvSpPr>
          <p:cNvPr name="Freeform 93" id="93"/>
          <p:cNvSpPr/>
          <p:nvPr/>
        </p:nvSpPr>
        <p:spPr>
          <a:xfrm flipH="false" flipV="false" rot="0">
            <a:off x="14618615" y="5051240"/>
            <a:ext cx="3377915" cy="2523547"/>
          </a:xfrm>
          <a:custGeom>
            <a:avLst/>
            <a:gdLst/>
            <a:ahLst/>
            <a:cxnLst/>
            <a:rect r="r" b="b" t="t" l="l"/>
            <a:pathLst>
              <a:path h="2523547" w="3377915">
                <a:moveTo>
                  <a:pt x="0" y="0"/>
                </a:moveTo>
                <a:lnTo>
                  <a:pt x="3377915" y="0"/>
                </a:lnTo>
                <a:lnTo>
                  <a:pt x="3377915" y="2523547"/>
                </a:lnTo>
                <a:lnTo>
                  <a:pt x="0" y="252354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73494" t="-50949" r="-26985" b="0"/>
            </a:stretch>
          </a:blipFill>
        </p:spPr>
      </p:sp>
      <p:sp>
        <p:nvSpPr>
          <p:cNvPr name="TextBox 94" id="94"/>
          <p:cNvSpPr txBox="true"/>
          <p:nvPr/>
        </p:nvSpPr>
        <p:spPr>
          <a:xfrm rot="0">
            <a:off x="5632412" y="5284121"/>
            <a:ext cx="4232353" cy="1967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1935" indent="-165967" lvl="1">
              <a:lnSpc>
                <a:spcPts val="1983"/>
              </a:lnSpc>
              <a:buFont typeface="Arial"/>
              <a:buChar char="•"/>
            </a:pPr>
            <a:r>
              <a:rPr lang="en-US" b="true" sz="1537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Real-time Vehicle Tracking — full trajectory + timestamps </a:t>
            </a:r>
          </a:p>
          <a:p>
            <a:pPr algn="l" marL="331935" indent="-165967" lvl="1">
              <a:lnSpc>
                <a:spcPts val="1983"/>
              </a:lnSpc>
              <a:buFont typeface="Arial"/>
              <a:buChar char="•"/>
            </a:pPr>
            <a:r>
              <a:rPr lang="en-US" b="true" sz="1537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Traffic Analytics — heatmap, OD, congestion, peak hours </a:t>
            </a:r>
          </a:p>
          <a:p>
            <a:pPr algn="l" marL="331935" indent="-165967" lvl="1">
              <a:lnSpc>
                <a:spcPts val="1983"/>
              </a:lnSpc>
              <a:buFont typeface="Arial"/>
              <a:buChar char="•"/>
            </a:pPr>
            <a:r>
              <a:rPr lang="en-US" b="true" sz="1537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Alerts &amp; Anomaly Detection — blacklist, clone/impossible travel, camera health</a:t>
            </a:r>
          </a:p>
          <a:p>
            <a:pPr algn="l" marL="331935" indent="-165967" lvl="1">
              <a:lnSpc>
                <a:spcPts val="1983"/>
              </a:lnSpc>
              <a:buFont typeface="Arial"/>
              <a:buChar char="•"/>
            </a:pPr>
            <a:r>
              <a:rPr lang="en-US" b="true" sz="1537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Scalable Architecture — event-driven, swap real cameras in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244303" y="5085449"/>
            <a:ext cx="4328505" cy="2582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9476" indent="-169738" lvl="1">
              <a:lnSpc>
                <a:spcPts val="2028"/>
              </a:lnSpc>
              <a:buFont typeface="Arial"/>
              <a:buChar char="•"/>
            </a:pPr>
            <a:r>
              <a:rPr lang="en-US" b="true" sz="157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Camera source: SUMO sim / RTSP / file (one swap layer) </a:t>
            </a:r>
          </a:p>
          <a:p>
            <a:pPr algn="l" marL="339476" indent="-169738" lvl="1">
              <a:lnSpc>
                <a:spcPts val="2028"/>
              </a:lnSpc>
              <a:buFont typeface="Arial"/>
              <a:buChar char="•"/>
            </a:pPr>
            <a:r>
              <a:rPr lang="en-US" b="true" sz="157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ANPR service: plate brain of the system (see →) </a:t>
            </a:r>
          </a:p>
          <a:p>
            <a:pPr algn="l" marL="339476" indent="-169738" lvl="1">
              <a:lnSpc>
                <a:spcPts val="2028"/>
              </a:lnSpc>
              <a:buFont typeface="Arial"/>
              <a:buChar char="•"/>
            </a:pPr>
            <a:r>
              <a:rPr lang="en-US" b="true" sz="157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Ingest + Redis: ordered, buffered event backbone </a:t>
            </a:r>
          </a:p>
          <a:p>
            <a:pPr algn="l" marL="339476" indent="-169738" lvl="1">
              <a:lnSpc>
                <a:spcPts val="2028"/>
              </a:lnSpc>
              <a:buFont typeface="Arial"/>
              <a:buChar char="•"/>
            </a:pPr>
            <a:r>
              <a:rPr lang="en-US" b="true" sz="157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Workers: parallel fuzzy-match, analytics, alerting </a:t>
            </a:r>
          </a:p>
          <a:p>
            <a:pPr algn="l" marL="339476" indent="-169738" lvl="1">
              <a:lnSpc>
                <a:spcPts val="2028"/>
              </a:lnSpc>
              <a:buFont typeface="Arial"/>
              <a:buChar char="•"/>
            </a:pPr>
            <a:r>
              <a:rPr lang="en-US" b="true" sz="157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TimescaleDB + API + dashboard: store once, serve fast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379396" y="2488449"/>
            <a:ext cx="1690021" cy="239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2"/>
              </a:lnSpc>
            </a:pPr>
            <a:r>
              <a:rPr lang="en-US" sz="1437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CAMERA / SUMO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0418775" y="5049520"/>
            <a:ext cx="1155609" cy="278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6"/>
              </a:lnSpc>
            </a:pPr>
            <a:r>
              <a:rPr lang="en-US" sz="1725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PIPELINE 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1855188" y="5049520"/>
            <a:ext cx="1155609" cy="226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"/>
              </a:lnSpc>
            </a:pPr>
            <a:r>
              <a:rPr lang="en-US" sz="1359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CORRECTOR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3310962" y="5059045"/>
            <a:ext cx="1155609" cy="44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6"/>
              </a:lnSpc>
            </a:pPr>
            <a:r>
              <a:rPr lang="en-US" sz="1325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ACCURACY</a:t>
            </a:r>
          </a:p>
          <a:p>
            <a:pPr algn="l">
              <a:lnSpc>
                <a:spcPts val="1856"/>
              </a:lnSpc>
            </a:pPr>
            <a:r>
              <a:rPr lang="en-US" sz="1325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SCORECARD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111795" y="2500940"/>
            <a:ext cx="1041235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INGEST API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7073950" y="2513432"/>
            <a:ext cx="1493496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REDIS STREAMS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9144000" y="2831476"/>
            <a:ext cx="975680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MATCHER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0418775" y="2831476"/>
            <a:ext cx="1122258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ANALYTICS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1664859" y="2831476"/>
            <a:ext cx="1122258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ALERTS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9771305" y="2488449"/>
            <a:ext cx="2070793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WORKERS (PARALLEL)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5062043" y="2488449"/>
            <a:ext cx="818961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FASTAPI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16663311" y="2488449"/>
            <a:ext cx="1191978" cy="231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DASHBOARD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2529986" y="2888102"/>
            <a:ext cx="1828281" cy="422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ABC123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244303" y="3531389"/>
            <a:ext cx="1961312" cy="617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0487" indent="-130244" lvl="1">
              <a:lnSpc>
                <a:spcPts val="1689"/>
              </a:lnSpc>
              <a:buFont typeface="Arial"/>
              <a:buChar char="•"/>
            </a:pPr>
            <a:r>
              <a:rPr lang="en-US" b="true" sz="120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Real + Simulated Feeds</a:t>
            </a:r>
          </a:p>
          <a:p>
            <a:pPr algn="l" marL="260487" indent="-130244" lvl="1">
              <a:lnSpc>
                <a:spcPts val="1689"/>
              </a:lnSpc>
              <a:buFont typeface="Arial"/>
              <a:buChar char="•"/>
            </a:pPr>
            <a:r>
              <a:rPr lang="en-US" b="true" sz="120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Gate triggers + speed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2529986" y="3608620"/>
            <a:ext cx="1825454" cy="617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Reads the Plate</a:t>
            </a:r>
          </a:p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Find + Straighten + OCR + Correct Mismatches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4651756" y="3466421"/>
            <a:ext cx="1961312" cy="826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Validates and canonicalizes plate</a:t>
            </a:r>
          </a:p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Adds metadata (camera_id, ts, location)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6937959" y="3569489"/>
            <a:ext cx="1843665" cy="617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The Waiting Line : </a:t>
            </a:r>
          </a:p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 that nothing is lost  at rush hour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9153751" y="3712257"/>
            <a:ext cx="965929" cy="407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Fuzzy edits plates 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10375224" y="3577505"/>
            <a:ext cx="920106" cy="752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9"/>
              </a:lnSpc>
            </a:pPr>
            <a:r>
              <a:rPr lang="en-US" sz="11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Rollups, travel time graph,</a:t>
            </a:r>
          </a:p>
          <a:p>
            <a:pPr algn="l">
              <a:lnSpc>
                <a:spcPts val="1549"/>
              </a:lnSpc>
            </a:pPr>
            <a:r>
              <a:rPr lang="en-US" sz="11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OD matrix, 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11541034" y="3608620"/>
            <a:ext cx="920106" cy="679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9"/>
              </a:lnSpc>
            </a:pPr>
            <a:r>
              <a:rPr lang="en-US" sz="10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Blacklist, impossible travel, camera health 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14755312" y="3369464"/>
            <a:ext cx="1569121" cy="1036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0487" indent="-130244" lvl="1">
              <a:lnSpc>
                <a:spcPts val="1689"/>
              </a:lnSpc>
              <a:buFont typeface="Arial"/>
              <a:buChar char="•"/>
            </a:pPr>
            <a:r>
              <a:rPr lang="en-US" b="true" sz="120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REST</a:t>
            </a:r>
          </a:p>
          <a:p>
            <a:pPr algn="l" marL="260487" indent="-130244" lvl="1">
              <a:lnSpc>
                <a:spcPts val="1689"/>
              </a:lnSpc>
              <a:buFont typeface="Arial"/>
              <a:buChar char="•"/>
            </a:pPr>
            <a:r>
              <a:rPr lang="en-US" b="true" sz="120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Websocket</a:t>
            </a:r>
          </a:p>
          <a:p>
            <a:pPr algn="l" marL="260487" indent="-130244" lvl="1">
              <a:lnSpc>
                <a:spcPts val="1689"/>
              </a:lnSpc>
              <a:buFont typeface="Arial"/>
              <a:buChar char="•"/>
            </a:pPr>
            <a:r>
              <a:rPr lang="en-US" b="true" sz="120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Pushes Live Updates within seconds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16533983" y="3531389"/>
            <a:ext cx="1538434" cy="617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6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Live map, search, analytics, alerts (polls every 150ms)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244303" y="2058554"/>
            <a:ext cx="4778728" cy="313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Data Flow (From Camera to Dashboard)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244303" y="4756458"/>
            <a:ext cx="2250109" cy="281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9"/>
              </a:lnSpc>
            </a:pPr>
            <a:r>
              <a:rPr lang="en-US" sz="1777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KEY COMPONENTS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5695257" y="4756458"/>
            <a:ext cx="2250109" cy="281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9"/>
              </a:lnSpc>
            </a:pPr>
            <a:r>
              <a:rPr lang="en-US" sz="1777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CORE FEATURES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10228518" y="4756458"/>
            <a:ext cx="2822489" cy="281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9"/>
              </a:lnSpc>
            </a:pPr>
            <a:r>
              <a:rPr lang="en-US" sz="1777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ANPR ENGINE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3121152" y="2857350"/>
            <a:ext cx="994867" cy="138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3"/>
              </a:lnSpc>
            </a:pPr>
            <a:r>
              <a:rPr lang="en-US" sz="909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CORE FEATURES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13224781" y="7087688"/>
            <a:ext cx="1243757" cy="247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3"/>
              </a:lnSpc>
            </a:pPr>
            <a:r>
              <a:rPr lang="en-US" b="true" sz="1495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average ~91%</a:t>
            </a:r>
          </a:p>
        </p:txBody>
      </p:sp>
      <p:grpSp>
        <p:nvGrpSpPr>
          <p:cNvPr name="Group 124" id="124"/>
          <p:cNvGrpSpPr/>
          <p:nvPr/>
        </p:nvGrpSpPr>
        <p:grpSpPr>
          <a:xfrm rot="0">
            <a:off x="125551" y="8155023"/>
            <a:ext cx="2792950" cy="1339416"/>
            <a:chOff x="0" y="0"/>
            <a:chExt cx="3723933" cy="1785888"/>
          </a:xfrm>
        </p:grpSpPr>
        <p:grpSp>
          <p:nvGrpSpPr>
            <p:cNvPr name="Group 125" id="125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26" id="126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27" id="127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28" id="128"/>
            <p:cNvSpPr txBox="true"/>
            <p:nvPr/>
          </p:nvSpPr>
          <p:spPr>
            <a:xfrm rot="0">
              <a:off x="1195740" y="179446"/>
              <a:ext cx="1130111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sz="1274" b="true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Backend</a:t>
              </a:r>
            </a:p>
          </p:txBody>
        </p:sp>
        <p:sp>
          <p:nvSpPr>
            <p:cNvPr name="TextBox 129" id="129"/>
            <p:cNvSpPr txBox="true"/>
            <p:nvPr/>
          </p:nvSpPr>
          <p:spPr>
            <a:xfrm rot="0">
              <a:off x="523220" y="603472"/>
              <a:ext cx="2825277" cy="9096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FastAPI (REST + WS)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Python 3.11+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Unicam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3164068" y="8155023"/>
            <a:ext cx="2792950" cy="1339416"/>
            <a:chOff x="0" y="0"/>
            <a:chExt cx="3723933" cy="1785888"/>
          </a:xfrm>
        </p:grpSpPr>
        <p:grpSp>
          <p:nvGrpSpPr>
            <p:cNvPr name="Group 131" id="131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32" id="132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33" id="133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34" id="134"/>
            <p:cNvSpPr txBox="true"/>
            <p:nvPr/>
          </p:nvSpPr>
          <p:spPr>
            <a:xfrm rot="0">
              <a:off x="845497" y="179446"/>
              <a:ext cx="1686538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b="true" sz="1274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ANPR / ML</a:t>
              </a:r>
            </a:p>
          </p:txBody>
        </p:sp>
        <p:sp>
          <p:nvSpPr>
            <p:cNvPr name="TextBox 135" id="135"/>
            <p:cNvSpPr txBox="true"/>
            <p:nvPr/>
          </p:nvSpPr>
          <p:spPr>
            <a:xfrm rot="0">
              <a:off x="451555" y="555365"/>
              <a:ext cx="2825277" cy="9096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OpenCV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(Stub / Future: YOLO + Tesserate / EasyOCR)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6205927" y="8155023"/>
            <a:ext cx="2792950" cy="1339416"/>
            <a:chOff x="0" y="0"/>
            <a:chExt cx="3723933" cy="1785888"/>
          </a:xfrm>
        </p:grpSpPr>
        <p:grpSp>
          <p:nvGrpSpPr>
            <p:cNvPr name="Group 137" id="137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38" id="138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39" id="139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40" id="140"/>
            <p:cNvSpPr txBox="true"/>
            <p:nvPr/>
          </p:nvSpPr>
          <p:spPr>
            <a:xfrm rot="0">
              <a:off x="1051700" y="179446"/>
              <a:ext cx="1497397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sz="1274" b="true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Simulation</a:t>
              </a:r>
            </a:p>
          </p:txBody>
        </p:sp>
        <p:sp>
          <p:nvSpPr>
            <p:cNvPr name="TextBox 141" id="141"/>
            <p:cNvSpPr txBox="true"/>
            <p:nvPr/>
          </p:nvSpPr>
          <p:spPr>
            <a:xfrm rot="0">
              <a:off x="257374" y="555365"/>
              <a:ext cx="3399630" cy="9096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SUMO (Traffic simulator)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TraCI (control interface)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Netedit (map editing)</a:t>
              </a:r>
            </a:p>
          </p:txBody>
        </p:sp>
      </p:grpSp>
      <p:grpSp>
        <p:nvGrpSpPr>
          <p:cNvPr name="Group 142" id="142"/>
          <p:cNvGrpSpPr/>
          <p:nvPr/>
        </p:nvGrpSpPr>
        <p:grpSpPr>
          <a:xfrm rot="0">
            <a:off x="9247785" y="8155023"/>
            <a:ext cx="3041858" cy="1339416"/>
            <a:chOff x="0" y="0"/>
            <a:chExt cx="4055811" cy="1785888"/>
          </a:xfrm>
        </p:grpSpPr>
        <p:grpSp>
          <p:nvGrpSpPr>
            <p:cNvPr name="Group 143" id="143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44" id="144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45" id="145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46" id="146"/>
            <p:cNvSpPr txBox="true"/>
            <p:nvPr/>
          </p:nvSpPr>
          <p:spPr>
            <a:xfrm rot="0">
              <a:off x="630193" y="119088"/>
              <a:ext cx="2486244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sz="1274" b="true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Streaming /Queue</a:t>
              </a:r>
            </a:p>
          </p:txBody>
        </p:sp>
        <p:sp>
          <p:nvSpPr>
            <p:cNvPr name="TextBox 147" id="147"/>
            <p:cNvSpPr txBox="true"/>
            <p:nvPr/>
          </p:nvSpPr>
          <p:spPr>
            <a:xfrm rot="0">
              <a:off x="162897" y="439552"/>
              <a:ext cx="3892914" cy="1227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Redis Streams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8 shards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3 consumer groups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Event buffering &amp; scaling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2289643" y="8155023"/>
            <a:ext cx="2860344" cy="1339416"/>
            <a:chOff x="0" y="0"/>
            <a:chExt cx="3813792" cy="1785888"/>
          </a:xfrm>
        </p:grpSpPr>
        <p:grpSp>
          <p:nvGrpSpPr>
            <p:cNvPr name="Group 149" id="149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50" id="150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51" id="151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52" id="152"/>
            <p:cNvSpPr txBox="true"/>
            <p:nvPr/>
          </p:nvSpPr>
          <p:spPr>
            <a:xfrm rot="0">
              <a:off x="1080342" y="98841"/>
              <a:ext cx="1243122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sz="1274" b="true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Database</a:t>
              </a:r>
            </a:p>
          </p:txBody>
        </p:sp>
        <p:sp>
          <p:nvSpPr>
            <p:cNvPr name="TextBox 153" id="153"/>
            <p:cNvSpPr txBox="true"/>
            <p:nvPr/>
          </p:nvSpPr>
          <p:spPr>
            <a:xfrm rot="0">
              <a:off x="21255" y="439552"/>
              <a:ext cx="3792537" cy="9096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PostgreSQL (time-series)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TimescaleDB (time-series)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Stores reads, vehicles, rolls, alerts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15331501" y="8155023"/>
            <a:ext cx="2956499" cy="1339416"/>
            <a:chOff x="0" y="0"/>
            <a:chExt cx="3941998" cy="1785888"/>
          </a:xfrm>
        </p:grpSpPr>
        <p:grpSp>
          <p:nvGrpSpPr>
            <p:cNvPr name="Group 155" id="155"/>
            <p:cNvGrpSpPr/>
            <p:nvPr/>
          </p:nvGrpSpPr>
          <p:grpSpPr>
            <a:xfrm rot="0">
              <a:off x="0" y="0"/>
              <a:ext cx="3723933" cy="1785888"/>
              <a:chOff x="0" y="0"/>
              <a:chExt cx="735592" cy="352768"/>
            </a:xfrm>
          </p:grpSpPr>
          <p:sp>
            <p:nvSpPr>
              <p:cNvPr name="Freeform 156" id="156"/>
              <p:cNvSpPr/>
              <p:nvPr/>
            </p:nvSpPr>
            <p:spPr>
              <a:xfrm flipH="false" flipV="false" rot="0">
                <a:off x="0" y="0"/>
                <a:ext cx="735592" cy="352768"/>
              </a:xfrm>
              <a:custGeom>
                <a:avLst/>
                <a:gdLst/>
                <a:ahLst/>
                <a:cxnLst/>
                <a:rect r="r" b="b" t="t" l="l"/>
                <a:pathLst>
                  <a:path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ln w="28575" cap="sq">
                <a:solidFill>
                  <a:srgbClr val="0070C0"/>
                </a:solidFill>
                <a:prstDash val="solid"/>
                <a:miter/>
              </a:ln>
            </p:spPr>
          </p:sp>
          <p:sp>
            <p:nvSpPr>
              <p:cNvPr name="TextBox 157" id="157"/>
              <p:cNvSpPr txBox="true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158" id="158"/>
            <p:cNvSpPr txBox="true"/>
            <p:nvPr/>
          </p:nvSpPr>
          <p:spPr>
            <a:xfrm rot="0">
              <a:off x="1146436" y="98841"/>
              <a:ext cx="1186616" cy="267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84"/>
                </a:lnSpc>
              </a:pPr>
              <a:r>
                <a:rPr lang="en-US" sz="1274" b="true">
                  <a:solidFill>
                    <a:srgbClr val="004AAD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Frontend</a:t>
              </a:r>
            </a:p>
          </p:txBody>
        </p:sp>
        <p:sp>
          <p:nvSpPr>
            <p:cNvPr name="TextBox 159" id="159"/>
            <p:cNvSpPr txBox="true"/>
            <p:nvPr/>
          </p:nvSpPr>
          <p:spPr>
            <a:xfrm rot="0">
              <a:off x="149461" y="439552"/>
              <a:ext cx="3792537" cy="1227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React (Vite)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MapLibre GL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Realtime updates WebSocket</a:t>
              </a:r>
            </a:p>
            <a:p>
              <a:pPr algn="l" marL="232845" indent="-116422" lvl="1">
                <a:lnSpc>
                  <a:spcPts val="1941"/>
                </a:lnSpc>
                <a:buFont typeface="Arial"/>
                <a:buChar char="•"/>
              </a:pPr>
              <a:r>
                <a:rPr lang="en-US" b="true" sz="1078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Search, analytics, alerts UI</a:t>
              </a:r>
            </a:p>
          </p:txBody>
        </p:sp>
      </p:grpSp>
      <p:sp>
        <p:nvSpPr>
          <p:cNvPr name="TextBox 160" id="160"/>
          <p:cNvSpPr txBox="true"/>
          <p:nvPr/>
        </p:nvSpPr>
        <p:spPr>
          <a:xfrm rot="0">
            <a:off x="126797" y="7782377"/>
            <a:ext cx="2196466" cy="364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7"/>
              </a:lnSpc>
            </a:pPr>
            <a:r>
              <a:rPr lang="en-US" sz="2162" b="true">
                <a:solidFill>
                  <a:srgbClr val="004AA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TECH STACK</a:t>
            </a:r>
          </a:p>
        </p:txBody>
      </p:sp>
      <p:grpSp>
        <p:nvGrpSpPr>
          <p:cNvPr name="Group 161" id="161"/>
          <p:cNvGrpSpPr/>
          <p:nvPr/>
        </p:nvGrpSpPr>
        <p:grpSpPr>
          <a:xfrm rot="0">
            <a:off x="2253327" y="3271897"/>
            <a:ext cx="368564" cy="368564"/>
            <a:chOff x="0" y="0"/>
            <a:chExt cx="812800" cy="81280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63" id="163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64" id="164"/>
          <p:cNvGrpSpPr/>
          <p:nvPr/>
        </p:nvGrpSpPr>
        <p:grpSpPr>
          <a:xfrm rot="0">
            <a:off x="4344504" y="3271897"/>
            <a:ext cx="368564" cy="368564"/>
            <a:chOff x="0" y="0"/>
            <a:chExt cx="812800" cy="812800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66" id="166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67" id="167"/>
          <p:cNvGrpSpPr/>
          <p:nvPr/>
        </p:nvGrpSpPr>
        <p:grpSpPr>
          <a:xfrm rot="0">
            <a:off x="6613069" y="3271897"/>
            <a:ext cx="368564" cy="368564"/>
            <a:chOff x="0" y="0"/>
            <a:chExt cx="812800" cy="812800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69" id="169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70" id="170"/>
          <p:cNvGrpSpPr/>
          <p:nvPr/>
        </p:nvGrpSpPr>
        <p:grpSpPr>
          <a:xfrm rot="0">
            <a:off x="8753000" y="3271897"/>
            <a:ext cx="368564" cy="368564"/>
            <a:chOff x="0" y="0"/>
            <a:chExt cx="812800" cy="812800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2" id="172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73" id="173"/>
          <p:cNvGrpSpPr/>
          <p:nvPr/>
        </p:nvGrpSpPr>
        <p:grpSpPr>
          <a:xfrm rot="0">
            <a:off x="12608037" y="3271897"/>
            <a:ext cx="368564" cy="368564"/>
            <a:chOff x="0" y="0"/>
            <a:chExt cx="812800" cy="812800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5" id="175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76" id="176"/>
          <p:cNvGrpSpPr/>
          <p:nvPr/>
        </p:nvGrpSpPr>
        <p:grpSpPr>
          <a:xfrm rot="0">
            <a:off x="14406551" y="3271897"/>
            <a:ext cx="368564" cy="368564"/>
            <a:chOff x="0" y="0"/>
            <a:chExt cx="812800" cy="812800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8" id="178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79" id="179"/>
          <p:cNvGrpSpPr/>
          <p:nvPr/>
        </p:nvGrpSpPr>
        <p:grpSpPr>
          <a:xfrm rot="0">
            <a:off x="16242954" y="3271897"/>
            <a:ext cx="368564" cy="368564"/>
            <a:chOff x="0" y="0"/>
            <a:chExt cx="812800" cy="812800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81" id="181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182" id="182"/>
          <p:cNvSpPr txBox="true"/>
          <p:nvPr/>
        </p:nvSpPr>
        <p:spPr>
          <a:xfrm rot="0">
            <a:off x="28731" y="-34599"/>
            <a:ext cx="18259269" cy="673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21"/>
              </a:lnSpc>
            </a:pPr>
            <a:r>
              <a:rPr lang="en-US" b="true" sz="3872">
                <a:solidFill>
                  <a:srgbClr val="000000"/>
                </a:solidFill>
                <a:latin typeface="Fraunces Semi-Bold"/>
                <a:ea typeface="Fraunces Semi-Bold"/>
                <a:cs typeface="Fraunces Semi-Bold"/>
                <a:sym typeface="Fraunces Semi-Bold"/>
              </a:rPr>
              <a:t>TECHNICAL APPROACH</a:t>
            </a:r>
          </a:p>
        </p:txBody>
      </p:sp>
      <p:grpSp>
        <p:nvGrpSpPr>
          <p:cNvPr name="Group 183" id="183"/>
          <p:cNvGrpSpPr/>
          <p:nvPr/>
        </p:nvGrpSpPr>
        <p:grpSpPr>
          <a:xfrm rot="0">
            <a:off x="9016132" y="2693960"/>
            <a:ext cx="1180674" cy="1593945"/>
            <a:chOff x="0" y="0"/>
            <a:chExt cx="310959" cy="419804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0"/>
              <a:ext cx="310959" cy="419804"/>
            </a:xfrm>
            <a:custGeom>
              <a:avLst/>
              <a:gdLst/>
              <a:ahLst/>
              <a:cxnLst/>
              <a:rect r="r" b="b" t="t" l="l"/>
              <a:pathLst>
                <a:path h="419804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08332"/>
                  </a:lnTo>
                  <a:cubicBezTo>
                    <a:pt x="310959" y="337896"/>
                    <a:pt x="299215" y="366250"/>
                    <a:pt x="278310" y="387155"/>
                  </a:cubicBezTo>
                  <a:cubicBezTo>
                    <a:pt x="257405" y="408060"/>
                    <a:pt x="229051" y="419804"/>
                    <a:pt x="199487" y="419804"/>
                  </a:cubicBezTo>
                  <a:lnTo>
                    <a:pt x="111472" y="419804"/>
                  </a:lnTo>
                  <a:cubicBezTo>
                    <a:pt x="81908" y="419804"/>
                    <a:pt x="53555" y="408060"/>
                    <a:pt x="32650" y="387155"/>
                  </a:cubicBezTo>
                  <a:cubicBezTo>
                    <a:pt x="11744" y="366250"/>
                    <a:pt x="0" y="337896"/>
                    <a:pt x="0" y="308332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85" id="185"/>
            <p:cNvSpPr txBox="true"/>
            <p:nvPr/>
          </p:nvSpPr>
          <p:spPr>
            <a:xfrm>
              <a:off x="0" y="-19050"/>
              <a:ext cx="310959" cy="4388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86" id="186"/>
          <p:cNvGrpSpPr/>
          <p:nvPr/>
        </p:nvGrpSpPr>
        <p:grpSpPr>
          <a:xfrm rot="0">
            <a:off x="10244940" y="2703485"/>
            <a:ext cx="1180674" cy="1702134"/>
            <a:chOff x="0" y="0"/>
            <a:chExt cx="310959" cy="448299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310959" cy="448299"/>
            </a:xfrm>
            <a:custGeom>
              <a:avLst/>
              <a:gdLst/>
              <a:ahLst/>
              <a:cxnLst/>
              <a:rect r="r" b="b" t="t" l="l"/>
              <a:pathLst>
                <a:path h="448299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36826"/>
                  </a:lnTo>
                  <a:cubicBezTo>
                    <a:pt x="310959" y="366391"/>
                    <a:pt x="299215" y="394744"/>
                    <a:pt x="278310" y="415649"/>
                  </a:cubicBezTo>
                  <a:cubicBezTo>
                    <a:pt x="257405" y="436554"/>
                    <a:pt x="229051" y="448299"/>
                    <a:pt x="199487" y="448299"/>
                  </a:cubicBezTo>
                  <a:lnTo>
                    <a:pt x="111472" y="448299"/>
                  </a:lnTo>
                  <a:cubicBezTo>
                    <a:pt x="81908" y="448299"/>
                    <a:pt x="53555" y="436554"/>
                    <a:pt x="32650" y="415649"/>
                  </a:cubicBezTo>
                  <a:cubicBezTo>
                    <a:pt x="11744" y="394744"/>
                    <a:pt x="0" y="366391"/>
                    <a:pt x="0" y="336826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88" id="188"/>
            <p:cNvSpPr txBox="true"/>
            <p:nvPr/>
          </p:nvSpPr>
          <p:spPr>
            <a:xfrm>
              <a:off x="0" y="-19050"/>
              <a:ext cx="310959" cy="4673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89" id="189"/>
          <p:cNvGrpSpPr/>
          <p:nvPr/>
        </p:nvGrpSpPr>
        <p:grpSpPr>
          <a:xfrm rot="0">
            <a:off x="11487820" y="2703485"/>
            <a:ext cx="1180674" cy="1702134"/>
            <a:chOff x="0" y="0"/>
            <a:chExt cx="310959" cy="448299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310959" cy="448299"/>
            </a:xfrm>
            <a:custGeom>
              <a:avLst/>
              <a:gdLst/>
              <a:ahLst/>
              <a:cxnLst/>
              <a:rect r="r" b="b" t="t" l="l"/>
              <a:pathLst>
                <a:path h="448299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36826"/>
                  </a:lnTo>
                  <a:cubicBezTo>
                    <a:pt x="310959" y="366391"/>
                    <a:pt x="299215" y="394744"/>
                    <a:pt x="278310" y="415649"/>
                  </a:cubicBezTo>
                  <a:cubicBezTo>
                    <a:pt x="257405" y="436554"/>
                    <a:pt x="229051" y="448299"/>
                    <a:pt x="199487" y="448299"/>
                  </a:cubicBezTo>
                  <a:lnTo>
                    <a:pt x="111472" y="448299"/>
                  </a:lnTo>
                  <a:cubicBezTo>
                    <a:pt x="81908" y="448299"/>
                    <a:pt x="53555" y="436554"/>
                    <a:pt x="32650" y="415649"/>
                  </a:cubicBezTo>
                  <a:cubicBezTo>
                    <a:pt x="11744" y="394744"/>
                    <a:pt x="0" y="366391"/>
                    <a:pt x="0" y="336826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1" id="191"/>
            <p:cNvSpPr txBox="true"/>
            <p:nvPr/>
          </p:nvSpPr>
          <p:spPr>
            <a:xfrm>
              <a:off x="0" y="-19050"/>
              <a:ext cx="310959" cy="4673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92" id="192"/>
          <p:cNvGrpSpPr/>
          <p:nvPr/>
        </p:nvGrpSpPr>
        <p:grpSpPr>
          <a:xfrm rot="0">
            <a:off x="194938" y="104912"/>
            <a:ext cx="1667524" cy="1087176"/>
            <a:chOff x="0" y="0"/>
            <a:chExt cx="2554516" cy="1665468"/>
          </a:xfrm>
        </p:grpSpPr>
        <p:sp>
          <p:nvSpPr>
            <p:cNvPr name="Freeform 193" id="193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94" id="194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Baazigars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322532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320964" y="954656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85405" y="85649"/>
            <a:ext cx="1915887" cy="1249101"/>
            <a:chOff x="0" y="0"/>
            <a:chExt cx="2554516" cy="1665468"/>
          </a:xfrm>
        </p:grpSpPr>
        <p:sp>
          <p:nvSpPr>
            <p:cNvPr name="Freeform 11" id="11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Baazigars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505690" y="85649"/>
            <a:ext cx="2570036" cy="1306319"/>
            <a:chOff x="0" y="0"/>
            <a:chExt cx="4418241" cy="2245741"/>
          </a:xfrm>
        </p:grpSpPr>
        <p:sp>
          <p:nvSpPr>
            <p:cNvPr name="Freeform 14" id="14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48067" y="1767713"/>
            <a:ext cx="3706451" cy="3402505"/>
            <a:chOff x="0" y="0"/>
            <a:chExt cx="4941934" cy="4536673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413567" y="386250"/>
              <a:ext cx="4114800" cy="4150423"/>
              <a:chOff x="0" y="0"/>
              <a:chExt cx="812800" cy="81983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9837"/>
              </a:xfrm>
              <a:custGeom>
                <a:avLst/>
                <a:gdLst/>
                <a:ahLst/>
                <a:cxnLst/>
                <a:rect r="r" b="b" t="t" l="l"/>
                <a:pathLst>
                  <a:path h="81983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91896"/>
                    </a:lnTo>
                    <a:cubicBezTo>
                      <a:pt x="812800" y="725828"/>
                      <a:pt x="799321" y="758370"/>
                      <a:pt x="775327" y="782364"/>
                    </a:cubicBezTo>
                    <a:cubicBezTo>
                      <a:pt x="751333" y="806357"/>
                      <a:pt x="718791" y="819837"/>
                      <a:pt x="684859" y="819837"/>
                    </a:cubicBezTo>
                    <a:lnTo>
                      <a:pt x="127941" y="819837"/>
                    </a:lnTo>
                    <a:cubicBezTo>
                      <a:pt x="94009" y="819837"/>
                      <a:pt x="61467" y="806357"/>
                      <a:pt x="37473" y="782364"/>
                    </a:cubicBezTo>
                    <a:cubicBezTo>
                      <a:pt x="13479" y="758370"/>
                      <a:pt x="0" y="725828"/>
                      <a:pt x="0" y="69189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9050"/>
                <a:ext cx="812800" cy="83888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just">
                  <a:lnSpc>
                    <a:spcPts val="1680"/>
                  </a:lnSpc>
                </a:pPr>
              </a:p>
            </p:txBody>
          </p:sp>
        </p:grp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41934" cy="1210774"/>
            </a:xfrm>
            <a:custGeom>
              <a:avLst/>
              <a:gdLst/>
              <a:ahLst/>
              <a:cxnLst/>
              <a:rect r="r" b="b" t="t" l="l"/>
              <a:pathLst>
                <a:path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565795" y="11600"/>
              <a:ext cx="4114800" cy="730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REAL-TIME OPERATIONAL FEASIBILITY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718195" y="1052024"/>
              <a:ext cx="3213259" cy="298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80"/>
                </a:lnSpc>
                <a:spcBef>
                  <a:spcPct val="0"/>
                </a:spcBef>
              </a:pPr>
              <a:r>
                <a:rPr lang="en-US" sz="1400" i="true">
                  <a:solidFill>
                    <a:srgbClr val="FFFFFF"/>
                  </a:solidFill>
                  <a:latin typeface="Arimo Italics"/>
                  <a:ea typeface="Arimo Italics"/>
                  <a:cs typeface="Arimo Italics"/>
                  <a:sym typeface="Arimo Italics"/>
                </a:rPr>
                <a:t>Can it respond fast enough?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843965" y="1767713"/>
            <a:ext cx="3706451" cy="3375787"/>
            <a:chOff x="0" y="0"/>
            <a:chExt cx="4941934" cy="4501050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413567" y="386250"/>
              <a:ext cx="4114800" cy="4114800"/>
              <a:chOff x="0" y="0"/>
              <a:chExt cx="812800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941934" cy="1210774"/>
            </a:xfrm>
            <a:custGeom>
              <a:avLst/>
              <a:gdLst/>
              <a:ahLst/>
              <a:cxnLst/>
              <a:rect r="r" b="b" t="t" l="l"/>
              <a:pathLst>
                <a:path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565795" y="11600"/>
              <a:ext cx="4114800" cy="730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SCALABILITY &amp; DEPLOYMENT FEASIBILITY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718195" y="1052024"/>
              <a:ext cx="3213259" cy="298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80"/>
                </a:lnSpc>
                <a:spcBef>
                  <a:spcPct val="0"/>
                </a:spcBef>
              </a:pPr>
              <a:r>
                <a:rPr lang="en-US" sz="1400" i="true">
                  <a:solidFill>
                    <a:srgbClr val="FFFFFF"/>
                  </a:solidFill>
                  <a:latin typeface="Arimo Italics"/>
                  <a:ea typeface="Arimo Italics"/>
                  <a:cs typeface="Arimo Italics"/>
                  <a:sym typeface="Arimo Italics"/>
                </a:rPr>
                <a:t>Can it grow city-wide?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375300" y="1767713"/>
            <a:ext cx="3706451" cy="3375787"/>
            <a:chOff x="0" y="0"/>
            <a:chExt cx="4941934" cy="450105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413567" y="386250"/>
              <a:ext cx="4114800" cy="4114800"/>
              <a:chOff x="0" y="0"/>
              <a:chExt cx="812800" cy="8128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941934" cy="1210774"/>
            </a:xfrm>
            <a:custGeom>
              <a:avLst/>
              <a:gdLst/>
              <a:ahLst/>
              <a:cxnLst/>
              <a:rect r="r" b="b" t="t" l="l"/>
              <a:pathLst>
                <a:path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 rot="0">
              <a:off x="565795" y="11600"/>
              <a:ext cx="4114800" cy="730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REAL-WORLD VALIDATION FEASIBILITY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8195" y="1052024"/>
              <a:ext cx="3213259" cy="577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80"/>
                </a:lnSpc>
                <a:spcBef>
                  <a:spcPct val="0"/>
                </a:spcBef>
              </a:pPr>
              <a:r>
                <a:rPr lang="en-US" sz="1400" i="true">
                  <a:solidFill>
                    <a:srgbClr val="FFFFFF"/>
                  </a:solidFill>
                  <a:latin typeface="Arimo Italics"/>
                  <a:ea typeface="Arimo Italics"/>
                  <a:cs typeface="Arimo Italics"/>
                  <a:sym typeface="Arimo Italics"/>
                </a:rPr>
                <a:t>Has it been tested against realistic conditions?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3881713" y="1767713"/>
            <a:ext cx="3706451" cy="3375787"/>
            <a:chOff x="0" y="0"/>
            <a:chExt cx="4941934" cy="4501050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413567" y="386250"/>
              <a:ext cx="4114800" cy="4114800"/>
              <a:chOff x="0" y="0"/>
              <a:chExt cx="8128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941934" cy="1210774"/>
            </a:xfrm>
            <a:custGeom>
              <a:avLst/>
              <a:gdLst/>
              <a:ahLst/>
              <a:cxnLst/>
              <a:rect r="r" b="b" t="t" l="l"/>
              <a:pathLst>
                <a:path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 rot="0">
              <a:off x="565795" y="11600"/>
              <a:ext cx="4114800" cy="730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RISK-RESILIENT SYSTEM DESIGN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718195" y="1052024"/>
              <a:ext cx="3213259" cy="577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80"/>
                </a:lnSpc>
                <a:spcBef>
                  <a:spcPct val="0"/>
                </a:spcBef>
              </a:pPr>
              <a:r>
                <a:rPr lang="en-US" sz="1400" i="true">
                  <a:solidFill>
                    <a:srgbClr val="FFFFFF"/>
                  </a:solidFill>
                  <a:latin typeface="Arimo Italics"/>
                  <a:ea typeface="Arimo Italics"/>
                  <a:cs typeface="Arimo Italics"/>
                  <a:sym typeface="Arimo Italics"/>
                </a:rPr>
                <a:t>Can it handle imperfect conditions?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476841" y="5296136"/>
            <a:ext cx="1609041" cy="1609041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/>
              <a:stretch>
                <a:fillRect l="-123597" t="0" r="-2671" b="0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</p:grpSp>
      <p:sp>
        <p:nvSpPr>
          <p:cNvPr name="Freeform 45" id="45"/>
          <p:cNvSpPr/>
          <p:nvPr/>
        </p:nvSpPr>
        <p:spPr>
          <a:xfrm flipH="false" flipV="false" rot="0">
            <a:off x="2992842" y="6046971"/>
            <a:ext cx="497143" cy="139200"/>
          </a:xfrm>
          <a:custGeom>
            <a:avLst/>
            <a:gdLst/>
            <a:ahLst/>
            <a:cxnLst/>
            <a:rect r="r" b="b" t="t" l="l"/>
            <a:pathLst>
              <a:path h="139200" w="497143">
                <a:moveTo>
                  <a:pt x="0" y="0"/>
                </a:moveTo>
                <a:lnTo>
                  <a:pt x="497143" y="0"/>
                </a:lnTo>
                <a:lnTo>
                  <a:pt x="497143" y="139200"/>
                </a:lnTo>
                <a:lnTo>
                  <a:pt x="0" y="1392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7075121" y="6072410"/>
            <a:ext cx="430339" cy="120495"/>
          </a:xfrm>
          <a:custGeom>
            <a:avLst/>
            <a:gdLst/>
            <a:ahLst/>
            <a:cxnLst/>
            <a:rect r="r" b="b" t="t" l="l"/>
            <a:pathLst>
              <a:path h="120495" w="430339">
                <a:moveTo>
                  <a:pt x="0" y="0"/>
                </a:moveTo>
                <a:lnTo>
                  <a:pt x="430339" y="0"/>
                </a:lnTo>
                <a:lnTo>
                  <a:pt x="430339" y="120495"/>
                </a:lnTo>
                <a:lnTo>
                  <a:pt x="0" y="1204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5333531" y="5541256"/>
            <a:ext cx="1967795" cy="1180304"/>
            <a:chOff x="0" y="0"/>
            <a:chExt cx="582488" cy="34938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82488" cy="349383"/>
            </a:xfrm>
            <a:custGeom>
              <a:avLst/>
              <a:gdLst/>
              <a:ahLst/>
              <a:cxnLst/>
              <a:rect r="r" b="b" t="t" l="l"/>
              <a:pathLst>
                <a:path h="349383" w="582488">
                  <a:moveTo>
                    <a:pt x="76842" y="0"/>
                  </a:moveTo>
                  <a:lnTo>
                    <a:pt x="505646" y="0"/>
                  </a:lnTo>
                  <a:cubicBezTo>
                    <a:pt x="526026" y="0"/>
                    <a:pt x="545571" y="8096"/>
                    <a:pt x="559982" y="22507"/>
                  </a:cubicBezTo>
                  <a:cubicBezTo>
                    <a:pt x="574392" y="36917"/>
                    <a:pt x="582488" y="56462"/>
                    <a:pt x="582488" y="76842"/>
                  </a:cubicBezTo>
                  <a:lnTo>
                    <a:pt x="582488" y="272541"/>
                  </a:lnTo>
                  <a:cubicBezTo>
                    <a:pt x="582488" y="292920"/>
                    <a:pt x="574392" y="312465"/>
                    <a:pt x="559982" y="326876"/>
                  </a:cubicBezTo>
                  <a:cubicBezTo>
                    <a:pt x="545571" y="341287"/>
                    <a:pt x="526026" y="349383"/>
                    <a:pt x="505646" y="349383"/>
                  </a:cubicBezTo>
                  <a:lnTo>
                    <a:pt x="76842" y="349383"/>
                  </a:lnTo>
                  <a:cubicBezTo>
                    <a:pt x="56462" y="349383"/>
                    <a:pt x="36917" y="341287"/>
                    <a:pt x="22507" y="326876"/>
                  </a:cubicBezTo>
                  <a:cubicBezTo>
                    <a:pt x="8096" y="312465"/>
                    <a:pt x="0" y="292920"/>
                    <a:pt x="0" y="272541"/>
                  </a:cubicBezTo>
                  <a:lnTo>
                    <a:pt x="0" y="76842"/>
                  </a:lnTo>
                  <a:cubicBezTo>
                    <a:pt x="0" y="56462"/>
                    <a:pt x="8096" y="36917"/>
                    <a:pt x="22507" y="22507"/>
                  </a:cubicBezTo>
                  <a:cubicBezTo>
                    <a:pt x="36917" y="8096"/>
                    <a:pt x="56462" y="0"/>
                    <a:pt x="7684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D0E2F7"/>
              </a:solidFill>
              <a:prstDash val="solid"/>
              <a:round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582488" cy="368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50" id="50"/>
          <p:cNvSpPr/>
          <p:nvPr/>
        </p:nvSpPr>
        <p:spPr>
          <a:xfrm flipH="false" flipV="false" rot="0">
            <a:off x="5010671" y="6079977"/>
            <a:ext cx="322860" cy="90401"/>
          </a:xfrm>
          <a:custGeom>
            <a:avLst/>
            <a:gdLst/>
            <a:ahLst/>
            <a:cxnLst/>
            <a:rect r="r" b="b" t="t" l="l"/>
            <a:pathLst>
              <a:path h="90401" w="322860">
                <a:moveTo>
                  <a:pt x="0" y="0"/>
                </a:moveTo>
                <a:lnTo>
                  <a:pt x="322860" y="0"/>
                </a:lnTo>
                <a:lnTo>
                  <a:pt x="322860" y="90401"/>
                </a:lnTo>
                <a:lnTo>
                  <a:pt x="0" y="9040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1" id="51"/>
          <p:cNvGrpSpPr/>
          <p:nvPr/>
        </p:nvGrpSpPr>
        <p:grpSpPr>
          <a:xfrm rot="0">
            <a:off x="6634118" y="7914683"/>
            <a:ext cx="3289255" cy="571367"/>
            <a:chOff x="0" y="0"/>
            <a:chExt cx="744715" cy="12936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44715" cy="129362"/>
            </a:xfrm>
            <a:custGeom>
              <a:avLst/>
              <a:gdLst/>
              <a:ahLst/>
              <a:cxnLst/>
              <a:rect r="r" b="b" t="t" l="l"/>
              <a:pathLst>
                <a:path h="129362" w="744715">
                  <a:moveTo>
                    <a:pt x="45971" y="0"/>
                  </a:moveTo>
                  <a:lnTo>
                    <a:pt x="698745" y="0"/>
                  </a:lnTo>
                  <a:cubicBezTo>
                    <a:pt x="710937" y="0"/>
                    <a:pt x="722630" y="4843"/>
                    <a:pt x="731251" y="13465"/>
                  </a:cubicBezTo>
                  <a:cubicBezTo>
                    <a:pt x="739872" y="22086"/>
                    <a:pt x="744715" y="33779"/>
                    <a:pt x="744715" y="45971"/>
                  </a:cubicBezTo>
                  <a:lnTo>
                    <a:pt x="744715" y="83392"/>
                  </a:lnTo>
                  <a:cubicBezTo>
                    <a:pt x="744715" y="108780"/>
                    <a:pt x="724133" y="129362"/>
                    <a:pt x="698745" y="129362"/>
                  </a:cubicBezTo>
                  <a:lnTo>
                    <a:pt x="45971" y="129362"/>
                  </a:lnTo>
                  <a:cubicBezTo>
                    <a:pt x="33779" y="129362"/>
                    <a:pt x="22086" y="124519"/>
                    <a:pt x="13465" y="115898"/>
                  </a:cubicBezTo>
                  <a:cubicBezTo>
                    <a:pt x="4843" y="107277"/>
                    <a:pt x="0" y="95584"/>
                    <a:pt x="0" y="83392"/>
                  </a:cubicBezTo>
                  <a:lnTo>
                    <a:pt x="0" y="45971"/>
                  </a:lnTo>
                  <a:cubicBezTo>
                    <a:pt x="0" y="33779"/>
                    <a:pt x="4843" y="22086"/>
                    <a:pt x="13465" y="13465"/>
                  </a:cubicBezTo>
                  <a:cubicBezTo>
                    <a:pt x="22086" y="4843"/>
                    <a:pt x="33779" y="0"/>
                    <a:pt x="45971" y="0"/>
                  </a:cubicBezTo>
                  <a:close/>
                </a:path>
              </a:pathLst>
            </a:custGeom>
            <a:solidFill>
              <a:srgbClr val="E4E7D5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9050"/>
              <a:ext cx="744715" cy="1484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54" id="54"/>
          <p:cNvSpPr/>
          <p:nvPr/>
        </p:nvSpPr>
        <p:spPr>
          <a:xfrm>
            <a:off x="9435454" y="7587866"/>
            <a:ext cx="1032055" cy="326818"/>
          </a:xfrm>
          <a:custGeom>
            <a:avLst/>
            <a:gdLst/>
            <a:ahLst/>
            <a:cxnLst/>
            <a:rect r="r" b="b" t="t" l="l"/>
            <a:pathLst>
              <a:path h="326818" w="1032055">
                <a:moveTo>
                  <a:pt x="0" y="326818"/>
                </a:moveTo>
                <a:lnTo>
                  <a:pt x="0" y="163409"/>
                </a:lnTo>
                <a:cubicBezTo>
                  <a:pt x="0" y="73160"/>
                  <a:pt x="73161" y="0"/>
                  <a:pt x="163410" y="0"/>
                </a:cubicBezTo>
                <a:lnTo>
                  <a:pt x="1010973" y="0"/>
                </a:lnTo>
                <a:cubicBezTo>
                  <a:pt x="1022616" y="0"/>
                  <a:pt x="1032055" y="9438"/>
                  <a:pt x="1032055" y="21082"/>
                </a:cubicBezTo>
                <a:lnTo>
                  <a:pt x="1032055" y="42164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5" id="55"/>
          <p:cNvSpPr/>
          <p:nvPr/>
        </p:nvSpPr>
        <p:spPr>
          <a:xfrm>
            <a:off x="9435454" y="8486050"/>
            <a:ext cx="1032055" cy="318958"/>
          </a:xfrm>
          <a:custGeom>
            <a:avLst/>
            <a:gdLst/>
            <a:ahLst/>
            <a:cxnLst/>
            <a:rect r="r" b="b" t="t" l="l"/>
            <a:pathLst>
              <a:path h="318958" w="1032055">
                <a:moveTo>
                  <a:pt x="0" y="0"/>
                </a:moveTo>
                <a:lnTo>
                  <a:pt x="0" y="159480"/>
                </a:lnTo>
                <a:cubicBezTo>
                  <a:pt x="0" y="201776"/>
                  <a:pt x="16802" y="242340"/>
                  <a:pt x="46711" y="272248"/>
                </a:cubicBezTo>
                <a:cubicBezTo>
                  <a:pt x="76619" y="302156"/>
                  <a:pt x="117183" y="318958"/>
                  <a:pt x="159480" y="318958"/>
                </a:cubicBezTo>
                <a:lnTo>
                  <a:pt x="1032055" y="318958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6" id="56"/>
          <p:cNvSpPr/>
          <p:nvPr/>
        </p:nvSpPr>
        <p:spPr>
          <a:xfrm>
            <a:off x="5969653" y="8486050"/>
            <a:ext cx="907612" cy="318958"/>
          </a:xfrm>
          <a:custGeom>
            <a:avLst/>
            <a:gdLst/>
            <a:ahLst/>
            <a:cxnLst/>
            <a:rect r="r" b="b" t="t" l="l"/>
            <a:pathLst>
              <a:path h="318958" w="907612">
                <a:moveTo>
                  <a:pt x="907612" y="0"/>
                </a:moveTo>
                <a:lnTo>
                  <a:pt x="907612" y="159480"/>
                </a:lnTo>
                <a:cubicBezTo>
                  <a:pt x="907612" y="201776"/>
                  <a:pt x="890810" y="242340"/>
                  <a:pt x="860902" y="272248"/>
                </a:cubicBezTo>
                <a:cubicBezTo>
                  <a:pt x="830994" y="302156"/>
                  <a:pt x="790430" y="318958"/>
                  <a:pt x="748134" y="318958"/>
                </a:cubicBezTo>
                <a:lnTo>
                  <a:pt x="0" y="318958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7" id="57"/>
          <p:cNvSpPr/>
          <p:nvPr/>
        </p:nvSpPr>
        <p:spPr>
          <a:xfrm>
            <a:off x="5917668" y="7712487"/>
            <a:ext cx="959598" cy="202197"/>
          </a:xfrm>
          <a:custGeom>
            <a:avLst/>
            <a:gdLst/>
            <a:ahLst/>
            <a:cxnLst/>
            <a:rect r="r" b="b" t="t" l="l"/>
            <a:pathLst>
              <a:path h="202197" w="959598">
                <a:moveTo>
                  <a:pt x="959597" y="202197"/>
                </a:moveTo>
                <a:lnTo>
                  <a:pt x="959597" y="132831"/>
                </a:lnTo>
                <a:cubicBezTo>
                  <a:pt x="959597" y="114434"/>
                  <a:pt x="952289" y="96790"/>
                  <a:pt x="939281" y="83781"/>
                </a:cubicBezTo>
                <a:cubicBezTo>
                  <a:pt x="926272" y="70773"/>
                  <a:pt x="908629" y="63465"/>
                  <a:pt x="890232" y="63465"/>
                </a:cubicBezTo>
                <a:lnTo>
                  <a:pt x="31732" y="63465"/>
                </a:lnTo>
                <a:cubicBezTo>
                  <a:pt x="14207" y="63465"/>
                  <a:pt x="0" y="49258"/>
                  <a:pt x="0" y="31733"/>
                </a:cubicBezTo>
                <a:lnTo>
                  <a:pt x="0" y="0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8" id="58"/>
          <p:cNvGrpSpPr/>
          <p:nvPr/>
        </p:nvGrpSpPr>
        <p:grpSpPr>
          <a:xfrm rot="0">
            <a:off x="10392046" y="7282745"/>
            <a:ext cx="2804665" cy="917622"/>
            <a:chOff x="0" y="0"/>
            <a:chExt cx="635000" cy="207757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35000" cy="207757"/>
            </a:xfrm>
            <a:custGeom>
              <a:avLst/>
              <a:gdLst/>
              <a:ahLst/>
              <a:cxnLst/>
              <a:rect r="r" b="b" t="t" l="l"/>
              <a:pathLst>
                <a:path h="207757" w="635000">
                  <a:moveTo>
                    <a:pt x="53914" y="0"/>
                  </a:moveTo>
                  <a:lnTo>
                    <a:pt x="581086" y="0"/>
                  </a:lnTo>
                  <a:cubicBezTo>
                    <a:pt x="595385" y="0"/>
                    <a:pt x="609098" y="5680"/>
                    <a:pt x="619209" y="15791"/>
                  </a:cubicBezTo>
                  <a:cubicBezTo>
                    <a:pt x="629320" y="25902"/>
                    <a:pt x="635000" y="39615"/>
                    <a:pt x="635000" y="53914"/>
                  </a:cubicBezTo>
                  <a:lnTo>
                    <a:pt x="635000" y="153844"/>
                  </a:lnTo>
                  <a:cubicBezTo>
                    <a:pt x="635000" y="168143"/>
                    <a:pt x="629320" y="181856"/>
                    <a:pt x="619209" y="191966"/>
                  </a:cubicBezTo>
                  <a:cubicBezTo>
                    <a:pt x="609098" y="202077"/>
                    <a:pt x="595385" y="207757"/>
                    <a:pt x="581086" y="207757"/>
                  </a:cubicBezTo>
                  <a:lnTo>
                    <a:pt x="53914" y="207757"/>
                  </a:lnTo>
                  <a:cubicBezTo>
                    <a:pt x="39615" y="207757"/>
                    <a:pt x="25902" y="202077"/>
                    <a:pt x="15791" y="191966"/>
                  </a:cubicBezTo>
                  <a:cubicBezTo>
                    <a:pt x="5680" y="181856"/>
                    <a:pt x="0" y="168143"/>
                    <a:pt x="0" y="153844"/>
                  </a:cubicBezTo>
                  <a:lnTo>
                    <a:pt x="0" y="53914"/>
                  </a:lnTo>
                  <a:cubicBezTo>
                    <a:pt x="0" y="39615"/>
                    <a:pt x="5680" y="25902"/>
                    <a:pt x="15791" y="15791"/>
                  </a:cubicBezTo>
                  <a:cubicBezTo>
                    <a:pt x="25902" y="5680"/>
                    <a:pt x="39615" y="0"/>
                    <a:pt x="53914" y="0"/>
                  </a:cubicBezTo>
                  <a:close/>
                </a:path>
              </a:pathLst>
            </a:custGeom>
            <a:solidFill>
              <a:srgbClr val="D0E2F7"/>
            </a:solidFill>
            <a:ln w="38100" cap="rnd">
              <a:solidFill>
                <a:srgbClr val="AFD8F8"/>
              </a:solidFill>
              <a:prstDash val="solid"/>
              <a:round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0" y="-19050"/>
              <a:ext cx="635000" cy="22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3113003" y="7303995"/>
            <a:ext cx="2804665" cy="816982"/>
            <a:chOff x="0" y="0"/>
            <a:chExt cx="635000" cy="18497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35000" cy="184972"/>
            </a:xfrm>
            <a:custGeom>
              <a:avLst/>
              <a:gdLst/>
              <a:ahLst/>
              <a:cxnLst/>
              <a:rect r="r" b="b" t="t" l="l"/>
              <a:pathLst>
                <a:path h="184972" w="635000">
                  <a:moveTo>
                    <a:pt x="53914" y="0"/>
                  </a:moveTo>
                  <a:lnTo>
                    <a:pt x="581086" y="0"/>
                  </a:lnTo>
                  <a:cubicBezTo>
                    <a:pt x="595385" y="0"/>
                    <a:pt x="609098" y="5680"/>
                    <a:pt x="619209" y="15791"/>
                  </a:cubicBezTo>
                  <a:cubicBezTo>
                    <a:pt x="629320" y="25902"/>
                    <a:pt x="635000" y="39615"/>
                    <a:pt x="635000" y="53914"/>
                  </a:cubicBezTo>
                  <a:lnTo>
                    <a:pt x="635000" y="131058"/>
                  </a:lnTo>
                  <a:cubicBezTo>
                    <a:pt x="635000" y="160834"/>
                    <a:pt x="610862" y="184972"/>
                    <a:pt x="581086" y="184972"/>
                  </a:cubicBezTo>
                  <a:lnTo>
                    <a:pt x="53914" y="184972"/>
                  </a:lnTo>
                  <a:cubicBezTo>
                    <a:pt x="39615" y="184972"/>
                    <a:pt x="25902" y="179291"/>
                    <a:pt x="15791" y="169181"/>
                  </a:cubicBezTo>
                  <a:cubicBezTo>
                    <a:pt x="5680" y="159070"/>
                    <a:pt x="0" y="145357"/>
                    <a:pt x="0" y="131058"/>
                  </a:cubicBezTo>
                  <a:lnTo>
                    <a:pt x="0" y="53914"/>
                  </a:lnTo>
                  <a:cubicBezTo>
                    <a:pt x="0" y="39615"/>
                    <a:pt x="5680" y="25902"/>
                    <a:pt x="15791" y="15791"/>
                  </a:cubicBezTo>
                  <a:cubicBezTo>
                    <a:pt x="25902" y="5680"/>
                    <a:pt x="39615" y="0"/>
                    <a:pt x="53914" y="0"/>
                  </a:cubicBezTo>
                  <a:close/>
                </a:path>
              </a:pathLst>
            </a:custGeom>
            <a:solidFill>
              <a:srgbClr val="D0E2F7"/>
            </a:solidFill>
            <a:ln w="38100" cap="rnd">
              <a:solidFill>
                <a:srgbClr val="AFD8F8"/>
              </a:solidFill>
              <a:prstDash val="solid"/>
              <a:round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635000" cy="2040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2807390" y="8486050"/>
            <a:ext cx="3264811" cy="898590"/>
            <a:chOff x="0" y="0"/>
            <a:chExt cx="739181" cy="20344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9181" cy="203448"/>
            </a:xfrm>
            <a:custGeom>
              <a:avLst/>
              <a:gdLst/>
              <a:ahLst/>
              <a:cxnLst/>
              <a:rect r="r" b="b" t="t" l="l"/>
              <a:pathLst>
                <a:path h="203448" w="739181">
                  <a:moveTo>
                    <a:pt x="46315" y="0"/>
                  </a:moveTo>
                  <a:lnTo>
                    <a:pt x="692866" y="0"/>
                  </a:lnTo>
                  <a:cubicBezTo>
                    <a:pt x="718445" y="0"/>
                    <a:pt x="739181" y="20736"/>
                    <a:pt x="739181" y="46315"/>
                  </a:cubicBezTo>
                  <a:lnTo>
                    <a:pt x="739181" y="157134"/>
                  </a:lnTo>
                  <a:cubicBezTo>
                    <a:pt x="739181" y="182713"/>
                    <a:pt x="718445" y="203448"/>
                    <a:pt x="692866" y="203448"/>
                  </a:cubicBezTo>
                  <a:lnTo>
                    <a:pt x="46315" y="203448"/>
                  </a:lnTo>
                  <a:cubicBezTo>
                    <a:pt x="34031" y="203448"/>
                    <a:pt x="22251" y="198569"/>
                    <a:pt x="13565" y="189883"/>
                  </a:cubicBezTo>
                  <a:cubicBezTo>
                    <a:pt x="4880" y="181197"/>
                    <a:pt x="0" y="169417"/>
                    <a:pt x="0" y="157134"/>
                  </a:cubicBezTo>
                  <a:lnTo>
                    <a:pt x="0" y="46315"/>
                  </a:lnTo>
                  <a:cubicBezTo>
                    <a:pt x="0" y="34031"/>
                    <a:pt x="4880" y="22251"/>
                    <a:pt x="13565" y="13565"/>
                  </a:cubicBezTo>
                  <a:cubicBezTo>
                    <a:pt x="22251" y="4880"/>
                    <a:pt x="34031" y="0"/>
                    <a:pt x="46315" y="0"/>
                  </a:cubicBezTo>
                  <a:close/>
                </a:path>
              </a:pathLst>
            </a:custGeom>
            <a:solidFill>
              <a:srgbClr val="D0E2F7"/>
            </a:solidFill>
            <a:ln w="38100" cap="rnd">
              <a:solidFill>
                <a:srgbClr val="AFD8F8"/>
              </a:solidFill>
              <a:prstDash val="solid"/>
              <a:round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739181" cy="2224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0460137" y="8356181"/>
            <a:ext cx="2623680" cy="959785"/>
            <a:chOff x="0" y="0"/>
            <a:chExt cx="594023" cy="217304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594023" cy="217304"/>
            </a:xfrm>
            <a:custGeom>
              <a:avLst/>
              <a:gdLst/>
              <a:ahLst/>
              <a:cxnLst/>
              <a:rect r="r" b="b" t="t" l="l"/>
              <a:pathLst>
                <a:path h="217304" w="594023">
                  <a:moveTo>
                    <a:pt x="57633" y="0"/>
                  </a:moveTo>
                  <a:lnTo>
                    <a:pt x="536391" y="0"/>
                  </a:lnTo>
                  <a:cubicBezTo>
                    <a:pt x="551676" y="0"/>
                    <a:pt x="566335" y="6072"/>
                    <a:pt x="577143" y="16880"/>
                  </a:cubicBezTo>
                  <a:cubicBezTo>
                    <a:pt x="587951" y="27688"/>
                    <a:pt x="594023" y="42347"/>
                    <a:pt x="594023" y="57633"/>
                  </a:cubicBezTo>
                  <a:lnTo>
                    <a:pt x="594023" y="159671"/>
                  </a:lnTo>
                  <a:cubicBezTo>
                    <a:pt x="594023" y="174956"/>
                    <a:pt x="587951" y="189615"/>
                    <a:pt x="577143" y="200423"/>
                  </a:cubicBezTo>
                  <a:cubicBezTo>
                    <a:pt x="566335" y="211232"/>
                    <a:pt x="551676" y="217304"/>
                    <a:pt x="536391" y="217304"/>
                  </a:cubicBezTo>
                  <a:lnTo>
                    <a:pt x="57633" y="217304"/>
                  </a:lnTo>
                  <a:cubicBezTo>
                    <a:pt x="42347" y="217304"/>
                    <a:pt x="27688" y="211232"/>
                    <a:pt x="16880" y="200423"/>
                  </a:cubicBezTo>
                  <a:cubicBezTo>
                    <a:pt x="6072" y="189615"/>
                    <a:pt x="0" y="174956"/>
                    <a:pt x="0" y="159671"/>
                  </a:cubicBezTo>
                  <a:lnTo>
                    <a:pt x="0" y="57633"/>
                  </a:lnTo>
                  <a:cubicBezTo>
                    <a:pt x="0" y="42347"/>
                    <a:pt x="6072" y="27688"/>
                    <a:pt x="16880" y="16880"/>
                  </a:cubicBezTo>
                  <a:cubicBezTo>
                    <a:pt x="27688" y="6072"/>
                    <a:pt x="42347" y="0"/>
                    <a:pt x="57633" y="0"/>
                  </a:cubicBezTo>
                  <a:close/>
                </a:path>
              </a:pathLst>
            </a:custGeom>
            <a:solidFill>
              <a:srgbClr val="D0E2F7"/>
            </a:solidFill>
            <a:ln w="38100" cap="rnd">
              <a:solidFill>
                <a:srgbClr val="AFD8F8"/>
              </a:solidFill>
              <a:prstDash val="solid"/>
              <a:round/>
            </a:ln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594023" cy="236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70" id="70"/>
          <p:cNvSpPr/>
          <p:nvPr/>
        </p:nvSpPr>
        <p:spPr>
          <a:xfrm>
            <a:off x="13083817" y="8836074"/>
            <a:ext cx="649590" cy="245594"/>
          </a:xfrm>
          <a:custGeom>
            <a:avLst/>
            <a:gdLst/>
            <a:ahLst/>
            <a:cxnLst/>
            <a:rect r="r" b="b" t="t" l="l"/>
            <a:pathLst>
              <a:path h="245594" w="649590">
                <a:moveTo>
                  <a:pt x="0" y="0"/>
                </a:moveTo>
                <a:lnTo>
                  <a:pt x="103877" y="0"/>
                </a:lnTo>
                <a:cubicBezTo>
                  <a:pt x="131426" y="0"/>
                  <a:pt x="157848" y="10944"/>
                  <a:pt x="177329" y="30424"/>
                </a:cubicBezTo>
                <a:cubicBezTo>
                  <a:pt x="196810" y="49905"/>
                  <a:pt x="207753" y="76327"/>
                  <a:pt x="207753" y="103876"/>
                </a:cubicBezTo>
                <a:lnTo>
                  <a:pt x="207753" y="122797"/>
                </a:lnTo>
                <a:cubicBezTo>
                  <a:pt x="207753" y="190615"/>
                  <a:pt x="262731" y="245593"/>
                  <a:pt x="330550" y="245593"/>
                </a:cubicBezTo>
                <a:lnTo>
                  <a:pt x="649590" y="245593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1" id="71"/>
          <p:cNvGrpSpPr/>
          <p:nvPr/>
        </p:nvGrpSpPr>
        <p:grpSpPr>
          <a:xfrm rot="0">
            <a:off x="13733406" y="7282745"/>
            <a:ext cx="2623680" cy="2101895"/>
            <a:chOff x="0" y="0"/>
            <a:chExt cx="594023" cy="475887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94023" cy="475887"/>
            </a:xfrm>
            <a:custGeom>
              <a:avLst/>
              <a:gdLst/>
              <a:ahLst/>
              <a:cxnLst/>
              <a:rect r="r" b="b" t="t" l="l"/>
              <a:pathLst>
                <a:path h="475887" w="594023">
                  <a:moveTo>
                    <a:pt x="57633" y="0"/>
                  </a:moveTo>
                  <a:lnTo>
                    <a:pt x="536391" y="0"/>
                  </a:lnTo>
                  <a:cubicBezTo>
                    <a:pt x="551676" y="0"/>
                    <a:pt x="566335" y="6072"/>
                    <a:pt x="577143" y="16880"/>
                  </a:cubicBezTo>
                  <a:cubicBezTo>
                    <a:pt x="587951" y="27688"/>
                    <a:pt x="594023" y="42347"/>
                    <a:pt x="594023" y="57633"/>
                  </a:cubicBezTo>
                  <a:lnTo>
                    <a:pt x="594023" y="418254"/>
                  </a:lnTo>
                  <a:cubicBezTo>
                    <a:pt x="594023" y="433539"/>
                    <a:pt x="587951" y="448199"/>
                    <a:pt x="577143" y="459007"/>
                  </a:cubicBezTo>
                  <a:cubicBezTo>
                    <a:pt x="566335" y="469815"/>
                    <a:pt x="551676" y="475887"/>
                    <a:pt x="536391" y="475887"/>
                  </a:cubicBezTo>
                  <a:lnTo>
                    <a:pt x="57633" y="475887"/>
                  </a:lnTo>
                  <a:cubicBezTo>
                    <a:pt x="42347" y="475887"/>
                    <a:pt x="27688" y="469815"/>
                    <a:pt x="16880" y="459007"/>
                  </a:cubicBezTo>
                  <a:cubicBezTo>
                    <a:pt x="6072" y="448199"/>
                    <a:pt x="0" y="433539"/>
                    <a:pt x="0" y="418254"/>
                  </a:cubicBezTo>
                  <a:lnTo>
                    <a:pt x="0" y="57633"/>
                  </a:lnTo>
                  <a:cubicBezTo>
                    <a:pt x="0" y="42347"/>
                    <a:pt x="6072" y="27688"/>
                    <a:pt x="16880" y="16880"/>
                  </a:cubicBezTo>
                  <a:cubicBezTo>
                    <a:pt x="27688" y="6072"/>
                    <a:pt x="42347" y="0"/>
                    <a:pt x="57633" y="0"/>
                  </a:cubicBezTo>
                  <a:close/>
                </a:path>
              </a:pathLst>
            </a:custGeom>
            <a:solidFill>
              <a:srgbClr val="D0E2F7"/>
            </a:solidFill>
            <a:ln w="38100" cap="rnd">
              <a:solidFill>
                <a:srgbClr val="0070C0"/>
              </a:solidFill>
              <a:prstDash val="solid"/>
              <a:round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0" y="-19050"/>
              <a:ext cx="594023" cy="494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6824067" y="9620767"/>
            <a:ext cx="4806001" cy="547688"/>
            <a:chOff x="0" y="0"/>
            <a:chExt cx="6408001" cy="73025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</a:p>
          </p:txBody>
        </p:sp>
      </p:grpSp>
      <p:sp>
        <p:nvSpPr>
          <p:cNvPr name="Freeform 77" id="77"/>
          <p:cNvSpPr/>
          <p:nvPr/>
        </p:nvSpPr>
        <p:spPr>
          <a:xfrm flipH="false" flipV="false" rot="0">
            <a:off x="100611" y="5314501"/>
            <a:ext cx="3061904" cy="1530952"/>
          </a:xfrm>
          <a:custGeom>
            <a:avLst/>
            <a:gdLst/>
            <a:ahLst/>
            <a:cxnLst/>
            <a:rect r="r" b="b" t="t" l="l"/>
            <a:pathLst>
              <a:path h="1530952" w="3061904">
                <a:moveTo>
                  <a:pt x="0" y="0"/>
                </a:moveTo>
                <a:lnTo>
                  <a:pt x="3061905" y="0"/>
                </a:lnTo>
                <a:lnTo>
                  <a:pt x="3061905" y="1530952"/>
                </a:lnTo>
                <a:lnTo>
                  <a:pt x="0" y="15309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  <a:ln w="952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78" id="78"/>
          <p:cNvSpPr/>
          <p:nvPr/>
        </p:nvSpPr>
        <p:spPr>
          <a:xfrm flipH="false" flipV="false" rot="0">
            <a:off x="10804249" y="6068575"/>
            <a:ext cx="424277" cy="118797"/>
          </a:xfrm>
          <a:custGeom>
            <a:avLst/>
            <a:gdLst/>
            <a:ahLst/>
            <a:cxnLst/>
            <a:rect r="r" b="b" t="t" l="l"/>
            <a:pathLst>
              <a:path h="118797" w="424277">
                <a:moveTo>
                  <a:pt x="0" y="0"/>
                </a:moveTo>
                <a:lnTo>
                  <a:pt x="424277" y="0"/>
                </a:lnTo>
                <a:lnTo>
                  <a:pt x="424277" y="118797"/>
                </a:lnTo>
                <a:lnTo>
                  <a:pt x="0" y="11879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0">
            <a:off x="7463252" y="5256167"/>
            <a:ext cx="3573640" cy="1786820"/>
          </a:xfrm>
          <a:custGeom>
            <a:avLst/>
            <a:gdLst/>
            <a:ahLst/>
            <a:cxnLst/>
            <a:rect r="r" b="b" t="t" l="l"/>
            <a:pathLst>
              <a:path h="1786820" w="3573640">
                <a:moveTo>
                  <a:pt x="0" y="0"/>
                </a:moveTo>
                <a:lnTo>
                  <a:pt x="3573640" y="0"/>
                </a:lnTo>
                <a:lnTo>
                  <a:pt x="3573640" y="1786820"/>
                </a:lnTo>
                <a:lnTo>
                  <a:pt x="0" y="178682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  <a:ln w="952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0" id="80"/>
          <p:cNvSpPr/>
          <p:nvPr/>
        </p:nvSpPr>
        <p:spPr>
          <a:xfrm flipH="false" flipV="false" rot="0">
            <a:off x="14367626" y="6020579"/>
            <a:ext cx="342829" cy="95992"/>
          </a:xfrm>
          <a:custGeom>
            <a:avLst/>
            <a:gdLst/>
            <a:ahLst/>
            <a:cxnLst/>
            <a:rect r="r" b="b" t="t" l="l"/>
            <a:pathLst>
              <a:path h="95992" w="342829">
                <a:moveTo>
                  <a:pt x="0" y="0"/>
                </a:moveTo>
                <a:lnTo>
                  <a:pt x="342829" y="0"/>
                </a:lnTo>
                <a:lnTo>
                  <a:pt x="342829" y="95992"/>
                </a:lnTo>
                <a:lnTo>
                  <a:pt x="0" y="959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0">
            <a:off x="11173171" y="5268198"/>
            <a:ext cx="3365870" cy="1682935"/>
          </a:xfrm>
          <a:custGeom>
            <a:avLst/>
            <a:gdLst/>
            <a:ahLst/>
            <a:cxnLst/>
            <a:rect r="r" b="b" t="t" l="l"/>
            <a:pathLst>
              <a:path h="1682935" w="3365870">
                <a:moveTo>
                  <a:pt x="0" y="0"/>
                </a:moveTo>
                <a:lnTo>
                  <a:pt x="3365870" y="0"/>
                </a:lnTo>
                <a:lnTo>
                  <a:pt x="3365870" y="1682935"/>
                </a:lnTo>
                <a:lnTo>
                  <a:pt x="0" y="16829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  <a:ln w="9525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2" id="82"/>
          <p:cNvSpPr/>
          <p:nvPr/>
        </p:nvSpPr>
        <p:spPr>
          <a:xfrm flipH="false" flipV="false" rot="0">
            <a:off x="14703979" y="5296136"/>
            <a:ext cx="3496968" cy="1748484"/>
          </a:xfrm>
          <a:custGeom>
            <a:avLst/>
            <a:gdLst/>
            <a:ahLst/>
            <a:cxnLst/>
            <a:rect r="r" b="b" t="t" l="l"/>
            <a:pathLst>
              <a:path h="1748484" w="3496968">
                <a:moveTo>
                  <a:pt x="0" y="0"/>
                </a:moveTo>
                <a:lnTo>
                  <a:pt x="3496968" y="0"/>
                </a:lnTo>
                <a:lnTo>
                  <a:pt x="3496968" y="1748484"/>
                </a:lnTo>
                <a:lnTo>
                  <a:pt x="0" y="17484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  <a:ln w="9525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83" id="83"/>
          <p:cNvSpPr txBox="true"/>
          <p:nvPr/>
        </p:nvSpPr>
        <p:spPr>
          <a:xfrm rot="0">
            <a:off x="1879965" y="1239568"/>
            <a:ext cx="13910549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Built as a modular event-driven system, validated on a realistic Delhi traffic simulation and designed for real camera integration.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00334" y="2981097"/>
            <a:ext cx="2801916" cy="11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0"/>
              </a:lnSpc>
              <a:spcBef>
                <a:spcPct val="0"/>
              </a:spcBef>
            </a:pPr>
            <a:r>
              <a:rPr lang="en-US" b="true" sz="1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</a:t>
            </a:r>
            <a:r>
              <a:rPr lang="en-US" b="true" sz="1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rinetra processes lightweight vehicle</a:t>
            </a:r>
            <a:r>
              <a:rPr lang="en-US" b="true" sz="1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events instead of continuously sending video through the entire system, allowing alerts to be generated quickly a</a:t>
            </a:r>
            <a:r>
              <a:rPr lang="en-US" b="true" sz="1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 vehicles are detected.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800334" y="4255916"/>
            <a:ext cx="264395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8 Redis shards distribute incoming events across processing workers, with a &lt;2 sec target for alert visibility.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5300867" y="2981097"/>
            <a:ext cx="2792647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 system is designed so that additional cameras and processing capacity can be added without redesigning the complete application.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5311944" y="3824059"/>
            <a:ext cx="280593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Architecture targets 1000+ cameras and 10K+ events/sec, with processing workers that can scale horizontally.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9914751" y="3045102"/>
            <a:ext cx="2722855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Instead of validating the system on a small artificial map, Trinetra is tested on a realistic Delhi road network with simulated traffic movement and virtual ANPR checkpoints.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9861233" y="3985984"/>
            <a:ext cx="2829890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~13 × 12 km network</a:t>
            </a:r>
          </a:p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11,955 nodes • 30,510 road edges • 75 signals</a:t>
            </a:r>
          </a:p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~60 virtual ANPR gates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4367626" y="3112706"/>
            <a:ext cx="2845775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  <a:spcBef>
                <a:spcPct val="0"/>
              </a:spcBef>
            </a:pPr>
            <a:r>
              <a:rPr lang="en-US" b="true" sz="11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 system is designed to continue producing reliable intelligence even when camera data is incomplete or ANPR recognition is imperfect.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4358964" y="3932066"/>
            <a:ext cx="2863099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  <a:spcBef>
                <a:spcPct val="0"/>
              </a:spcBef>
            </a:pPr>
            <a:r>
              <a:rPr lang="en-US" b="true" sz="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ANPR Errors       → Confidence + fuzzy matching</a:t>
            </a:r>
          </a:p>
          <a:p>
            <a:pPr algn="l">
              <a:lnSpc>
                <a:spcPts val="1080"/>
              </a:lnSpc>
              <a:spcBef>
                <a:spcPct val="0"/>
              </a:spcBef>
            </a:pPr>
            <a:r>
              <a:rPr lang="en-US" b="true" sz="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Camera Failure    → Health monitoring + alerts</a:t>
            </a:r>
          </a:p>
          <a:p>
            <a:pPr algn="l">
              <a:lnSpc>
                <a:spcPts val="1080"/>
              </a:lnSpc>
              <a:spcBef>
                <a:spcPct val="0"/>
              </a:spcBef>
            </a:pPr>
            <a:r>
              <a:rPr lang="en-US" b="true" sz="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High Event Load   → Sharding + scalable workers</a:t>
            </a:r>
          </a:p>
          <a:p>
            <a:pPr algn="l">
              <a:lnSpc>
                <a:spcPts val="1080"/>
              </a:lnSpc>
              <a:spcBef>
                <a:spcPct val="0"/>
              </a:spcBef>
            </a:pPr>
            <a:r>
              <a:rPr lang="en-US" b="true" sz="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False Clone Flag  → Physics-based validation</a:t>
            </a:r>
          </a:p>
          <a:p>
            <a:pPr algn="l">
              <a:lnSpc>
                <a:spcPts val="1080"/>
              </a:lnSpc>
              <a:spcBef>
                <a:spcPct val="0"/>
              </a:spcBef>
            </a:pPr>
            <a:r>
              <a:rPr lang="en-US" b="true" sz="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Real Deployment   → Common camera contract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5459352" y="5563296"/>
            <a:ext cx="1364715" cy="112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{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"camera_id": "CAM_017",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"ts": "2026-08-26T09:14:32+05:30",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"plate_raw": "DL 8C AB 1234",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"canonical": "DL8CAB1234",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"confidence": 0.93,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"vehicle_class": "private",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"crop_b64": "...",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"ground_truth": "DL8CAB1234"</a:t>
            </a:r>
          </a:p>
          <a:p>
            <a:pPr algn="l">
              <a:lnSpc>
                <a:spcPts val="753"/>
              </a:lnSpc>
              <a:spcBef>
                <a:spcPct val="0"/>
              </a:spcBef>
            </a:pPr>
            <a:r>
              <a:rPr lang="en-US" b="true" sz="628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}</a:t>
            </a:r>
          </a:p>
        </p:txBody>
      </p:sp>
      <p:sp>
        <p:nvSpPr>
          <p:cNvPr name="TextBox 93" id="93"/>
          <p:cNvSpPr txBox="true"/>
          <p:nvPr/>
        </p:nvSpPr>
        <p:spPr>
          <a:xfrm rot="-5400000">
            <a:off x="6472300" y="6066818"/>
            <a:ext cx="1394703" cy="146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1"/>
              </a:lnSpc>
              <a:spcBef>
                <a:spcPct val="0"/>
              </a:spcBef>
            </a:pPr>
            <a:r>
              <a:rPr lang="en-US" b="true" sz="834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 event for a vehicle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6735590" y="8025502"/>
            <a:ext cx="3071931" cy="330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Trinetra is practical ?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0837056" y="8398345"/>
            <a:ext cx="1688859" cy="242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3"/>
              </a:lnSpc>
              <a:spcBef>
                <a:spcPct val="0"/>
              </a:spcBef>
            </a:pP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↓ DATA BURDEN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2883223" y="8549752"/>
            <a:ext cx="3086430" cy="242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3"/>
              </a:lnSpc>
              <a:spcBef>
                <a:spcPct val="0"/>
              </a:spcBef>
            </a:pP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↓ INFRASTRUCTURE CHANGE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1036892" y="7345487"/>
            <a:ext cx="1514974" cy="242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3"/>
              </a:lnSpc>
              <a:spcBef>
                <a:spcPct val="0"/>
              </a:spcBef>
            </a:pP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↑</a:t>
            </a: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 RELIABILITY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3414569" y="7335366"/>
            <a:ext cx="2244922" cy="242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3"/>
              </a:lnSpc>
              <a:spcBef>
                <a:spcPct val="0"/>
              </a:spcBef>
            </a:pP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↑</a:t>
            </a:r>
            <a:r>
              <a:rPr lang="en-US" b="true" sz="1635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 SAFE DEPLOYMENT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0460137" y="8658303"/>
            <a:ext cx="2600791" cy="590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26"/>
              </a:lnSpc>
              <a:spcBef>
                <a:spcPct val="0"/>
              </a:spcBef>
            </a:pP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Event-based architecture</a:t>
            </a:r>
          </a:p>
          <a:p>
            <a:pPr algn="ctr">
              <a:lnSpc>
                <a:spcPts val="1526"/>
              </a:lnSpc>
              <a:spcBef>
                <a:spcPct val="0"/>
              </a:spcBef>
            </a:pP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Only lightweight detection events are centralized.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3126042" y="8794270"/>
            <a:ext cx="2600791" cy="590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26"/>
              </a:lnSpc>
              <a:spcBef>
                <a:spcPct val="0"/>
              </a:spcBef>
            </a:pP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Event-based architecture</a:t>
            </a:r>
          </a:p>
          <a:p>
            <a:pPr algn="ctr">
              <a:lnSpc>
                <a:spcPts val="1526"/>
              </a:lnSpc>
              <a:spcBef>
                <a:spcPct val="0"/>
              </a:spcBef>
            </a:pP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Only lightweight detection events are centralized.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0493983" y="7568816"/>
            <a:ext cx="2600791" cy="538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26"/>
              </a:lnSpc>
              <a:spcBef>
                <a:spcPct val="0"/>
              </a:spcBef>
            </a:pP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One e</a:t>
            </a:r>
            <a:r>
              <a:rPr lang="en-US" sz="127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vent → multiple intelligence</a:t>
            </a:r>
          </a:p>
          <a:p>
            <a:pPr algn="ctr">
              <a:lnSpc>
                <a:spcPts val="1308"/>
              </a:lnSpc>
              <a:spcBef>
                <a:spcPct val="0"/>
              </a:spcBef>
            </a:pPr>
            <a:r>
              <a:rPr lang="en-US" sz="109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The same recorded detection powers trajectory, traffic analytics and alerts.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3241413" y="7558695"/>
            <a:ext cx="2600791" cy="512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8"/>
              </a:lnSpc>
              <a:spcBef>
                <a:spcPct val="0"/>
              </a:spcBef>
            </a:pPr>
            <a:r>
              <a:rPr lang="en-US" sz="109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Digi</a:t>
            </a:r>
            <a:r>
              <a:rPr lang="en-US" sz="109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tal-city validation</a:t>
            </a:r>
          </a:p>
          <a:p>
            <a:pPr algn="ctr">
              <a:lnSpc>
                <a:spcPts val="1308"/>
              </a:lnSpc>
              <a:spcBef>
                <a:spcPct val="0"/>
              </a:spcBef>
            </a:pPr>
            <a:r>
              <a:rPr lang="en-US" sz="109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Real Delhi road geometry enables repeatable testing before real deployment.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3848638" y="7369123"/>
            <a:ext cx="2393217" cy="70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b="true" sz="118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TRADITIONAL APPROACH 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1000 Cameras 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▼ ~3 Gbps VIDEO 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CENTRAL SYSTEM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3710004" y="8208791"/>
            <a:ext cx="2670485" cy="104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17"/>
              </a:lnSpc>
            </a:pP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b="true" sz="118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TRINETRA APPROACH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b="true" sz="118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1000 Cameras 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~2 MB/s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EVENTS plate • time • camera </a:t>
            </a:r>
          </a:p>
          <a:p>
            <a:pPr algn="ctr">
              <a:lnSpc>
                <a:spcPts val="1417"/>
              </a:lnSpc>
              <a:spcBef>
                <a:spcPct val="0"/>
              </a:spcBef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CENTRAL SYSTEM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15581405" y="104891"/>
            <a:ext cx="2494321" cy="1267835"/>
            <a:chOff x="0" y="0"/>
            <a:chExt cx="4418241" cy="2245741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270" t="0" r="-27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704784"/>
            <a:ext cx="18288000" cy="754856"/>
            <a:chOff x="0" y="0"/>
            <a:chExt cx="24384000" cy="100647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245042" y="9739312"/>
            <a:ext cx="4806001" cy="547688"/>
            <a:chOff x="0" y="0"/>
            <a:chExt cx="6408001" cy="7302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    SIH26127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565776" y="9739312"/>
            <a:ext cx="4267200" cy="547688"/>
            <a:chOff x="0" y="0"/>
            <a:chExt cx="5689600" cy="7302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-109764" y="9739312"/>
            <a:ext cx="18463988" cy="754856"/>
            <a:chOff x="0" y="0"/>
            <a:chExt cx="24618651" cy="100647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618651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618651">
                  <a:moveTo>
                    <a:pt x="0" y="0"/>
                  </a:moveTo>
                  <a:lnTo>
                    <a:pt x="24618651" y="0"/>
                  </a:lnTo>
                  <a:lnTo>
                    <a:pt x="24618651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920113" y="9637225"/>
            <a:ext cx="4806001" cy="547688"/>
            <a:chOff x="0" y="0"/>
            <a:chExt cx="6408001" cy="73025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265848" y="9580075"/>
            <a:ext cx="4267200" cy="547688"/>
            <a:chOff x="0" y="0"/>
            <a:chExt cx="5689600" cy="7302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00100" y="-240591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96887" y="224808"/>
            <a:ext cx="1915887" cy="1249101"/>
            <a:chOff x="0" y="0"/>
            <a:chExt cx="2554516" cy="1665468"/>
          </a:xfrm>
        </p:grpSpPr>
        <p:sp>
          <p:nvSpPr>
            <p:cNvPr name="Freeform 30" id="30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Baazigars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5526196" y="9246"/>
            <a:ext cx="2494321" cy="1267835"/>
            <a:chOff x="0" y="0"/>
            <a:chExt cx="4418241" cy="224574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70" t="0" r="-27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296887" y="2676526"/>
            <a:ext cx="4219173" cy="2181909"/>
            <a:chOff x="0" y="0"/>
            <a:chExt cx="802910" cy="41521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02910" cy="415218"/>
            </a:xfrm>
            <a:custGeom>
              <a:avLst/>
              <a:gdLst/>
              <a:ahLst/>
              <a:cxnLst/>
              <a:rect r="r" b="b" t="t" l="l"/>
              <a:pathLst>
                <a:path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659952" y="1028700"/>
            <a:ext cx="12739496" cy="906335"/>
            <a:chOff x="0" y="0"/>
            <a:chExt cx="16985995" cy="1208446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418345" y="0"/>
              <a:ext cx="16009424" cy="1208446"/>
              <a:chOff x="0" y="0"/>
              <a:chExt cx="2470590" cy="186489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2470590" cy="186489"/>
              </a:xfrm>
              <a:custGeom>
                <a:avLst/>
                <a:gdLst/>
                <a:ahLst/>
                <a:cxnLst/>
                <a:rect r="r" b="b" t="t" l="l"/>
                <a:pathLst>
                  <a:path h="186489" w="2470590">
                    <a:moveTo>
                      <a:pt x="12593" y="0"/>
                    </a:moveTo>
                    <a:lnTo>
                      <a:pt x="2457997" y="0"/>
                    </a:lnTo>
                    <a:cubicBezTo>
                      <a:pt x="2461337" y="0"/>
                      <a:pt x="2464540" y="1327"/>
                      <a:pt x="2466902" y="3689"/>
                    </a:cubicBezTo>
                    <a:cubicBezTo>
                      <a:pt x="2469263" y="6050"/>
                      <a:pt x="2470590" y="9253"/>
                      <a:pt x="2470590" y="12593"/>
                    </a:cubicBezTo>
                    <a:lnTo>
                      <a:pt x="2470590" y="173895"/>
                    </a:lnTo>
                    <a:cubicBezTo>
                      <a:pt x="2470590" y="177235"/>
                      <a:pt x="2469263" y="180438"/>
                      <a:pt x="2466902" y="182800"/>
                    </a:cubicBezTo>
                    <a:cubicBezTo>
                      <a:pt x="2464540" y="185162"/>
                      <a:pt x="2461337" y="186489"/>
                      <a:pt x="2457997" y="186489"/>
                    </a:cubicBezTo>
                    <a:lnTo>
                      <a:pt x="12593" y="186489"/>
                    </a:lnTo>
                    <a:cubicBezTo>
                      <a:pt x="9253" y="186489"/>
                      <a:pt x="6050" y="185162"/>
                      <a:pt x="3689" y="182800"/>
                    </a:cubicBezTo>
                    <a:cubicBezTo>
                      <a:pt x="1327" y="180438"/>
                      <a:pt x="0" y="177235"/>
                      <a:pt x="0" y="173895"/>
                    </a:cubicBezTo>
                    <a:lnTo>
                      <a:pt x="0" y="12593"/>
                    </a:lnTo>
                    <a:cubicBezTo>
                      <a:pt x="0" y="9253"/>
                      <a:pt x="1327" y="6050"/>
                      <a:pt x="3689" y="3689"/>
                    </a:cubicBezTo>
                    <a:cubicBezTo>
                      <a:pt x="6050" y="1327"/>
                      <a:pt x="9253" y="0"/>
                      <a:pt x="12593" y="0"/>
                    </a:cubicBezTo>
                    <a:close/>
                  </a:path>
                </a:pathLst>
              </a:custGeom>
              <a:solidFill>
                <a:srgbClr val="D0E2F7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-19050"/>
                <a:ext cx="2470590" cy="20553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TextBox 41" id="41"/>
            <p:cNvSpPr txBox="true"/>
            <p:nvPr/>
          </p:nvSpPr>
          <p:spPr>
            <a:xfrm rot="0">
              <a:off x="0" y="210523"/>
              <a:ext cx="16985995" cy="787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9"/>
                </a:lnSpc>
                <a:spcBef>
                  <a:spcPct val="0"/>
                </a:spcBef>
              </a:pPr>
              <a:r>
                <a:rPr lang="en-US" b="true" sz="1999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TRINETRA CRAETES VALUE FOR AUTHORITIES , CITIZENS AND THE CITY BY TURNING INTO ACTIONABLE INTELLIGENCE - FASTER, SMARTER AND AT SCALE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4810527" y="2676526"/>
            <a:ext cx="4219173" cy="2181909"/>
            <a:chOff x="0" y="0"/>
            <a:chExt cx="802910" cy="41521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02910" cy="415218"/>
            </a:xfrm>
            <a:custGeom>
              <a:avLst/>
              <a:gdLst/>
              <a:ahLst/>
              <a:cxnLst/>
              <a:rect r="r" b="b" t="t" l="l"/>
              <a:pathLst>
                <a:path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392525" y="2676526"/>
            <a:ext cx="4219173" cy="2181909"/>
            <a:chOff x="0" y="0"/>
            <a:chExt cx="802910" cy="41521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02910" cy="415218"/>
            </a:xfrm>
            <a:custGeom>
              <a:avLst/>
              <a:gdLst/>
              <a:ahLst/>
              <a:cxnLst/>
              <a:rect r="r" b="b" t="t" l="l"/>
              <a:pathLst>
                <a:path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3801343" y="2663346"/>
            <a:ext cx="4219173" cy="2126055"/>
            <a:chOff x="0" y="0"/>
            <a:chExt cx="802910" cy="404589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02910" cy="404589"/>
            </a:xfrm>
            <a:custGeom>
              <a:avLst/>
              <a:gdLst/>
              <a:ahLst/>
              <a:cxnLst/>
              <a:rect r="r" b="b" t="t" l="l"/>
              <a:pathLst>
                <a:path h="404589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68750"/>
                  </a:lnTo>
                  <a:cubicBezTo>
                    <a:pt x="802910" y="388543"/>
                    <a:pt x="786864" y="404589"/>
                    <a:pt x="767071" y="404589"/>
                  </a:cubicBezTo>
                  <a:lnTo>
                    <a:pt x="35839" y="404589"/>
                  </a:lnTo>
                  <a:cubicBezTo>
                    <a:pt x="16045" y="404589"/>
                    <a:pt x="0" y="388543"/>
                    <a:pt x="0" y="368750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802910" cy="4236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AutoShape 51" id="51"/>
          <p:cNvSpPr/>
          <p:nvPr/>
        </p:nvSpPr>
        <p:spPr>
          <a:xfrm flipV="true">
            <a:off x="1740366" y="2305780"/>
            <a:ext cx="1681364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2679002" y="2305780"/>
            <a:ext cx="0" cy="2916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6972300" y="2305780"/>
            <a:ext cx="0" cy="2916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11265598" y="2305780"/>
            <a:ext cx="0" cy="2916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16306922" y="2305780"/>
            <a:ext cx="0" cy="2916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6" id="56"/>
          <p:cNvSpPr/>
          <p:nvPr/>
        </p:nvSpPr>
        <p:spPr>
          <a:xfrm flipH="false" flipV="false" rot="0">
            <a:off x="604481" y="2748775"/>
            <a:ext cx="462721" cy="701092"/>
          </a:xfrm>
          <a:custGeom>
            <a:avLst/>
            <a:gdLst/>
            <a:ahLst/>
            <a:cxnLst/>
            <a:rect r="r" b="b" t="t" l="l"/>
            <a:pathLst>
              <a:path h="701092" w="462721">
                <a:moveTo>
                  <a:pt x="0" y="0"/>
                </a:moveTo>
                <a:lnTo>
                  <a:pt x="462721" y="0"/>
                </a:lnTo>
                <a:lnTo>
                  <a:pt x="462721" y="701092"/>
                </a:lnTo>
                <a:lnTo>
                  <a:pt x="0" y="7010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5188341" y="2769958"/>
            <a:ext cx="407945" cy="679909"/>
          </a:xfrm>
          <a:custGeom>
            <a:avLst/>
            <a:gdLst/>
            <a:ahLst/>
            <a:cxnLst/>
            <a:rect r="r" b="b" t="t" l="l"/>
            <a:pathLst>
              <a:path h="679909" w="407945">
                <a:moveTo>
                  <a:pt x="0" y="0"/>
                </a:moveTo>
                <a:lnTo>
                  <a:pt x="407946" y="0"/>
                </a:lnTo>
                <a:lnTo>
                  <a:pt x="407946" y="679909"/>
                </a:lnTo>
                <a:lnTo>
                  <a:pt x="0" y="6799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9583025" y="2795588"/>
            <a:ext cx="646554" cy="695219"/>
          </a:xfrm>
          <a:custGeom>
            <a:avLst/>
            <a:gdLst/>
            <a:ahLst/>
            <a:cxnLst/>
            <a:rect r="r" b="b" t="t" l="l"/>
            <a:pathLst>
              <a:path h="695219" w="646554">
                <a:moveTo>
                  <a:pt x="0" y="0"/>
                </a:moveTo>
                <a:lnTo>
                  <a:pt x="646554" y="0"/>
                </a:lnTo>
                <a:lnTo>
                  <a:pt x="646554" y="695219"/>
                </a:lnTo>
                <a:lnTo>
                  <a:pt x="0" y="69521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13990968" y="2834515"/>
            <a:ext cx="692304" cy="571151"/>
          </a:xfrm>
          <a:custGeom>
            <a:avLst/>
            <a:gdLst/>
            <a:ahLst/>
            <a:cxnLst/>
            <a:rect r="r" b="b" t="t" l="l"/>
            <a:pathLst>
              <a:path h="571151" w="692304">
                <a:moveTo>
                  <a:pt x="0" y="0"/>
                </a:moveTo>
                <a:lnTo>
                  <a:pt x="692304" y="0"/>
                </a:lnTo>
                <a:lnTo>
                  <a:pt x="692304" y="571151"/>
                </a:lnTo>
                <a:lnTo>
                  <a:pt x="0" y="57115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0" id="60"/>
          <p:cNvGrpSpPr/>
          <p:nvPr/>
        </p:nvGrpSpPr>
        <p:grpSpPr>
          <a:xfrm rot="0">
            <a:off x="256747" y="4973465"/>
            <a:ext cx="4219173" cy="2181909"/>
            <a:chOff x="0" y="0"/>
            <a:chExt cx="802910" cy="4152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02910" cy="415218"/>
            </a:xfrm>
            <a:custGeom>
              <a:avLst/>
              <a:gdLst/>
              <a:ahLst/>
              <a:cxnLst/>
              <a:rect r="r" b="b" t="t" l="l"/>
              <a:pathLst>
                <a:path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63" id="63"/>
          <p:cNvSpPr/>
          <p:nvPr/>
        </p:nvSpPr>
        <p:spPr>
          <a:xfrm flipH="false" flipV="false" rot="0">
            <a:off x="370657" y="5086725"/>
            <a:ext cx="436634" cy="698614"/>
          </a:xfrm>
          <a:custGeom>
            <a:avLst/>
            <a:gdLst/>
            <a:ahLst/>
            <a:cxnLst/>
            <a:rect r="r" b="b" t="t" l="l"/>
            <a:pathLst>
              <a:path h="698614" w="436634">
                <a:moveTo>
                  <a:pt x="0" y="0"/>
                </a:moveTo>
                <a:lnTo>
                  <a:pt x="436634" y="0"/>
                </a:lnTo>
                <a:lnTo>
                  <a:pt x="436634" y="698615"/>
                </a:lnTo>
                <a:lnTo>
                  <a:pt x="0" y="69861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4" id="64"/>
          <p:cNvSpPr txBox="true"/>
          <p:nvPr/>
        </p:nvSpPr>
        <p:spPr>
          <a:xfrm rot="0">
            <a:off x="1028700" y="2776538"/>
            <a:ext cx="3419877" cy="642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FASTER LAW ENFORCEMENT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03371" y="3514167"/>
            <a:ext cx="3806204" cy="134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Search a vehicle and reconstruct its city-wide movement history.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Receive alerts for blacklisted vehicles and suspicious travel patterns.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Reduce time spent manually correlating multiple camera records.</a:t>
            </a:r>
          </a:p>
          <a:p>
            <a:pPr algn="l">
              <a:lnSpc>
                <a:spcPts val="1201"/>
              </a:lnSpc>
            </a:pPr>
          </a:p>
        </p:txBody>
      </p:sp>
      <p:sp>
        <p:nvSpPr>
          <p:cNvPr name="TextBox 66" id="66"/>
          <p:cNvSpPr txBox="true"/>
          <p:nvPr/>
        </p:nvSpPr>
        <p:spPr>
          <a:xfrm rot="0">
            <a:off x="412491" y="5067675"/>
            <a:ext cx="4312311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REAL-TIME SITUATIONAL AWARENESS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70657" y="5830155"/>
            <a:ext cx="3806204" cy="134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Live map combines vehicles, cameras, congestion and alerts in one operational view.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Alerts are designed to r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each the authority dashboard within a &lt;2 sec p99 target. 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Authorities can move from detection → investigation → action from the same platform.</a:t>
            </a:r>
          </a:p>
          <a:p>
            <a:pPr algn="l">
              <a:lnSpc>
                <a:spcPts val="1201"/>
              </a:lnSpc>
            </a:pPr>
          </a:p>
        </p:txBody>
      </p:sp>
      <p:sp>
        <p:nvSpPr>
          <p:cNvPr name="Freeform 68" id="68"/>
          <p:cNvSpPr/>
          <p:nvPr/>
        </p:nvSpPr>
        <p:spPr>
          <a:xfrm>
            <a:off x="256747" y="2305780"/>
            <a:ext cx="1483620" cy="3758639"/>
          </a:xfrm>
          <a:custGeom>
            <a:avLst/>
            <a:gdLst/>
            <a:ahLst/>
            <a:cxnLst/>
            <a:rect r="r" b="b" t="t" l="l"/>
            <a:pathLst>
              <a:path h="3758639" w="1483620">
                <a:moveTo>
                  <a:pt x="1483619" y="0"/>
                </a:moveTo>
                <a:lnTo>
                  <a:pt x="1483619" y="1650720"/>
                </a:lnTo>
                <a:cubicBezTo>
                  <a:pt x="1483619" y="1776972"/>
                  <a:pt x="1381272" y="1879320"/>
                  <a:pt x="1255019" y="1879320"/>
                </a:cubicBezTo>
                <a:lnTo>
                  <a:pt x="228600" y="1879320"/>
                </a:lnTo>
                <a:cubicBezTo>
                  <a:pt x="167971" y="1879320"/>
                  <a:pt x="109826" y="1903405"/>
                  <a:pt x="66955" y="1946275"/>
                </a:cubicBezTo>
                <a:cubicBezTo>
                  <a:pt x="24084" y="1989146"/>
                  <a:pt x="0" y="2047292"/>
                  <a:pt x="0" y="2107920"/>
                </a:cubicBezTo>
                <a:lnTo>
                  <a:pt x="0" y="3758639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9" id="69"/>
          <p:cNvSpPr/>
          <p:nvPr/>
        </p:nvSpPr>
        <p:spPr>
          <a:xfrm flipH="false" flipV="false" rot="0">
            <a:off x="1254830" y="8660324"/>
            <a:ext cx="15975028" cy="776876"/>
          </a:xfrm>
          <a:custGeom>
            <a:avLst/>
            <a:gdLst/>
            <a:ahLst/>
            <a:cxnLst/>
            <a:rect r="r" b="b" t="t" l="l"/>
            <a:pathLst>
              <a:path h="776876" w="15975028">
                <a:moveTo>
                  <a:pt x="0" y="0"/>
                </a:moveTo>
                <a:lnTo>
                  <a:pt x="15975029" y="0"/>
                </a:lnTo>
                <a:lnTo>
                  <a:pt x="15975029" y="776876"/>
                </a:lnTo>
                <a:lnTo>
                  <a:pt x="0" y="77687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-11046" r="0" b="-11046"/>
            </a:stretch>
          </a:blipFill>
        </p:spPr>
      </p:sp>
      <p:grpSp>
        <p:nvGrpSpPr>
          <p:cNvPr name="Group 70" id="70"/>
          <p:cNvGrpSpPr/>
          <p:nvPr/>
        </p:nvGrpSpPr>
        <p:grpSpPr>
          <a:xfrm rot="0">
            <a:off x="13767164" y="4951326"/>
            <a:ext cx="4219173" cy="2181909"/>
            <a:chOff x="0" y="0"/>
            <a:chExt cx="802910" cy="415218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802910" cy="415218"/>
            </a:xfrm>
            <a:custGeom>
              <a:avLst/>
              <a:gdLst/>
              <a:ahLst/>
              <a:cxnLst/>
              <a:rect r="r" b="b" t="t" l="l"/>
              <a:pathLst>
                <a:path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73" id="73"/>
          <p:cNvSpPr txBox="true"/>
          <p:nvPr/>
        </p:nvSpPr>
        <p:spPr>
          <a:xfrm rot="0">
            <a:off x="14513094" y="5070371"/>
            <a:ext cx="3348564" cy="330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ECONOMIC BENEFITS</a:t>
            </a:r>
          </a:p>
        </p:txBody>
      </p:sp>
      <p:sp>
        <p:nvSpPr>
          <p:cNvPr name="Freeform 74" id="74"/>
          <p:cNvSpPr/>
          <p:nvPr/>
        </p:nvSpPr>
        <p:spPr>
          <a:xfrm>
            <a:off x="18169285" y="2305780"/>
            <a:ext cx="184939" cy="3736500"/>
          </a:xfrm>
          <a:custGeom>
            <a:avLst/>
            <a:gdLst/>
            <a:ahLst/>
            <a:cxnLst/>
            <a:rect r="r" b="b" t="t" l="l"/>
            <a:pathLst>
              <a:path h="3736500" w="184939">
                <a:moveTo>
                  <a:pt x="184939" y="0"/>
                </a:moveTo>
                <a:lnTo>
                  <a:pt x="184939" y="3644031"/>
                </a:lnTo>
                <a:cubicBezTo>
                  <a:pt x="184939" y="3668556"/>
                  <a:pt x="175197" y="3692076"/>
                  <a:pt x="157855" y="3709417"/>
                </a:cubicBezTo>
                <a:cubicBezTo>
                  <a:pt x="140514" y="3726758"/>
                  <a:pt x="116994" y="3736501"/>
                  <a:pt x="92470" y="3736501"/>
                </a:cubicBezTo>
                <a:lnTo>
                  <a:pt x="0" y="3736501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5" id="75"/>
          <p:cNvSpPr/>
          <p:nvPr/>
        </p:nvSpPr>
        <p:spPr>
          <a:xfrm flipH="false" flipV="false" rot="0">
            <a:off x="14075305" y="5022085"/>
            <a:ext cx="523630" cy="551189"/>
          </a:xfrm>
          <a:custGeom>
            <a:avLst/>
            <a:gdLst/>
            <a:ahLst/>
            <a:cxnLst/>
            <a:rect r="r" b="b" t="t" l="l"/>
            <a:pathLst>
              <a:path h="551189" w="523630">
                <a:moveTo>
                  <a:pt x="0" y="0"/>
                </a:moveTo>
                <a:lnTo>
                  <a:pt x="523630" y="0"/>
                </a:lnTo>
                <a:lnTo>
                  <a:pt x="523630" y="551189"/>
                </a:lnTo>
                <a:lnTo>
                  <a:pt x="0" y="55118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6" id="76"/>
          <p:cNvSpPr txBox="true"/>
          <p:nvPr/>
        </p:nvSpPr>
        <p:spPr>
          <a:xfrm rot="0">
            <a:off x="5017011" y="3481282"/>
            <a:ext cx="3842114" cy="1805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8140" indent="-109070" lvl="1">
              <a:lnSpc>
                <a:spcPts val="1212"/>
              </a:lnSpc>
              <a:buFont typeface="Arial"/>
              <a:buChar char="•"/>
            </a:pPr>
            <a:r>
              <a:rPr lang="en-US" sz="101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Identify congested corridors and traffic hotspots in real time.</a:t>
            </a:r>
          </a:p>
          <a:p>
            <a:pPr algn="l">
              <a:lnSpc>
                <a:spcPts val="1212"/>
              </a:lnSpc>
            </a:pPr>
          </a:p>
          <a:p>
            <a:pPr algn="l" marL="218140" indent="-109070" lvl="1">
              <a:lnSpc>
                <a:spcPts val="1212"/>
              </a:lnSpc>
              <a:buFont typeface="Arial"/>
              <a:buChar char="•"/>
            </a:pPr>
            <a:r>
              <a:rPr lang="en-US" sz="101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Analyse origin–destinat</a:t>
            </a:r>
            <a:r>
              <a:rPr lang="en-US" sz="101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ion patterns to understand how traffic moves across the city.</a:t>
            </a:r>
          </a:p>
          <a:p>
            <a:pPr algn="l">
              <a:lnSpc>
                <a:spcPts val="1212"/>
              </a:lnSpc>
            </a:pPr>
          </a:p>
          <a:p>
            <a:pPr algn="l" marL="218140" indent="-109070" lvl="1">
              <a:lnSpc>
                <a:spcPts val="1212"/>
              </a:lnSpc>
              <a:buFont typeface="Arial"/>
              <a:buChar char="•"/>
            </a:pPr>
            <a:r>
              <a:rPr lang="en-US" sz="101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Support better decisions on traffic diversion, infrastructure and peak-hour management.</a:t>
            </a:r>
          </a:p>
          <a:p>
            <a:pPr algn="l">
              <a:lnSpc>
                <a:spcPts val="1212"/>
              </a:lnSpc>
            </a:pPr>
            <a:r>
              <a:rPr lang="en-US" sz="101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Less time in traffic → Faster mobility → Better city-wide traffic flow</a:t>
            </a:r>
          </a:p>
          <a:p>
            <a:pPr algn="l">
              <a:lnSpc>
                <a:spcPts val="1212"/>
              </a:lnSpc>
            </a:pPr>
          </a:p>
          <a:p>
            <a:pPr algn="l">
              <a:lnSpc>
                <a:spcPts val="1212"/>
              </a:lnSpc>
            </a:pPr>
          </a:p>
          <a:p>
            <a:pPr algn="l">
              <a:lnSpc>
                <a:spcPts val="1212"/>
              </a:lnSpc>
            </a:pPr>
          </a:p>
          <a:p>
            <a:pPr algn="l">
              <a:lnSpc>
                <a:spcPts val="1212"/>
              </a:lnSpc>
            </a:pPr>
          </a:p>
        </p:txBody>
      </p:sp>
      <p:sp>
        <p:nvSpPr>
          <p:cNvPr name="Freeform 77" id="77"/>
          <p:cNvSpPr/>
          <p:nvPr/>
        </p:nvSpPr>
        <p:spPr>
          <a:xfrm flipH="false" flipV="false" rot="0">
            <a:off x="6308507" y="4973465"/>
            <a:ext cx="5626069" cy="2159771"/>
          </a:xfrm>
          <a:custGeom>
            <a:avLst/>
            <a:gdLst/>
            <a:ahLst/>
            <a:cxnLst/>
            <a:rect r="r" b="b" t="t" l="l"/>
            <a:pathLst>
              <a:path h="2159771" w="5626069">
                <a:moveTo>
                  <a:pt x="0" y="0"/>
                </a:moveTo>
                <a:lnTo>
                  <a:pt x="5626070" y="0"/>
                </a:lnTo>
                <a:lnTo>
                  <a:pt x="5626070" y="2159770"/>
                </a:lnTo>
                <a:lnTo>
                  <a:pt x="0" y="21597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3975" t="-282114" r="-175934" b="-28031"/>
            </a:stretch>
          </a:blipFill>
        </p:spPr>
      </p:sp>
      <p:grpSp>
        <p:nvGrpSpPr>
          <p:cNvPr name="Group 78" id="78"/>
          <p:cNvGrpSpPr/>
          <p:nvPr/>
        </p:nvGrpSpPr>
        <p:grpSpPr>
          <a:xfrm rot="0">
            <a:off x="296887" y="7403024"/>
            <a:ext cx="5554580" cy="874090"/>
            <a:chOff x="0" y="0"/>
            <a:chExt cx="1057038" cy="1663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57038" cy="166340"/>
            </a:xfrm>
            <a:custGeom>
              <a:avLst/>
              <a:gdLst/>
              <a:ahLst/>
              <a:cxnLst/>
              <a:rect r="r" b="b" t="t" l="l"/>
              <a:pathLst>
                <a:path h="166340" w="1057038">
                  <a:moveTo>
                    <a:pt x="27222" y="0"/>
                  </a:moveTo>
                  <a:lnTo>
                    <a:pt x="1029816" y="0"/>
                  </a:lnTo>
                  <a:cubicBezTo>
                    <a:pt x="1037035" y="0"/>
                    <a:pt x="1043960" y="2868"/>
                    <a:pt x="1049065" y="7973"/>
                  </a:cubicBezTo>
                  <a:cubicBezTo>
                    <a:pt x="1054170" y="13078"/>
                    <a:pt x="1057038" y="20003"/>
                    <a:pt x="1057038" y="27222"/>
                  </a:cubicBezTo>
                  <a:lnTo>
                    <a:pt x="1057038" y="139117"/>
                  </a:lnTo>
                  <a:cubicBezTo>
                    <a:pt x="1057038" y="146337"/>
                    <a:pt x="1054170" y="153261"/>
                    <a:pt x="1049065" y="158366"/>
                  </a:cubicBezTo>
                  <a:cubicBezTo>
                    <a:pt x="1043960" y="163471"/>
                    <a:pt x="1037035" y="166340"/>
                    <a:pt x="1029816" y="166340"/>
                  </a:cubicBezTo>
                  <a:lnTo>
                    <a:pt x="27222" y="166340"/>
                  </a:lnTo>
                  <a:cubicBezTo>
                    <a:pt x="20003" y="166340"/>
                    <a:pt x="13078" y="163471"/>
                    <a:pt x="7973" y="158366"/>
                  </a:cubicBezTo>
                  <a:cubicBezTo>
                    <a:pt x="2868" y="153261"/>
                    <a:pt x="0" y="146337"/>
                    <a:pt x="0" y="139117"/>
                  </a:cubicBezTo>
                  <a:lnTo>
                    <a:pt x="0" y="27222"/>
                  </a:lnTo>
                  <a:cubicBezTo>
                    <a:pt x="0" y="20003"/>
                    <a:pt x="2868" y="13078"/>
                    <a:pt x="7973" y="7973"/>
                  </a:cubicBezTo>
                  <a:cubicBezTo>
                    <a:pt x="13078" y="2868"/>
                    <a:pt x="20003" y="0"/>
                    <a:pt x="27222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0" y="-19050"/>
              <a:ext cx="1057038" cy="185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209205" y="7337411"/>
            <a:ext cx="1045625" cy="1045625"/>
            <a:chOff x="0" y="0"/>
            <a:chExt cx="812800" cy="8128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170294" y="0"/>
                  </a:moveTo>
                  <a:lnTo>
                    <a:pt x="642506" y="0"/>
                  </a:lnTo>
                  <a:cubicBezTo>
                    <a:pt x="736557" y="0"/>
                    <a:pt x="812800" y="76243"/>
                    <a:pt x="812800" y="170294"/>
                  </a:cubicBezTo>
                  <a:lnTo>
                    <a:pt x="812800" y="642506"/>
                  </a:lnTo>
                  <a:cubicBezTo>
                    <a:pt x="812800" y="736557"/>
                    <a:pt x="736557" y="812800"/>
                    <a:pt x="642506" y="812800"/>
                  </a:cubicBezTo>
                  <a:lnTo>
                    <a:pt x="170294" y="812800"/>
                  </a:lnTo>
                  <a:cubicBezTo>
                    <a:pt x="76243" y="812800"/>
                    <a:pt x="0" y="736557"/>
                    <a:pt x="0" y="642506"/>
                  </a:cubicBezTo>
                  <a:lnTo>
                    <a:pt x="0" y="170294"/>
                  </a:lnTo>
                  <a:cubicBezTo>
                    <a:pt x="0" y="76243"/>
                    <a:pt x="76243" y="0"/>
                    <a:pt x="170294" y="0"/>
                  </a:cubicBezTo>
                  <a:close/>
                </a:path>
              </a:pathLst>
            </a:custGeom>
            <a:blipFill>
              <a:blip r:embed="rId19"/>
              <a:stretch>
                <a:fillRect l="-42307" t="0" r="-42307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731076" y="7342785"/>
            <a:ext cx="5101900" cy="874090"/>
            <a:chOff x="0" y="0"/>
            <a:chExt cx="970893" cy="16634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970893" cy="166340"/>
            </a:xfrm>
            <a:custGeom>
              <a:avLst/>
              <a:gdLst/>
              <a:ahLst/>
              <a:cxnLst/>
              <a:rect r="r" b="b" t="t" l="l"/>
              <a:pathLst>
                <a:path h="166340" w="970893">
                  <a:moveTo>
                    <a:pt x="29638" y="0"/>
                  </a:moveTo>
                  <a:lnTo>
                    <a:pt x="941255" y="0"/>
                  </a:lnTo>
                  <a:cubicBezTo>
                    <a:pt x="949115" y="0"/>
                    <a:pt x="956654" y="3123"/>
                    <a:pt x="962212" y="8681"/>
                  </a:cubicBezTo>
                  <a:cubicBezTo>
                    <a:pt x="967770" y="14239"/>
                    <a:pt x="970893" y="21777"/>
                    <a:pt x="970893" y="29638"/>
                  </a:cubicBezTo>
                  <a:lnTo>
                    <a:pt x="970893" y="136702"/>
                  </a:lnTo>
                  <a:cubicBezTo>
                    <a:pt x="970893" y="144562"/>
                    <a:pt x="967770" y="152101"/>
                    <a:pt x="962212" y="157659"/>
                  </a:cubicBezTo>
                  <a:cubicBezTo>
                    <a:pt x="956654" y="163217"/>
                    <a:pt x="949115" y="166340"/>
                    <a:pt x="941255" y="166340"/>
                  </a:cubicBezTo>
                  <a:lnTo>
                    <a:pt x="29638" y="166340"/>
                  </a:lnTo>
                  <a:cubicBezTo>
                    <a:pt x="21777" y="166340"/>
                    <a:pt x="14239" y="163217"/>
                    <a:pt x="8681" y="157659"/>
                  </a:cubicBezTo>
                  <a:cubicBezTo>
                    <a:pt x="3123" y="152101"/>
                    <a:pt x="0" y="144562"/>
                    <a:pt x="0" y="136702"/>
                  </a:cubicBezTo>
                  <a:lnTo>
                    <a:pt x="0" y="29638"/>
                  </a:lnTo>
                  <a:cubicBezTo>
                    <a:pt x="0" y="21777"/>
                    <a:pt x="3123" y="14239"/>
                    <a:pt x="8681" y="8681"/>
                  </a:cubicBezTo>
                  <a:cubicBezTo>
                    <a:pt x="14239" y="3123"/>
                    <a:pt x="21777" y="0"/>
                    <a:pt x="29638" y="0"/>
                  </a:cubicBezTo>
                  <a:close/>
                </a:path>
              </a:pathLst>
            </a:custGeom>
            <a:solidFill>
              <a:srgbClr val="EBF4FF"/>
            </a:solidFill>
            <a:ln w="38100" cap="rnd">
              <a:solidFill>
                <a:srgbClr val="4A7EBB"/>
              </a:solidFill>
              <a:prstDash val="solid"/>
              <a:round/>
            </a:ln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970893" cy="185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2583587" y="7257017"/>
            <a:ext cx="1098506" cy="1098506"/>
            <a:chOff x="0" y="0"/>
            <a:chExt cx="812800" cy="8128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162097" y="0"/>
                  </a:moveTo>
                  <a:lnTo>
                    <a:pt x="650703" y="0"/>
                  </a:lnTo>
                  <a:cubicBezTo>
                    <a:pt x="740227" y="0"/>
                    <a:pt x="812800" y="72573"/>
                    <a:pt x="812800" y="162097"/>
                  </a:cubicBezTo>
                  <a:lnTo>
                    <a:pt x="812800" y="650703"/>
                  </a:lnTo>
                  <a:cubicBezTo>
                    <a:pt x="812800" y="740227"/>
                    <a:pt x="740227" y="812800"/>
                    <a:pt x="650703" y="812800"/>
                  </a:cubicBezTo>
                  <a:lnTo>
                    <a:pt x="162097" y="812800"/>
                  </a:lnTo>
                  <a:cubicBezTo>
                    <a:pt x="72573" y="812800"/>
                    <a:pt x="0" y="740227"/>
                    <a:pt x="0" y="650703"/>
                  </a:cubicBezTo>
                  <a:lnTo>
                    <a:pt x="0" y="162097"/>
                  </a:lnTo>
                  <a:cubicBezTo>
                    <a:pt x="0" y="72573"/>
                    <a:pt x="72573" y="0"/>
                    <a:pt x="162097" y="0"/>
                  </a:cubicBez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  <a:ln w="9525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88" id="88"/>
          <p:cNvSpPr txBox="true"/>
          <p:nvPr/>
        </p:nvSpPr>
        <p:spPr>
          <a:xfrm rot="0">
            <a:off x="5682012" y="2776538"/>
            <a:ext cx="3348564" cy="642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SMARTER TRAFFIC MANAGEMENT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10401029" y="2828646"/>
            <a:ext cx="3092660" cy="330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ANOMOLY DETECTION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9563100" y="3532465"/>
            <a:ext cx="3806204" cy="134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Detect blacklisted/wanted vehicles as they appear at monitored locations.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Flag impossible travel / potential cloned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plates when the same identity appears at physically incompatible locations.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Detect unusual traffic or camera behaviour through continuous monitoring.</a:t>
            </a:r>
          </a:p>
          <a:p>
            <a:pPr algn="l">
              <a:lnSpc>
                <a:spcPts val="1201"/>
              </a:lnSpc>
            </a:pPr>
          </a:p>
        </p:txBody>
      </p:sp>
      <p:sp>
        <p:nvSpPr>
          <p:cNvPr name="TextBox 91" id="91"/>
          <p:cNvSpPr txBox="true"/>
          <p:nvPr/>
        </p:nvSpPr>
        <p:spPr>
          <a:xfrm rot="0">
            <a:off x="14768997" y="2763357"/>
            <a:ext cx="309266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BETTER CAMERA UTILISATION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4007828" y="3593437"/>
            <a:ext cx="3806204" cy="1047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Convert individual camera detections into city-wide intelligence.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Monitor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camera health, data freshness and inactive nodes.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Exi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sting cameras can feed the platform through a common event interface instead of requiring a completely new system.</a:t>
            </a:r>
          </a:p>
          <a:p>
            <a:pPr algn="l">
              <a:lnSpc>
                <a:spcPts val="1201"/>
              </a:lnSpc>
            </a:pPr>
          </a:p>
        </p:txBody>
      </p:sp>
      <p:sp>
        <p:nvSpPr>
          <p:cNvPr name="TextBox 93" id="93"/>
          <p:cNvSpPr txBox="true"/>
          <p:nvPr/>
        </p:nvSpPr>
        <p:spPr>
          <a:xfrm rot="0">
            <a:off x="13990968" y="5640662"/>
            <a:ext cx="3806204" cy="1492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Reduced manual investigation effort → less time and manpower spent correlat</a:t>
            </a: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ing CCTV/ANPR records.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Better use of existing infrastructure → extracts more intelligence from deployed cameras without requiring an entirely new surveillance network.</a:t>
            </a:r>
          </a:p>
          <a:p>
            <a:pPr algn="l">
              <a:lnSpc>
                <a:spcPts val="1201"/>
              </a:lnSpc>
            </a:pPr>
          </a:p>
          <a:p>
            <a:pPr algn="l" marL="216101" indent="-108051" lvl="1">
              <a:lnSpc>
                <a:spcPts val="1201"/>
              </a:lnSpc>
              <a:buFont typeface="Arial"/>
              <a:buChar char="•"/>
            </a:pPr>
            <a:r>
              <a:rPr lang="en-US" sz="1000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Lower operational costs → event-based processing reduces the need to centrally move and store continuous video.</a:t>
            </a:r>
          </a:p>
          <a:p>
            <a:pPr algn="l">
              <a:lnSpc>
                <a:spcPts val="1201"/>
              </a:lnSpc>
            </a:pPr>
          </a:p>
        </p:txBody>
      </p:sp>
      <p:sp>
        <p:nvSpPr>
          <p:cNvPr name="TextBox 94" id="94"/>
          <p:cNvSpPr txBox="true"/>
          <p:nvPr/>
        </p:nvSpPr>
        <p:spPr>
          <a:xfrm rot="0">
            <a:off x="7181522" y="8233190"/>
            <a:ext cx="4422007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8"/>
              </a:lnSpc>
              <a:spcBef>
                <a:spcPct val="0"/>
              </a:spcBef>
            </a:pPr>
            <a:r>
              <a:rPr lang="en-US" b="true" sz="23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MEASURABLE IMPACTS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351363" y="7526849"/>
            <a:ext cx="4500103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8"/>
              </a:lnSpc>
              <a:spcBef>
                <a:spcPct val="0"/>
              </a:spcBef>
            </a:pPr>
            <a:r>
              <a:rPr lang="en-US" b="true" sz="209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</a:t>
            </a:r>
            <a:r>
              <a:rPr lang="en-US" b="true" sz="2090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21" tooltip="https://morth.gov.in"/>
              </a:rPr>
              <a:t>Ministry of Road Transport and Highways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14152970" y="7495185"/>
            <a:ext cx="4040727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2"/>
              </a:lnSpc>
              <a:spcBef>
                <a:spcPct val="0"/>
              </a:spcBef>
            </a:pPr>
            <a:r>
              <a:rPr lang="en-US" b="true" sz="2476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22" tooltip="https://traffic.delhipolice.gov.in"/>
              </a:rPr>
              <a:t>Delhi Traffic Police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277835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27170" y="136606"/>
            <a:ext cx="1915887" cy="1249101"/>
            <a:chOff x="0" y="0"/>
            <a:chExt cx="2554516" cy="1665468"/>
          </a:xfrm>
        </p:grpSpPr>
        <p:sp>
          <p:nvSpPr>
            <p:cNvPr name="Freeform 11" id="11" descr="Your startup LOGO"/>
            <p:cNvSpPr/>
            <p:nvPr/>
          </p:nvSpPr>
          <p:spPr>
            <a:xfrm flipH="false" flipV="false" rot="0">
              <a:off x="0" y="0"/>
              <a:ext cx="2554478" cy="1665481"/>
            </a:xfrm>
            <a:custGeom>
              <a:avLst/>
              <a:gdLst/>
              <a:ahLst/>
              <a:cxnLst/>
              <a:rect r="r" b="b" t="t" l="l"/>
              <a:pathLst>
                <a:path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Baazigars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518008" y="85649"/>
            <a:ext cx="2557718" cy="1300059"/>
            <a:chOff x="0" y="0"/>
            <a:chExt cx="4418241" cy="2245741"/>
          </a:xfrm>
        </p:grpSpPr>
        <p:sp>
          <p:nvSpPr>
            <p:cNvPr name="Freeform 14" id="14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741000" y="9635728"/>
            <a:ext cx="4806001" cy="547688"/>
            <a:chOff x="0" y="0"/>
            <a:chExt cx="6408001" cy="7302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150448" y="2233580"/>
            <a:ext cx="15987105" cy="2777759"/>
          </a:xfrm>
          <a:custGeom>
            <a:avLst/>
            <a:gdLst/>
            <a:ahLst/>
            <a:cxnLst/>
            <a:rect r="r" b="b" t="t" l="l"/>
            <a:pathLst>
              <a:path h="2777759" w="15987105">
                <a:moveTo>
                  <a:pt x="0" y="0"/>
                </a:moveTo>
                <a:lnTo>
                  <a:pt x="15987104" y="0"/>
                </a:lnTo>
                <a:lnTo>
                  <a:pt x="15987104" y="2777759"/>
                </a:lnTo>
                <a:lnTo>
                  <a:pt x="0" y="27777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2040780" y="1369595"/>
            <a:ext cx="14206441" cy="790919"/>
            <a:chOff x="0" y="0"/>
            <a:chExt cx="2923136" cy="16274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923136" cy="162741"/>
            </a:xfrm>
            <a:custGeom>
              <a:avLst/>
              <a:gdLst/>
              <a:ahLst/>
              <a:cxnLst/>
              <a:rect r="r" b="b" t="t" l="l"/>
              <a:pathLst>
                <a:path h="162741" w="2923136">
                  <a:moveTo>
                    <a:pt x="10644" y="0"/>
                  </a:moveTo>
                  <a:lnTo>
                    <a:pt x="2912492" y="0"/>
                  </a:lnTo>
                  <a:cubicBezTo>
                    <a:pt x="2918371" y="0"/>
                    <a:pt x="2923136" y="4765"/>
                    <a:pt x="2923136" y="10644"/>
                  </a:cubicBezTo>
                  <a:lnTo>
                    <a:pt x="2923136" y="152097"/>
                  </a:lnTo>
                  <a:cubicBezTo>
                    <a:pt x="2923136" y="154920"/>
                    <a:pt x="2922014" y="157627"/>
                    <a:pt x="2920018" y="159623"/>
                  </a:cubicBezTo>
                  <a:cubicBezTo>
                    <a:pt x="2918022" y="161619"/>
                    <a:pt x="2915315" y="162741"/>
                    <a:pt x="2912492" y="162741"/>
                  </a:cubicBezTo>
                  <a:lnTo>
                    <a:pt x="10644" y="162741"/>
                  </a:lnTo>
                  <a:cubicBezTo>
                    <a:pt x="4765" y="162741"/>
                    <a:pt x="0" y="157975"/>
                    <a:pt x="0" y="152097"/>
                  </a:cubicBezTo>
                  <a:lnTo>
                    <a:pt x="0" y="10644"/>
                  </a:lnTo>
                  <a:cubicBezTo>
                    <a:pt x="0" y="7821"/>
                    <a:pt x="1121" y="5114"/>
                    <a:pt x="3117" y="3117"/>
                  </a:cubicBezTo>
                  <a:cubicBezTo>
                    <a:pt x="5114" y="1121"/>
                    <a:pt x="7821" y="0"/>
                    <a:pt x="10644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923136" cy="181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TriNetra combines established research in ANPR, OCR, vehicle re-identification and traffic simulation with scalable event-driven systems to build a unified city-wide intelligence platform</a:t>
              </a: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821847" y="5827304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6" y="0"/>
                </a:lnTo>
                <a:lnTo>
                  <a:pt x="413706" y="413706"/>
                </a:lnTo>
                <a:lnTo>
                  <a:pt x="0" y="4137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150448" y="5151029"/>
            <a:ext cx="11291054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SIH26127 — City-Wide AI Engine for Multi-Camera ANPR Trajectory Tracking and Urban Traffic Analytics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7320489" y="5641727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5" y="0"/>
                </a:lnTo>
                <a:lnTo>
                  <a:pt x="413705" y="413706"/>
                </a:lnTo>
                <a:lnTo>
                  <a:pt x="0" y="4137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8000894" y="5698816"/>
            <a:ext cx="11280300" cy="594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  <a:hlinkClick r:id="rId8" tooltip="https://www.cv-foundation.org/openaccess/content_cvpr_2016/papers/Redmon_You_Only_Look_CVPR_2016_paper.pdf"/>
              </a:rPr>
              <a:t>https://www.cv-foundation.org/openaccess/content_cvpr_2016/papers/Redmon_You_Only_Look_CVPR_2016_paper.pdf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821847" y="7286534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7320489" y="6988883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5" y="0"/>
                </a:lnTo>
                <a:lnTo>
                  <a:pt x="413705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8000894" y="6836483"/>
            <a:ext cx="6299359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  <a:hlinkClick r:id="rId9" tooltip="https://share.google/FnpUiPvKHbfVt4ulp"/>
              </a:rPr>
              <a:t>Source: IIIT Blog https://share.google/FnpUiPvKHbfVt4ulp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7320489" y="8088388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5" y="0"/>
                </a:lnTo>
                <a:lnTo>
                  <a:pt x="413705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15581405" y="101761"/>
            <a:ext cx="2494321" cy="1267835"/>
            <a:chOff x="0" y="0"/>
            <a:chExt cx="4418241" cy="224574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70" t="0" r="-27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821847" y="8443350"/>
            <a:ext cx="413705" cy="413705"/>
          </a:xfrm>
          <a:custGeom>
            <a:avLst/>
            <a:gdLst/>
            <a:ahLst/>
            <a:cxnLst/>
            <a:rect r="r" b="b" t="t" l="l"/>
            <a:pathLst>
              <a:path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385114" y="8353435"/>
            <a:ext cx="5935376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  <a:spcBef>
                <a:spcPct val="0"/>
              </a:spcBef>
            </a:pPr>
            <a:r>
              <a:rPr lang="en-US" sz="2099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  <a:hlinkClick r:id="rId11" tooltip="https://www.researchgate.net/publication/224793504_SUMO_Simulation_of_Urban_MObility_An_open-source_traffic_simulation"/>
              </a:rPr>
              <a:t>https://www.researchgate.net/publication/224793504_SUMO_Simulation_of_Urban_MObility_An_open-source_traffic_simulation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000894" y="8153410"/>
            <a:ext cx="4371856" cy="325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u="sng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  <a:hlinkClick r:id="rId12" tooltip="https://pubmed.ncbi.nlm.nih.gov/41846120/"/>
              </a:rPr>
              <a:t>https://pubmed.ncbi.nlm.nih.gov/41846120/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DAHUsa30Kl0</dc:identifier>
  <dcterms:modified xsi:type="dcterms:W3CDTF">2011-08-01T06:04:30Z</dcterms:modified>
  <cp:revision>1</cp:revision>
  <dc:title>SIH2025-IDEA-Presentation-Format.pptx</dc:title>
</cp:coreProperties>
</file>